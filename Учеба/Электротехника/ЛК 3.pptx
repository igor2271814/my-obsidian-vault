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37"/>
  </p:notesMasterIdLst>
  <p:sldIdLst>
    <p:sldId id="329" r:id="rId2"/>
    <p:sldId id="257" r:id="rId3"/>
    <p:sldId id="343" r:id="rId4"/>
    <p:sldId id="258" r:id="rId5"/>
    <p:sldId id="332" r:id="rId6"/>
    <p:sldId id="259" r:id="rId7"/>
    <p:sldId id="335" r:id="rId8"/>
    <p:sldId id="336" r:id="rId9"/>
    <p:sldId id="260" r:id="rId10"/>
    <p:sldId id="333" r:id="rId11"/>
    <p:sldId id="261" r:id="rId12"/>
    <p:sldId id="264" r:id="rId13"/>
    <p:sldId id="263" r:id="rId14"/>
    <p:sldId id="265" r:id="rId15"/>
    <p:sldId id="266" r:id="rId16"/>
    <p:sldId id="267" r:id="rId17"/>
    <p:sldId id="268" r:id="rId18"/>
    <p:sldId id="269" r:id="rId19"/>
    <p:sldId id="270" r:id="rId20"/>
    <p:sldId id="271" r:id="rId21"/>
    <p:sldId id="272" r:id="rId22"/>
    <p:sldId id="273" r:id="rId23"/>
    <p:sldId id="291" r:id="rId24"/>
    <p:sldId id="330" r:id="rId25"/>
    <p:sldId id="293" r:id="rId26"/>
    <p:sldId id="294" r:id="rId27"/>
    <p:sldId id="295" r:id="rId28"/>
    <p:sldId id="296" r:id="rId29"/>
    <p:sldId id="297" r:id="rId30"/>
    <p:sldId id="337" r:id="rId31"/>
    <p:sldId id="338" r:id="rId32"/>
    <p:sldId id="339" r:id="rId33"/>
    <p:sldId id="340" r:id="rId34"/>
    <p:sldId id="262" r:id="rId35"/>
    <p:sldId id="341" r:id="rId36"/>
  </p:sldIdLst>
  <p:sldSz cx="12192000" cy="6858000"/>
  <p:notesSz cx="12192000" cy="6858000"/>
  <p:embeddedFontLst>
    <p:embeddedFont>
      <p:font typeface="Arial Black" panose="020B0A04020102020204" pitchFamily="34" charset="0"/>
      <p:bold r:id="rId38"/>
    </p:embeddedFont>
    <p:embeddedFont>
      <p:font typeface="Montserrat" panose="00000500000000000000" pitchFamily="2" charset="-52"/>
      <p:regular r:id="rId39"/>
      <p:bold r:id="rId40"/>
      <p:italic r:id="rId41"/>
      <p:boldItalic r:id="rId42"/>
    </p:embeddedFont>
    <p:embeddedFont>
      <p:font typeface="Montserrat SemiBold" panose="00000700000000000000" pitchFamily="2" charset="-52"/>
      <p:bold r:id="rId43"/>
      <p:boldItalic r:id="rId44"/>
    </p:embeddedFont>
  </p:embeddedFontLst>
  <p:defaultTextStyle>
    <a:defPPr>
      <a:defRPr lang="ru-RU"/>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088">
          <p15:clr>
            <a:srgbClr val="A4A3A4"/>
          </p15:clr>
        </p15:guide>
        <p15:guide id="2" pos="3863">
          <p15:clr>
            <a:srgbClr val="A4A3A4"/>
          </p15:clr>
        </p15:guide>
        <p15:guide id="3" orient="horz" pos="125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E3FDE45-AF77-4B5C-9715-49D594BDF05E}">
  <a:tblStyle styleId="{0E3FDE45-AF77-4B5C-9715-49D594BDF05E}" styleName="Светлый стиль 1 — акцент 2">
    <a:wholeTbl>
      <a:tcTxStyle>
        <a:fontRef idx="minor">
          <a:srgbClr val="000000"/>
        </a:fontRef>
        <a:schemeClr val="tx1"/>
      </a:tcTxStyle>
      <a:tcStyle>
        <a:tcBdr>
          <a:left>
            <a:ln w="12700">
              <a:noFill/>
            </a:ln>
          </a:left>
          <a:right>
            <a:ln w="12700">
              <a:noFill/>
            </a:ln>
          </a:right>
          <a:top>
            <a:ln w="12700">
              <a:solidFill>
                <a:schemeClr val="accent2"/>
              </a:solidFill>
            </a:ln>
          </a:top>
          <a:bottom>
            <a:ln w="12700">
              <a:solidFill>
                <a:schemeClr val="accent2"/>
              </a:solidFill>
            </a:ln>
          </a:bottom>
          <a:insideH>
            <a:ln w="12700">
              <a:noFill/>
            </a:ln>
          </a:insideH>
          <a:insideV>
            <a:ln w="12700">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band2V>
      <a:tcStyle>
        <a:tcBdr/>
        <a:fill>
          <a:solidFill>
            <a:schemeClr val="accent2">
              <a:alpha val="20000"/>
            </a:schemeClr>
          </a:solidFill>
        </a:fill>
      </a:tcStyle>
    </a:band2V>
    <a:lastCol>
      <a:tcStyle>
        <a:tcBdr/>
      </a:tcStyle>
    </a:lastCol>
    <a:firstCol>
      <a:tcStyle>
        <a:tcBdr/>
      </a:tcStyle>
    </a:firstCol>
    <a:lastRow>
      <a:tcStyle>
        <a:tcBdr>
          <a:top>
            <a:ln w="12700">
              <a:solidFill>
                <a:schemeClr val="accent2"/>
              </a:solidFill>
            </a:ln>
          </a:top>
        </a:tcBdr>
        <a:fill>
          <a:noFill/>
        </a:fill>
      </a:tcStyle>
    </a:lastRow>
    <a:seCell>
      <a:tcStyle>
        <a:tcBdr/>
      </a:tcStyle>
    </a:seCell>
    <a:swCell>
      <a:tcStyle>
        <a:tcBdr/>
      </a:tcStyle>
    </a:swCell>
    <a:firstRow>
      <a:tcStyle>
        <a:tcBdr>
          <a:bottom>
            <a:ln w="12700">
              <a:solidFill>
                <a:schemeClr val="accent2"/>
              </a:solidFill>
            </a:ln>
          </a:bottom>
        </a:tcBdr>
        <a:fill>
          <a:noFill/>
        </a:fill>
      </a:tcStyle>
    </a:firstRow>
    <a:neCell>
      <a:tcStyle>
        <a:tcBdr/>
      </a:tcStyle>
    </a:neCell>
    <a:nwCell>
      <a:tcStyle>
        <a:tcBdr/>
      </a:tcStyle>
    </a:nwCell>
  </a:tblStyle>
  <a:tblStyle styleId="{7E9639D4-E3E2-4D34-9284-5A2195B3D0D7}" styleName="Светлый стиль 2">
    <a:wholeTbl>
      <a:tcTxStyle>
        <a:fontRef idx="minor">
          <a:srgbClr val="000000"/>
        </a:fontRef>
        <a:schemeClr val="tx1"/>
      </a:tcTxStyle>
      <a:tcStyle>
        <a:tcBdr>
          <a:left>
            <a:lnRef idx="1">
              <a:schemeClr val="tx1"/>
            </a:lnRef>
          </a:left>
          <a:right>
            <a:lnRef idx="1">
              <a:schemeClr val="tx1"/>
            </a:lnRef>
          </a:right>
          <a:top>
            <a:lnRef idx="1">
              <a:schemeClr val="tx1"/>
            </a:lnRef>
          </a:top>
          <a:bottom>
            <a:lnRef idx="1">
              <a:schemeClr val="tx1"/>
            </a:lnRef>
          </a:bottom>
          <a:insideH>
            <a:ln w="12700">
              <a:noFill/>
            </a:ln>
          </a:insideH>
          <a:insideV>
            <a:ln w="12700">
              <a:noFill/>
            </a:ln>
          </a:insideV>
        </a:tcBdr>
        <a:fill>
          <a:noFill/>
        </a:fill>
      </a:tcStyle>
    </a:wholeTbl>
    <a:band1H>
      <a:tcStyle>
        <a:tcBdr>
          <a:top>
            <a:lnRef idx="1">
              <a:schemeClr val="tx1"/>
            </a:lnRef>
          </a:top>
          <a:bottom>
            <a:lnRef idx="1">
              <a:schemeClr val="tx1"/>
            </a:lnRef>
          </a:bottom>
        </a:tcBdr>
      </a:tcStyle>
    </a:band1H>
    <a:band2H>
      <a:tcStyle>
        <a:tcBdr/>
      </a:tcStyle>
    </a:band2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Style>
        <a:tcBdr/>
      </a:tcStyle>
    </a:lastCol>
    <a:firstCol>
      <a:tcStyle>
        <a:tcBdr/>
      </a:tcStyle>
    </a:firstCol>
    <a:lastRow>
      <a:tcStyle>
        <a:tcBdr>
          <a:top>
            <a:ln w="50800">
              <a:solidFill>
                <a:schemeClr val="tx1"/>
              </a:solidFill>
            </a:ln>
          </a:top>
        </a:tcBdr>
      </a:tcStyle>
    </a:lastRow>
    <a:seCell>
      <a:tcStyle>
        <a:tcBdr/>
      </a:tcStyle>
    </a:seCell>
    <a:swCell>
      <a:tcStyle>
        <a:tcBdr/>
      </a:tcStyle>
    </a:swCell>
    <a:firstRow>
      <a:tcTxStyle b="on">
        <a:fontRef idx="minor">
          <a:srgbClr val="000000"/>
        </a:fontRef>
        <a:schemeClr val="bg1"/>
      </a:tcTxStyle>
      <a:tcStyle>
        <a:tcBdr/>
        <a:fillRef idx="1">
          <a:schemeClr val="tx1"/>
        </a:fillRef>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80" d="100"/>
          <a:sy n="80" d="100"/>
        </p:scale>
        <p:origin x="132" y="1656"/>
      </p:cViewPr>
      <p:guideLst>
        <p:guide orient="horz" pos="4088"/>
        <p:guide pos="3863"/>
        <p:guide orient="horz" pos="125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177B79EF-7BE0-4BC1-8CCC-22B6FED8F64D}" type="datetimeFigureOut">
              <a:rPr lang="ru-RU" smtClean="0"/>
              <a:t>24.09.2025</a:t>
            </a:fld>
            <a:endParaRPr lang="ru-RU"/>
          </a:p>
        </p:txBody>
      </p:sp>
      <p:sp>
        <p:nvSpPr>
          <p:cNvPr id="4" name="Образ слайда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3632FCF4-B8AF-43F1-9AD1-5F1529352CAE}" type="slidenum">
              <a:rPr lang="ru-RU" smtClean="0"/>
              <a:t>‹#›</a:t>
            </a:fld>
            <a:endParaRPr lang="ru-RU"/>
          </a:p>
        </p:txBody>
      </p:sp>
    </p:spTree>
    <p:extLst>
      <p:ext uri="{BB962C8B-B14F-4D97-AF65-F5344CB8AC3E}">
        <p14:creationId xmlns:p14="http://schemas.microsoft.com/office/powerpoint/2010/main" val="17864026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2302B927-78D8-495A-B60E-A94CE3B4DBDA}"/>
              </a:ext>
            </a:extLst>
          </p:cNvPr>
          <p:cNvSpPr>
            <a:spLocks noGrp="1" noChangeArrowheads="1"/>
          </p:cNvSpPr>
          <p:nvPr>
            <p:ph type="hdr" sz="quarter"/>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a:solidFill>
                  <a:srgbClr val="003399"/>
                </a:solidFill>
                <a:latin typeface="Times New Roman" panose="02020603050405020304" pitchFamily="18" charset="0"/>
                <a:cs typeface="Arial" panose="020B0604020202020204" pitchFamily="34" charset="0"/>
              </a:defRPr>
            </a:lvl1pPr>
            <a:lvl2pPr marL="742950" indent="-285750">
              <a:defRPr sz="3200">
                <a:solidFill>
                  <a:srgbClr val="003399"/>
                </a:solidFill>
                <a:latin typeface="Times New Roman" panose="02020603050405020304" pitchFamily="18" charset="0"/>
                <a:cs typeface="Arial" panose="020B0604020202020204" pitchFamily="34" charset="0"/>
              </a:defRPr>
            </a:lvl2pPr>
            <a:lvl3pPr marL="1143000" indent="-228600">
              <a:defRPr sz="3200">
                <a:solidFill>
                  <a:srgbClr val="003399"/>
                </a:solidFill>
                <a:latin typeface="Times New Roman" panose="02020603050405020304" pitchFamily="18" charset="0"/>
                <a:cs typeface="Arial" panose="020B0604020202020204" pitchFamily="34" charset="0"/>
              </a:defRPr>
            </a:lvl3pPr>
            <a:lvl4pPr marL="1600200" indent="-228600">
              <a:defRPr sz="3200">
                <a:solidFill>
                  <a:srgbClr val="003399"/>
                </a:solidFill>
                <a:latin typeface="Times New Roman" panose="02020603050405020304" pitchFamily="18" charset="0"/>
                <a:cs typeface="Arial" panose="020B0604020202020204" pitchFamily="34" charset="0"/>
              </a:defRPr>
            </a:lvl4pPr>
            <a:lvl5pPr marL="2057400" indent="-228600">
              <a:defRPr sz="3200">
                <a:solidFill>
                  <a:srgbClr val="003399"/>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3200">
                <a:solidFill>
                  <a:srgbClr val="003399"/>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3200">
                <a:solidFill>
                  <a:srgbClr val="003399"/>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3200">
                <a:solidFill>
                  <a:srgbClr val="003399"/>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3200">
                <a:solidFill>
                  <a:srgbClr val="003399"/>
                </a:solidFill>
                <a:latin typeface="Times New Roman" panose="02020603050405020304" pitchFamily="18" charset="0"/>
                <a:cs typeface="Arial" panose="020B0604020202020204" pitchFamily="34" charset="0"/>
              </a:defRPr>
            </a:lvl9pPr>
          </a:lstStyle>
          <a:p>
            <a:r>
              <a:rPr lang="ru-RU" altLang="ru-RU" sz="1200">
                <a:solidFill>
                  <a:schemeClr val="tx1"/>
                </a:solidFill>
                <a:latin typeface="Arial" panose="020B0604020202020204" pitchFamily="34" charset="0"/>
              </a:rPr>
              <a:t>Электротехника и электроника</a:t>
            </a:r>
          </a:p>
        </p:txBody>
      </p:sp>
      <p:sp>
        <p:nvSpPr>
          <p:cNvPr id="9219" name="Rectangle 7">
            <a:extLst>
              <a:ext uri="{FF2B5EF4-FFF2-40B4-BE49-F238E27FC236}">
                <a16:creationId xmlns:a16="http://schemas.microsoft.com/office/drawing/2014/main" id="{C7A10D05-C9DB-4FC9-9E36-0A34028D7D93}"/>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3200">
                <a:solidFill>
                  <a:srgbClr val="003399"/>
                </a:solidFill>
                <a:latin typeface="Times New Roman" panose="02020603050405020304" pitchFamily="18" charset="0"/>
                <a:cs typeface="Arial" panose="020B0604020202020204" pitchFamily="34" charset="0"/>
              </a:defRPr>
            </a:lvl1pPr>
            <a:lvl2pPr marL="742950" indent="-285750">
              <a:defRPr sz="3200">
                <a:solidFill>
                  <a:srgbClr val="003399"/>
                </a:solidFill>
                <a:latin typeface="Times New Roman" panose="02020603050405020304" pitchFamily="18" charset="0"/>
                <a:cs typeface="Arial" panose="020B0604020202020204" pitchFamily="34" charset="0"/>
              </a:defRPr>
            </a:lvl2pPr>
            <a:lvl3pPr marL="1143000" indent="-228600">
              <a:defRPr sz="3200">
                <a:solidFill>
                  <a:srgbClr val="003399"/>
                </a:solidFill>
                <a:latin typeface="Times New Roman" panose="02020603050405020304" pitchFamily="18" charset="0"/>
                <a:cs typeface="Arial" panose="020B0604020202020204" pitchFamily="34" charset="0"/>
              </a:defRPr>
            </a:lvl3pPr>
            <a:lvl4pPr marL="1600200" indent="-228600">
              <a:defRPr sz="3200">
                <a:solidFill>
                  <a:srgbClr val="003399"/>
                </a:solidFill>
                <a:latin typeface="Times New Roman" panose="02020603050405020304" pitchFamily="18" charset="0"/>
                <a:cs typeface="Arial" panose="020B0604020202020204" pitchFamily="34" charset="0"/>
              </a:defRPr>
            </a:lvl4pPr>
            <a:lvl5pPr marL="2057400" indent="-228600">
              <a:defRPr sz="3200">
                <a:solidFill>
                  <a:srgbClr val="003399"/>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3200">
                <a:solidFill>
                  <a:srgbClr val="003399"/>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3200">
                <a:solidFill>
                  <a:srgbClr val="003399"/>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3200">
                <a:solidFill>
                  <a:srgbClr val="003399"/>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3200">
                <a:solidFill>
                  <a:srgbClr val="003399"/>
                </a:solidFill>
                <a:latin typeface="Times New Roman" panose="02020603050405020304" pitchFamily="18" charset="0"/>
                <a:cs typeface="Arial" panose="020B0604020202020204" pitchFamily="34" charset="0"/>
              </a:defRPr>
            </a:lvl9pPr>
          </a:lstStyle>
          <a:p>
            <a:fld id="{6E859967-AC26-489C-826F-9037FA970823}" type="slidenum">
              <a:rPr lang="ru-RU" altLang="ru-RU" sz="1200" smtClean="0">
                <a:solidFill>
                  <a:schemeClr val="tx1"/>
                </a:solidFill>
                <a:latin typeface="Arial" panose="020B0604020202020204" pitchFamily="34" charset="0"/>
              </a:rPr>
              <a:pPr/>
              <a:t>30</a:t>
            </a:fld>
            <a:endParaRPr lang="ru-RU" altLang="ru-RU" sz="1200">
              <a:solidFill>
                <a:schemeClr val="tx1"/>
              </a:solidFill>
              <a:latin typeface="Arial" panose="020B0604020202020204" pitchFamily="34" charset="0"/>
            </a:endParaRPr>
          </a:p>
        </p:txBody>
      </p:sp>
      <p:sp>
        <p:nvSpPr>
          <p:cNvPr id="9220" name="Rectangle 2">
            <a:extLst>
              <a:ext uri="{FF2B5EF4-FFF2-40B4-BE49-F238E27FC236}">
                <a16:creationId xmlns:a16="http://schemas.microsoft.com/office/drawing/2014/main" id="{1D96C21F-104F-4522-AB5A-62D24A503582}"/>
              </a:ext>
            </a:extLst>
          </p:cNvPr>
          <p:cNvSpPr>
            <a:spLocks noGrp="1" noRot="1" noChangeAspect="1" noChangeArrowheads="1" noTextEdit="1"/>
          </p:cNvSpPr>
          <p:nvPr>
            <p:ph type="sldImg"/>
          </p:nvPr>
        </p:nvSpPr>
        <p:spPr>
          <a:ln/>
        </p:spPr>
      </p:sp>
      <p:sp>
        <p:nvSpPr>
          <p:cNvPr id="9221" name="Rectangle 3">
            <a:extLst>
              <a:ext uri="{FF2B5EF4-FFF2-40B4-BE49-F238E27FC236}">
                <a16:creationId xmlns:a16="http://schemas.microsoft.com/office/drawing/2014/main" id="{96481C1D-7590-4788-A21B-4C5C19FCCCBC}"/>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ru-RU" altLang="ru-RU"/>
          </a:p>
        </p:txBody>
      </p:sp>
    </p:spTree>
    <p:extLst>
      <p:ext uri="{BB962C8B-B14F-4D97-AF65-F5344CB8AC3E}">
        <p14:creationId xmlns:p14="http://schemas.microsoft.com/office/powerpoint/2010/main" val="316078180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preserve="1" userDrawn="1">
  <p:cSld name="Титульный слайд">
    <p:spTree>
      <p:nvGrpSpPr>
        <p:cNvPr id="1" name=""/>
        <p:cNvGrpSpPr/>
        <p:nvPr/>
      </p:nvGrpSpPr>
      <p:grpSpPr bwMode="auto">
        <a:xfrm>
          <a:off x="0" y="0"/>
          <a:ext cx="0" cy="0"/>
          <a:chOff x="0" y="0"/>
          <a:chExt cx="0" cy="0"/>
        </a:xfrm>
      </p:grpSpPr>
      <p:pic>
        <p:nvPicPr>
          <p:cNvPr id="12" name="Рисунок 11"/>
          <p:cNvPicPr>
            <a:picLocks noChangeAspect="1"/>
          </p:cNvPicPr>
          <p:nvPr userDrawn="1"/>
        </p:nvPicPr>
        <p:blipFill>
          <a:blip r:embed="rId2"/>
          <a:srcRect t="2573" b="2572"/>
          <a:stretch/>
        </p:blipFill>
        <p:spPr bwMode="auto">
          <a:xfrm>
            <a:off x="-35560" y="-31900"/>
            <a:ext cx="3650615" cy="6925460"/>
          </a:xfrm>
          <a:prstGeom prst="rect">
            <a:avLst/>
          </a:prstGeom>
        </p:spPr>
      </p:pic>
      <p:sp>
        <p:nvSpPr>
          <p:cNvPr id="13" name="Прямоугольник 12"/>
          <p:cNvSpPr/>
          <p:nvPr userDrawn="1"/>
        </p:nvSpPr>
        <p:spPr bwMode="auto">
          <a:xfrm>
            <a:off x="3615054" y="-31900"/>
            <a:ext cx="8576945" cy="68899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ru-RU"/>
          </a:p>
        </p:txBody>
      </p:sp>
      <p:sp>
        <p:nvSpPr>
          <p:cNvPr id="35" name="Текст 34"/>
          <p:cNvSpPr>
            <a:spLocks noGrp="1"/>
          </p:cNvSpPr>
          <p:nvPr>
            <p:ph type="body" sz="quarter" idx="12" hasCustomPrompt="1"/>
          </p:nvPr>
        </p:nvSpPr>
        <p:spPr bwMode="auto">
          <a:xfrm>
            <a:off x="3800791" y="6024880"/>
            <a:ext cx="8056247" cy="746760"/>
          </a:xfrm>
        </p:spPr>
        <p:txBody>
          <a:bodyPr>
            <a:noAutofit/>
          </a:bodyPr>
          <a:lstStyle>
            <a:lvl1pPr marL="0" indent="0" algn="l">
              <a:lnSpc>
                <a:spcPct val="100000"/>
              </a:lnSpc>
              <a:spcBef>
                <a:spcPts val="0"/>
              </a:spcBef>
              <a:buNone/>
              <a:defRPr sz="1600">
                <a:solidFill>
                  <a:schemeClr val="accent6"/>
                </a:solidFill>
              </a:defRPr>
            </a:lvl1pPr>
          </a:lstStyle>
          <a:p>
            <a:pPr algn="l">
              <a:defRPr/>
            </a:pPr>
            <a:r>
              <a:rPr lang="ru-RU"/>
              <a:t>Поле для дополнительной информации (16</a:t>
            </a:r>
            <a:r>
              <a:rPr lang="en-US"/>
              <a:t>pt</a:t>
            </a:r>
            <a:r>
              <a:rPr lang="ru-RU"/>
              <a:t>)</a:t>
            </a:r>
            <a:br>
              <a:rPr lang="ru-RU"/>
            </a:br>
            <a:r>
              <a:rPr lang="ru-RU"/>
              <a:t>(пример: Фамилия Имя Отчество; Должность; Место проведения)</a:t>
            </a:r>
            <a:endParaRPr/>
          </a:p>
        </p:txBody>
      </p:sp>
      <p:sp>
        <p:nvSpPr>
          <p:cNvPr id="40" name="Текст 39"/>
          <p:cNvSpPr>
            <a:spLocks noGrp="1"/>
          </p:cNvSpPr>
          <p:nvPr>
            <p:ph type="body" sz="quarter" idx="13" hasCustomPrompt="1"/>
          </p:nvPr>
        </p:nvSpPr>
        <p:spPr bwMode="auto">
          <a:xfrm>
            <a:off x="3800791" y="4003199"/>
            <a:ext cx="8050849" cy="1655762"/>
          </a:xfrm>
        </p:spPr>
        <p:txBody>
          <a:bodyPr/>
          <a:lstStyle>
            <a:lvl1pPr marL="0" indent="0">
              <a:buNone/>
              <a:defRPr sz="2400"/>
            </a:lvl1pPr>
          </a:lstStyle>
          <a:p>
            <a:pPr marL="0" marR="0" lvl="0" indent="0" algn="l" defTabSz="914400">
              <a:lnSpc>
                <a:spcPct val="90000"/>
              </a:lnSpc>
              <a:spcBef>
                <a:spcPts val="1000"/>
              </a:spcBef>
              <a:spcAft>
                <a:spcPts val="0"/>
              </a:spcAft>
              <a:buClrTx/>
              <a:buSzTx/>
              <a:buFont typeface="Arial"/>
              <a:buNone/>
              <a:defRPr/>
            </a:pPr>
            <a:r>
              <a:rPr lang="ru-RU">
                <a:latin typeface="Montserrat"/>
              </a:rPr>
              <a:t>Если информации много, то</a:t>
            </a:r>
            <a:r>
              <a:rPr lang="en-US">
                <a:latin typeface="Montserrat"/>
              </a:rPr>
              <a:t> </a:t>
            </a:r>
            <a:r>
              <a:rPr lang="ru-RU">
                <a:latin typeface="Montserrat"/>
              </a:rPr>
              <a:t>рекомендуется </a:t>
            </a:r>
            <a:r>
              <a:rPr lang="en-US">
                <a:latin typeface="Montserrat"/>
              </a:rPr>
              <a:t> </a:t>
            </a:r>
            <a:r>
              <a:rPr lang="ru-RU">
                <a:latin typeface="Montserrat"/>
              </a:rPr>
              <a:t> использовать подзаголовок (24</a:t>
            </a:r>
            <a:r>
              <a:rPr lang="en-US">
                <a:latin typeface="Montserrat"/>
              </a:rPr>
              <a:t>pt</a:t>
            </a:r>
            <a:r>
              <a:rPr lang="ru-RU">
                <a:latin typeface="Montserrat"/>
              </a:rPr>
              <a:t>)</a:t>
            </a:r>
            <a:endParaRPr/>
          </a:p>
          <a:p>
            <a:pPr lvl="0">
              <a:defRPr/>
            </a:pPr>
            <a:endParaRPr lang="ru-RU"/>
          </a:p>
        </p:txBody>
      </p:sp>
      <p:sp>
        <p:nvSpPr>
          <p:cNvPr id="42" name="Текст 41"/>
          <p:cNvSpPr>
            <a:spLocks noGrp="1"/>
          </p:cNvSpPr>
          <p:nvPr>
            <p:ph type="body" sz="quarter" idx="14" hasCustomPrompt="1"/>
          </p:nvPr>
        </p:nvSpPr>
        <p:spPr bwMode="auto">
          <a:xfrm>
            <a:off x="488435" y="6024880"/>
            <a:ext cx="2638182" cy="335280"/>
          </a:xfrm>
        </p:spPr>
        <p:txBody>
          <a:bodyPr anchor="t">
            <a:noAutofit/>
          </a:bodyPr>
          <a:lstStyle>
            <a:lvl1pPr marL="0" indent="0" algn="ctr">
              <a:buNone/>
              <a:defRPr sz="1600" b="0">
                <a:solidFill>
                  <a:schemeClr val="bg1"/>
                </a:solidFill>
                <a:latin typeface="+mj-lt"/>
              </a:defRPr>
            </a:lvl1pPr>
            <a:lvl2pPr algn="ctr">
              <a:defRPr sz="1600" b="1">
                <a:solidFill>
                  <a:schemeClr val="bg1"/>
                </a:solidFill>
                <a:latin typeface="+mn-lt"/>
              </a:defRPr>
            </a:lvl2pPr>
          </a:lstStyle>
          <a:p>
            <a:pPr marL="0" marR="0" lvl="0" indent="0" algn="l" defTabSz="914400">
              <a:lnSpc>
                <a:spcPct val="90000"/>
              </a:lnSpc>
              <a:spcBef>
                <a:spcPts val="1000"/>
              </a:spcBef>
              <a:spcAft>
                <a:spcPts val="0"/>
              </a:spcAft>
              <a:buClrTx/>
              <a:buSzTx/>
              <a:buFont typeface="Arial"/>
              <a:buNone/>
              <a:defRPr/>
            </a:pPr>
            <a:r>
              <a:rPr lang="ru-RU"/>
              <a:t>Дата (хх.хх.хххх г.)</a:t>
            </a:r>
            <a:endParaRPr/>
          </a:p>
        </p:txBody>
      </p:sp>
      <p:sp>
        <p:nvSpPr>
          <p:cNvPr id="47" name="Заголовок 46"/>
          <p:cNvSpPr>
            <a:spLocks noGrp="1"/>
          </p:cNvSpPr>
          <p:nvPr>
            <p:ph type="title" hasCustomPrompt="1"/>
          </p:nvPr>
        </p:nvSpPr>
        <p:spPr bwMode="auto">
          <a:xfrm>
            <a:off x="3806188" y="1396366"/>
            <a:ext cx="8045451" cy="2032634"/>
          </a:xfrm>
        </p:spPr>
        <p:txBody>
          <a:bodyPr/>
          <a:lstStyle>
            <a:lvl1pPr>
              <a:defRPr sz="4000" b="0">
                <a:latin typeface="Montserrat SemiBold"/>
              </a:defRPr>
            </a:lvl1pPr>
          </a:lstStyle>
          <a:p>
            <a:pPr>
              <a:defRPr/>
            </a:pPr>
            <a:r>
              <a:rPr lang="ru-RU" sz="4000">
                <a:latin typeface="Montserrat"/>
              </a:rPr>
              <a:t>Название презентации может быть набрано </a:t>
            </a:r>
            <a:br>
              <a:rPr lang="ru-RU" sz="4000">
                <a:latin typeface="Montserrat"/>
              </a:rPr>
            </a:br>
            <a:r>
              <a:rPr lang="ru-RU" sz="4000">
                <a:latin typeface="Montserrat"/>
              </a:rPr>
              <a:t>в две или три строки</a:t>
            </a:r>
            <a:r>
              <a:rPr lang="en-US" sz="4000">
                <a:latin typeface="Montserrat"/>
              </a:rPr>
              <a:t> (</a:t>
            </a:r>
            <a:r>
              <a:rPr lang="ru-RU" sz="4000">
                <a:latin typeface="Montserrat"/>
              </a:rPr>
              <a:t>40</a:t>
            </a:r>
            <a:r>
              <a:rPr lang="en-US" sz="4000">
                <a:latin typeface="Montserrat"/>
              </a:rPr>
              <a:t>pt)</a:t>
            </a:r>
            <a:endParaRPr lang="ru-RU"/>
          </a:p>
        </p:txBody>
      </p:sp>
      <p:pic>
        <p:nvPicPr>
          <p:cNvPr id="9" name="Рисунок 8"/>
          <p:cNvPicPr>
            <a:picLocks noChangeAspect="1"/>
          </p:cNvPicPr>
          <p:nvPr userDrawn="1"/>
        </p:nvPicPr>
        <p:blipFill>
          <a:blip r:embed="rId3"/>
          <a:stretch/>
        </p:blipFill>
        <p:spPr bwMode="auto">
          <a:xfrm>
            <a:off x="697047" y="404842"/>
            <a:ext cx="2185400" cy="673396"/>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1">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a:xfrm>
            <a:off x="479424" y="6356350"/>
            <a:ext cx="7673976" cy="365125"/>
          </a:xfrm>
        </p:spPr>
        <p:txBody>
          <a:bodyPr/>
          <a:lstStyle>
            <a:lvl1pPr algn="l">
              <a:defRPr/>
            </a:lvl1p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524375" y="1798320"/>
            <a:ext cx="7185025" cy="4373245"/>
          </a:xfrm>
          <a:prstGeom prst="rect">
            <a:avLst/>
          </a:prstGeom>
          <a:solidFill>
            <a:schemeClr val="accent5">
              <a:lumMod val="20000"/>
              <a:lumOff val="80000"/>
            </a:schemeClr>
          </a:solidFill>
        </p:spPr>
        <p:txBody>
          <a:bodyPr anchor="ctr">
            <a:normAutofit/>
          </a:bodyPr>
          <a:lstStyle>
            <a:lvl1pPr algn="ctr">
              <a:lnSpc>
                <a:spcPct val="100000"/>
              </a:lnSpc>
              <a:spcBef>
                <a:spcPts val="0"/>
              </a:spcBef>
              <a:defRPr sz="14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5" name="Текст 14"/>
          <p:cNvSpPr>
            <a:spLocks noGrp="1"/>
          </p:cNvSpPr>
          <p:nvPr>
            <p:ph type="body" sz="quarter" idx="14" hasCustomPrompt="1"/>
          </p:nvPr>
        </p:nvSpPr>
        <p:spPr bwMode="auto">
          <a:xfrm>
            <a:off x="479424" y="1798320"/>
            <a:ext cx="3892551" cy="853440"/>
          </a:xfrm>
        </p:spPr>
        <p:txBody>
          <a:bodyPr>
            <a:noAutofit/>
          </a:bodyPr>
          <a:lstStyle>
            <a:lvl1pPr>
              <a:defRPr sz="2400">
                <a:latin typeface="+mj-lt"/>
              </a:defRPr>
            </a:lvl1pPr>
          </a:lstStyle>
          <a:p>
            <a:pPr marL="0" marR="0" lvl="0" indent="0" algn="just" defTabSz="914400">
              <a:lnSpc>
                <a:spcPct val="90000"/>
              </a:lnSpc>
              <a:spcBef>
                <a:spcPts val="1000"/>
              </a:spcBef>
              <a:spcAft>
                <a:spcPts val="0"/>
              </a:spcAft>
              <a:buClrTx/>
              <a:buSzTx/>
              <a:buFontTx/>
              <a:buNone/>
              <a:defRPr/>
            </a:pPr>
            <a:r>
              <a:rPr lang="ru-RU"/>
              <a:t>Важная информация (24</a:t>
            </a:r>
            <a:r>
              <a:rPr lang="en-US"/>
              <a:t>pt</a:t>
            </a:r>
            <a:r>
              <a:rPr lang="ru-RU"/>
              <a:t>)</a:t>
            </a:r>
            <a:endParaRPr/>
          </a:p>
        </p:txBody>
      </p:sp>
      <p:sp>
        <p:nvSpPr>
          <p:cNvPr id="22" name="Текст 21"/>
          <p:cNvSpPr>
            <a:spLocks noGrp="1"/>
          </p:cNvSpPr>
          <p:nvPr>
            <p:ph type="body" sz="quarter" idx="17" hasCustomPrompt="1"/>
          </p:nvPr>
        </p:nvSpPr>
        <p:spPr bwMode="auto">
          <a:xfrm>
            <a:off x="479426" y="2763520"/>
            <a:ext cx="3892550" cy="272795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(14pt) на одну колонку, но не располагать ее на всю ширину экрана, так как длинные строки текста затрудняют его восприятие. Чтобы улучшить читаемость, желательно ограничивать количество слов в строке в среднем семью-девятью. Не забывайте о тех, кому будет предназначена ваша презентация. Если есть возможность и желание добавить дополнительные элементы, например, изображение, оно должно поддерживать текст или быть с ним связано. </a:t>
            </a:r>
            <a:endParaRPr/>
          </a:p>
          <a:p>
            <a:pPr lvl="0">
              <a:defRPr/>
            </a:pPr>
            <a:endParaRPr lang="ru-RU"/>
          </a:p>
        </p:txBody>
      </p:sp>
      <p:sp>
        <p:nvSpPr>
          <p:cNvPr id="24" name="Текст 23"/>
          <p:cNvSpPr>
            <a:spLocks noGrp="1"/>
          </p:cNvSpPr>
          <p:nvPr>
            <p:ph type="body" sz="quarter" idx="18" hasCustomPrompt="1"/>
          </p:nvPr>
        </p:nvSpPr>
        <p:spPr bwMode="auto">
          <a:xfrm>
            <a:off x="479426" y="5603240"/>
            <a:ext cx="3892550"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a:t>
            </a:r>
            <a:endParaRPr/>
          </a:p>
          <a:p>
            <a:pPr lvl="0">
              <a:defRPr/>
            </a:pPr>
            <a:endParaRPr lang="ru-RU"/>
          </a:p>
        </p:txBody>
      </p:sp>
      <p:sp>
        <p:nvSpPr>
          <p:cNvPr id="4"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2">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6309042" y="1798320"/>
            <a:ext cx="5400358" cy="4373245"/>
          </a:xfrm>
          <a:prstGeom prst="rect">
            <a:avLst/>
          </a:prstGeom>
          <a:solidFill>
            <a:schemeClr val="accent5">
              <a:lumMod val="20000"/>
              <a:lumOff val="80000"/>
            </a:schemeClr>
          </a:solidFill>
        </p:spPr>
        <p:txBody>
          <a:bodyPr anchor="ctr">
            <a:normAutofit/>
          </a:bodyPr>
          <a:lstStyle>
            <a:lvl1pPr algn="ctr">
              <a:lnSpc>
                <a:spcPct val="100000"/>
              </a:lnSpc>
              <a:spcBef>
                <a:spcPts val="0"/>
              </a:spcBef>
              <a:defRPr sz="14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5" name="Текст 14"/>
          <p:cNvSpPr>
            <a:spLocks noGrp="1"/>
          </p:cNvSpPr>
          <p:nvPr>
            <p:ph type="body" sz="quarter" idx="14" hasCustomPrompt="1"/>
          </p:nvPr>
        </p:nvSpPr>
        <p:spPr bwMode="auto">
          <a:xfrm>
            <a:off x="479424" y="1798320"/>
            <a:ext cx="5616576" cy="853440"/>
          </a:xfrm>
        </p:spPr>
        <p:txBody>
          <a:bodyPr>
            <a:noAutofit/>
          </a:bodyPr>
          <a:lstStyle>
            <a:lvl1pPr algn="l">
              <a:defRPr sz="2400">
                <a:latin typeface="+mj-lt"/>
              </a:defRPr>
            </a:lvl1pPr>
          </a:lstStyle>
          <a:p>
            <a:pPr marL="0" marR="0" lvl="0" indent="0" algn="just" defTabSz="914400">
              <a:lnSpc>
                <a:spcPct val="90000"/>
              </a:lnSpc>
              <a:spcBef>
                <a:spcPts val="1000"/>
              </a:spcBef>
              <a:spcAft>
                <a:spcPts val="0"/>
              </a:spcAft>
              <a:buClrTx/>
              <a:buSzTx/>
              <a:buFontTx/>
              <a:buNone/>
              <a:defRPr/>
            </a:pPr>
            <a:r>
              <a:rPr lang="ru-RU"/>
              <a:t>Важная информация (24</a:t>
            </a:r>
            <a:r>
              <a:rPr lang="en-US"/>
              <a:t>pt</a:t>
            </a:r>
            <a:r>
              <a:rPr lang="ru-RU"/>
              <a:t>)</a:t>
            </a:r>
            <a:endParaRPr/>
          </a:p>
        </p:txBody>
      </p:sp>
      <p:sp>
        <p:nvSpPr>
          <p:cNvPr id="22" name="Текст 21"/>
          <p:cNvSpPr>
            <a:spLocks noGrp="1"/>
          </p:cNvSpPr>
          <p:nvPr>
            <p:ph type="body" sz="quarter" idx="17" hasCustomPrompt="1"/>
          </p:nvPr>
        </p:nvSpPr>
        <p:spPr bwMode="auto">
          <a:xfrm>
            <a:off x="479425" y="2763520"/>
            <a:ext cx="5616575"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(14pt) на одну колонку, но не располагать ее на всю ширину экрана, так как длинные строки текста затрудняют его восприятие. Чтобы улучшить читаемость, желательно ограничивать количество слов в строке в среднем семью-девятью. Не забывайте о тех, кому будет предназначена ваша презентация. Если есть возможность и желание добавить дополнительные элементы, например, изображение, оно должно поддерживать текст или быть с ним связано. </a:t>
            </a:r>
            <a:endParaRPr/>
          </a:p>
          <a:p>
            <a:pPr lvl="0">
              <a:defRPr/>
            </a:pPr>
            <a:endParaRPr lang="ru-RU"/>
          </a:p>
        </p:txBody>
      </p:sp>
      <p:sp>
        <p:nvSpPr>
          <p:cNvPr id="24" name="Текст 23"/>
          <p:cNvSpPr>
            <a:spLocks noGrp="1"/>
          </p:cNvSpPr>
          <p:nvPr>
            <p:ph type="body" sz="quarter" idx="18" hasCustomPrompt="1"/>
          </p:nvPr>
        </p:nvSpPr>
        <p:spPr bwMode="auto">
          <a:xfrm>
            <a:off x="479425" y="5603240"/>
            <a:ext cx="5616575"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a:t>
            </a:r>
            <a:endParaRPr/>
          </a:p>
          <a:p>
            <a:pPr lvl="0">
              <a:defRPr/>
            </a:pPr>
            <a:endParaRPr lang="ru-RU"/>
          </a:p>
        </p:txBody>
      </p:sp>
      <p:sp>
        <p:nvSpPr>
          <p:cNvPr id="12"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3">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7781926" y="1798320"/>
            <a:ext cx="3927474" cy="2114233"/>
          </a:xfrm>
          <a:prstGeom prst="rect">
            <a:avLst/>
          </a:prstGeom>
          <a:solidFill>
            <a:schemeClr val="accent5">
              <a:lumMod val="20000"/>
              <a:lumOff val="80000"/>
            </a:schemeClr>
          </a:solidFill>
        </p:spPr>
        <p:txBody>
          <a:bodyPr anchor="ctr">
            <a:normAutofit/>
          </a:bodyPr>
          <a:lstStyle>
            <a:lvl1pPr algn="ctr">
              <a:lnSpc>
                <a:spcPct val="100000"/>
              </a:lnSpc>
              <a:spcBef>
                <a:spcPts val="0"/>
              </a:spcBef>
              <a:defRPr sz="14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5" name="Текст 14"/>
          <p:cNvSpPr>
            <a:spLocks noGrp="1"/>
          </p:cNvSpPr>
          <p:nvPr>
            <p:ph type="body" sz="quarter" idx="14" hasCustomPrompt="1"/>
          </p:nvPr>
        </p:nvSpPr>
        <p:spPr bwMode="auto">
          <a:xfrm>
            <a:off x="479423" y="1798320"/>
            <a:ext cx="7054851" cy="853440"/>
          </a:xfrm>
        </p:spPr>
        <p:txBody>
          <a:bodyPr>
            <a:noAutofit/>
          </a:bodyPr>
          <a:lstStyle>
            <a:lvl1pPr>
              <a:defRPr sz="2400">
                <a:latin typeface="+mj-lt"/>
              </a:defRPr>
            </a:lvl1pPr>
          </a:lstStyle>
          <a:p>
            <a:pPr marL="0" marR="0" lvl="0" indent="0" algn="just" defTabSz="914400">
              <a:lnSpc>
                <a:spcPct val="90000"/>
              </a:lnSpc>
              <a:spcBef>
                <a:spcPts val="1000"/>
              </a:spcBef>
              <a:spcAft>
                <a:spcPts val="0"/>
              </a:spcAft>
              <a:buClrTx/>
              <a:buSzTx/>
              <a:buFontTx/>
              <a:buNone/>
              <a:defRPr/>
            </a:pPr>
            <a:r>
              <a:rPr lang="ru-RU"/>
              <a:t>Важная информация (24</a:t>
            </a:r>
            <a:r>
              <a:rPr lang="en-US"/>
              <a:t>pt</a:t>
            </a:r>
            <a:r>
              <a:rPr lang="ru-RU"/>
              <a:t>)</a:t>
            </a:r>
            <a:endParaRPr/>
          </a:p>
        </p:txBody>
      </p:sp>
      <p:sp>
        <p:nvSpPr>
          <p:cNvPr id="22" name="Текст 21"/>
          <p:cNvSpPr>
            <a:spLocks noGrp="1"/>
          </p:cNvSpPr>
          <p:nvPr>
            <p:ph type="body" sz="quarter" idx="17" hasCustomPrompt="1"/>
          </p:nvPr>
        </p:nvSpPr>
        <p:spPr bwMode="auto">
          <a:xfrm>
            <a:off x="479425" y="2763520"/>
            <a:ext cx="7054850"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(14pt) на одну колонку, но не располагать ее на всю ширину экрана, так как длинные строки текста затрудняют его восприятие. Чтобы улучшить читаемость, желательно ограничивать количество слов в строке в среднем семью-девятью. Не забывайте о тех, кому будет предназначена ваша презентация. Если есть возможность и желание добавить дополнительные элементы, например, изображение, оно должно поддерживать текст или быть с ним связано. </a:t>
            </a:r>
            <a:endParaRPr/>
          </a:p>
          <a:p>
            <a:pPr lvl="0">
              <a:defRPr/>
            </a:pPr>
            <a:endParaRPr lang="ru-RU"/>
          </a:p>
        </p:txBody>
      </p:sp>
      <p:sp>
        <p:nvSpPr>
          <p:cNvPr id="24" name="Текст 23"/>
          <p:cNvSpPr>
            <a:spLocks noGrp="1"/>
          </p:cNvSpPr>
          <p:nvPr>
            <p:ph type="body" sz="quarter" idx="18" hasCustomPrompt="1"/>
          </p:nvPr>
        </p:nvSpPr>
        <p:spPr bwMode="auto">
          <a:xfrm>
            <a:off x="479425" y="5603240"/>
            <a:ext cx="7054849"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a:t>
            </a:r>
            <a:endParaRPr/>
          </a:p>
          <a:p>
            <a:pPr lvl="0">
              <a:defRPr/>
            </a:pPr>
            <a:endParaRPr lang="ru-RU"/>
          </a:p>
        </p:txBody>
      </p:sp>
      <p:sp>
        <p:nvSpPr>
          <p:cNvPr id="9" name="Рисунок 12"/>
          <p:cNvSpPr>
            <a:spLocks noGrp="1"/>
          </p:cNvSpPr>
          <p:nvPr>
            <p:ph type="pic" sz="quarter" idx="19" hasCustomPrompt="1"/>
          </p:nvPr>
        </p:nvSpPr>
        <p:spPr bwMode="auto">
          <a:xfrm>
            <a:off x="7781926" y="4057332"/>
            <a:ext cx="3927474" cy="2114233"/>
          </a:xfrm>
          <a:prstGeom prst="rect">
            <a:avLst/>
          </a:prstGeom>
          <a:solidFill>
            <a:schemeClr val="accent5">
              <a:lumMod val="20000"/>
              <a:lumOff val="80000"/>
            </a:schemeClr>
          </a:solidFill>
        </p:spPr>
        <p:txBody>
          <a:bodyPr anchor="ctr">
            <a:normAutofit/>
          </a:bodyPr>
          <a:lstStyle>
            <a:lvl1pPr algn="ctr">
              <a:lnSpc>
                <a:spcPct val="100000"/>
              </a:lnSpc>
              <a:spcBef>
                <a:spcPts val="0"/>
              </a:spcBef>
              <a:defRPr sz="14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6" name="Текст 3"/>
          <p:cNvSpPr>
            <a:spLocks noGrp="1"/>
          </p:cNvSpPr>
          <p:nvPr>
            <p:ph type="body" sz="quarter" idx="20"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4">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79425" y="1686558"/>
            <a:ext cx="5433695" cy="1742441"/>
          </a:xfrm>
          <a:prstGeom prst="rect">
            <a:avLst/>
          </a:prstGeom>
          <a:solidFill>
            <a:schemeClr val="accent5">
              <a:lumMod val="40000"/>
              <a:lumOff val="6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22" name="Текст 21"/>
          <p:cNvSpPr>
            <a:spLocks noGrp="1"/>
          </p:cNvSpPr>
          <p:nvPr>
            <p:ph type="body" sz="quarter" idx="17" hasCustomPrompt="1"/>
          </p:nvPr>
        </p:nvSpPr>
        <p:spPr bwMode="auto">
          <a:xfrm>
            <a:off x="479425" y="3510280"/>
            <a:ext cx="5433695"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4</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3" name="Рисунок 12"/>
          <p:cNvSpPr>
            <a:spLocks noGrp="1"/>
          </p:cNvSpPr>
          <p:nvPr>
            <p:ph type="pic" sz="quarter" idx="18" hasCustomPrompt="1"/>
          </p:nvPr>
        </p:nvSpPr>
        <p:spPr bwMode="auto">
          <a:xfrm>
            <a:off x="6280470" y="1686558"/>
            <a:ext cx="5433695" cy="1742441"/>
          </a:xfrm>
          <a:prstGeom prst="rect">
            <a:avLst/>
          </a:prstGeom>
          <a:solidFill>
            <a:schemeClr val="accent5">
              <a:lumMod val="40000"/>
              <a:lumOff val="6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4" name="Текст 21"/>
          <p:cNvSpPr>
            <a:spLocks noGrp="1"/>
          </p:cNvSpPr>
          <p:nvPr>
            <p:ph type="body" sz="quarter" idx="19" hasCustomPrompt="1"/>
          </p:nvPr>
        </p:nvSpPr>
        <p:spPr bwMode="auto">
          <a:xfrm>
            <a:off x="6280470" y="3510280"/>
            <a:ext cx="5433695"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4</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15" name="Текст 3"/>
          <p:cNvSpPr>
            <a:spLocks noGrp="1"/>
          </p:cNvSpPr>
          <p:nvPr>
            <p:ph type="body" sz="quarter" idx="20"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5">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79426" y="1686557"/>
            <a:ext cx="3544250" cy="1742441"/>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22" name="Текст 21"/>
          <p:cNvSpPr>
            <a:spLocks noGrp="1"/>
          </p:cNvSpPr>
          <p:nvPr>
            <p:ph type="body" sz="quarter" idx="17" hasCustomPrompt="1"/>
          </p:nvPr>
        </p:nvSpPr>
        <p:spPr bwMode="auto">
          <a:xfrm>
            <a:off x="479425" y="3510280"/>
            <a:ext cx="3544247" cy="272795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p:txBody>
      </p:sp>
      <p:sp>
        <p:nvSpPr>
          <p:cNvPr id="3" name="Рисунок 12"/>
          <p:cNvSpPr>
            <a:spLocks noGrp="1"/>
          </p:cNvSpPr>
          <p:nvPr>
            <p:ph type="pic" sz="quarter" idx="18" hasCustomPrompt="1"/>
          </p:nvPr>
        </p:nvSpPr>
        <p:spPr bwMode="auto">
          <a:xfrm>
            <a:off x="4316413" y="1686557"/>
            <a:ext cx="3544250" cy="1742441"/>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4" name="Текст 21"/>
          <p:cNvSpPr>
            <a:spLocks noGrp="1"/>
          </p:cNvSpPr>
          <p:nvPr>
            <p:ph type="body" sz="quarter" idx="19" hasCustomPrompt="1"/>
          </p:nvPr>
        </p:nvSpPr>
        <p:spPr bwMode="auto">
          <a:xfrm>
            <a:off x="4316412" y="3510280"/>
            <a:ext cx="3544249" cy="272795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5" name="Рисунок 12"/>
          <p:cNvSpPr>
            <a:spLocks noGrp="1"/>
          </p:cNvSpPr>
          <p:nvPr>
            <p:ph type="pic" sz="quarter" idx="20" hasCustomPrompt="1"/>
          </p:nvPr>
        </p:nvSpPr>
        <p:spPr bwMode="auto">
          <a:xfrm>
            <a:off x="8153399" y="1686557"/>
            <a:ext cx="3544250" cy="1742441"/>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6" name="Текст 21"/>
          <p:cNvSpPr>
            <a:spLocks noGrp="1"/>
          </p:cNvSpPr>
          <p:nvPr>
            <p:ph type="body" sz="quarter" idx="21" hasCustomPrompt="1"/>
          </p:nvPr>
        </p:nvSpPr>
        <p:spPr bwMode="auto">
          <a:xfrm>
            <a:off x="8153399" y="3510280"/>
            <a:ext cx="3556000" cy="272795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lang="en-US"/>
          </a:p>
          <a:p>
            <a:pPr marL="0" marR="0" lvl="0" indent="0" algn="just" defTabSz="914400">
              <a:lnSpc>
                <a:spcPct val="90000"/>
              </a:lnSpc>
              <a:spcBef>
                <a:spcPts val="1000"/>
              </a:spcBef>
              <a:spcAft>
                <a:spcPts val="0"/>
              </a:spcAft>
              <a:buClrTx/>
              <a:buSzTx/>
              <a:buFontTx/>
              <a:buNone/>
              <a:defRPr/>
            </a:pP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15" name="Текст 3"/>
          <p:cNvSpPr>
            <a:spLocks noGrp="1"/>
          </p:cNvSpPr>
          <p:nvPr>
            <p:ph type="body" sz="quarter" idx="22"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6">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088701"/>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79426" y="1686557"/>
            <a:ext cx="3544250" cy="2727959"/>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22" name="Текст 21"/>
          <p:cNvSpPr>
            <a:spLocks noGrp="1"/>
          </p:cNvSpPr>
          <p:nvPr>
            <p:ph type="body" sz="quarter" idx="17" hasCustomPrompt="1"/>
          </p:nvPr>
        </p:nvSpPr>
        <p:spPr bwMode="auto">
          <a:xfrm>
            <a:off x="479425" y="4495798"/>
            <a:ext cx="3544247"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p:txBody>
      </p:sp>
      <p:sp>
        <p:nvSpPr>
          <p:cNvPr id="3" name="Рисунок 12"/>
          <p:cNvSpPr>
            <a:spLocks noGrp="1"/>
          </p:cNvSpPr>
          <p:nvPr>
            <p:ph type="pic" sz="quarter" idx="18" hasCustomPrompt="1"/>
          </p:nvPr>
        </p:nvSpPr>
        <p:spPr bwMode="auto">
          <a:xfrm>
            <a:off x="4316413" y="1686557"/>
            <a:ext cx="3544250" cy="2727959"/>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4" name="Текст 21"/>
          <p:cNvSpPr>
            <a:spLocks noGrp="1"/>
          </p:cNvSpPr>
          <p:nvPr>
            <p:ph type="body" sz="quarter" idx="19" hasCustomPrompt="1"/>
          </p:nvPr>
        </p:nvSpPr>
        <p:spPr bwMode="auto">
          <a:xfrm>
            <a:off x="4316412" y="4495798"/>
            <a:ext cx="3544249"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p:txBody>
      </p:sp>
      <p:sp>
        <p:nvSpPr>
          <p:cNvPr id="5" name="Рисунок 12"/>
          <p:cNvSpPr>
            <a:spLocks noGrp="1"/>
          </p:cNvSpPr>
          <p:nvPr>
            <p:ph type="pic" sz="quarter" idx="20" hasCustomPrompt="1"/>
          </p:nvPr>
        </p:nvSpPr>
        <p:spPr bwMode="auto">
          <a:xfrm>
            <a:off x="8153399" y="1686558"/>
            <a:ext cx="3544250" cy="271875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6" name="Текст 21"/>
          <p:cNvSpPr>
            <a:spLocks noGrp="1"/>
          </p:cNvSpPr>
          <p:nvPr>
            <p:ph type="body" sz="quarter" idx="21" hasCustomPrompt="1"/>
          </p:nvPr>
        </p:nvSpPr>
        <p:spPr bwMode="auto">
          <a:xfrm>
            <a:off x="8153399" y="4495798"/>
            <a:ext cx="3556000"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a:p>
            <a:pPr lvl="0">
              <a:defRPr/>
            </a:pPr>
            <a:endParaRPr lang="ru-RU"/>
          </a:p>
        </p:txBody>
      </p:sp>
      <p:sp>
        <p:nvSpPr>
          <p:cNvPr id="15" name="Текст 3"/>
          <p:cNvSpPr>
            <a:spLocks noGrp="1"/>
          </p:cNvSpPr>
          <p:nvPr>
            <p:ph type="body" sz="quarter" idx="22"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ческое изображение_вид7">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088701"/>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79426" y="1686557"/>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2" name="Рисунок 12"/>
          <p:cNvSpPr>
            <a:spLocks noGrp="1"/>
          </p:cNvSpPr>
          <p:nvPr>
            <p:ph type="pic" sz="quarter" idx="22" hasCustomPrompt="1"/>
          </p:nvPr>
        </p:nvSpPr>
        <p:spPr bwMode="auto">
          <a:xfrm>
            <a:off x="479426" y="4021453"/>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4" name="Рисунок 12"/>
          <p:cNvSpPr>
            <a:spLocks noGrp="1"/>
          </p:cNvSpPr>
          <p:nvPr>
            <p:ph type="pic" sz="quarter" idx="23" hasCustomPrompt="1"/>
          </p:nvPr>
        </p:nvSpPr>
        <p:spPr bwMode="auto">
          <a:xfrm>
            <a:off x="4323875" y="1686557"/>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5" name="Рисунок 12"/>
          <p:cNvSpPr>
            <a:spLocks noGrp="1"/>
          </p:cNvSpPr>
          <p:nvPr>
            <p:ph type="pic" sz="quarter" idx="24" hasCustomPrompt="1"/>
          </p:nvPr>
        </p:nvSpPr>
        <p:spPr bwMode="auto">
          <a:xfrm>
            <a:off x="4323875" y="4021453"/>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6" name="Рисунок 12"/>
          <p:cNvSpPr>
            <a:spLocks noGrp="1"/>
          </p:cNvSpPr>
          <p:nvPr>
            <p:ph type="pic" sz="quarter" idx="25" hasCustomPrompt="1"/>
          </p:nvPr>
        </p:nvSpPr>
        <p:spPr bwMode="auto">
          <a:xfrm>
            <a:off x="8165150" y="1686557"/>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7" name="Рисунок 12"/>
          <p:cNvSpPr>
            <a:spLocks noGrp="1"/>
          </p:cNvSpPr>
          <p:nvPr>
            <p:ph type="pic" sz="quarter" idx="26" hasCustomPrompt="1"/>
          </p:nvPr>
        </p:nvSpPr>
        <p:spPr bwMode="auto">
          <a:xfrm>
            <a:off x="8165150" y="4021453"/>
            <a:ext cx="3544250" cy="2216786"/>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200"/>
            </a:lvl1pPr>
          </a:lstStyle>
          <a:p>
            <a:pPr>
              <a:defRPr/>
            </a:pPr>
            <a:r>
              <a:rPr lang="ru-RU"/>
              <a:t>Для того, чтобы заполнить слайд </a:t>
            </a:r>
            <a:br>
              <a:rPr lang="ru-RU"/>
            </a:br>
            <a:r>
              <a:rPr lang="ru-RU"/>
              <a:t>и не оставлять его пустым, рекомендуется </a:t>
            </a:r>
            <a:br>
              <a:rPr lang="ru-RU"/>
            </a:br>
            <a:r>
              <a:rPr lang="ru-RU"/>
              <a:t>в это поле добавить иллюстрацию </a:t>
            </a:r>
            <a:br>
              <a:rPr lang="ru-RU"/>
            </a:br>
            <a:r>
              <a:rPr lang="ru-RU"/>
              <a:t>или фотографию.</a:t>
            </a:r>
            <a:endParaRPr/>
          </a:p>
        </p:txBody>
      </p:sp>
      <p:sp>
        <p:nvSpPr>
          <p:cNvPr id="19"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preserve="1" userDrawn="1">
  <p:cSld name="МТУСИ_Иллюстрация процесса">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13" name="Рисунок 12"/>
          <p:cNvSpPr>
            <a:spLocks noGrp="1"/>
          </p:cNvSpPr>
          <p:nvPr>
            <p:ph type="pic" sz="quarter" idx="13" hasCustomPrompt="1"/>
          </p:nvPr>
        </p:nvSpPr>
        <p:spPr bwMode="auto">
          <a:xfrm>
            <a:off x="479423" y="2735265"/>
            <a:ext cx="1296038" cy="853440"/>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000"/>
            </a:lvl1pPr>
          </a:lstStyle>
          <a:p>
            <a:pPr>
              <a:defRPr/>
            </a:pPr>
            <a:r>
              <a:rPr lang="ru-RU"/>
              <a:t>Рекомендуется </a:t>
            </a:r>
            <a:br>
              <a:rPr lang="ru-RU"/>
            </a:br>
            <a:r>
              <a:rPr lang="ru-RU"/>
              <a:t>в это поле добавить иконку</a:t>
            </a:r>
            <a:endParaRPr/>
          </a:p>
        </p:txBody>
      </p:sp>
      <p:sp>
        <p:nvSpPr>
          <p:cNvPr id="15" name="Текст 14"/>
          <p:cNvSpPr>
            <a:spLocks noGrp="1"/>
          </p:cNvSpPr>
          <p:nvPr>
            <p:ph type="body" sz="quarter" idx="14" hasCustomPrompt="1"/>
          </p:nvPr>
        </p:nvSpPr>
        <p:spPr bwMode="auto">
          <a:xfrm>
            <a:off x="479423" y="1798320"/>
            <a:ext cx="11233152" cy="853440"/>
          </a:xfrm>
        </p:spPr>
        <p:txBody>
          <a:bodyPr>
            <a:noAutofit/>
          </a:bodyPr>
          <a:lstStyle>
            <a:lvl1pPr>
              <a:defRPr sz="2400">
                <a:latin typeface="+mj-lt"/>
              </a:defRPr>
            </a:lvl1pPr>
          </a:lstStyle>
          <a:p>
            <a:pPr marL="0" marR="0" lvl="0" indent="0" algn="just" defTabSz="914400">
              <a:lnSpc>
                <a:spcPct val="90000"/>
              </a:lnSpc>
              <a:spcBef>
                <a:spcPts val="1000"/>
              </a:spcBef>
              <a:spcAft>
                <a:spcPts val="0"/>
              </a:spcAft>
              <a:buClrTx/>
              <a:buSzTx/>
              <a:buFontTx/>
              <a:buNone/>
              <a:defRPr/>
            </a:pPr>
            <a:r>
              <a:rPr lang="ru-RU"/>
              <a:t>Важная информация (24</a:t>
            </a:r>
            <a:r>
              <a:rPr lang="en-US"/>
              <a:t>pt</a:t>
            </a:r>
            <a:r>
              <a:rPr lang="ru-RU"/>
              <a:t>)</a:t>
            </a:r>
            <a:endParaRPr/>
          </a:p>
        </p:txBody>
      </p:sp>
      <p:sp>
        <p:nvSpPr>
          <p:cNvPr id="22" name="Текст 21"/>
          <p:cNvSpPr>
            <a:spLocks noGrp="1"/>
          </p:cNvSpPr>
          <p:nvPr>
            <p:ph type="body" sz="quarter" idx="17" hasCustomPrompt="1"/>
          </p:nvPr>
        </p:nvSpPr>
        <p:spPr bwMode="auto">
          <a:xfrm>
            <a:off x="1971675" y="2735266"/>
            <a:ext cx="9726838" cy="8534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a:t>
            </a:r>
            <a:endParaRPr/>
          </a:p>
          <a:p>
            <a:pPr lvl="0">
              <a:defRPr/>
            </a:pPr>
            <a:endParaRPr lang="ru-RU"/>
          </a:p>
        </p:txBody>
      </p:sp>
      <p:sp>
        <p:nvSpPr>
          <p:cNvPr id="24" name="Текст 23"/>
          <p:cNvSpPr>
            <a:spLocks noGrp="1"/>
          </p:cNvSpPr>
          <p:nvPr>
            <p:ph type="body" sz="quarter" idx="18" hasCustomPrompt="1"/>
          </p:nvPr>
        </p:nvSpPr>
        <p:spPr bwMode="auto">
          <a:xfrm>
            <a:off x="479425" y="5603240"/>
            <a:ext cx="11229974"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a:t>
            </a:r>
            <a:endParaRPr/>
          </a:p>
          <a:p>
            <a:pPr lvl="0">
              <a:defRPr/>
            </a:pPr>
            <a:endParaRPr lang="ru-RU"/>
          </a:p>
        </p:txBody>
      </p:sp>
      <p:sp>
        <p:nvSpPr>
          <p:cNvPr id="12" name="Рисунок 12"/>
          <p:cNvSpPr>
            <a:spLocks noGrp="1"/>
          </p:cNvSpPr>
          <p:nvPr>
            <p:ph type="pic" sz="quarter" idx="19" hasCustomPrompt="1"/>
          </p:nvPr>
        </p:nvSpPr>
        <p:spPr bwMode="auto">
          <a:xfrm>
            <a:off x="479423" y="3702060"/>
            <a:ext cx="1296038" cy="853440"/>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000"/>
            </a:lvl1pPr>
          </a:lstStyle>
          <a:p>
            <a:pPr>
              <a:defRPr/>
            </a:pPr>
            <a:r>
              <a:rPr lang="ru-RU"/>
              <a:t>Рекомендуется </a:t>
            </a:r>
            <a:br>
              <a:rPr lang="ru-RU"/>
            </a:br>
            <a:r>
              <a:rPr lang="ru-RU"/>
              <a:t>в это поле добавить иконку</a:t>
            </a:r>
            <a:endParaRPr/>
          </a:p>
        </p:txBody>
      </p:sp>
      <p:sp>
        <p:nvSpPr>
          <p:cNvPr id="14" name="Рисунок 12"/>
          <p:cNvSpPr>
            <a:spLocks noGrp="1"/>
          </p:cNvSpPr>
          <p:nvPr>
            <p:ph type="pic" sz="quarter" idx="20" hasCustomPrompt="1"/>
          </p:nvPr>
        </p:nvSpPr>
        <p:spPr bwMode="auto">
          <a:xfrm>
            <a:off x="479423" y="4638039"/>
            <a:ext cx="1296038" cy="853440"/>
          </a:xfrm>
          <a:prstGeom prst="rect">
            <a:avLst/>
          </a:prstGeom>
          <a:solidFill>
            <a:schemeClr val="accent5">
              <a:lumMod val="20000"/>
              <a:lumOff val="80000"/>
            </a:schemeClr>
          </a:solidFill>
        </p:spPr>
        <p:txBody>
          <a:bodyPr anchor="ctr">
            <a:noAutofit/>
          </a:bodyPr>
          <a:lstStyle>
            <a:lvl1pPr algn="ctr">
              <a:lnSpc>
                <a:spcPct val="100000"/>
              </a:lnSpc>
              <a:spcBef>
                <a:spcPts val="0"/>
              </a:spcBef>
              <a:defRPr sz="1000"/>
            </a:lvl1pPr>
          </a:lstStyle>
          <a:p>
            <a:pPr>
              <a:defRPr/>
            </a:pPr>
            <a:r>
              <a:rPr lang="ru-RU"/>
              <a:t>Рекомендуется </a:t>
            </a:r>
            <a:br>
              <a:rPr lang="ru-RU"/>
            </a:br>
            <a:r>
              <a:rPr lang="ru-RU"/>
              <a:t>в это поле добавить иконку</a:t>
            </a:r>
            <a:endParaRPr/>
          </a:p>
        </p:txBody>
      </p:sp>
      <p:sp>
        <p:nvSpPr>
          <p:cNvPr id="17" name="Текст 21"/>
          <p:cNvSpPr>
            <a:spLocks noGrp="1"/>
          </p:cNvSpPr>
          <p:nvPr>
            <p:ph type="body" sz="quarter" idx="21" hasCustomPrompt="1"/>
          </p:nvPr>
        </p:nvSpPr>
        <p:spPr bwMode="auto">
          <a:xfrm>
            <a:off x="1971674" y="3699500"/>
            <a:ext cx="9726838" cy="8534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a:t>
            </a:r>
            <a:endParaRPr/>
          </a:p>
          <a:p>
            <a:pPr lvl="0">
              <a:defRPr/>
            </a:pPr>
            <a:endParaRPr lang="ru-RU"/>
          </a:p>
        </p:txBody>
      </p:sp>
      <p:sp>
        <p:nvSpPr>
          <p:cNvPr id="18" name="Текст 21"/>
          <p:cNvSpPr>
            <a:spLocks noGrp="1"/>
          </p:cNvSpPr>
          <p:nvPr>
            <p:ph type="body" sz="quarter" idx="22" hasCustomPrompt="1"/>
          </p:nvPr>
        </p:nvSpPr>
        <p:spPr bwMode="auto">
          <a:xfrm>
            <a:off x="1971673" y="4636445"/>
            <a:ext cx="9726838" cy="8534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a:t>
            </a:r>
            <a:endParaRPr/>
          </a:p>
          <a:p>
            <a:pPr lvl="0">
              <a:defRPr/>
            </a:pPr>
            <a:endParaRPr lang="ru-RU"/>
          </a:p>
        </p:txBody>
      </p:sp>
      <p:sp>
        <p:nvSpPr>
          <p:cNvPr id="19" name="Текст 3"/>
          <p:cNvSpPr>
            <a:spLocks noGrp="1"/>
          </p:cNvSpPr>
          <p:nvPr>
            <p:ph type="body" sz="quarter" idx="23"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к_вид1">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6375" cy="365125"/>
          </a:xfrm>
        </p:spPr>
        <p:txBody>
          <a:bodyPr/>
          <a:lstStyle/>
          <a:p>
            <a:pPr>
              <a:defRPr/>
            </a:pPr>
            <a:fld id="{56DCE2C9-06B9-4058-BEBD-6FDE8D61F8A0}" type="slidenum">
              <a:rPr lang="ru-RU"/>
              <a:t>‹#›</a:t>
            </a:fld>
            <a:endParaRPr lang="ru-RU"/>
          </a:p>
        </p:txBody>
      </p:sp>
      <p:sp>
        <p:nvSpPr>
          <p:cNvPr id="15" name="Текст 14"/>
          <p:cNvSpPr>
            <a:spLocks noGrp="1"/>
          </p:cNvSpPr>
          <p:nvPr>
            <p:ph type="body" sz="quarter" idx="14" hasCustomPrompt="1"/>
          </p:nvPr>
        </p:nvSpPr>
        <p:spPr bwMode="auto">
          <a:xfrm>
            <a:off x="479424" y="1922465"/>
            <a:ext cx="5616576" cy="729294"/>
          </a:xfrm>
        </p:spPr>
        <p:txBody>
          <a:bodyPr>
            <a:noAutofit/>
          </a:bodyPr>
          <a:lstStyle>
            <a:lvl1pPr>
              <a:lnSpc>
                <a:spcPct val="100000"/>
              </a:lnSpc>
              <a:spcBef>
                <a:spcPts val="0"/>
              </a:spcBef>
              <a:defRPr lang="ru-RU" sz="1600">
                <a:solidFill>
                  <a:schemeClr val="tx1"/>
                </a:solidFill>
                <a:latin typeface="+mj-lt"/>
                <a:ea typeface="+mn-ea"/>
                <a:cs typeface="+mn-cs"/>
              </a:defRPr>
            </a:lvl1pPr>
          </a:lstStyle>
          <a:p>
            <a:pPr marL="0" marR="0" lvl="0" indent="0" algn="just" defTabSz="914400">
              <a:lnSpc>
                <a:spcPct val="90000"/>
              </a:lnSpc>
              <a:spcBef>
                <a:spcPts val="1000"/>
              </a:spcBef>
              <a:spcAft>
                <a:spcPts val="0"/>
              </a:spcAft>
              <a:buClrTx/>
              <a:buSzTx/>
              <a:buFontTx/>
              <a:buNone/>
              <a:defRPr/>
            </a:pPr>
            <a:r>
              <a:rPr lang="ru-RU"/>
              <a:t>Название графика может быть набрано в две или три строки</a:t>
            </a:r>
            <a:r>
              <a:rPr lang="ru-RU" sz="1600">
                <a:latin typeface="Montserrat"/>
              </a:rPr>
              <a:t> </a:t>
            </a:r>
            <a:r>
              <a:rPr lang="ru-RU"/>
              <a:t>(16</a:t>
            </a:r>
            <a:r>
              <a:rPr lang="en-US"/>
              <a:t>pt</a:t>
            </a:r>
            <a:r>
              <a:rPr lang="ru-RU"/>
              <a:t>)</a:t>
            </a:r>
            <a:endParaRPr/>
          </a:p>
        </p:txBody>
      </p:sp>
      <p:sp>
        <p:nvSpPr>
          <p:cNvPr id="22" name="Текст 21"/>
          <p:cNvSpPr>
            <a:spLocks noGrp="1"/>
          </p:cNvSpPr>
          <p:nvPr>
            <p:ph type="body" sz="quarter" idx="17" hasCustomPrompt="1"/>
          </p:nvPr>
        </p:nvSpPr>
        <p:spPr bwMode="auto">
          <a:xfrm>
            <a:off x="479425" y="2763520"/>
            <a:ext cx="5616575" cy="272795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(14pt) на одну колонку, но не располагать ее на всю ширину экрана, так как длинные строки текста затрудняют его восприятие. Чтобы улучшить читаемость, желательно ограничивать количество слов в строке в среднем семью-девятью. Не забывайте о тех, кому будет предназначена ваша презентация. Если есть возможность и желание добавить дополнительные элементы, например, изображение, оно должно поддерживать текст или быть с ним связано. </a:t>
            </a:r>
            <a:endParaRPr/>
          </a:p>
          <a:p>
            <a:pPr lvl="0">
              <a:defRPr/>
            </a:pPr>
            <a:endParaRPr lang="ru-RU"/>
          </a:p>
        </p:txBody>
      </p:sp>
      <p:sp>
        <p:nvSpPr>
          <p:cNvPr id="24" name="Текст 23"/>
          <p:cNvSpPr>
            <a:spLocks noGrp="1"/>
          </p:cNvSpPr>
          <p:nvPr>
            <p:ph type="body" sz="quarter" idx="18" hasCustomPrompt="1"/>
          </p:nvPr>
        </p:nvSpPr>
        <p:spPr bwMode="auto">
          <a:xfrm>
            <a:off x="479425" y="5603240"/>
            <a:ext cx="5616575" cy="568325"/>
          </a:xfrm>
        </p:spPr>
        <p:txBody>
          <a:bodyPr>
            <a:normAutofit/>
          </a:bodyPr>
          <a:lstStyle>
            <a:lvl1pPr>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a:t>
            </a:r>
            <a:endParaRPr/>
          </a:p>
          <a:p>
            <a:pPr lvl="0">
              <a:defRPr/>
            </a:pPr>
            <a:endParaRPr lang="ru-RU"/>
          </a:p>
        </p:txBody>
      </p:sp>
      <p:sp>
        <p:nvSpPr>
          <p:cNvPr id="33" name="Диаграмма 32"/>
          <p:cNvSpPr>
            <a:spLocks noGrp="1"/>
          </p:cNvSpPr>
          <p:nvPr>
            <p:ph type="chart" sz="quarter" idx="19" hasCustomPrompt="1"/>
          </p:nvPr>
        </p:nvSpPr>
        <p:spPr bwMode="auto">
          <a:xfrm>
            <a:off x="6356350" y="1923100"/>
            <a:ext cx="5353050" cy="4249100"/>
          </a:xfrm>
        </p:spPr>
        <p:txBody>
          <a:bodyPr anchor="ctr"/>
          <a:lstStyle>
            <a:lvl1pPr algn="ctr">
              <a:defRPr sz="2400">
                <a:solidFill>
                  <a:schemeClr val="tx1"/>
                </a:solidFill>
              </a:defRPr>
            </a:lvl1pPr>
          </a:lstStyle>
          <a:p>
            <a:pPr>
              <a:defRPr/>
            </a:pPr>
            <a:r>
              <a:rPr lang="ru-RU"/>
              <a:t>График / диаграмма</a:t>
            </a:r>
            <a:endParaRPr/>
          </a:p>
        </p:txBody>
      </p:sp>
      <p:sp>
        <p:nvSpPr>
          <p:cNvPr id="13" name="Текст 3"/>
          <p:cNvSpPr>
            <a:spLocks noGrp="1"/>
          </p:cNvSpPr>
          <p:nvPr>
            <p:ph type="body" sz="quarter" idx="20"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к_вид2">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79425" y="4152900"/>
            <a:ext cx="5433695" cy="20853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4</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4" name="Текст 21"/>
          <p:cNvSpPr>
            <a:spLocks noGrp="1"/>
          </p:cNvSpPr>
          <p:nvPr>
            <p:ph type="body" sz="quarter" idx="19" hasCustomPrompt="1"/>
          </p:nvPr>
        </p:nvSpPr>
        <p:spPr bwMode="auto">
          <a:xfrm>
            <a:off x="6280470" y="4152900"/>
            <a:ext cx="5433695" cy="2085339"/>
          </a:xfrm>
        </p:spPr>
        <p:txBody>
          <a:bodyPr/>
          <a:lstStyle>
            <a:lvl1pPr algn="l">
              <a:defRPr sz="14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4</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9" name="Диаграмма 32"/>
          <p:cNvSpPr>
            <a:spLocks noGrp="1"/>
          </p:cNvSpPr>
          <p:nvPr>
            <p:ph type="chart" sz="quarter" idx="22" hasCustomPrompt="1"/>
          </p:nvPr>
        </p:nvSpPr>
        <p:spPr bwMode="auto">
          <a:xfrm>
            <a:off x="482600" y="1746941"/>
            <a:ext cx="5430519" cy="2290760"/>
          </a:xfrm>
        </p:spPr>
        <p:txBody>
          <a:bodyPr anchor="ctr"/>
          <a:lstStyle>
            <a:lvl1pPr algn="ctr">
              <a:defRPr sz="2400">
                <a:solidFill>
                  <a:schemeClr val="tx1"/>
                </a:solidFill>
              </a:defRPr>
            </a:lvl1pPr>
          </a:lstStyle>
          <a:p>
            <a:pPr>
              <a:defRPr/>
            </a:pPr>
            <a:r>
              <a:rPr lang="ru-RU"/>
              <a:t>График / диаграмма</a:t>
            </a:r>
            <a:endParaRPr/>
          </a:p>
        </p:txBody>
      </p:sp>
      <p:sp>
        <p:nvSpPr>
          <p:cNvPr id="12" name="Диаграмма 32"/>
          <p:cNvSpPr>
            <a:spLocks noGrp="1"/>
          </p:cNvSpPr>
          <p:nvPr>
            <p:ph type="chart" sz="quarter" idx="23" hasCustomPrompt="1"/>
          </p:nvPr>
        </p:nvSpPr>
        <p:spPr bwMode="auto">
          <a:xfrm>
            <a:off x="6275704" y="1746941"/>
            <a:ext cx="5433695" cy="2290760"/>
          </a:xfrm>
        </p:spPr>
        <p:txBody>
          <a:bodyPr anchor="ctr"/>
          <a:lstStyle>
            <a:lvl1pPr algn="ctr">
              <a:defRPr sz="2400">
                <a:solidFill>
                  <a:schemeClr val="tx1"/>
                </a:solidFill>
              </a:defRPr>
            </a:lvl1pPr>
          </a:lstStyle>
          <a:p>
            <a:pPr>
              <a:defRPr/>
            </a:pPr>
            <a:r>
              <a:rPr lang="ru-RU"/>
              <a:t>График / диаграмма</a:t>
            </a:r>
            <a:endParaRPr/>
          </a:p>
        </p:txBody>
      </p:sp>
      <p:sp>
        <p:nvSpPr>
          <p:cNvPr id="14" name="Текст 3"/>
          <p:cNvSpPr>
            <a:spLocks noGrp="1"/>
          </p:cNvSpPr>
          <p:nvPr>
            <p:ph type="body" sz="quarter" idx="24"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к_вид3">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088701"/>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6" name="Текст 21"/>
          <p:cNvSpPr>
            <a:spLocks noGrp="1"/>
          </p:cNvSpPr>
          <p:nvPr>
            <p:ph type="body" sz="quarter" idx="21" hasCustomPrompt="1"/>
          </p:nvPr>
        </p:nvSpPr>
        <p:spPr bwMode="auto">
          <a:xfrm>
            <a:off x="8153399" y="1705608"/>
            <a:ext cx="3544246" cy="4532632"/>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Если диаграмма содержит цветовое кодирование или условные обозначения, убедитесь, что вы объяснили их значение. Дайте краткий вывод о том, что показывает диаграмма и что можно сделать на основе ее данных.</a:t>
            </a:r>
            <a:endParaRPr/>
          </a:p>
        </p:txBody>
      </p:sp>
      <p:sp>
        <p:nvSpPr>
          <p:cNvPr id="12" name="Диаграмма 32"/>
          <p:cNvSpPr>
            <a:spLocks noGrp="1"/>
          </p:cNvSpPr>
          <p:nvPr>
            <p:ph type="chart" sz="quarter" idx="22" hasCustomPrompt="1"/>
          </p:nvPr>
        </p:nvSpPr>
        <p:spPr bwMode="auto">
          <a:xfrm>
            <a:off x="479425" y="1705607"/>
            <a:ext cx="3544247" cy="3475993"/>
          </a:xfrm>
        </p:spPr>
        <p:txBody>
          <a:bodyPr anchor="ctr"/>
          <a:lstStyle>
            <a:lvl1pPr algn="ctr">
              <a:defRPr sz="2400">
                <a:solidFill>
                  <a:schemeClr val="tx1"/>
                </a:solidFill>
              </a:defRPr>
            </a:lvl1pPr>
          </a:lstStyle>
          <a:p>
            <a:pPr>
              <a:defRPr/>
            </a:pPr>
            <a:r>
              <a:rPr lang="ru-RU"/>
              <a:t>График / диаграмма</a:t>
            </a:r>
            <a:endParaRPr/>
          </a:p>
        </p:txBody>
      </p:sp>
      <p:sp>
        <p:nvSpPr>
          <p:cNvPr id="14" name="Диаграмма 32"/>
          <p:cNvSpPr>
            <a:spLocks noGrp="1"/>
          </p:cNvSpPr>
          <p:nvPr>
            <p:ph type="chart" sz="quarter" idx="23" hasCustomPrompt="1"/>
          </p:nvPr>
        </p:nvSpPr>
        <p:spPr bwMode="auto">
          <a:xfrm>
            <a:off x="4316412" y="1705607"/>
            <a:ext cx="3544247" cy="3475993"/>
          </a:xfrm>
        </p:spPr>
        <p:txBody>
          <a:bodyPr anchor="ctr"/>
          <a:lstStyle>
            <a:lvl1pPr algn="ctr">
              <a:defRPr sz="2400">
                <a:solidFill>
                  <a:schemeClr val="tx1"/>
                </a:solidFill>
              </a:defRPr>
            </a:lvl1pPr>
          </a:lstStyle>
          <a:p>
            <a:pPr>
              <a:defRPr/>
            </a:pPr>
            <a:r>
              <a:rPr lang="ru-RU"/>
              <a:t>График / диаграмма</a:t>
            </a:r>
            <a:endParaRPr/>
          </a:p>
        </p:txBody>
      </p:sp>
      <p:sp>
        <p:nvSpPr>
          <p:cNvPr id="13" name="Текст 21"/>
          <p:cNvSpPr>
            <a:spLocks noGrp="1"/>
          </p:cNvSpPr>
          <p:nvPr>
            <p:ph type="body" sz="quarter" idx="24" hasCustomPrompt="1"/>
          </p:nvPr>
        </p:nvSpPr>
        <p:spPr bwMode="auto">
          <a:xfrm>
            <a:off x="479425" y="5296534"/>
            <a:ext cx="3544245" cy="951232"/>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Изучите диаграмму, чтобы дать ее точное описание.</a:t>
            </a:r>
            <a:endParaRPr/>
          </a:p>
        </p:txBody>
      </p:sp>
      <p:sp>
        <p:nvSpPr>
          <p:cNvPr id="16" name="Текст 21"/>
          <p:cNvSpPr>
            <a:spLocks noGrp="1"/>
          </p:cNvSpPr>
          <p:nvPr>
            <p:ph type="body" sz="quarter" idx="25" hasCustomPrompt="1"/>
          </p:nvPr>
        </p:nvSpPr>
        <p:spPr bwMode="auto">
          <a:xfrm>
            <a:off x="4316412" y="5290183"/>
            <a:ext cx="3544247" cy="951232"/>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Изучите диаграмму, чтобы дать ее точное описание.</a:t>
            </a:r>
            <a:endParaRPr/>
          </a:p>
        </p:txBody>
      </p:sp>
      <p:sp>
        <p:nvSpPr>
          <p:cNvPr id="17"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preserve="1" userDrawn="1">
  <p:cSld name="МТУСИ_График_вид4">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088701"/>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79425" y="4495798"/>
            <a:ext cx="3544247"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p:txBody>
      </p:sp>
      <p:sp>
        <p:nvSpPr>
          <p:cNvPr id="4" name="Текст 21"/>
          <p:cNvSpPr>
            <a:spLocks noGrp="1"/>
          </p:cNvSpPr>
          <p:nvPr>
            <p:ph type="body" sz="quarter" idx="19" hasCustomPrompt="1"/>
          </p:nvPr>
        </p:nvSpPr>
        <p:spPr bwMode="auto">
          <a:xfrm>
            <a:off x="4316412" y="4495798"/>
            <a:ext cx="3544249"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p:txBody>
      </p:sp>
      <p:sp>
        <p:nvSpPr>
          <p:cNvPr id="6" name="Текст 21"/>
          <p:cNvSpPr>
            <a:spLocks noGrp="1"/>
          </p:cNvSpPr>
          <p:nvPr>
            <p:ph type="body" sz="quarter" idx="21" hasCustomPrompt="1"/>
          </p:nvPr>
        </p:nvSpPr>
        <p:spPr bwMode="auto">
          <a:xfrm>
            <a:off x="8153399" y="4495798"/>
            <a:ext cx="3556000" cy="174244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endParaRPr/>
          </a:p>
          <a:p>
            <a:pPr lvl="0">
              <a:defRPr/>
            </a:pPr>
            <a:endParaRPr lang="ru-RU"/>
          </a:p>
        </p:txBody>
      </p:sp>
      <p:sp>
        <p:nvSpPr>
          <p:cNvPr id="12" name="Диаграмма 32"/>
          <p:cNvSpPr>
            <a:spLocks noGrp="1"/>
          </p:cNvSpPr>
          <p:nvPr>
            <p:ph type="chart" sz="quarter" idx="22" hasCustomPrompt="1"/>
          </p:nvPr>
        </p:nvSpPr>
        <p:spPr bwMode="auto">
          <a:xfrm>
            <a:off x="479425" y="1705607"/>
            <a:ext cx="3544247" cy="2718757"/>
          </a:xfrm>
        </p:spPr>
        <p:txBody>
          <a:bodyPr anchor="ctr"/>
          <a:lstStyle>
            <a:lvl1pPr algn="ctr">
              <a:defRPr sz="2400">
                <a:solidFill>
                  <a:schemeClr val="tx1"/>
                </a:solidFill>
              </a:defRPr>
            </a:lvl1pPr>
          </a:lstStyle>
          <a:p>
            <a:pPr>
              <a:defRPr/>
            </a:pPr>
            <a:r>
              <a:rPr lang="ru-RU"/>
              <a:t>График / диаграмма</a:t>
            </a:r>
            <a:endParaRPr/>
          </a:p>
        </p:txBody>
      </p:sp>
      <p:sp>
        <p:nvSpPr>
          <p:cNvPr id="14" name="Диаграмма 32"/>
          <p:cNvSpPr>
            <a:spLocks noGrp="1"/>
          </p:cNvSpPr>
          <p:nvPr>
            <p:ph type="chart" sz="quarter" idx="23" hasCustomPrompt="1"/>
          </p:nvPr>
        </p:nvSpPr>
        <p:spPr bwMode="auto">
          <a:xfrm>
            <a:off x="4316412" y="1705607"/>
            <a:ext cx="3544247" cy="2718757"/>
          </a:xfrm>
        </p:spPr>
        <p:txBody>
          <a:bodyPr anchor="ctr"/>
          <a:lstStyle>
            <a:lvl1pPr algn="ctr">
              <a:defRPr sz="2400">
                <a:solidFill>
                  <a:schemeClr val="tx1"/>
                </a:solidFill>
              </a:defRPr>
            </a:lvl1pPr>
          </a:lstStyle>
          <a:p>
            <a:pPr>
              <a:defRPr/>
            </a:pPr>
            <a:r>
              <a:rPr lang="ru-RU"/>
              <a:t>График / диаграмма</a:t>
            </a:r>
            <a:endParaRPr/>
          </a:p>
        </p:txBody>
      </p:sp>
      <p:sp>
        <p:nvSpPr>
          <p:cNvPr id="15" name="Диаграмма 32"/>
          <p:cNvSpPr>
            <a:spLocks noGrp="1"/>
          </p:cNvSpPr>
          <p:nvPr>
            <p:ph type="chart" sz="quarter" idx="24" hasCustomPrompt="1"/>
          </p:nvPr>
        </p:nvSpPr>
        <p:spPr bwMode="auto">
          <a:xfrm>
            <a:off x="8153399" y="1705607"/>
            <a:ext cx="3544247" cy="2718757"/>
          </a:xfrm>
        </p:spPr>
        <p:txBody>
          <a:bodyPr anchor="ctr"/>
          <a:lstStyle>
            <a:lvl1pPr algn="ctr">
              <a:defRPr sz="2400">
                <a:solidFill>
                  <a:schemeClr val="tx1"/>
                </a:solidFill>
              </a:defRPr>
            </a:lvl1pPr>
          </a:lstStyle>
          <a:p>
            <a:pPr>
              <a:defRPr/>
            </a:pPr>
            <a:r>
              <a:rPr lang="ru-RU"/>
              <a:t>График / диаграмма</a:t>
            </a:r>
            <a:endParaRPr/>
          </a:p>
        </p:txBody>
      </p:sp>
      <p:sp>
        <p:nvSpPr>
          <p:cNvPr id="16" name="Текст 3"/>
          <p:cNvSpPr>
            <a:spLocks noGrp="1"/>
          </p:cNvSpPr>
          <p:nvPr>
            <p:ph type="body" sz="quarter" idx="25"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PhAnim="0" preserve="1" userDrawn="1">
  <p:cSld name="МТУСИ_Цифры для определения_вид1">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84506" y="2691130"/>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8" name="Текст 21"/>
          <p:cNvSpPr>
            <a:spLocks noGrp="1"/>
          </p:cNvSpPr>
          <p:nvPr>
            <p:ph type="body" sz="quarter" idx="22" hasCustomPrompt="1"/>
          </p:nvPr>
        </p:nvSpPr>
        <p:spPr bwMode="auto">
          <a:xfrm>
            <a:off x="484505"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1000</a:t>
            </a:r>
            <a:endParaRPr/>
          </a:p>
        </p:txBody>
      </p:sp>
      <p:sp>
        <p:nvSpPr>
          <p:cNvPr id="9" name="Текст 21"/>
          <p:cNvSpPr>
            <a:spLocks noGrp="1"/>
          </p:cNvSpPr>
          <p:nvPr>
            <p:ph type="body" sz="quarter" idx="23" hasCustomPrompt="1"/>
          </p:nvPr>
        </p:nvSpPr>
        <p:spPr bwMode="auto">
          <a:xfrm>
            <a:off x="4328957" y="2691130"/>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2" name="Текст 21"/>
          <p:cNvSpPr>
            <a:spLocks noGrp="1"/>
          </p:cNvSpPr>
          <p:nvPr>
            <p:ph type="body" sz="quarter" idx="24" hasCustomPrompt="1"/>
          </p:nvPr>
        </p:nvSpPr>
        <p:spPr bwMode="auto">
          <a:xfrm>
            <a:off x="4328956"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&gt;1800</a:t>
            </a:r>
            <a:endParaRPr/>
          </a:p>
        </p:txBody>
      </p:sp>
      <p:sp>
        <p:nvSpPr>
          <p:cNvPr id="14" name="Текст 21"/>
          <p:cNvSpPr>
            <a:spLocks noGrp="1"/>
          </p:cNvSpPr>
          <p:nvPr>
            <p:ph type="body" sz="quarter" idx="25" hasCustomPrompt="1"/>
          </p:nvPr>
        </p:nvSpPr>
        <p:spPr bwMode="auto">
          <a:xfrm>
            <a:off x="8170233" y="2691130"/>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5" name="Текст 21"/>
          <p:cNvSpPr>
            <a:spLocks noGrp="1"/>
          </p:cNvSpPr>
          <p:nvPr>
            <p:ph type="body" sz="quarter" idx="26" hasCustomPrompt="1"/>
          </p:nvPr>
        </p:nvSpPr>
        <p:spPr bwMode="auto">
          <a:xfrm>
            <a:off x="8170232"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19000</a:t>
            </a:r>
            <a:endParaRPr/>
          </a:p>
        </p:txBody>
      </p:sp>
      <p:sp>
        <p:nvSpPr>
          <p:cNvPr id="16" name="Текст 21"/>
          <p:cNvSpPr>
            <a:spLocks noGrp="1"/>
          </p:cNvSpPr>
          <p:nvPr>
            <p:ph type="body" sz="quarter" idx="27" hasCustomPrompt="1"/>
          </p:nvPr>
        </p:nvSpPr>
        <p:spPr bwMode="auto">
          <a:xfrm>
            <a:off x="482600" y="4765041"/>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7" name="Текст 21"/>
          <p:cNvSpPr>
            <a:spLocks noGrp="1"/>
          </p:cNvSpPr>
          <p:nvPr>
            <p:ph type="body" sz="quarter" idx="28" hasCustomPrompt="1"/>
          </p:nvPr>
        </p:nvSpPr>
        <p:spPr bwMode="auto">
          <a:xfrm>
            <a:off x="482600" y="4150360"/>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1000</a:t>
            </a:r>
            <a:endParaRPr/>
          </a:p>
        </p:txBody>
      </p:sp>
      <p:sp>
        <p:nvSpPr>
          <p:cNvPr id="18" name="Текст 21"/>
          <p:cNvSpPr>
            <a:spLocks noGrp="1"/>
          </p:cNvSpPr>
          <p:nvPr>
            <p:ph type="body" sz="quarter" idx="29" hasCustomPrompt="1"/>
          </p:nvPr>
        </p:nvSpPr>
        <p:spPr bwMode="auto">
          <a:xfrm>
            <a:off x="4327052" y="4765041"/>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9" name="Текст 21"/>
          <p:cNvSpPr>
            <a:spLocks noGrp="1"/>
          </p:cNvSpPr>
          <p:nvPr>
            <p:ph type="body" sz="quarter" idx="30" hasCustomPrompt="1"/>
          </p:nvPr>
        </p:nvSpPr>
        <p:spPr bwMode="auto">
          <a:xfrm>
            <a:off x="4327051" y="4150360"/>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&gt;1800</a:t>
            </a:r>
            <a:endParaRPr/>
          </a:p>
        </p:txBody>
      </p:sp>
      <p:sp>
        <p:nvSpPr>
          <p:cNvPr id="20" name="Текст 21"/>
          <p:cNvSpPr>
            <a:spLocks noGrp="1"/>
          </p:cNvSpPr>
          <p:nvPr>
            <p:ph type="body" sz="quarter" idx="31" hasCustomPrompt="1"/>
          </p:nvPr>
        </p:nvSpPr>
        <p:spPr bwMode="auto">
          <a:xfrm>
            <a:off x="8168328" y="4765041"/>
            <a:ext cx="3544247" cy="114046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21" name="Текст 21"/>
          <p:cNvSpPr>
            <a:spLocks noGrp="1"/>
          </p:cNvSpPr>
          <p:nvPr>
            <p:ph type="body" sz="quarter" idx="32" hasCustomPrompt="1"/>
          </p:nvPr>
        </p:nvSpPr>
        <p:spPr bwMode="auto">
          <a:xfrm>
            <a:off x="8168327" y="4150360"/>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19000</a:t>
            </a:r>
            <a:endParaRPr/>
          </a:p>
        </p:txBody>
      </p:sp>
      <p:sp>
        <p:nvSpPr>
          <p:cNvPr id="23"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PhAnim="0" preserve="1" userDrawn="1">
  <p:cSld name="МТУСИ_Цифры для определения_вид2">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84506" y="2691130"/>
            <a:ext cx="3544247" cy="340487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8" name="Текст 21"/>
          <p:cNvSpPr>
            <a:spLocks noGrp="1"/>
          </p:cNvSpPr>
          <p:nvPr>
            <p:ph type="body" sz="quarter" idx="22" hasCustomPrompt="1"/>
          </p:nvPr>
        </p:nvSpPr>
        <p:spPr bwMode="auto">
          <a:xfrm>
            <a:off x="484505"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1000</a:t>
            </a:r>
            <a:endParaRPr/>
          </a:p>
        </p:txBody>
      </p:sp>
      <p:sp>
        <p:nvSpPr>
          <p:cNvPr id="9" name="Текст 21"/>
          <p:cNvSpPr>
            <a:spLocks noGrp="1"/>
          </p:cNvSpPr>
          <p:nvPr>
            <p:ph type="body" sz="quarter" idx="23" hasCustomPrompt="1"/>
          </p:nvPr>
        </p:nvSpPr>
        <p:spPr bwMode="auto">
          <a:xfrm>
            <a:off x="4328957" y="2691130"/>
            <a:ext cx="3544247" cy="340487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2" name="Текст 21"/>
          <p:cNvSpPr>
            <a:spLocks noGrp="1"/>
          </p:cNvSpPr>
          <p:nvPr>
            <p:ph type="body" sz="quarter" idx="24" hasCustomPrompt="1"/>
          </p:nvPr>
        </p:nvSpPr>
        <p:spPr bwMode="auto">
          <a:xfrm>
            <a:off x="4328956"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&gt;1800</a:t>
            </a:r>
            <a:endParaRPr/>
          </a:p>
        </p:txBody>
      </p:sp>
      <p:sp>
        <p:nvSpPr>
          <p:cNvPr id="14" name="Текст 21"/>
          <p:cNvSpPr>
            <a:spLocks noGrp="1"/>
          </p:cNvSpPr>
          <p:nvPr>
            <p:ph type="body" sz="quarter" idx="25" hasCustomPrompt="1"/>
          </p:nvPr>
        </p:nvSpPr>
        <p:spPr bwMode="auto">
          <a:xfrm>
            <a:off x="8170233" y="2691130"/>
            <a:ext cx="3544247" cy="3404870"/>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Не беспокойтесь</a:t>
            </a:r>
            <a:r>
              <a:rPr lang="en-US"/>
              <a:t> </a:t>
            </a:r>
            <a:r>
              <a:rPr lang="ru-RU"/>
              <a:t>(1</a:t>
            </a:r>
            <a:r>
              <a:rPr lang="en-US"/>
              <a:t>2</a:t>
            </a:r>
            <a:r>
              <a:rPr lang="ru-RU"/>
              <a:t>pt), если у вас немного данных - вы можете использовать несколько основных цифр и добавить аккуратные подписи, чтобы представить визуально привлекательную и понятную информацию.</a:t>
            </a:r>
            <a:endParaRPr lang="en-US"/>
          </a:p>
        </p:txBody>
      </p:sp>
      <p:sp>
        <p:nvSpPr>
          <p:cNvPr id="15" name="Текст 21"/>
          <p:cNvSpPr>
            <a:spLocks noGrp="1"/>
          </p:cNvSpPr>
          <p:nvPr>
            <p:ph type="body" sz="quarter" idx="26" hasCustomPrompt="1"/>
          </p:nvPr>
        </p:nvSpPr>
        <p:spPr bwMode="auto">
          <a:xfrm>
            <a:off x="8170232" y="2076449"/>
            <a:ext cx="3544247" cy="533400"/>
          </a:xfrm>
        </p:spPr>
        <p:txBody>
          <a:bodyPr>
            <a:normAutofit/>
          </a:bodyPr>
          <a:lstStyle>
            <a:lvl1pPr algn="l">
              <a:defRPr sz="4000">
                <a:latin typeface="+mj-lt"/>
              </a:defRPr>
            </a:lvl1pPr>
          </a:lstStyle>
          <a:p>
            <a:pPr marL="0" marR="0" lvl="0" indent="0" algn="just" defTabSz="914400">
              <a:lnSpc>
                <a:spcPct val="90000"/>
              </a:lnSpc>
              <a:spcBef>
                <a:spcPts val="1000"/>
              </a:spcBef>
              <a:spcAft>
                <a:spcPts val="0"/>
              </a:spcAft>
              <a:buClrTx/>
              <a:buSzTx/>
              <a:buFontTx/>
              <a:buNone/>
              <a:defRPr/>
            </a:pPr>
            <a:r>
              <a:rPr lang="en-US"/>
              <a:t>19000</a:t>
            </a:r>
            <a:endParaRPr/>
          </a:p>
        </p:txBody>
      </p:sp>
      <p:sp>
        <p:nvSpPr>
          <p:cNvPr id="16"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PhAnim="0" preserve="1" userDrawn="1">
  <p:cSld name="МТУСИ_Текст_вид1">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79425" y="1828799"/>
            <a:ext cx="3544247" cy="440943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r>
              <a:rPr lang="en-US"/>
              <a:t>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marL="0" marR="0" lvl="0" indent="0" algn="just" defTabSz="914400">
              <a:lnSpc>
                <a:spcPct val="90000"/>
              </a:lnSpc>
              <a:spcBef>
                <a:spcPts val="1000"/>
              </a:spcBef>
              <a:spcAft>
                <a:spcPts val="0"/>
              </a:spcAft>
              <a:buClrTx/>
              <a:buSzTx/>
              <a:buFontTx/>
              <a:buNone/>
              <a:defRPr/>
            </a:pPr>
            <a:endParaRPr lang="ru-RU"/>
          </a:p>
        </p:txBody>
      </p:sp>
      <p:sp>
        <p:nvSpPr>
          <p:cNvPr id="4" name="Текст 21"/>
          <p:cNvSpPr>
            <a:spLocks noGrp="1"/>
          </p:cNvSpPr>
          <p:nvPr>
            <p:ph type="body" sz="quarter" idx="19" hasCustomPrompt="1"/>
          </p:nvPr>
        </p:nvSpPr>
        <p:spPr bwMode="auto">
          <a:xfrm>
            <a:off x="4316412" y="1828637"/>
            <a:ext cx="3544249" cy="4404521"/>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6" name="Текст 21"/>
          <p:cNvSpPr>
            <a:spLocks noGrp="1"/>
          </p:cNvSpPr>
          <p:nvPr>
            <p:ph type="body" sz="quarter" idx="21" hasCustomPrompt="1"/>
          </p:nvPr>
        </p:nvSpPr>
        <p:spPr bwMode="auto">
          <a:xfrm>
            <a:off x="8153399" y="1828799"/>
            <a:ext cx="3556000" cy="4409439"/>
          </a:xfrm>
        </p:spPr>
        <p:txBody>
          <a:bodyPr/>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lvl="0">
              <a:defRPr/>
            </a:pPr>
            <a:endParaRPr lang="ru-RU"/>
          </a:p>
          <a:p>
            <a:pPr lvl="0">
              <a:defRPr/>
            </a:pPr>
            <a:endParaRPr lang="ru-RU"/>
          </a:p>
        </p:txBody>
      </p:sp>
      <p:sp>
        <p:nvSpPr>
          <p:cNvPr id="9" name="Текст 3"/>
          <p:cNvSpPr>
            <a:spLocks noGrp="1"/>
          </p:cNvSpPr>
          <p:nvPr>
            <p:ph type="body" sz="quarter" idx="22"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PhAnim="0" preserve="1" userDrawn="1">
  <p:cSld name="МТУСИ_Текст_вид2">
    <p:spTree>
      <p:nvGrpSpPr>
        <p:cNvPr id="1" name=""/>
        <p:cNvGrpSpPr/>
        <p:nvPr/>
      </p:nvGrpSpPr>
      <p:grpSpPr bwMode="auto">
        <a:xfrm>
          <a:off x="0" y="0"/>
          <a:ext cx="0" cy="0"/>
          <a:chOff x="0" y="0"/>
          <a:chExt cx="0" cy="0"/>
        </a:xfrm>
      </p:grpSpPr>
      <p:sp>
        <p:nvSpPr>
          <p:cNvPr id="2"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0" name="Нижний колонтитул 9"/>
          <p:cNvSpPr>
            <a:spLocks noGrp="1"/>
          </p:cNvSpPr>
          <p:nvPr>
            <p:ph type="ftr" sz="quarter" idx="11"/>
          </p:nvPr>
        </p:nvSpPr>
        <p:spPr bwMode="auto"/>
        <p:txBody>
          <a:bodyPr/>
          <a:lstStyle/>
          <a:p>
            <a:pPr>
              <a:defRPr/>
            </a:pPr>
            <a:endParaRPr lang="ru-RU"/>
          </a:p>
        </p:txBody>
      </p:sp>
      <p:sp>
        <p:nvSpPr>
          <p:cNvPr id="11" name="Номер слайда 10"/>
          <p:cNvSpPr>
            <a:spLocks noGrp="1"/>
          </p:cNvSpPr>
          <p:nvPr>
            <p:ph type="sldNum" sz="quarter" idx="12"/>
          </p:nvPr>
        </p:nvSpPr>
        <p:spPr bwMode="auto">
          <a:xfrm>
            <a:off x="8966200" y="6352540"/>
            <a:ext cx="2743200" cy="365125"/>
          </a:xfrm>
        </p:spPr>
        <p:txBody>
          <a:bodyPr/>
          <a:lstStyle/>
          <a:p>
            <a:pPr>
              <a:defRPr/>
            </a:pPr>
            <a:fld id="{56DCE2C9-06B9-4058-BEBD-6FDE8D61F8A0}" type="slidenum">
              <a:rPr lang="ru-RU"/>
              <a:t>‹#›</a:t>
            </a:fld>
            <a:endParaRPr lang="ru-RU"/>
          </a:p>
        </p:txBody>
      </p:sp>
      <p:sp>
        <p:nvSpPr>
          <p:cNvPr id="22" name="Текст 21"/>
          <p:cNvSpPr>
            <a:spLocks noGrp="1"/>
          </p:cNvSpPr>
          <p:nvPr>
            <p:ph type="body" sz="quarter" idx="17" hasCustomPrompt="1"/>
          </p:nvPr>
        </p:nvSpPr>
        <p:spPr bwMode="auto">
          <a:xfrm>
            <a:off x="479425" y="1738315"/>
            <a:ext cx="11233150" cy="4499924"/>
          </a:xfrm>
        </p:spPr>
        <p:txBody>
          <a:bodyPr numCol="3" spcCol="360000"/>
          <a:lstStyle>
            <a:lvl1pPr algn="l">
              <a:defRPr sz="1200"/>
            </a:lvl1pPr>
          </a:lstStyle>
          <a:p>
            <a:pPr marL="0" marR="0" lvl="0" indent="0" algn="just" defTabSz="914400">
              <a:lnSpc>
                <a:spcPct val="90000"/>
              </a:lnSpc>
              <a:spcBef>
                <a:spcPts val="1000"/>
              </a:spcBef>
              <a:spcAft>
                <a:spcPts val="0"/>
              </a:spcAft>
              <a:buClrTx/>
              <a:buSzTx/>
              <a:buFontTx/>
              <a:buNone/>
              <a:defRPr/>
            </a:pP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r>
              <a:rPr lang="en-US"/>
              <a:t> </a:t>
            </a:r>
            <a:br>
              <a:rPr lang="ru-RU"/>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ru-RU"/>
            </a:br>
            <a:br>
              <a:rPr lang="ru-RU"/>
            </a:br>
            <a:br>
              <a:rPr lang="ru-RU"/>
            </a:b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r>
              <a:rPr lang="en-US"/>
              <a:t> </a:t>
            </a:r>
            <a:br>
              <a:rPr lang="ru-RU"/>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marL="0" marR="0" lvl="0" indent="0" algn="just" defTabSz="914400">
              <a:lnSpc>
                <a:spcPct val="90000"/>
              </a:lnSpc>
              <a:spcBef>
                <a:spcPts val="1000"/>
              </a:spcBef>
              <a:spcAft>
                <a:spcPts val="0"/>
              </a:spcAft>
              <a:buClrTx/>
              <a:buSzTx/>
              <a:buFontTx/>
              <a:buNone/>
              <a:defRPr/>
            </a:pPr>
            <a:br>
              <a:rPr lang="ru-RU"/>
            </a:br>
            <a:br>
              <a:rPr lang="ru-RU"/>
            </a:br>
            <a:r>
              <a:rPr lang="ru-RU"/>
              <a:t>Рекомендуется разбивать большой объем текста (1</a:t>
            </a:r>
            <a:r>
              <a:rPr lang="en-US"/>
              <a:t>2</a:t>
            </a:r>
            <a:r>
              <a:rPr lang="ru-RU"/>
              <a:t>pt) на несколько колонок (2-3), так как текст, набранный длинной строкой, затрудняет восприятие и уменьшает читабельность. Старайтесь сбалансировать количество слов в строке, так как слишком много слов способствует утомлению читающего, но не завлекает его в чтении. </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r>
              <a:rPr lang="en-US"/>
              <a:t> </a:t>
            </a:r>
            <a:br>
              <a:rPr lang="ru-RU"/>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br>
              <a:rPr lang="en-US"/>
            </a:br>
            <a:r>
              <a:rPr lang="ru-RU"/>
              <a:t>Обратите внимание на то, что ваша презентация будет читаться и изучаться другими людьми, поэтому они должны легко понимать информацию, которую вы предоставляете.</a:t>
            </a:r>
            <a:endParaRPr/>
          </a:p>
          <a:p>
            <a:pPr marL="0" marR="0" lvl="0" indent="0" algn="just" defTabSz="914400">
              <a:lnSpc>
                <a:spcPct val="90000"/>
              </a:lnSpc>
              <a:spcBef>
                <a:spcPts val="1000"/>
              </a:spcBef>
              <a:spcAft>
                <a:spcPts val="0"/>
              </a:spcAft>
              <a:buClrTx/>
              <a:buSzTx/>
              <a:buFontTx/>
              <a:buNone/>
              <a:defRPr/>
            </a:pPr>
            <a:endParaRPr lang="ru-RU"/>
          </a:p>
        </p:txBody>
      </p:sp>
      <p:sp>
        <p:nvSpPr>
          <p:cNvPr id="8"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PhAnim="0" preserve="1" userDrawn="1">
  <p:cSld name="МТУСИ_Таблица_вид1">
    <p:spTree>
      <p:nvGrpSpPr>
        <p:cNvPr id="1" name=""/>
        <p:cNvGrpSpPr/>
        <p:nvPr/>
      </p:nvGrpSpPr>
      <p:grpSpPr bwMode="auto">
        <a:xfrm>
          <a:off x="0" y="0"/>
          <a:ext cx="0" cy="0"/>
          <a:chOff x="0" y="0"/>
          <a:chExt cx="0" cy="0"/>
        </a:xfrm>
      </p:grpSpPr>
      <p:sp>
        <p:nvSpPr>
          <p:cNvPr id="4" name="Нижний колонтитул 3"/>
          <p:cNvSpPr>
            <a:spLocks noGrp="1"/>
          </p:cNvSpPr>
          <p:nvPr>
            <p:ph type="ftr" sz="quarter" idx="11"/>
          </p:nvPr>
        </p:nvSpPr>
        <p:spPr bwMode="auto"/>
        <p:txBody>
          <a:bodyPr/>
          <a:lstStyle/>
          <a:p>
            <a:pPr>
              <a:defRPr/>
            </a:pPr>
            <a:endParaRPr lang="ru-RU"/>
          </a:p>
        </p:txBody>
      </p:sp>
      <p:sp>
        <p:nvSpPr>
          <p:cNvPr id="5" name="Номер слайда 4"/>
          <p:cNvSpPr>
            <a:spLocks noGrp="1"/>
          </p:cNvSpPr>
          <p:nvPr>
            <p:ph type="sldNum" sz="quarter" idx="12"/>
          </p:nvPr>
        </p:nvSpPr>
        <p:spPr bwMode="auto"/>
        <p:txBody>
          <a:bodyPr/>
          <a:lstStyle/>
          <a:p>
            <a:pPr>
              <a:defRPr/>
            </a:pPr>
            <a:fld id="{56DCE2C9-06B9-4058-BEBD-6FDE8D61F8A0}" type="slidenum">
              <a:rPr lang="ru-RU"/>
              <a:t>‹#›</a:t>
            </a:fld>
            <a:endParaRPr lang="ru-RU"/>
          </a:p>
        </p:txBody>
      </p:sp>
      <p:sp>
        <p:nvSpPr>
          <p:cNvPr id="10"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1" name="Текст 14"/>
          <p:cNvSpPr>
            <a:spLocks noGrp="1"/>
          </p:cNvSpPr>
          <p:nvPr>
            <p:ph type="body" sz="quarter" idx="14" hasCustomPrompt="1"/>
          </p:nvPr>
        </p:nvSpPr>
        <p:spPr bwMode="auto">
          <a:xfrm>
            <a:off x="477835" y="1819118"/>
            <a:ext cx="11229975" cy="532548"/>
          </a:xfrm>
        </p:spPr>
        <p:txBody>
          <a:bodyPr>
            <a:noAutofit/>
          </a:bodyPr>
          <a:lstStyle>
            <a:lvl1pPr>
              <a:lnSpc>
                <a:spcPct val="100000"/>
              </a:lnSpc>
              <a:spcBef>
                <a:spcPts val="0"/>
              </a:spcBef>
              <a:defRPr lang="ru-RU" sz="1600">
                <a:solidFill>
                  <a:schemeClr val="tx1"/>
                </a:solidFill>
                <a:latin typeface="+mj-lt"/>
                <a:ea typeface="+mn-ea"/>
                <a:cs typeface="+mn-cs"/>
              </a:defRPr>
            </a:lvl1pPr>
          </a:lstStyle>
          <a:p>
            <a:pPr marL="0" marR="0" lvl="0" indent="0" algn="just" defTabSz="914400">
              <a:lnSpc>
                <a:spcPct val="90000"/>
              </a:lnSpc>
              <a:spcBef>
                <a:spcPts val="1000"/>
              </a:spcBef>
              <a:spcAft>
                <a:spcPts val="0"/>
              </a:spcAft>
              <a:buClrTx/>
              <a:buSzTx/>
              <a:buFontTx/>
              <a:buNone/>
              <a:defRPr/>
            </a:pPr>
            <a:r>
              <a:rPr lang="ru-RU"/>
              <a:t>Название таблицы может быть набрано в одну или две строки</a:t>
            </a:r>
            <a:r>
              <a:rPr lang="ru-RU" sz="1600">
                <a:latin typeface="Montserrat"/>
              </a:rPr>
              <a:t> </a:t>
            </a:r>
            <a:r>
              <a:rPr lang="ru-RU"/>
              <a:t>(16</a:t>
            </a:r>
            <a:r>
              <a:rPr lang="en-US"/>
              <a:t>pt</a:t>
            </a:r>
            <a:r>
              <a:rPr lang="ru-RU"/>
              <a:t>)</a:t>
            </a:r>
            <a:endParaRPr/>
          </a:p>
        </p:txBody>
      </p:sp>
      <p:sp>
        <p:nvSpPr>
          <p:cNvPr id="12" name="Текст 21"/>
          <p:cNvSpPr>
            <a:spLocks noGrp="1"/>
          </p:cNvSpPr>
          <p:nvPr>
            <p:ph type="body" sz="quarter" idx="21" hasCustomPrompt="1"/>
          </p:nvPr>
        </p:nvSpPr>
        <p:spPr bwMode="auto">
          <a:xfrm>
            <a:off x="8255479" y="2440089"/>
            <a:ext cx="3457096" cy="3123949"/>
          </a:xfrm>
        </p:spPr>
        <p:txBody>
          <a:bodyPr/>
          <a:lstStyle>
            <a:lvl1pPr algn="l">
              <a:defRPr sz="1200" b="0">
                <a:latin typeface="+mn-lt"/>
              </a:defRPr>
            </a:lvl1pPr>
          </a:lstStyle>
          <a:p>
            <a:pPr marL="0" marR="0" lvl="0" indent="0" algn="just" defTabSz="914400">
              <a:lnSpc>
                <a:spcPct val="90000"/>
              </a:lnSpc>
              <a:spcBef>
                <a:spcPts val="1000"/>
              </a:spcBef>
              <a:spcAft>
                <a:spcPts val="0"/>
              </a:spcAft>
              <a:buClrTx/>
              <a:buSzTx/>
              <a:buFontTx/>
              <a:buNone/>
              <a:defRPr/>
            </a:pPr>
            <a:r>
              <a:rPr lang="ru-RU"/>
              <a:t>Рекомендуется располагать небольшие фрагменты текста (12pt). Несколько рекомендаций для описания таблицы:</a:t>
            </a:r>
            <a:br>
              <a:rPr lang="ru-RU"/>
            </a:br>
            <a:r>
              <a:rPr lang="ru-RU"/>
              <a:t> 1. Перед тем, как описывать таблицу, убедитесь, что в ней содержится достаточно информации, и она действительно необходима для вашей аудитории. </a:t>
            </a:r>
            <a:br>
              <a:rPr lang="ru-RU"/>
            </a:br>
            <a:r>
              <a:rPr lang="ru-RU"/>
              <a:t>2. Хорошее описание таблицы должно включать в себя не только факты и данные, но и основные выводы, которые можно сделать на основе этих данных. </a:t>
            </a:r>
            <a:br>
              <a:rPr lang="ru-RU"/>
            </a:br>
            <a:r>
              <a:rPr lang="ru-RU"/>
              <a:t>3. Используйте ясный и простой язык, чтобы ваше описание было понятно всем пользователям.</a:t>
            </a:r>
            <a:endParaRPr/>
          </a:p>
          <a:p>
            <a:pPr marL="0" marR="0" lvl="0" indent="0" algn="just" defTabSz="914400">
              <a:lnSpc>
                <a:spcPct val="90000"/>
              </a:lnSpc>
              <a:spcBef>
                <a:spcPts val="1000"/>
              </a:spcBef>
              <a:spcAft>
                <a:spcPts val="0"/>
              </a:spcAft>
              <a:buClrTx/>
              <a:buSzTx/>
              <a:buFontTx/>
              <a:buNone/>
              <a:defRPr/>
            </a:pPr>
            <a:endParaRPr lang="ru-RU"/>
          </a:p>
        </p:txBody>
      </p:sp>
      <p:sp>
        <p:nvSpPr>
          <p:cNvPr id="14" name="Текст 23"/>
          <p:cNvSpPr>
            <a:spLocks noGrp="1"/>
          </p:cNvSpPr>
          <p:nvPr>
            <p:ph type="body" sz="quarter" idx="23" hasCustomPrompt="1"/>
          </p:nvPr>
        </p:nvSpPr>
        <p:spPr bwMode="auto">
          <a:xfrm>
            <a:off x="479425" y="5670369"/>
            <a:ext cx="11233150" cy="568325"/>
          </a:xfrm>
        </p:spPr>
        <p:txBody>
          <a:bodyPr>
            <a:normAutofit/>
          </a:bodyPr>
          <a:lstStyle>
            <a:lvl1pPr marL="0" marR="0" indent="0" algn="just" defTabSz="914400">
              <a:lnSpc>
                <a:spcPct val="90000"/>
              </a:lnSpc>
              <a:spcBef>
                <a:spcPts val="1000"/>
              </a:spcBef>
              <a:spcAft>
                <a:spcPts val="0"/>
              </a:spcAft>
              <a:buClrTx/>
              <a:buSzTx/>
              <a:buFontTx/>
              <a:buNone/>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 Жирное начертание следует применять осторожно, выделяя только самое значимое. Не рекомендуется использовать жирное начертание с заливкой ячеек, так как это может создать избыточность, достаточно одного визуального акцента для более аккуратного представления информации.</a:t>
            </a:r>
            <a:endParaRPr/>
          </a:p>
          <a:p>
            <a:pPr lvl="0">
              <a:defRPr/>
            </a:pPr>
            <a:endParaRPr lang="ru-RU"/>
          </a:p>
        </p:txBody>
      </p:sp>
      <p:sp>
        <p:nvSpPr>
          <p:cNvPr id="18" name="Таблица 17"/>
          <p:cNvSpPr>
            <a:spLocks noGrp="1"/>
          </p:cNvSpPr>
          <p:nvPr>
            <p:ph type="tbl" sz="quarter" idx="24" hasCustomPrompt="1"/>
          </p:nvPr>
        </p:nvSpPr>
        <p:spPr bwMode="auto">
          <a:xfrm>
            <a:off x="479425" y="2429126"/>
            <a:ext cx="7673975" cy="3123949"/>
          </a:xfrm>
        </p:spPr>
        <p:txBody>
          <a:bodyPr anchor="ctr"/>
          <a:lstStyle>
            <a:lvl1pPr algn="ctr">
              <a:defRPr/>
            </a:lvl1pPr>
          </a:lstStyle>
          <a:p>
            <a:pPr>
              <a:defRPr/>
            </a:pPr>
            <a:r>
              <a:rPr lang="ru-RU"/>
              <a:t>Таблица</a:t>
            </a:r>
            <a:endParaRPr/>
          </a:p>
        </p:txBody>
      </p:sp>
      <p:sp>
        <p:nvSpPr>
          <p:cNvPr id="15"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PhAnim="0" preserve="1" userDrawn="1">
  <p:cSld name="МТУСИ_Таблица_вид2">
    <p:spTree>
      <p:nvGrpSpPr>
        <p:cNvPr id="1" name=""/>
        <p:cNvGrpSpPr/>
        <p:nvPr/>
      </p:nvGrpSpPr>
      <p:grpSpPr bwMode="auto">
        <a:xfrm>
          <a:off x="0" y="0"/>
          <a:ext cx="0" cy="0"/>
          <a:chOff x="0" y="0"/>
          <a:chExt cx="0" cy="0"/>
        </a:xfrm>
      </p:grpSpPr>
      <p:sp>
        <p:nvSpPr>
          <p:cNvPr id="4" name="Нижний колонтитул 3"/>
          <p:cNvSpPr>
            <a:spLocks noGrp="1"/>
          </p:cNvSpPr>
          <p:nvPr>
            <p:ph type="ftr" sz="quarter" idx="11"/>
          </p:nvPr>
        </p:nvSpPr>
        <p:spPr bwMode="auto"/>
        <p:txBody>
          <a:bodyPr/>
          <a:lstStyle/>
          <a:p>
            <a:pPr>
              <a:defRPr/>
            </a:pPr>
            <a:endParaRPr lang="ru-RU"/>
          </a:p>
        </p:txBody>
      </p:sp>
      <p:sp>
        <p:nvSpPr>
          <p:cNvPr id="5" name="Номер слайда 4"/>
          <p:cNvSpPr>
            <a:spLocks noGrp="1"/>
          </p:cNvSpPr>
          <p:nvPr>
            <p:ph type="sldNum" sz="quarter" idx="12"/>
          </p:nvPr>
        </p:nvSpPr>
        <p:spPr bwMode="auto"/>
        <p:txBody>
          <a:bodyPr/>
          <a:lstStyle/>
          <a:p>
            <a:pPr>
              <a:defRPr/>
            </a:pPr>
            <a:fld id="{56DCE2C9-06B9-4058-BEBD-6FDE8D61F8A0}" type="slidenum">
              <a:rPr lang="ru-RU"/>
              <a:t>‹#›</a:t>
            </a:fld>
            <a:endParaRPr lang="ru-RU"/>
          </a:p>
        </p:txBody>
      </p:sp>
      <p:sp>
        <p:nvSpPr>
          <p:cNvPr id="10"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11" name="Текст 14"/>
          <p:cNvSpPr>
            <a:spLocks noGrp="1"/>
          </p:cNvSpPr>
          <p:nvPr>
            <p:ph type="body" sz="quarter" idx="14" hasCustomPrompt="1"/>
          </p:nvPr>
        </p:nvSpPr>
        <p:spPr bwMode="auto">
          <a:xfrm>
            <a:off x="477835" y="1819118"/>
            <a:ext cx="11229975" cy="532548"/>
          </a:xfrm>
        </p:spPr>
        <p:txBody>
          <a:bodyPr>
            <a:noAutofit/>
          </a:bodyPr>
          <a:lstStyle>
            <a:lvl1pPr>
              <a:lnSpc>
                <a:spcPct val="100000"/>
              </a:lnSpc>
              <a:spcBef>
                <a:spcPts val="0"/>
              </a:spcBef>
              <a:defRPr lang="ru-RU" sz="1600">
                <a:solidFill>
                  <a:schemeClr val="tx1"/>
                </a:solidFill>
                <a:latin typeface="+mj-lt"/>
                <a:ea typeface="+mn-ea"/>
                <a:cs typeface="+mn-cs"/>
              </a:defRPr>
            </a:lvl1pPr>
          </a:lstStyle>
          <a:p>
            <a:pPr marL="0" marR="0" lvl="0" indent="0" algn="just" defTabSz="914400">
              <a:lnSpc>
                <a:spcPct val="90000"/>
              </a:lnSpc>
              <a:spcBef>
                <a:spcPts val="1000"/>
              </a:spcBef>
              <a:spcAft>
                <a:spcPts val="0"/>
              </a:spcAft>
              <a:buClrTx/>
              <a:buSzTx/>
              <a:buFontTx/>
              <a:buNone/>
              <a:defRPr/>
            </a:pPr>
            <a:r>
              <a:rPr lang="ru-RU"/>
              <a:t>Название таблицы может быть набрано в одну или две строки</a:t>
            </a:r>
            <a:r>
              <a:rPr lang="ru-RU" sz="1600">
                <a:latin typeface="Montserrat"/>
              </a:rPr>
              <a:t> </a:t>
            </a:r>
            <a:r>
              <a:rPr lang="ru-RU"/>
              <a:t>(16</a:t>
            </a:r>
            <a:r>
              <a:rPr lang="en-US"/>
              <a:t>pt</a:t>
            </a:r>
            <a:r>
              <a:rPr lang="ru-RU"/>
              <a:t>)</a:t>
            </a:r>
            <a:endParaRPr/>
          </a:p>
        </p:txBody>
      </p:sp>
      <p:sp>
        <p:nvSpPr>
          <p:cNvPr id="14" name="Текст 23"/>
          <p:cNvSpPr>
            <a:spLocks noGrp="1"/>
          </p:cNvSpPr>
          <p:nvPr>
            <p:ph type="body" sz="quarter" idx="23" hasCustomPrompt="1"/>
          </p:nvPr>
        </p:nvSpPr>
        <p:spPr bwMode="auto">
          <a:xfrm>
            <a:off x="479425" y="5670369"/>
            <a:ext cx="11233150" cy="568325"/>
          </a:xfrm>
        </p:spPr>
        <p:txBody>
          <a:bodyPr>
            <a:normAutofit/>
          </a:bodyPr>
          <a:lstStyle>
            <a:lvl1pPr marL="0" marR="0" indent="0" algn="just" defTabSz="914400">
              <a:lnSpc>
                <a:spcPct val="90000"/>
              </a:lnSpc>
              <a:spcBef>
                <a:spcPts val="1000"/>
              </a:spcBef>
              <a:spcAft>
                <a:spcPts val="0"/>
              </a:spcAft>
              <a:buClrTx/>
              <a:buSzTx/>
              <a:buFontTx/>
              <a:buNone/>
              <a:defRPr sz="1200">
                <a:solidFill>
                  <a:schemeClr val="accent6"/>
                </a:solidFill>
              </a:defRPr>
            </a:lvl1pPr>
          </a:lstStyle>
          <a:p>
            <a:pPr marL="0" marR="0" lvl="0" indent="0" algn="just" defTabSz="914400">
              <a:lnSpc>
                <a:spcPct val="90000"/>
              </a:lnSpc>
              <a:spcBef>
                <a:spcPts val="1000"/>
              </a:spcBef>
              <a:spcAft>
                <a:spcPts val="0"/>
              </a:spcAft>
              <a:buClrTx/>
              <a:buSzTx/>
              <a:buFontTx/>
              <a:buNone/>
              <a:defRPr/>
            </a:pPr>
            <a:r>
              <a:rPr lang="ru-RU"/>
              <a:t>Пояснительная или дополнительная информация (12 pt). Жирное начертание следует применять осторожно, выделяя только самое значимое. Не рекомендуется использовать жирное начертание с заливкой ячеек, так как это может создать избыточность, достаточно одного визуального акцента для более аккуратного представления информации.</a:t>
            </a:r>
            <a:endParaRPr/>
          </a:p>
          <a:p>
            <a:pPr lvl="0">
              <a:defRPr/>
            </a:pPr>
            <a:endParaRPr lang="ru-RU"/>
          </a:p>
        </p:txBody>
      </p:sp>
      <p:sp>
        <p:nvSpPr>
          <p:cNvPr id="18" name="Таблица 17"/>
          <p:cNvSpPr>
            <a:spLocks noGrp="1"/>
          </p:cNvSpPr>
          <p:nvPr>
            <p:ph type="tbl" sz="quarter" idx="24" hasCustomPrompt="1"/>
          </p:nvPr>
        </p:nvSpPr>
        <p:spPr bwMode="auto">
          <a:xfrm>
            <a:off x="479425" y="2429126"/>
            <a:ext cx="11228385" cy="3123949"/>
          </a:xfrm>
        </p:spPr>
        <p:txBody>
          <a:bodyPr anchor="ctr"/>
          <a:lstStyle>
            <a:lvl1pPr algn="ctr">
              <a:defRPr/>
            </a:lvl1pPr>
          </a:lstStyle>
          <a:p>
            <a:pPr>
              <a:defRPr/>
            </a:pPr>
            <a:r>
              <a:rPr lang="ru-RU"/>
              <a:t>Таблица</a:t>
            </a:r>
            <a:endParaRPr/>
          </a:p>
        </p:txBody>
      </p:sp>
      <p:sp>
        <p:nvSpPr>
          <p:cNvPr id="12"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PhAnim="0" preserve="1" userDrawn="1">
  <p:cSld name="МТУСИ_вид1">
    <p:spTree>
      <p:nvGrpSpPr>
        <p:cNvPr id="1" name=""/>
        <p:cNvGrpSpPr/>
        <p:nvPr/>
      </p:nvGrpSpPr>
      <p:grpSpPr bwMode="auto">
        <a:xfrm>
          <a:off x="0" y="0"/>
          <a:ext cx="0" cy="0"/>
          <a:chOff x="0" y="0"/>
          <a:chExt cx="0" cy="0"/>
        </a:xfrm>
      </p:grpSpPr>
      <p:sp>
        <p:nvSpPr>
          <p:cNvPr id="4" name="Нижний колонтитул 3"/>
          <p:cNvSpPr>
            <a:spLocks noGrp="1"/>
          </p:cNvSpPr>
          <p:nvPr>
            <p:ph type="ftr" sz="quarter" idx="11"/>
          </p:nvPr>
        </p:nvSpPr>
        <p:spPr bwMode="auto"/>
        <p:txBody>
          <a:bodyPr/>
          <a:lstStyle/>
          <a:p>
            <a:pPr>
              <a:defRPr/>
            </a:pPr>
            <a:endParaRPr lang="ru-RU"/>
          </a:p>
        </p:txBody>
      </p:sp>
      <p:sp>
        <p:nvSpPr>
          <p:cNvPr id="5" name="Номер слайда 4"/>
          <p:cNvSpPr>
            <a:spLocks noGrp="1"/>
          </p:cNvSpPr>
          <p:nvPr>
            <p:ph type="sldNum" sz="quarter" idx="12"/>
          </p:nvPr>
        </p:nvSpPr>
        <p:spPr bwMode="auto"/>
        <p:txBody>
          <a:bodyPr/>
          <a:lstStyle/>
          <a:p>
            <a:pPr>
              <a:defRPr/>
            </a:pPr>
            <a:fld id="{56DCE2C9-06B9-4058-BEBD-6FDE8D61F8A0}" type="slidenum">
              <a:rPr lang="ru-RU"/>
              <a:t>‹#›</a:t>
            </a:fld>
            <a:endParaRPr lang="ru-RU"/>
          </a:p>
        </p:txBody>
      </p:sp>
      <p:sp>
        <p:nvSpPr>
          <p:cNvPr id="10" name="Заголовок 1"/>
          <p:cNvSpPr>
            <a:spLocks noGrp="1"/>
          </p:cNvSpPr>
          <p:nvPr>
            <p:ph type="title" hasCustomPrompt="1"/>
          </p:nvPr>
        </p:nvSpPr>
        <p:spPr bwMode="auto">
          <a:xfrm>
            <a:off x="479425" y="597855"/>
            <a:ext cx="11229975" cy="1140459"/>
          </a:xfrm>
        </p:spPr>
        <p:txBody>
          <a:bodyPr/>
          <a:lstStyle>
            <a:lvl1pPr algn="l">
              <a:defRPr lang="ru-RU" sz="3200" b="0">
                <a:solidFill>
                  <a:schemeClr val="tx1"/>
                </a:solidFill>
                <a:latin typeface="+mj-lt"/>
                <a:ea typeface="+mj-ea"/>
                <a:cs typeface="+mj-cs"/>
              </a:defRPr>
            </a:lvl1pPr>
          </a:lstStyle>
          <a:p>
            <a:pPr marL="0" marR="0" lvl="0" indent="0" algn="l" defTabSz="914400">
              <a:lnSpc>
                <a:spcPct val="100000"/>
              </a:lnSpc>
              <a:spcBef>
                <a:spcPts val="0"/>
              </a:spcBef>
              <a:spcAft>
                <a:spcPts val="0"/>
              </a:spcAft>
              <a:buClrTx/>
              <a:buSzTx/>
              <a:buFontTx/>
              <a:buNone/>
              <a:defRPr/>
            </a:pPr>
            <a:r>
              <a:rPr lang="ru-RU"/>
              <a:t>Заголовок слайда (32 </a:t>
            </a:r>
            <a:r>
              <a:rPr lang="en-US"/>
              <a:t>pt)</a:t>
            </a:r>
            <a:r>
              <a:rPr lang="ru-RU"/>
              <a:t>, старайтесь уместить заголовок в одну-две строки </a:t>
            </a:r>
            <a:endParaRPr/>
          </a:p>
        </p:txBody>
      </p:sp>
      <p:sp>
        <p:nvSpPr>
          <p:cNvPr id="7" name="Текст 3"/>
          <p:cNvSpPr>
            <a:spLocks noGrp="1"/>
          </p:cNvSpPr>
          <p:nvPr>
            <p:ph type="body" sz="quarter" idx="19" hasCustomPrompt="1"/>
          </p:nvPr>
        </p:nvSpPr>
        <p:spPr bwMode="auto">
          <a:xfrm>
            <a:off x="479424" y="149225"/>
            <a:ext cx="9940926" cy="276546"/>
          </a:xfrm>
        </p:spPr>
        <p:txBody>
          <a:bodyPr>
            <a:noAutofit/>
          </a:bodyPr>
          <a:lstStyle>
            <a:lvl1pPr algn="l">
              <a:defRPr sz="1600">
                <a:solidFill>
                  <a:schemeClr val="bg1"/>
                </a:solidFill>
                <a:latin typeface="+mj-lt"/>
              </a:defRPr>
            </a:lvl1pPr>
          </a:lstStyle>
          <a:p>
            <a:pPr marL="0" marR="0" lvl="0" indent="0" algn="l" defTabSz="914400">
              <a:lnSpc>
                <a:spcPct val="90000"/>
              </a:lnSpc>
              <a:spcBef>
                <a:spcPts val="1000"/>
              </a:spcBef>
              <a:spcAft>
                <a:spcPts val="0"/>
              </a:spcAft>
              <a:buClrTx/>
              <a:buSzTx/>
              <a:buFontTx/>
              <a:buNone/>
              <a:defRPr/>
            </a:pPr>
            <a:r>
              <a:rPr lang="ru-RU">
                <a:latin typeface="Montserrat SemiBold"/>
              </a:rPr>
              <a:t>Пояснительная или дополнительная информация (16 pt)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AndTwoObj">
  <p:cSld name="Заголовок, 1 большой объект и 2 маленьких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8D394A-C1A9-45C7-86CC-0CBB9A675D45}"/>
              </a:ext>
            </a:extLst>
          </p:cNvPr>
          <p:cNvSpPr>
            <a:spLocks noGrp="1"/>
          </p:cNvSpPr>
          <p:nvPr>
            <p:ph type="title"/>
          </p:nvPr>
        </p:nvSpPr>
        <p:spPr>
          <a:xfrm>
            <a:off x="766233" y="304801"/>
            <a:ext cx="10668000" cy="1216025"/>
          </a:xfrm>
        </p:spPr>
        <p:txBody>
          <a:bodyPr/>
          <a:lstStyle/>
          <a:p>
            <a:r>
              <a:rPr lang="ru-RU"/>
              <a:t>Образец заголовка</a:t>
            </a:r>
          </a:p>
        </p:txBody>
      </p:sp>
      <p:sp>
        <p:nvSpPr>
          <p:cNvPr id="3" name="Объект 2">
            <a:extLst>
              <a:ext uri="{FF2B5EF4-FFF2-40B4-BE49-F238E27FC236}">
                <a16:creationId xmlns:a16="http://schemas.microsoft.com/office/drawing/2014/main" id="{B914ADB3-5315-4714-ADBE-329763175977}"/>
              </a:ext>
            </a:extLst>
          </p:cNvPr>
          <p:cNvSpPr>
            <a:spLocks noGrp="1"/>
          </p:cNvSpPr>
          <p:nvPr>
            <p:ph sz="half" idx="1"/>
          </p:nvPr>
        </p:nvSpPr>
        <p:spPr>
          <a:xfrm>
            <a:off x="755651" y="1752600"/>
            <a:ext cx="5232400" cy="42672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ADFF61F0-B5E2-45CC-846D-4867A2855E39}"/>
              </a:ext>
            </a:extLst>
          </p:cNvPr>
          <p:cNvSpPr>
            <a:spLocks noGrp="1"/>
          </p:cNvSpPr>
          <p:nvPr>
            <p:ph sz="quarter" idx="2"/>
          </p:nvPr>
        </p:nvSpPr>
        <p:spPr>
          <a:xfrm>
            <a:off x="6191251" y="1752600"/>
            <a:ext cx="5232400" cy="20574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Объект 4">
            <a:extLst>
              <a:ext uri="{FF2B5EF4-FFF2-40B4-BE49-F238E27FC236}">
                <a16:creationId xmlns:a16="http://schemas.microsoft.com/office/drawing/2014/main" id="{44BA743F-AB63-4583-901F-D4AC26051A77}"/>
              </a:ext>
            </a:extLst>
          </p:cNvPr>
          <p:cNvSpPr>
            <a:spLocks noGrp="1"/>
          </p:cNvSpPr>
          <p:nvPr>
            <p:ph sz="quarter" idx="3"/>
          </p:nvPr>
        </p:nvSpPr>
        <p:spPr>
          <a:xfrm>
            <a:off x="6191251" y="3962400"/>
            <a:ext cx="5232400" cy="20574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Дата 5">
            <a:extLst>
              <a:ext uri="{FF2B5EF4-FFF2-40B4-BE49-F238E27FC236}">
                <a16:creationId xmlns:a16="http://schemas.microsoft.com/office/drawing/2014/main" id="{9453536E-B8E7-412A-833B-865411412C14}"/>
              </a:ext>
            </a:extLst>
          </p:cNvPr>
          <p:cNvSpPr>
            <a:spLocks noGrp="1"/>
          </p:cNvSpPr>
          <p:nvPr>
            <p:ph type="dt" sz="half" idx="10"/>
          </p:nvPr>
        </p:nvSpPr>
        <p:spPr>
          <a:xfrm>
            <a:off x="812800" y="6245225"/>
            <a:ext cx="2641600" cy="476250"/>
          </a:xfrm>
        </p:spPr>
        <p:txBody>
          <a:bodyPr/>
          <a:lstStyle>
            <a:lvl1pPr>
              <a:defRPr/>
            </a:lvl1pPr>
          </a:lstStyle>
          <a:p>
            <a:endParaRPr lang="ru-RU" altLang="ru-RU"/>
          </a:p>
        </p:txBody>
      </p:sp>
      <p:sp>
        <p:nvSpPr>
          <p:cNvPr id="7" name="Нижний колонтитул 6">
            <a:extLst>
              <a:ext uri="{FF2B5EF4-FFF2-40B4-BE49-F238E27FC236}">
                <a16:creationId xmlns:a16="http://schemas.microsoft.com/office/drawing/2014/main" id="{638372B1-2DE1-4FDA-97D1-EFC168D45A24}"/>
              </a:ext>
            </a:extLst>
          </p:cNvPr>
          <p:cNvSpPr>
            <a:spLocks noGrp="1"/>
          </p:cNvSpPr>
          <p:nvPr>
            <p:ph type="ftr" sz="quarter" idx="11"/>
          </p:nvPr>
        </p:nvSpPr>
        <p:spPr>
          <a:xfrm>
            <a:off x="4165600" y="6245225"/>
            <a:ext cx="3860800" cy="476250"/>
          </a:xfrm>
        </p:spPr>
        <p:txBody>
          <a:bodyPr/>
          <a:lstStyle>
            <a:lvl1pPr>
              <a:defRPr/>
            </a:lvl1pPr>
          </a:lstStyle>
          <a:p>
            <a:endParaRPr lang="ru-RU" altLang="ru-RU"/>
          </a:p>
        </p:txBody>
      </p:sp>
      <p:sp>
        <p:nvSpPr>
          <p:cNvPr id="8" name="Номер слайда 7">
            <a:extLst>
              <a:ext uri="{FF2B5EF4-FFF2-40B4-BE49-F238E27FC236}">
                <a16:creationId xmlns:a16="http://schemas.microsoft.com/office/drawing/2014/main" id="{DD08FFD8-066C-4D60-8817-FBAA5C9BB2A7}"/>
              </a:ext>
            </a:extLst>
          </p:cNvPr>
          <p:cNvSpPr>
            <a:spLocks noGrp="1"/>
          </p:cNvSpPr>
          <p:nvPr>
            <p:ph type="sldNum" sz="quarter" idx="12"/>
          </p:nvPr>
        </p:nvSpPr>
        <p:spPr>
          <a:xfrm>
            <a:off x="8737600" y="6245225"/>
            <a:ext cx="2641600" cy="476250"/>
          </a:xfrm>
        </p:spPr>
        <p:txBody>
          <a:bodyPr/>
          <a:lstStyle>
            <a:lvl1pPr>
              <a:defRPr/>
            </a:lvl1pPr>
          </a:lstStyle>
          <a:p>
            <a:fld id="{81C3A718-C195-43E9-BE78-6C0B5D3B29E6}" type="slidenum">
              <a:rPr lang="ru-RU" altLang="ru-RU"/>
              <a:pPr/>
              <a:t>‹#›</a:t>
            </a:fld>
            <a:endParaRPr lang="ru-RU" altLang="ru-RU"/>
          </a:p>
        </p:txBody>
      </p:sp>
    </p:spTree>
    <p:extLst>
      <p:ext uri="{BB962C8B-B14F-4D97-AF65-F5344CB8AC3E}">
        <p14:creationId xmlns:p14="http://schemas.microsoft.com/office/powerpoint/2010/main" val="15598084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cSld name="Пустой слайд">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DD9E5814-01EE-42F6-9F5C-5B6144C78D05}"/>
              </a:ext>
            </a:extLst>
          </p:cNvPr>
          <p:cNvSpPr>
            <a:spLocks noGrp="1" noChangeArrowheads="1"/>
          </p:cNvSpPr>
          <p:nvPr>
            <p:ph type="dt" sz="half" idx="10"/>
          </p:nvPr>
        </p:nvSpPr>
        <p:spPr>
          <a:ln/>
        </p:spPr>
        <p:txBody>
          <a:bodyPr/>
          <a:lstStyle>
            <a:lvl1pPr>
              <a:defRPr/>
            </a:lvl1pPr>
          </a:lstStyle>
          <a:p>
            <a:pPr>
              <a:defRPr/>
            </a:pPr>
            <a:endParaRPr lang="ru-RU"/>
          </a:p>
        </p:txBody>
      </p:sp>
      <p:sp>
        <p:nvSpPr>
          <p:cNvPr id="3" name="Rectangle 5">
            <a:extLst>
              <a:ext uri="{FF2B5EF4-FFF2-40B4-BE49-F238E27FC236}">
                <a16:creationId xmlns:a16="http://schemas.microsoft.com/office/drawing/2014/main" id="{47CD651E-0CE2-4A60-992C-5E603A3B5FAA}"/>
              </a:ext>
            </a:extLst>
          </p:cNvPr>
          <p:cNvSpPr>
            <a:spLocks noGrp="1" noChangeArrowheads="1"/>
          </p:cNvSpPr>
          <p:nvPr>
            <p:ph type="ftr" sz="quarter" idx="11"/>
          </p:nvPr>
        </p:nvSpPr>
        <p:spPr>
          <a:ln/>
        </p:spPr>
        <p:txBody>
          <a:bodyPr/>
          <a:lstStyle>
            <a:lvl1pPr>
              <a:defRPr/>
            </a:lvl1pPr>
          </a:lstStyle>
          <a:p>
            <a:pPr>
              <a:defRPr/>
            </a:pPr>
            <a:endParaRPr lang="ru-RU"/>
          </a:p>
        </p:txBody>
      </p:sp>
      <p:sp>
        <p:nvSpPr>
          <p:cNvPr id="4" name="Rectangle 6">
            <a:extLst>
              <a:ext uri="{FF2B5EF4-FFF2-40B4-BE49-F238E27FC236}">
                <a16:creationId xmlns:a16="http://schemas.microsoft.com/office/drawing/2014/main" id="{6FA6E30F-FB9B-45FE-B953-C0C07248B6CB}"/>
              </a:ext>
            </a:extLst>
          </p:cNvPr>
          <p:cNvSpPr>
            <a:spLocks noGrp="1" noChangeArrowheads="1"/>
          </p:cNvSpPr>
          <p:nvPr>
            <p:ph type="sldNum" sz="quarter" idx="12"/>
          </p:nvPr>
        </p:nvSpPr>
        <p:spPr>
          <a:ln/>
        </p:spPr>
        <p:txBody>
          <a:bodyPr/>
          <a:lstStyle>
            <a:lvl1pPr>
              <a:defRPr/>
            </a:lvl1pPr>
          </a:lstStyle>
          <a:p>
            <a:fld id="{5ED76B7B-81DB-4C08-821D-24A50E4DD41D}" type="slidenum">
              <a:rPr lang="ru-RU" altLang="ru-RU"/>
              <a:pPr/>
              <a:t>‹#›</a:t>
            </a:fld>
            <a:endParaRPr lang="ru-RU" altLang="ru-RU"/>
          </a:p>
        </p:txBody>
      </p:sp>
    </p:spTree>
    <p:extLst>
      <p:ext uri="{BB962C8B-B14F-4D97-AF65-F5344CB8AC3E}">
        <p14:creationId xmlns:p14="http://schemas.microsoft.com/office/powerpoint/2010/main" val="155261861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cSld name="Заголовок и четыре объекта">
    <p:spTree>
      <p:nvGrpSpPr>
        <p:cNvPr id="1" name=""/>
        <p:cNvGrpSpPr/>
        <p:nvPr/>
      </p:nvGrpSpPr>
      <p:grpSpPr>
        <a:xfrm>
          <a:off x="0" y="0"/>
          <a:ext cx="0" cy="0"/>
          <a:chOff x="0" y="0"/>
          <a:chExt cx="0" cy="0"/>
        </a:xfrm>
      </p:grpSpPr>
      <p:sp>
        <p:nvSpPr>
          <p:cNvPr id="2" name="Заголовок 1"/>
          <p:cNvSpPr>
            <a:spLocks noGrp="1"/>
          </p:cNvSpPr>
          <p:nvPr>
            <p:ph type="title" sz="quarter"/>
          </p:nvPr>
        </p:nvSpPr>
        <p:spPr>
          <a:xfrm>
            <a:off x="609600" y="457200"/>
            <a:ext cx="10972800" cy="1371600"/>
          </a:xfrm>
        </p:spPr>
        <p:txBody>
          <a:bodyPr/>
          <a:lstStyle/>
          <a:p>
            <a:r>
              <a:rPr lang="ru-RU"/>
              <a:t>Образец заголовка</a:t>
            </a:r>
          </a:p>
        </p:txBody>
      </p:sp>
      <p:sp>
        <p:nvSpPr>
          <p:cNvPr id="3" name="Объект 2"/>
          <p:cNvSpPr>
            <a:spLocks noGrp="1"/>
          </p:cNvSpPr>
          <p:nvPr>
            <p:ph sz="quarter" idx="1"/>
          </p:nvPr>
        </p:nvSpPr>
        <p:spPr>
          <a:xfrm>
            <a:off x="609600" y="1981200"/>
            <a:ext cx="5384800" cy="18669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quarter" idx="2"/>
          </p:nvPr>
        </p:nvSpPr>
        <p:spPr>
          <a:xfrm>
            <a:off x="6197600" y="1981200"/>
            <a:ext cx="5384800" cy="18669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Объект 4"/>
          <p:cNvSpPr>
            <a:spLocks noGrp="1"/>
          </p:cNvSpPr>
          <p:nvPr>
            <p:ph sz="quarter" idx="3"/>
          </p:nvPr>
        </p:nvSpPr>
        <p:spPr>
          <a:xfrm>
            <a:off x="609600" y="4000500"/>
            <a:ext cx="5384800" cy="18669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Объект 5"/>
          <p:cNvSpPr>
            <a:spLocks noGrp="1"/>
          </p:cNvSpPr>
          <p:nvPr>
            <p:ph sz="quarter" idx="4"/>
          </p:nvPr>
        </p:nvSpPr>
        <p:spPr>
          <a:xfrm>
            <a:off x="6197600" y="4000500"/>
            <a:ext cx="5384800" cy="18669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Rectangle 2">
            <a:extLst>
              <a:ext uri="{FF2B5EF4-FFF2-40B4-BE49-F238E27FC236}">
                <a16:creationId xmlns:a16="http://schemas.microsoft.com/office/drawing/2014/main" id="{4C351125-2043-4641-BD99-AB40BEF6E270}"/>
              </a:ext>
            </a:extLst>
          </p:cNvPr>
          <p:cNvSpPr>
            <a:spLocks noGrp="1" noChangeArrowheads="1"/>
          </p:cNvSpPr>
          <p:nvPr>
            <p:ph type="ftr" sz="quarter" idx="10"/>
          </p:nvPr>
        </p:nvSpPr>
        <p:spPr>
          <a:ln/>
        </p:spPr>
        <p:txBody>
          <a:bodyPr/>
          <a:lstStyle>
            <a:lvl1pPr>
              <a:defRPr/>
            </a:lvl1pPr>
          </a:lstStyle>
          <a:p>
            <a:pPr>
              <a:defRPr/>
            </a:pPr>
            <a:endParaRPr lang="ru-RU" altLang="ru-RU"/>
          </a:p>
        </p:txBody>
      </p:sp>
      <p:sp>
        <p:nvSpPr>
          <p:cNvPr id="8" name="Rectangle 3">
            <a:extLst>
              <a:ext uri="{FF2B5EF4-FFF2-40B4-BE49-F238E27FC236}">
                <a16:creationId xmlns:a16="http://schemas.microsoft.com/office/drawing/2014/main" id="{C7ABC1BC-F160-4699-BB1D-3DCD0F8C7825}"/>
              </a:ext>
            </a:extLst>
          </p:cNvPr>
          <p:cNvSpPr>
            <a:spLocks noGrp="1" noChangeArrowheads="1"/>
          </p:cNvSpPr>
          <p:nvPr>
            <p:ph type="sldNum" sz="quarter" idx="11"/>
          </p:nvPr>
        </p:nvSpPr>
        <p:spPr>
          <a:ln/>
        </p:spPr>
        <p:txBody>
          <a:bodyPr/>
          <a:lstStyle>
            <a:lvl1pPr>
              <a:defRPr/>
            </a:lvl1pPr>
          </a:lstStyle>
          <a:p>
            <a:pPr>
              <a:defRPr/>
            </a:pPr>
            <a:fld id="{98FC5E2A-0C05-447B-91C8-666965C3FD9F}" type="slidenum">
              <a:rPr lang="ru-RU" altLang="ru-RU"/>
              <a:pPr>
                <a:defRPr/>
              </a:pPr>
              <a:t>‹#›</a:t>
            </a:fld>
            <a:endParaRPr lang="ru-RU" altLang="ru-RU"/>
          </a:p>
        </p:txBody>
      </p:sp>
      <p:sp>
        <p:nvSpPr>
          <p:cNvPr id="9" name="Rectangle 16">
            <a:extLst>
              <a:ext uri="{FF2B5EF4-FFF2-40B4-BE49-F238E27FC236}">
                <a16:creationId xmlns:a16="http://schemas.microsoft.com/office/drawing/2014/main" id="{274E0ECC-4A0D-4F71-9F23-2EF8FA3CB86E}"/>
              </a:ext>
            </a:extLst>
          </p:cNvPr>
          <p:cNvSpPr>
            <a:spLocks noGrp="1" noChangeArrowheads="1"/>
          </p:cNvSpPr>
          <p:nvPr>
            <p:ph type="dt" sz="half" idx="12"/>
          </p:nvPr>
        </p:nvSpPr>
        <p:spPr>
          <a:ln/>
        </p:spPr>
        <p:txBody>
          <a:bodyPr/>
          <a:lstStyle>
            <a:lvl1pPr>
              <a:defRPr/>
            </a:lvl1pPr>
          </a:lstStyle>
          <a:p>
            <a:pPr>
              <a:defRPr/>
            </a:pPr>
            <a:endParaRPr lang="ru-RU" altLang="ru-RU"/>
          </a:p>
        </p:txBody>
      </p:sp>
    </p:spTree>
    <p:extLst>
      <p:ext uri="{BB962C8B-B14F-4D97-AF65-F5344CB8AC3E}">
        <p14:creationId xmlns:p14="http://schemas.microsoft.com/office/powerpoint/2010/main" val="29766846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609600" y="1981200"/>
            <a:ext cx="5384800" cy="38862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6197600" y="1981200"/>
            <a:ext cx="5384800" cy="38862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Rectangle 2">
            <a:extLst>
              <a:ext uri="{FF2B5EF4-FFF2-40B4-BE49-F238E27FC236}">
                <a16:creationId xmlns:a16="http://schemas.microsoft.com/office/drawing/2014/main" id="{0956FF6E-7771-4FCC-9BA2-038D8D2586B3}"/>
              </a:ext>
            </a:extLst>
          </p:cNvPr>
          <p:cNvSpPr>
            <a:spLocks noGrp="1" noChangeArrowheads="1"/>
          </p:cNvSpPr>
          <p:nvPr>
            <p:ph type="ftr" sz="quarter" idx="10"/>
          </p:nvPr>
        </p:nvSpPr>
        <p:spPr>
          <a:ln/>
        </p:spPr>
        <p:txBody>
          <a:bodyPr/>
          <a:lstStyle>
            <a:lvl1pPr>
              <a:defRPr/>
            </a:lvl1pPr>
          </a:lstStyle>
          <a:p>
            <a:pPr>
              <a:defRPr/>
            </a:pPr>
            <a:endParaRPr lang="ru-RU" altLang="ru-RU"/>
          </a:p>
        </p:txBody>
      </p:sp>
      <p:sp>
        <p:nvSpPr>
          <p:cNvPr id="6" name="Rectangle 3">
            <a:extLst>
              <a:ext uri="{FF2B5EF4-FFF2-40B4-BE49-F238E27FC236}">
                <a16:creationId xmlns:a16="http://schemas.microsoft.com/office/drawing/2014/main" id="{F921078C-486C-4E30-BC70-839355A36EB8}"/>
              </a:ext>
            </a:extLst>
          </p:cNvPr>
          <p:cNvSpPr>
            <a:spLocks noGrp="1" noChangeArrowheads="1"/>
          </p:cNvSpPr>
          <p:nvPr>
            <p:ph type="sldNum" sz="quarter" idx="11"/>
          </p:nvPr>
        </p:nvSpPr>
        <p:spPr>
          <a:ln/>
        </p:spPr>
        <p:txBody>
          <a:bodyPr/>
          <a:lstStyle>
            <a:lvl1pPr>
              <a:defRPr/>
            </a:lvl1pPr>
          </a:lstStyle>
          <a:p>
            <a:pPr>
              <a:defRPr/>
            </a:pPr>
            <a:fld id="{54EC2500-27A6-4824-8CCF-3B754153EE76}" type="slidenum">
              <a:rPr lang="ru-RU" altLang="ru-RU"/>
              <a:pPr>
                <a:defRPr/>
              </a:pPr>
              <a:t>‹#›</a:t>
            </a:fld>
            <a:endParaRPr lang="ru-RU" altLang="ru-RU"/>
          </a:p>
        </p:txBody>
      </p:sp>
      <p:sp>
        <p:nvSpPr>
          <p:cNvPr id="7" name="Rectangle 16">
            <a:extLst>
              <a:ext uri="{FF2B5EF4-FFF2-40B4-BE49-F238E27FC236}">
                <a16:creationId xmlns:a16="http://schemas.microsoft.com/office/drawing/2014/main" id="{02C910D8-6C65-42B8-9D80-76359599ED9E}"/>
              </a:ext>
            </a:extLst>
          </p:cNvPr>
          <p:cNvSpPr>
            <a:spLocks noGrp="1" noChangeArrowheads="1"/>
          </p:cNvSpPr>
          <p:nvPr>
            <p:ph type="dt" sz="half" idx="12"/>
          </p:nvPr>
        </p:nvSpPr>
        <p:spPr>
          <a:ln/>
        </p:spPr>
        <p:txBody>
          <a:bodyPr/>
          <a:lstStyle>
            <a:lvl1pPr>
              <a:defRPr/>
            </a:lvl1pPr>
          </a:lstStyle>
          <a:p>
            <a:pPr>
              <a:defRPr/>
            </a:pPr>
            <a:endParaRPr lang="ru-RU" altLang="ru-RU"/>
          </a:p>
        </p:txBody>
      </p:sp>
    </p:spTree>
    <p:extLst>
      <p:ext uri="{BB962C8B-B14F-4D97-AF65-F5344CB8AC3E}">
        <p14:creationId xmlns:p14="http://schemas.microsoft.com/office/powerpoint/2010/main" val="310238150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Rectangle 2">
            <a:extLst>
              <a:ext uri="{FF2B5EF4-FFF2-40B4-BE49-F238E27FC236}">
                <a16:creationId xmlns:a16="http://schemas.microsoft.com/office/drawing/2014/main" id="{249D6F2E-D36B-48DF-B913-CFC8A726E41B}"/>
              </a:ext>
            </a:extLst>
          </p:cNvPr>
          <p:cNvSpPr>
            <a:spLocks noGrp="1" noChangeArrowheads="1"/>
          </p:cNvSpPr>
          <p:nvPr>
            <p:ph type="ftr" sz="quarter" idx="10"/>
          </p:nvPr>
        </p:nvSpPr>
        <p:spPr>
          <a:ln/>
        </p:spPr>
        <p:txBody>
          <a:bodyPr/>
          <a:lstStyle>
            <a:lvl1pPr>
              <a:defRPr/>
            </a:lvl1pPr>
          </a:lstStyle>
          <a:p>
            <a:pPr>
              <a:defRPr/>
            </a:pPr>
            <a:endParaRPr lang="ru-RU" altLang="ru-RU"/>
          </a:p>
        </p:txBody>
      </p:sp>
      <p:sp>
        <p:nvSpPr>
          <p:cNvPr id="5" name="Rectangle 3">
            <a:extLst>
              <a:ext uri="{FF2B5EF4-FFF2-40B4-BE49-F238E27FC236}">
                <a16:creationId xmlns:a16="http://schemas.microsoft.com/office/drawing/2014/main" id="{639966E5-C9EB-4C0C-8EB4-EBA94B8B8166}"/>
              </a:ext>
            </a:extLst>
          </p:cNvPr>
          <p:cNvSpPr>
            <a:spLocks noGrp="1" noChangeArrowheads="1"/>
          </p:cNvSpPr>
          <p:nvPr>
            <p:ph type="sldNum" sz="quarter" idx="11"/>
          </p:nvPr>
        </p:nvSpPr>
        <p:spPr>
          <a:ln/>
        </p:spPr>
        <p:txBody>
          <a:bodyPr/>
          <a:lstStyle>
            <a:lvl1pPr>
              <a:defRPr/>
            </a:lvl1pPr>
          </a:lstStyle>
          <a:p>
            <a:pPr>
              <a:defRPr/>
            </a:pPr>
            <a:fld id="{757F3FBE-AFFB-4D62-99B5-A2BD71ACAD18}" type="slidenum">
              <a:rPr lang="ru-RU" altLang="ru-RU"/>
              <a:pPr>
                <a:defRPr/>
              </a:pPr>
              <a:t>‹#›</a:t>
            </a:fld>
            <a:endParaRPr lang="ru-RU" altLang="ru-RU"/>
          </a:p>
        </p:txBody>
      </p:sp>
      <p:sp>
        <p:nvSpPr>
          <p:cNvPr id="6" name="Rectangle 16">
            <a:extLst>
              <a:ext uri="{FF2B5EF4-FFF2-40B4-BE49-F238E27FC236}">
                <a16:creationId xmlns:a16="http://schemas.microsoft.com/office/drawing/2014/main" id="{2B774DC1-3D4E-4446-9DC6-B61A44A7C572}"/>
              </a:ext>
            </a:extLst>
          </p:cNvPr>
          <p:cNvSpPr>
            <a:spLocks noGrp="1" noChangeArrowheads="1"/>
          </p:cNvSpPr>
          <p:nvPr>
            <p:ph type="dt" sz="half" idx="12"/>
          </p:nvPr>
        </p:nvSpPr>
        <p:spPr>
          <a:ln/>
        </p:spPr>
        <p:txBody>
          <a:bodyPr/>
          <a:lstStyle>
            <a:lvl1pPr>
              <a:defRPr/>
            </a:lvl1pPr>
          </a:lstStyle>
          <a:p>
            <a:pPr>
              <a:defRPr/>
            </a:pPr>
            <a:endParaRPr lang="ru-RU" altLang="ru-RU"/>
          </a:p>
        </p:txBody>
      </p:sp>
    </p:spTree>
    <p:extLst>
      <p:ext uri="{BB962C8B-B14F-4D97-AF65-F5344CB8AC3E}">
        <p14:creationId xmlns:p14="http://schemas.microsoft.com/office/powerpoint/2010/main" val="169738130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Only">
  <p:cSld name="Объект">
    <p:spTree>
      <p:nvGrpSpPr>
        <p:cNvPr id="1" name=""/>
        <p:cNvGrpSpPr/>
        <p:nvPr/>
      </p:nvGrpSpPr>
      <p:grpSpPr>
        <a:xfrm>
          <a:off x="0" y="0"/>
          <a:ext cx="0" cy="0"/>
          <a:chOff x="0" y="0"/>
          <a:chExt cx="0" cy="0"/>
        </a:xfrm>
      </p:grpSpPr>
      <p:sp>
        <p:nvSpPr>
          <p:cNvPr id="2" name="Объект 1"/>
          <p:cNvSpPr>
            <a:spLocks noGrp="1"/>
          </p:cNvSpPr>
          <p:nvPr>
            <p:ph/>
          </p:nvPr>
        </p:nvSpPr>
        <p:spPr>
          <a:xfrm>
            <a:off x="609600" y="457200"/>
            <a:ext cx="10972800" cy="54102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3" name="Rectangle 2">
            <a:extLst>
              <a:ext uri="{FF2B5EF4-FFF2-40B4-BE49-F238E27FC236}">
                <a16:creationId xmlns:a16="http://schemas.microsoft.com/office/drawing/2014/main" id="{FF49F076-F9DE-4557-82A0-F92ED0E1AE37}"/>
              </a:ext>
            </a:extLst>
          </p:cNvPr>
          <p:cNvSpPr>
            <a:spLocks noGrp="1" noChangeArrowheads="1"/>
          </p:cNvSpPr>
          <p:nvPr>
            <p:ph type="ftr" sz="quarter" idx="10"/>
          </p:nvPr>
        </p:nvSpPr>
        <p:spPr>
          <a:ln/>
        </p:spPr>
        <p:txBody>
          <a:bodyPr/>
          <a:lstStyle>
            <a:lvl1pPr>
              <a:defRPr/>
            </a:lvl1pPr>
          </a:lstStyle>
          <a:p>
            <a:pPr>
              <a:defRPr/>
            </a:pPr>
            <a:endParaRPr lang="ru-RU" altLang="ru-RU"/>
          </a:p>
        </p:txBody>
      </p:sp>
      <p:sp>
        <p:nvSpPr>
          <p:cNvPr id="4" name="Rectangle 3">
            <a:extLst>
              <a:ext uri="{FF2B5EF4-FFF2-40B4-BE49-F238E27FC236}">
                <a16:creationId xmlns:a16="http://schemas.microsoft.com/office/drawing/2014/main" id="{0FAEA0EB-E5FF-4495-AF57-34DB92253319}"/>
              </a:ext>
            </a:extLst>
          </p:cNvPr>
          <p:cNvSpPr>
            <a:spLocks noGrp="1" noChangeArrowheads="1"/>
          </p:cNvSpPr>
          <p:nvPr>
            <p:ph type="sldNum" sz="quarter" idx="11"/>
          </p:nvPr>
        </p:nvSpPr>
        <p:spPr>
          <a:ln/>
        </p:spPr>
        <p:txBody>
          <a:bodyPr/>
          <a:lstStyle>
            <a:lvl1pPr>
              <a:defRPr/>
            </a:lvl1pPr>
          </a:lstStyle>
          <a:p>
            <a:pPr>
              <a:defRPr/>
            </a:pPr>
            <a:fld id="{1F7DA4EF-74FD-4C66-88A4-54B8962E2CE3}" type="slidenum">
              <a:rPr lang="ru-RU" altLang="ru-RU"/>
              <a:pPr>
                <a:defRPr/>
              </a:pPr>
              <a:t>‹#›</a:t>
            </a:fld>
            <a:endParaRPr lang="ru-RU" altLang="ru-RU"/>
          </a:p>
        </p:txBody>
      </p:sp>
      <p:sp>
        <p:nvSpPr>
          <p:cNvPr id="5" name="Rectangle 16">
            <a:extLst>
              <a:ext uri="{FF2B5EF4-FFF2-40B4-BE49-F238E27FC236}">
                <a16:creationId xmlns:a16="http://schemas.microsoft.com/office/drawing/2014/main" id="{ADB95815-84BB-4A82-B9BB-3D573614A376}"/>
              </a:ext>
            </a:extLst>
          </p:cNvPr>
          <p:cNvSpPr>
            <a:spLocks noGrp="1" noChangeArrowheads="1"/>
          </p:cNvSpPr>
          <p:nvPr>
            <p:ph type="dt" sz="half" idx="12"/>
          </p:nvPr>
        </p:nvSpPr>
        <p:spPr>
          <a:ln/>
        </p:spPr>
        <p:txBody>
          <a:bodyPr/>
          <a:lstStyle>
            <a:lvl1pPr>
              <a:defRPr/>
            </a:lvl1pPr>
          </a:lstStyle>
          <a:p>
            <a:pPr>
              <a:defRPr/>
            </a:pPr>
            <a:endParaRPr lang="ru-RU" altLang="ru-RU"/>
          </a:p>
        </p:txBody>
      </p:sp>
    </p:spTree>
    <p:extLst>
      <p:ext uri="{BB962C8B-B14F-4D97-AF65-F5344CB8AC3E}">
        <p14:creationId xmlns:p14="http://schemas.microsoft.com/office/powerpoint/2010/main" val="22277554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 Id="rId30"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pic>
        <p:nvPicPr>
          <p:cNvPr id="9" name="Рисунок 8"/>
          <p:cNvPicPr>
            <a:picLocks noChangeAspect="1"/>
          </p:cNvPicPr>
          <p:nvPr userDrawn="1"/>
        </p:nvPicPr>
        <p:blipFill>
          <a:blip r:embed="rId28"/>
          <a:stretch/>
        </p:blipFill>
        <p:spPr bwMode="auto">
          <a:xfrm>
            <a:off x="96520" y="0"/>
            <a:ext cx="12038470" cy="6771640"/>
          </a:xfrm>
          <a:prstGeom prst="rect">
            <a:avLst/>
          </a:prstGeom>
        </p:spPr>
      </p:pic>
      <p:pic>
        <p:nvPicPr>
          <p:cNvPr id="12" name="Рисунок 11"/>
          <p:cNvPicPr>
            <a:picLocks noChangeAspect="1"/>
          </p:cNvPicPr>
          <p:nvPr userDrawn="1"/>
        </p:nvPicPr>
        <p:blipFill>
          <a:blip r:embed="rId29"/>
          <a:stretch/>
        </p:blipFill>
        <p:spPr bwMode="auto">
          <a:xfrm>
            <a:off x="0" y="-20571"/>
            <a:ext cx="12192000" cy="606711"/>
          </a:xfrm>
          <a:prstGeom prst="rect">
            <a:avLst/>
          </a:prstGeom>
        </p:spPr>
      </p:pic>
      <p:sp>
        <p:nvSpPr>
          <p:cNvPr id="2" name="Заголовок 1"/>
          <p:cNvSpPr>
            <a:spLocks noGrp="1"/>
          </p:cNvSpPr>
          <p:nvPr>
            <p:ph type="title"/>
          </p:nvPr>
        </p:nvSpPr>
        <p:spPr bwMode="auto">
          <a:xfrm>
            <a:off x="952500" y="2425748"/>
            <a:ext cx="10899140" cy="1003252"/>
          </a:xfrm>
          <a:prstGeom prst="rect">
            <a:avLst/>
          </a:prstGeom>
        </p:spPr>
        <p:txBody>
          <a:bodyPr vert="horz" lIns="91440" tIns="45720" rIns="91440" bIns="45720" rtlCol="0" anchor="t">
            <a:noAutofit/>
          </a:bodyPr>
          <a:lstStyle/>
          <a:p>
            <a:pPr>
              <a:defRPr/>
            </a:pPr>
            <a:r>
              <a:rPr lang="ru-RU" sz="4400">
                <a:latin typeface="Montserrat"/>
              </a:rPr>
              <a:t>Название </a:t>
            </a:r>
            <a:r>
              <a:rPr lang="en-US" sz="4400">
                <a:latin typeface="Montserrat"/>
              </a:rPr>
              <a:t>(</a:t>
            </a:r>
            <a:r>
              <a:rPr lang="ru-RU" sz="4400">
                <a:latin typeface="Montserrat"/>
              </a:rPr>
              <a:t>44</a:t>
            </a:r>
            <a:r>
              <a:rPr lang="en-US" sz="4400">
                <a:latin typeface="Montserrat"/>
              </a:rPr>
              <a:t>pt)</a:t>
            </a:r>
            <a:endParaRPr lang="ru-RU"/>
          </a:p>
        </p:txBody>
      </p:sp>
      <p:sp>
        <p:nvSpPr>
          <p:cNvPr id="3" name="Текст 2"/>
          <p:cNvSpPr>
            <a:spLocks noGrp="1"/>
          </p:cNvSpPr>
          <p:nvPr>
            <p:ph type="body" idx="1"/>
          </p:nvPr>
        </p:nvSpPr>
        <p:spPr bwMode="auto">
          <a:xfrm>
            <a:off x="952500" y="3676650"/>
            <a:ext cx="10401300" cy="2679700"/>
          </a:xfrm>
          <a:prstGeom prst="rect">
            <a:avLst/>
          </a:prstGeom>
        </p:spPr>
        <p:txBody>
          <a:bodyPr vert="horz" lIns="91440" tIns="45720" rIns="91440" bIns="45720" rtlCol="0" anchor="t">
            <a:normAutofit/>
          </a:bodyPr>
          <a:lstStyle/>
          <a:p>
            <a:pPr lvl="0">
              <a:defRPr/>
            </a:pPr>
            <a:r>
              <a:rPr lang="ru-RU"/>
              <a:t>Образец текст40</a:t>
            </a:r>
            <a:endParaRPr/>
          </a:p>
          <a:p>
            <a:pPr lvl="1">
              <a:defRPr/>
            </a:pPr>
            <a:r>
              <a:rPr lang="ru-RU"/>
              <a:t>Второй уровень</a:t>
            </a:r>
            <a:endParaRPr/>
          </a:p>
          <a:p>
            <a:pPr lvl="2">
              <a:defRPr/>
            </a:pPr>
            <a:r>
              <a:rPr lang="ru-RU"/>
              <a:t>Третий уровень</a:t>
            </a:r>
            <a:endParaRPr/>
          </a:p>
          <a:p>
            <a:pPr lvl="3">
              <a:defRPr/>
            </a:pPr>
            <a:r>
              <a:rPr lang="ru-RU"/>
              <a:t>Четвертый уровень</a:t>
            </a:r>
            <a:endParaRPr/>
          </a:p>
          <a:p>
            <a:pPr lvl="4">
              <a:defRPr/>
            </a:pPr>
            <a:r>
              <a:rPr lang="ru-RU"/>
              <a:t>Пятый уровень </a:t>
            </a:r>
            <a:endParaRPr/>
          </a:p>
          <a:p>
            <a:pPr lvl="4">
              <a:defRPr/>
            </a:pPr>
            <a:endParaRPr lang="ru-RU"/>
          </a:p>
          <a:p>
            <a:pPr lvl="4">
              <a:defRPr/>
            </a:pPr>
            <a:endParaRPr lang="ru-RU"/>
          </a:p>
        </p:txBody>
      </p:sp>
      <p:sp>
        <p:nvSpPr>
          <p:cNvPr id="4" name="Дата 3"/>
          <p:cNvSpPr>
            <a:spLocks noGrp="1"/>
          </p:cNvSpPr>
          <p:nvPr>
            <p:ph type="dt" sz="half" idx="2"/>
          </p:nvPr>
        </p:nvSpPr>
        <p:spPr bwMode="auto">
          <a:xfrm>
            <a:off x="479425" y="6352540"/>
            <a:ext cx="27432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fld id="{D2412498-5A2D-41B1-86A5-AAA3110F9D9B}" type="datetimeFigureOut">
              <a:rPr lang="ru-RU"/>
              <a:t>24.09.2025</a:t>
            </a:fld>
            <a:endParaRPr lang="ru-RU"/>
          </a:p>
        </p:txBody>
      </p:sp>
      <p:sp>
        <p:nvSpPr>
          <p:cNvPr id="5" name="Нижний колонтитул 4"/>
          <p:cNvSpPr>
            <a:spLocks noGrp="1"/>
          </p:cNvSpPr>
          <p:nvPr>
            <p:ph type="ftr" sz="quarter" idx="3"/>
          </p:nvPr>
        </p:nvSpPr>
        <p:spPr bwMode="auto">
          <a:xfrm>
            <a:off x="479425" y="6356350"/>
            <a:ext cx="7673975"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ru-RU"/>
          </a:p>
        </p:txBody>
      </p:sp>
      <p:sp>
        <p:nvSpPr>
          <p:cNvPr id="6" name="Номер слайда 5"/>
          <p:cNvSpPr>
            <a:spLocks noGrp="1"/>
          </p:cNvSpPr>
          <p:nvPr>
            <p:ph type="sldNum" sz="quarter" idx="4"/>
          </p:nvPr>
        </p:nvSpPr>
        <p:spPr bwMode="auto">
          <a:xfrm>
            <a:off x="8969375" y="6350687"/>
            <a:ext cx="2857500" cy="365125"/>
          </a:xfrm>
          <a:prstGeom prst="rect">
            <a:avLst/>
          </a:prstGeom>
        </p:spPr>
        <p:txBody>
          <a:bodyPr vert="horz" lIns="91440" tIns="45720" rIns="91440" bIns="45720" rtlCol="0" anchor="ctr"/>
          <a:lstStyle>
            <a:lvl1pPr algn="r">
              <a:defRPr sz="1600" b="1">
                <a:solidFill>
                  <a:schemeClr val="tx1">
                    <a:tint val="75000"/>
                  </a:schemeClr>
                </a:solidFill>
              </a:defRPr>
            </a:lvl1pPr>
          </a:lstStyle>
          <a:p>
            <a:pPr>
              <a:defRPr/>
            </a:pPr>
            <a:fld id="{56DCE2C9-06B9-4058-BEBD-6FDE8D61F8A0}" type="slidenum">
              <a:rPr lang="ru-RU"/>
              <a:t>‹#›</a:t>
            </a:fld>
            <a:endParaRPr lang="ru-RU"/>
          </a:p>
        </p:txBody>
      </p:sp>
      <p:pic>
        <p:nvPicPr>
          <p:cNvPr id="16" name="Рисунок 15"/>
          <p:cNvPicPr>
            <a:picLocks noChangeAspect="1"/>
          </p:cNvPicPr>
          <p:nvPr userDrawn="1"/>
        </p:nvPicPr>
        <p:blipFill>
          <a:blip r:embed="rId30"/>
          <a:stretch/>
        </p:blipFill>
        <p:spPr bwMode="auto">
          <a:xfrm>
            <a:off x="10760167" y="142188"/>
            <a:ext cx="952406" cy="293469"/>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71" r:id="rId21"/>
    <p:sldLayoutId id="2147483672" r:id="rId22"/>
    <p:sldLayoutId id="2147483673" r:id="rId23"/>
    <p:sldLayoutId id="2147483674" r:id="rId24"/>
    <p:sldLayoutId id="2147483675" r:id="rId25"/>
    <p:sldLayoutId id="2147483676" r:id="rId26"/>
  </p:sldLayoutIdLst>
  <p:txStyles>
    <p:titleStyle>
      <a:lvl1pPr algn="l" defTabSz="914400">
        <a:lnSpc>
          <a:spcPct val="100000"/>
        </a:lnSpc>
        <a:spcBef>
          <a:spcPts val="0"/>
        </a:spcBef>
        <a:buNone/>
        <a:defRPr sz="3600" b="0">
          <a:solidFill>
            <a:schemeClr val="tx1"/>
          </a:solidFill>
          <a:latin typeface="Montserrat SemiBold"/>
          <a:ea typeface="+mj-ea"/>
          <a:cs typeface="+mj-cs"/>
        </a:defRPr>
      </a:lvl1pPr>
    </p:titleStyle>
    <p:bodyStyle>
      <a:lvl1pPr marL="0" indent="0" algn="l" defTabSz="914400">
        <a:lnSpc>
          <a:spcPct val="90000"/>
        </a:lnSpc>
        <a:spcBef>
          <a:spcPts val="1000"/>
        </a:spcBef>
        <a:buFontTx/>
        <a:buNone/>
        <a:defRPr sz="4000">
          <a:solidFill>
            <a:schemeClr val="tx1"/>
          </a:solidFill>
          <a:latin typeface="+mn-lt"/>
          <a:ea typeface="+mn-ea"/>
          <a:cs typeface="+mn-cs"/>
        </a:defRPr>
      </a:lvl1pPr>
      <a:lvl2pPr marL="457200" indent="0" algn="just" defTabSz="914400">
        <a:lnSpc>
          <a:spcPct val="90000"/>
        </a:lnSpc>
        <a:spcBef>
          <a:spcPts val="500"/>
        </a:spcBef>
        <a:buFontTx/>
        <a:buNone/>
        <a:defRPr sz="3200">
          <a:solidFill>
            <a:schemeClr val="tx1"/>
          </a:solidFill>
          <a:latin typeface="+mn-lt"/>
          <a:ea typeface="+mn-ea"/>
          <a:cs typeface="+mn-cs"/>
        </a:defRPr>
      </a:lvl2pPr>
      <a:lvl3pPr marL="914400" indent="0" algn="just" defTabSz="914400">
        <a:lnSpc>
          <a:spcPct val="90000"/>
        </a:lnSpc>
        <a:spcBef>
          <a:spcPts val="500"/>
        </a:spcBef>
        <a:buFontTx/>
        <a:buNone/>
        <a:defRPr sz="2400">
          <a:solidFill>
            <a:schemeClr val="tx1"/>
          </a:solidFill>
          <a:latin typeface="+mn-lt"/>
          <a:ea typeface="+mn-ea"/>
          <a:cs typeface="+mn-cs"/>
        </a:defRPr>
      </a:lvl3pPr>
      <a:lvl4pPr marL="1371600" indent="0" algn="just" defTabSz="914400">
        <a:lnSpc>
          <a:spcPct val="90000"/>
        </a:lnSpc>
        <a:spcBef>
          <a:spcPts val="500"/>
        </a:spcBef>
        <a:buFontTx/>
        <a:buNone/>
        <a:defRPr sz="1600">
          <a:solidFill>
            <a:schemeClr val="tx1"/>
          </a:solidFill>
          <a:latin typeface="+mn-lt"/>
          <a:ea typeface="+mn-ea"/>
          <a:cs typeface="+mn-cs"/>
        </a:defRPr>
      </a:lvl4pPr>
      <a:lvl5pPr marL="1828800" indent="0" algn="just" defTabSz="914400">
        <a:lnSpc>
          <a:spcPct val="90000"/>
        </a:lnSpc>
        <a:spcBef>
          <a:spcPts val="500"/>
        </a:spcBef>
        <a:buFontTx/>
        <a:buNone/>
        <a:defRPr sz="14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lang="ru-RU"/>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8" Type="http://schemas.openxmlformats.org/officeDocument/2006/relationships/image" Target="../media/image8.wmf"/><Relationship Id="rId13" Type="http://schemas.openxmlformats.org/officeDocument/2006/relationships/image" Target="../media/image10.wmf"/><Relationship Id="rId18" Type="http://schemas.openxmlformats.org/officeDocument/2006/relationships/oleObject" Target="../embeddings/oleObject9.bin"/><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oleObject" Target="../embeddings/oleObject6.bin"/><Relationship Id="rId17" Type="http://schemas.openxmlformats.org/officeDocument/2006/relationships/image" Target="../media/image12.wmf"/><Relationship Id="rId2" Type="http://schemas.openxmlformats.org/officeDocument/2006/relationships/image" Target="../media/image5.jpeg"/><Relationship Id="rId16" Type="http://schemas.openxmlformats.org/officeDocument/2006/relationships/oleObject" Target="../embeddings/oleObject8.bin"/><Relationship Id="rId1" Type="http://schemas.openxmlformats.org/officeDocument/2006/relationships/slideLayout" Target="../slideLayouts/slideLayout23.xml"/><Relationship Id="rId6" Type="http://schemas.openxmlformats.org/officeDocument/2006/relationships/image" Target="../media/image7.wmf"/><Relationship Id="rId11" Type="http://schemas.openxmlformats.org/officeDocument/2006/relationships/image" Target="../media/image9.wmf"/><Relationship Id="rId5" Type="http://schemas.openxmlformats.org/officeDocument/2006/relationships/oleObject" Target="../embeddings/oleObject2.bin"/><Relationship Id="rId15" Type="http://schemas.openxmlformats.org/officeDocument/2006/relationships/image" Target="../media/image11.wmf"/><Relationship Id="rId10" Type="http://schemas.openxmlformats.org/officeDocument/2006/relationships/oleObject" Target="../embeddings/oleObject5.bin"/><Relationship Id="rId19" Type="http://schemas.openxmlformats.org/officeDocument/2006/relationships/image" Target="../media/image13.wmf"/><Relationship Id="rId4" Type="http://schemas.openxmlformats.org/officeDocument/2006/relationships/image" Target="../media/image6.wmf"/><Relationship Id="rId9" Type="http://schemas.openxmlformats.org/officeDocument/2006/relationships/oleObject" Target="../embeddings/oleObject4.bin"/><Relationship Id="rId14" Type="http://schemas.openxmlformats.org/officeDocument/2006/relationships/oleObject" Target="../embeddings/oleObject7.bin"/></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13.bin"/><Relationship Id="rId13" Type="http://schemas.openxmlformats.org/officeDocument/2006/relationships/image" Target="../media/image6.wmf"/><Relationship Id="rId3" Type="http://schemas.openxmlformats.org/officeDocument/2006/relationships/image" Target="../media/image14.wmf"/><Relationship Id="rId7" Type="http://schemas.openxmlformats.org/officeDocument/2006/relationships/image" Target="../media/image16.wmf"/><Relationship Id="rId12" Type="http://schemas.openxmlformats.org/officeDocument/2006/relationships/oleObject" Target="../embeddings/oleObject15.bin"/><Relationship Id="rId2" Type="http://schemas.openxmlformats.org/officeDocument/2006/relationships/oleObject" Target="../embeddings/oleObject10.bin"/><Relationship Id="rId1" Type="http://schemas.openxmlformats.org/officeDocument/2006/relationships/slideLayout" Target="../slideLayouts/slideLayout23.xml"/><Relationship Id="rId6" Type="http://schemas.openxmlformats.org/officeDocument/2006/relationships/oleObject" Target="../embeddings/oleObject12.bin"/><Relationship Id="rId11" Type="http://schemas.openxmlformats.org/officeDocument/2006/relationships/image" Target="../media/image18.wmf"/><Relationship Id="rId5" Type="http://schemas.openxmlformats.org/officeDocument/2006/relationships/image" Target="../media/image15.wmf"/><Relationship Id="rId15" Type="http://schemas.openxmlformats.org/officeDocument/2006/relationships/image" Target="../media/image19.wmf"/><Relationship Id="rId10" Type="http://schemas.openxmlformats.org/officeDocument/2006/relationships/oleObject" Target="../embeddings/oleObject14.bin"/><Relationship Id="rId4" Type="http://schemas.openxmlformats.org/officeDocument/2006/relationships/oleObject" Target="../embeddings/oleObject11.bin"/><Relationship Id="rId9" Type="http://schemas.openxmlformats.org/officeDocument/2006/relationships/image" Target="../media/image17.wmf"/><Relationship Id="rId14" Type="http://schemas.openxmlformats.org/officeDocument/2006/relationships/oleObject" Target="../embeddings/oleObject16.bin"/></Relationships>
</file>

<file path=ppt/slides/_rels/slide9.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image" Target="../media/image24.emf"/><Relationship Id="rId1" Type="http://schemas.openxmlformats.org/officeDocument/2006/relationships/slideLayout" Target="../slideLayouts/slideLayout22.xml"/><Relationship Id="rId6" Type="http://schemas.openxmlformats.org/officeDocument/2006/relationships/image" Target="../media/image26.wmf"/><Relationship Id="rId5" Type="http://schemas.openxmlformats.org/officeDocument/2006/relationships/oleObject" Target="../embeddings/oleObject18.bin"/><Relationship Id="rId4" Type="http://schemas.openxmlformats.org/officeDocument/2006/relationships/image" Target="../media/image25.wmf"/></Relationships>
</file>

<file path=ppt/slides/_rels/slide14.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oleObject" Target="../embeddings/oleObject19.bin"/><Relationship Id="rId1" Type="http://schemas.openxmlformats.org/officeDocument/2006/relationships/slideLayout" Target="../slideLayouts/slideLayout22.xml"/><Relationship Id="rId4" Type="http://schemas.openxmlformats.org/officeDocument/2006/relationships/image" Target="../media/image28.e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0.bin"/><Relationship Id="rId7" Type="http://schemas.openxmlformats.org/officeDocument/2006/relationships/image" Target="../media/image32.emf"/><Relationship Id="rId2" Type="http://schemas.openxmlformats.org/officeDocument/2006/relationships/image" Target="../media/image29.jpeg"/><Relationship Id="rId1" Type="http://schemas.openxmlformats.org/officeDocument/2006/relationships/slideLayout" Target="../slideLayouts/slideLayout22.xml"/><Relationship Id="rId6" Type="http://schemas.openxmlformats.org/officeDocument/2006/relationships/image" Target="../media/image31.emf"/><Relationship Id="rId5" Type="http://schemas.openxmlformats.org/officeDocument/2006/relationships/oleObject" Target="../embeddings/oleObject21.bin"/><Relationship Id="rId4" Type="http://schemas.openxmlformats.org/officeDocument/2006/relationships/image" Target="../media/image30.wmf"/></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7.png"/><Relationship Id="rId2" Type="http://schemas.openxmlformats.org/officeDocument/2006/relationships/image" Target="../media/image33.emf"/><Relationship Id="rId1" Type="http://schemas.openxmlformats.org/officeDocument/2006/relationships/slideLayout" Target="../slideLayouts/slideLayout22.xml"/><Relationship Id="rId6" Type="http://schemas.openxmlformats.org/officeDocument/2006/relationships/image" Target="../media/image36.wmf"/><Relationship Id="rId5" Type="http://schemas.openxmlformats.org/officeDocument/2006/relationships/oleObject" Target="../embeddings/oleObject22.bin"/><Relationship Id="rId4" Type="http://schemas.openxmlformats.org/officeDocument/2006/relationships/image" Target="../media/image35.png"/></Relationships>
</file>

<file path=ppt/slides/_rels/slide17.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oleObject" Target="../embeddings/oleObject23.bin"/><Relationship Id="rId1" Type="http://schemas.openxmlformats.org/officeDocument/2006/relationships/slideLayout" Target="../slideLayouts/slideLayout22.xml"/><Relationship Id="rId6" Type="http://schemas.openxmlformats.org/officeDocument/2006/relationships/image" Target="../media/image37.png"/><Relationship Id="rId5" Type="http://schemas.openxmlformats.org/officeDocument/2006/relationships/image" Target="../media/image34.png"/><Relationship Id="rId4" Type="http://schemas.openxmlformats.org/officeDocument/2006/relationships/image" Target="../media/image39.emf"/></Relationships>
</file>

<file path=ppt/slides/_rels/slide18.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0.jpeg"/><Relationship Id="rId1" Type="http://schemas.openxmlformats.org/officeDocument/2006/relationships/slideLayout" Target="../slideLayouts/slideLayout22.xml"/><Relationship Id="rId5" Type="http://schemas.openxmlformats.org/officeDocument/2006/relationships/image" Target="../media/image42.wmf"/><Relationship Id="rId4" Type="http://schemas.openxmlformats.org/officeDocument/2006/relationships/oleObject" Target="../embeddings/oleObject24.bin"/></Relationships>
</file>

<file path=ppt/slides/_rels/slide1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emf"/><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oleObject" Target="../embeddings/oleObject25.bin"/><Relationship Id="rId1" Type="http://schemas.openxmlformats.org/officeDocument/2006/relationships/slideLayout" Target="../slideLayouts/slideLayout22.xml"/><Relationship Id="rId4" Type="http://schemas.openxmlformats.org/officeDocument/2006/relationships/image" Target="../media/image46.emf"/></Relationships>
</file>

<file path=ppt/slides/_rels/slide22.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7.wmf"/><Relationship Id="rId7" Type="http://schemas.openxmlformats.org/officeDocument/2006/relationships/image" Target="../media/image49.wmf"/><Relationship Id="rId2" Type="http://schemas.openxmlformats.org/officeDocument/2006/relationships/oleObject" Target="../embeddings/oleObject26.bin"/><Relationship Id="rId1" Type="http://schemas.openxmlformats.org/officeDocument/2006/relationships/slideLayout" Target="../slideLayouts/slideLayout22.xml"/><Relationship Id="rId6" Type="http://schemas.openxmlformats.org/officeDocument/2006/relationships/oleObject" Target="../embeddings/oleObject28.bin"/><Relationship Id="rId5" Type="http://schemas.openxmlformats.org/officeDocument/2006/relationships/image" Target="../media/image48.wmf"/><Relationship Id="rId4" Type="http://schemas.openxmlformats.org/officeDocument/2006/relationships/oleObject" Target="../embeddings/oleObject27.bin"/><Relationship Id="rId9" Type="http://schemas.openxmlformats.org/officeDocument/2006/relationships/image" Target="../media/image5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image" Target="../media/image20.emf"/><Relationship Id="rId1" Type="http://schemas.openxmlformats.org/officeDocument/2006/relationships/slideLayout" Target="../slideLayouts/slideLayout22.xml"/><Relationship Id="rId6" Type="http://schemas.openxmlformats.org/officeDocument/2006/relationships/image" Target="../media/image53.wmf"/><Relationship Id="rId5" Type="http://schemas.openxmlformats.org/officeDocument/2006/relationships/oleObject" Target="../embeddings/oleObject30.bin"/><Relationship Id="rId4" Type="http://schemas.openxmlformats.org/officeDocument/2006/relationships/image" Target="../media/image52.wmf"/></Relationships>
</file>

<file path=ppt/slides/_rels/slide25.xml.rels><?xml version="1.0" encoding="UTF-8" standalone="yes"?>
<Relationships xmlns="http://schemas.openxmlformats.org/package/2006/relationships"><Relationship Id="rId3" Type="http://schemas.openxmlformats.org/officeDocument/2006/relationships/image" Target="../media/image54.wmf"/><Relationship Id="rId7" Type="http://schemas.openxmlformats.org/officeDocument/2006/relationships/image" Target="../media/image56.emf"/><Relationship Id="rId2" Type="http://schemas.openxmlformats.org/officeDocument/2006/relationships/oleObject" Target="../embeddings/oleObject31.bin"/><Relationship Id="rId1" Type="http://schemas.openxmlformats.org/officeDocument/2006/relationships/slideLayout" Target="../slideLayouts/slideLayout22.xml"/><Relationship Id="rId6" Type="http://schemas.openxmlformats.org/officeDocument/2006/relationships/oleObject" Target="../embeddings/oleObject33.bin"/><Relationship Id="rId5" Type="http://schemas.openxmlformats.org/officeDocument/2006/relationships/image" Target="../media/image55.emf"/><Relationship Id="rId4" Type="http://schemas.openxmlformats.org/officeDocument/2006/relationships/oleObject" Target="../embeddings/oleObject32.bin"/></Relationships>
</file>

<file path=ppt/slides/_rels/slide26.x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oleObject" Target="../embeddings/oleObject34.bin"/><Relationship Id="rId1" Type="http://schemas.openxmlformats.org/officeDocument/2006/relationships/slideLayout" Target="../slideLayouts/slideLayout22.xml"/></Relationships>
</file>

<file path=ppt/slides/_rels/slide27.x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slideLayout" Target="../slideLayouts/slideLayout22.xml"/></Relationships>
</file>

<file path=ppt/slides/_rels/slide28.x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oleObject" Target="../embeddings/oleObject35.bin"/><Relationship Id="rId1" Type="http://schemas.openxmlformats.org/officeDocument/2006/relationships/slideLayout" Target="../slideLayouts/slideLayout22.xml"/><Relationship Id="rId5" Type="http://schemas.openxmlformats.org/officeDocument/2006/relationships/image" Target="../media/image59.wmf"/><Relationship Id="rId4" Type="http://schemas.openxmlformats.org/officeDocument/2006/relationships/oleObject" Target="../embeddings/oleObject36.bin"/></Relationships>
</file>

<file path=ppt/slides/_rels/slide29.xml.rels><?xml version="1.0" encoding="UTF-8" standalone="yes"?>
<Relationships xmlns="http://schemas.openxmlformats.org/package/2006/relationships"><Relationship Id="rId8" Type="http://schemas.openxmlformats.org/officeDocument/2006/relationships/image" Target="../media/image45.wmf"/><Relationship Id="rId3" Type="http://schemas.openxmlformats.org/officeDocument/2006/relationships/image" Target="../media/image60.wmf"/><Relationship Id="rId7" Type="http://schemas.openxmlformats.org/officeDocument/2006/relationships/oleObject" Target="../embeddings/oleObject39.bin"/><Relationship Id="rId2" Type="http://schemas.openxmlformats.org/officeDocument/2006/relationships/oleObject" Target="../embeddings/oleObject37.bin"/><Relationship Id="rId1" Type="http://schemas.openxmlformats.org/officeDocument/2006/relationships/slideLayout" Target="../slideLayouts/slideLayout22.xml"/><Relationship Id="rId6" Type="http://schemas.openxmlformats.org/officeDocument/2006/relationships/image" Target="../media/image62.png"/><Relationship Id="rId5" Type="http://schemas.openxmlformats.org/officeDocument/2006/relationships/image" Target="../media/image61.wmf"/><Relationship Id="rId4" Type="http://schemas.openxmlformats.org/officeDocument/2006/relationships/oleObject" Target="../embeddings/oleObject38.bin"/></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notesSlide" Target="../notesSlides/notesSlide1.xml"/><Relationship Id="rId1" Type="http://schemas.openxmlformats.org/officeDocument/2006/relationships/slideLayout" Target="../slideLayouts/slideLayout24.xml"/><Relationship Id="rId6" Type="http://schemas.openxmlformats.org/officeDocument/2006/relationships/image" Target="../media/image64.wmf"/><Relationship Id="rId5" Type="http://schemas.openxmlformats.org/officeDocument/2006/relationships/oleObject" Target="../embeddings/oleObject41.bin"/><Relationship Id="rId4" Type="http://schemas.openxmlformats.org/officeDocument/2006/relationships/image" Target="../media/image63.wmf"/></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45.bin"/><Relationship Id="rId13" Type="http://schemas.openxmlformats.org/officeDocument/2006/relationships/image" Target="../media/image70.wmf"/><Relationship Id="rId3" Type="http://schemas.openxmlformats.org/officeDocument/2006/relationships/image" Target="../media/image65.wmf"/><Relationship Id="rId7" Type="http://schemas.openxmlformats.org/officeDocument/2006/relationships/image" Target="../media/image67.wmf"/><Relationship Id="rId12" Type="http://schemas.openxmlformats.org/officeDocument/2006/relationships/oleObject" Target="../embeddings/oleObject47.bin"/><Relationship Id="rId2" Type="http://schemas.openxmlformats.org/officeDocument/2006/relationships/oleObject" Target="../embeddings/oleObject42.bin"/><Relationship Id="rId1" Type="http://schemas.openxmlformats.org/officeDocument/2006/relationships/slideLayout" Target="../slideLayouts/slideLayout25.xml"/><Relationship Id="rId6" Type="http://schemas.openxmlformats.org/officeDocument/2006/relationships/oleObject" Target="../embeddings/oleObject44.bin"/><Relationship Id="rId11" Type="http://schemas.openxmlformats.org/officeDocument/2006/relationships/image" Target="../media/image69.wmf"/><Relationship Id="rId5" Type="http://schemas.openxmlformats.org/officeDocument/2006/relationships/image" Target="../media/image66.wmf"/><Relationship Id="rId10" Type="http://schemas.openxmlformats.org/officeDocument/2006/relationships/oleObject" Target="../embeddings/oleObject46.bin"/><Relationship Id="rId4" Type="http://schemas.openxmlformats.org/officeDocument/2006/relationships/oleObject" Target="../embeddings/oleObject43.bin"/><Relationship Id="rId9" Type="http://schemas.openxmlformats.org/officeDocument/2006/relationships/image" Target="../media/image68.wmf"/></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51.bin"/><Relationship Id="rId13" Type="http://schemas.openxmlformats.org/officeDocument/2006/relationships/image" Target="../media/image76.wmf"/><Relationship Id="rId3" Type="http://schemas.openxmlformats.org/officeDocument/2006/relationships/image" Target="../media/image71.wmf"/><Relationship Id="rId7" Type="http://schemas.openxmlformats.org/officeDocument/2006/relationships/image" Target="../media/image73.wmf"/><Relationship Id="rId12" Type="http://schemas.openxmlformats.org/officeDocument/2006/relationships/oleObject" Target="../embeddings/oleObject53.bin"/><Relationship Id="rId2" Type="http://schemas.openxmlformats.org/officeDocument/2006/relationships/oleObject" Target="../embeddings/oleObject48.bin"/><Relationship Id="rId1" Type="http://schemas.openxmlformats.org/officeDocument/2006/relationships/slideLayout" Target="../slideLayouts/slideLayout24.xml"/><Relationship Id="rId6" Type="http://schemas.openxmlformats.org/officeDocument/2006/relationships/oleObject" Target="../embeddings/oleObject50.bin"/><Relationship Id="rId11" Type="http://schemas.openxmlformats.org/officeDocument/2006/relationships/image" Target="../media/image75.wmf"/><Relationship Id="rId5" Type="http://schemas.openxmlformats.org/officeDocument/2006/relationships/image" Target="../media/image72.wmf"/><Relationship Id="rId10" Type="http://schemas.openxmlformats.org/officeDocument/2006/relationships/oleObject" Target="../embeddings/oleObject52.bin"/><Relationship Id="rId4" Type="http://schemas.openxmlformats.org/officeDocument/2006/relationships/oleObject" Target="../embeddings/oleObject49.bin"/><Relationship Id="rId9" Type="http://schemas.openxmlformats.org/officeDocument/2006/relationships/image" Target="../media/image74.wmf"/></Relationships>
</file>

<file path=ppt/slides/_rels/slide33.xml.rels><?xml version="1.0" encoding="UTF-8" standalone="yes"?>
<Relationships xmlns="http://schemas.openxmlformats.org/package/2006/relationships"><Relationship Id="rId8" Type="http://schemas.openxmlformats.org/officeDocument/2006/relationships/image" Target="../media/image80.wmf"/><Relationship Id="rId13" Type="http://schemas.openxmlformats.org/officeDocument/2006/relationships/oleObject" Target="../embeddings/oleObject59.bin"/><Relationship Id="rId18" Type="http://schemas.openxmlformats.org/officeDocument/2006/relationships/image" Target="../media/image85.wmf"/><Relationship Id="rId3" Type="http://schemas.openxmlformats.org/officeDocument/2006/relationships/oleObject" Target="../embeddings/oleObject54.bin"/><Relationship Id="rId21" Type="http://schemas.openxmlformats.org/officeDocument/2006/relationships/oleObject" Target="../embeddings/oleObject63.bin"/><Relationship Id="rId7" Type="http://schemas.openxmlformats.org/officeDocument/2006/relationships/oleObject" Target="../embeddings/oleObject56.bin"/><Relationship Id="rId12" Type="http://schemas.openxmlformats.org/officeDocument/2006/relationships/image" Target="../media/image82.wmf"/><Relationship Id="rId17" Type="http://schemas.openxmlformats.org/officeDocument/2006/relationships/oleObject" Target="../embeddings/oleObject61.bin"/><Relationship Id="rId2" Type="http://schemas.openxmlformats.org/officeDocument/2006/relationships/image" Target="../media/image77.png"/><Relationship Id="rId16" Type="http://schemas.openxmlformats.org/officeDocument/2006/relationships/image" Target="../media/image84.wmf"/><Relationship Id="rId20" Type="http://schemas.openxmlformats.org/officeDocument/2006/relationships/image" Target="../media/image86.wmf"/><Relationship Id="rId1" Type="http://schemas.openxmlformats.org/officeDocument/2006/relationships/slideLayout" Target="../slideLayouts/slideLayout26.xml"/><Relationship Id="rId6" Type="http://schemas.openxmlformats.org/officeDocument/2006/relationships/image" Target="../media/image79.wmf"/><Relationship Id="rId11" Type="http://schemas.openxmlformats.org/officeDocument/2006/relationships/oleObject" Target="../embeddings/oleObject58.bin"/><Relationship Id="rId5" Type="http://schemas.openxmlformats.org/officeDocument/2006/relationships/oleObject" Target="../embeddings/oleObject55.bin"/><Relationship Id="rId15" Type="http://schemas.openxmlformats.org/officeDocument/2006/relationships/oleObject" Target="../embeddings/oleObject60.bin"/><Relationship Id="rId10" Type="http://schemas.openxmlformats.org/officeDocument/2006/relationships/image" Target="../media/image81.wmf"/><Relationship Id="rId19" Type="http://schemas.openxmlformats.org/officeDocument/2006/relationships/oleObject" Target="../embeddings/oleObject62.bin"/><Relationship Id="rId4" Type="http://schemas.openxmlformats.org/officeDocument/2006/relationships/image" Target="../media/image78.wmf"/><Relationship Id="rId9" Type="http://schemas.openxmlformats.org/officeDocument/2006/relationships/oleObject" Target="../embeddings/oleObject57.bin"/><Relationship Id="rId14" Type="http://schemas.openxmlformats.org/officeDocument/2006/relationships/image" Target="../media/image83.wmf"/><Relationship Id="rId22" Type="http://schemas.openxmlformats.org/officeDocument/2006/relationships/image" Target="../media/image87.wmf"/></Relationships>
</file>

<file path=ppt/slides/_rels/slide34.xml.rels><?xml version="1.0" encoding="UTF-8" standalone="yes"?>
<Relationships xmlns="http://schemas.openxmlformats.org/package/2006/relationships"><Relationship Id="rId8" Type="http://schemas.openxmlformats.org/officeDocument/2006/relationships/image" Target="../media/image90.wmf"/><Relationship Id="rId13" Type="http://schemas.openxmlformats.org/officeDocument/2006/relationships/oleObject" Target="../embeddings/oleObject69.bin"/><Relationship Id="rId18" Type="http://schemas.openxmlformats.org/officeDocument/2006/relationships/image" Target="../media/image95.wmf"/><Relationship Id="rId3" Type="http://schemas.openxmlformats.org/officeDocument/2006/relationships/oleObject" Target="../embeddings/oleObject64.bin"/><Relationship Id="rId21" Type="http://schemas.openxmlformats.org/officeDocument/2006/relationships/oleObject" Target="../embeddings/oleObject73.bin"/><Relationship Id="rId7" Type="http://schemas.openxmlformats.org/officeDocument/2006/relationships/oleObject" Target="../embeddings/oleObject66.bin"/><Relationship Id="rId12" Type="http://schemas.openxmlformats.org/officeDocument/2006/relationships/image" Target="../media/image92.wmf"/><Relationship Id="rId17" Type="http://schemas.openxmlformats.org/officeDocument/2006/relationships/oleObject" Target="../embeddings/oleObject71.bin"/><Relationship Id="rId2" Type="http://schemas.openxmlformats.org/officeDocument/2006/relationships/image" Target="../media/image77.png"/><Relationship Id="rId16" Type="http://schemas.openxmlformats.org/officeDocument/2006/relationships/image" Target="../media/image94.wmf"/><Relationship Id="rId20" Type="http://schemas.openxmlformats.org/officeDocument/2006/relationships/image" Target="../media/image96.wmf"/><Relationship Id="rId1" Type="http://schemas.openxmlformats.org/officeDocument/2006/relationships/slideLayout" Target="../slideLayouts/slideLayout25.xml"/><Relationship Id="rId6" Type="http://schemas.openxmlformats.org/officeDocument/2006/relationships/image" Target="../media/image89.wmf"/><Relationship Id="rId11" Type="http://schemas.openxmlformats.org/officeDocument/2006/relationships/oleObject" Target="../embeddings/oleObject68.bin"/><Relationship Id="rId24" Type="http://schemas.openxmlformats.org/officeDocument/2006/relationships/image" Target="../media/image98.wmf"/><Relationship Id="rId5" Type="http://schemas.openxmlformats.org/officeDocument/2006/relationships/oleObject" Target="../embeddings/oleObject65.bin"/><Relationship Id="rId15" Type="http://schemas.openxmlformats.org/officeDocument/2006/relationships/oleObject" Target="../embeddings/oleObject70.bin"/><Relationship Id="rId23" Type="http://schemas.openxmlformats.org/officeDocument/2006/relationships/oleObject" Target="../embeddings/oleObject74.bin"/><Relationship Id="rId10" Type="http://schemas.openxmlformats.org/officeDocument/2006/relationships/image" Target="../media/image91.wmf"/><Relationship Id="rId19" Type="http://schemas.openxmlformats.org/officeDocument/2006/relationships/oleObject" Target="../embeddings/oleObject72.bin"/><Relationship Id="rId4" Type="http://schemas.openxmlformats.org/officeDocument/2006/relationships/image" Target="../media/image88.wmf"/><Relationship Id="rId9" Type="http://schemas.openxmlformats.org/officeDocument/2006/relationships/oleObject" Target="../embeddings/oleObject67.bin"/><Relationship Id="rId14" Type="http://schemas.openxmlformats.org/officeDocument/2006/relationships/image" Target="../media/image93.wmf"/><Relationship Id="rId22" Type="http://schemas.openxmlformats.org/officeDocument/2006/relationships/image" Target="../media/image97.wmf"/></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78.bin"/><Relationship Id="rId13" Type="http://schemas.openxmlformats.org/officeDocument/2006/relationships/image" Target="../media/image104.wmf"/><Relationship Id="rId3" Type="http://schemas.openxmlformats.org/officeDocument/2006/relationships/image" Target="../media/image99.wmf"/><Relationship Id="rId7" Type="http://schemas.openxmlformats.org/officeDocument/2006/relationships/image" Target="../media/image101.wmf"/><Relationship Id="rId12" Type="http://schemas.openxmlformats.org/officeDocument/2006/relationships/oleObject" Target="../embeddings/oleObject80.bin"/><Relationship Id="rId2" Type="http://schemas.openxmlformats.org/officeDocument/2006/relationships/oleObject" Target="../embeddings/oleObject75.bin"/><Relationship Id="rId1" Type="http://schemas.openxmlformats.org/officeDocument/2006/relationships/slideLayout" Target="../slideLayouts/slideLayout21.xml"/><Relationship Id="rId6" Type="http://schemas.openxmlformats.org/officeDocument/2006/relationships/oleObject" Target="../embeddings/oleObject77.bin"/><Relationship Id="rId11" Type="http://schemas.openxmlformats.org/officeDocument/2006/relationships/image" Target="../media/image103.wmf"/><Relationship Id="rId5" Type="http://schemas.openxmlformats.org/officeDocument/2006/relationships/image" Target="../media/image100.wmf"/><Relationship Id="rId10" Type="http://schemas.openxmlformats.org/officeDocument/2006/relationships/oleObject" Target="../embeddings/oleObject79.bin"/><Relationship Id="rId4" Type="http://schemas.openxmlformats.org/officeDocument/2006/relationships/oleObject" Target="../embeddings/oleObject76.bin"/><Relationship Id="rId9" Type="http://schemas.openxmlformats.org/officeDocument/2006/relationships/image" Target="../media/image102.wmf"/></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 name="Текст 7"/>
          <p:cNvSpPr>
            <a:spLocks noGrp="1"/>
          </p:cNvSpPr>
          <p:nvPr>
            <p:ph type="body" sz="quarter" idx="13"/>
          </p:nvPr>
        </p:nvSpPr>
        <p:spPr>
          <a:xfrm>
            <a:off x="4141151" y="4177230"/>
            <a:ext cx="8050849" cy="2680770"/>
          </a:xfrm>
        </p:spPr>
        <p:txBody>
          <a:bodyPr>
            <a:normAutofit/>
          </a:bodyPr>
          <a:lstStyle/>
          <a:p>
            <a:pPr algn="r"/>
            <a:r>
              <a:rPr lang="ru-RU" dirty="0"/>
              <a:t> Кафедра «Теория электрических цепей»</a:t>
            </a:r>
          </a:p>
          <a:p>
            <a:pPr algn="r"/>
            <a:r>
              <a:rPr lang="ru-RU" dirty="0"/>
              <a:t> </a:t>
            </a:r>
          </a:p>
          <a:p>
            <a:pPr algn="r"/>
            <a:endParaRPr lang="ru-RU" dirty="0"/>
          </a:p>
          <a:p>
            <a:pPr algn="r"/>
            <a:r>
              <a:rPr lang="ru-RU" dirty="0"/>
              <a:t>Лектор: Овсянникова </a:t>
            </a:r>
          </a:p>
          <a:p>
            <a:pPr algn="r"/>
            <a:r>
              <a:rPr lang="ru-RU" dirty="0"/>
              <a:t>Елена Александровна</a:t>
            </a:r>
          </a:p>
          <a:p>
            <a:endParaRPr lang="ru-RU" dirty="0"/>
          </a:p>
        </p:txBody>
      </p:sp>
      <p:sp>
        <p:nvSpPr>
          <p:cNvPr id="11" name="Текст 10">
            <a:extLst>
              <a:ext uri="{FF2B5EF4-FFF2-40B4-BE49-F238E27FC236}">
                <a16:creationId xmlns:a16="http://schemas.microsoft.com/office/drawing/2014/main" id="{03D4231C-88CE-4CA7-93C2-D64D32F5983E}"/>
              </a:ext>
            </a:extLst>
          </p:cNvPr>
          <p:cNvSpPr>
            <a:spLocks noGrp="1"/>
          </p:cNvSpPr>
          <p:nvPr>
            <p:ph type="body" sz="quarter" idx="14"/>
          </p:nvPr>
        </p:nvSpPr>
        <p:spPr>
          <a:xfrm>
            <a:off x="182880" y="2131306"/>
            <a:ext cx="3055865" cy="2074934"/>
          </a:xfrm>
        </p:spPr>
        <p:txBody>
          <a:bodyPr/>
          <a:lstStyle/>
          <a:p>
            <a:r>
              <a:rPr lang="ru-RU" sz="3200" dirty="0"/>
              <a:t>ДИСЦИПЛИНА:</a:t>
            </a:r>
          </a:p>
          <a:p>
            <a:r>
              <a:rPr lang="ru-RU" sz="3200" b="1" dirty="0"/>
              <a:t>Электротехника</a:t>
            </a:r>
            <a:endParaRPr lang="ru-RU" sz="3200" dirty="0"/>
          </a:p>
        </p:txBody>
      </p:sp>
      <p:sp>
        <p:nvSpPr>
          <p:cNvPr id="6" name="Заголовок 5"/>
          <p:cNvSpPr>
            <a:spLocks noGrp="1"/>
          </p:cNvSpPr>
          <p:nvPr>
            <p:ph type="title"/>
          </p:nvPr>
        </p:nvSpPr>
        <p:spPr>
          <a:xfrm>
            <a:off x="3963669" y="499243"/>
            <a:ext cx="8045451" cy="3264125"/>
          </a:xfrm>
        </p:spPr>
        <p:txBody>
          <a:bodyPr/>
          <a:lstStyle/>
          <a:p>
            <a:pPr algn="ctr"/>
            <a:r>
              <a:rPr lang="ru-RU" b="1" dirty="0"/>
              <a:t>Лекция №3 </a:t>
            </a:r>
            <a:br>
              <a:rPr lang="ru-RU" dirty="0"/>
            </a:br>
            <a:r>
              <a:rPr lang="ru-RU" dirty="0"/>
              <a:t>на тему: </a:t>
            </a:r>
            <a:br>
              <a:rPr lang="ru-RU" dirty="0"/>
            </a:br>
            <a:r>
              <a:rPr lang="ru-RU" dirty="0"/>
              <a:t>Электрические цепи с источниками гармонического напряжения и тока. </a:t>
            </a:r>
            <a:br>
              <a:rPr lang="ru-RU" dirty="0"/>
            </a:br>
            <a:endParaRPr lang="ru-RU" dirty="0"/>
          </a:p>
        </p:txBody>
      </p:sp>
    </p:spTree>
    <p:extLst>
      <p:ext uri="{BB962C8B-B14F-4D97-AF65-F5344CB8AC3E}">
        <p14:creationId xmlns:p14="http://schemas.microsoft.com/office/powerpoint/2010/main" val="10543862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Text Box 6">
            <a:extLst>
              <a:ext uri="{FF2B5EF4-FFF2-40B4-BE49-F238E27FC236}">
                <a16:creationId xmlns:a16="http://schemas.microsoft.com/office/drawing/2014/main" id="{709AE831-5159-457D-8BA4-2103881C8DC9}"/>
              </a:ext>
            </a:extLst>
          </p:cNvPr>
          <p:cNvSpPr txBox="1">
            <a:spLocks noChangeArrowheads="1"/>
          </p:cNvSpPr>
          <p:nvPr/>
        </p:nvSpPr>
        <p:spPr bwMode="auto">
          <a:xfrm>
            <a:off x="878594" y="849392"/>
            <a:ext cx="860425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dirty="0"/>
              <a:t>Пусть в цепи имеется источник тока, ЭДС которого изменяется периодически. </a:t>
            </a:r>
          </a:p>
        </p:txBody>
      </p:sp>
      <p:sp>
        <p:nvSpPr>
          <p:cNvPr id="3076" name="Text Box 7">
            <a:extLst>
              <a:ext uri="{FF2B5EF4-FFF2-40B4-BE49-F238E27FC236}">
                <a16:creationId xmlns:a16="http://schemas.microsoft.com/office/drawing/2014/main" id="{55A3E8A0-C5D6-4B0A-B654-9EB683E499BE}"/>
              </a:ext>
            </a:extLst>
          </p:cNvPr>
          <p:cNvSpPr txBox="1">
            <a:spLocks noChangeArrowheads="1"/>
          </p:cNvSpPr>
          <p:nvPr/>
        </p:nvSpPr>
        <p:spPr bwMode="auto">
          <a:xfrm>
            <a:off x="577154" y="2233982"/>
            <a:ext cx="11037692"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i="1" u="sng" dirty="0">
                <a:solidFill>
                  <a:schemeClr val="accent2"/>
                </a:solidFill>
                <a:latin typeface="Times New Roman" panose="02020603050405020304" pitchFamily="18" charset="0"/>
                <a:cs typeface="Times New Roman" panose="02020603050405020304" pitchFamily="18" charset="0"/>
              </a:rPr>
              <a:t>Переменный ток</a:t>
            </a:r>
            <a:r>
              <a:rPr lang="ru-RU" altLang="ru-RU" dirty="0">
                <a:latin typeface="Times New Roman" panose="02020603050405020304" pitchFamily="18" charset="0"/>
                <a:cs typeface="Times New Roman" panose="02020603050405020304" pitchFamily="18" charset="0"/>
              </a:rPr>
              <a:t> – </a:t>
            </a:r>
            <a:r>
              <a:rPr lang="ru-RU" altLang="ru-RU" i="1" dirty="0">
                <a:latin typeface="Times New Roman" panose="02020603050405020304" pitchFamily="18" charset="0"/>
                <a:cs typeface="Times New Roman" panose="02020603050405020304" pitchFamily="18" charset="0"/>
              </a:rPr>
              <a:t>это периодические изменения силы тока и напряжения в электрической цепи, происходящие под действием переменной ЭДС от внешнего источника</a:t>
            </a:r>
            <a:r>
              <a:rPr lang="ru-RU" altLang="ru-RU" dirty="0">
                <a:latin typeface="Times New Roman" panose="02020603050405020304" pitchFamily="18" charset="0"/>
                <a:cs typeface="Times New Roman" panose="02020603050405020304" pitchFamily="18" charset="0"/>
              </a:rPr>
              <a:t> (это вынужденные электрические колебания) </a:t>
            </a:r>
          </a:p>
        </p:txBody>
      </p:sp>
      <p:sp>
        <p:nvSpPr>
          <p:cNvPr id="2" name="Прямоугольник 1">
            <a:extLst>
              <a:ext uri="{FF2B5EF4-FFF2-40B4-BE49-F238E27FC236}">
                <a16:creationId xmlns:a16="http://schemas.microsoft.com/office/drawing/2014/main" id="{EC4AF674-1484-4C48-AA9D-9F46425E6072}"/>
              </a:ext>
            </a:extLst>
          </p:cNvPr>
          <p:cNvSpPr/>
          <p:nvPr/>
        </p:nvSpPr>
        <p:spPr>
          <a:xfrm>
            <a:off x="932099" y="46219"/>
            <a:ext cx="1479892" cy="369332"/>
          </a:xfrm>
          <a:prstGeom prst="rect">
            <a:avLst/>
          </a:prstGeom>
        </p:spPr>
        <p:txBody>
          <a:bodyPr wrap="none">
            <a:spAutoFit/>
          </a:bodyPr>
          <a:lstStyle/>
          <a:p>
            <a:pPr>
              <a:defRPr/>
            </a:pPr>
            <a:r>
              <a:rPr lang="ru-RU" dirty="0">
                <a:solidFill>
                  <a:schemeClr val="bg1"/>
                </a:solidFill>
              </a:rPr>
              <a:t>Кафедра ТЭЦ</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5">
            <a:extLst>
              <a:ext uri="{FF2B5EF4-FFF2-40B4-BE49-F238E27FC236}">
                <a16:creationId xmlns:a16="http://schemas.microsoft.com/office/drawing/2014/main" id="{9F84EC25-7E7F-49F4-A861-441176040EB5}"/>
              </a:ext>
            </a:extLst>
          </p:cNvPr>
          <p:cNvSpPr txBox="1">
            <a:spLocks noChangeArrowheads="1"/>
          </p:cNvSpPr>
          <p:nvPr/>
        </p:nvSpPr>
        <p:spPr bwMode="auto">
          <a:xfrm>
            <a:off x="808213" y="821469"/>
            <a:ext cx="10819417"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b="1" i="1" dirty="0">
                <a:latin typeface="Times New Roman" panose="02020603050405020304" pitchFamily="18" charset="0"/>
                <a:cs typeface="Times New Roman" panose="02020603050405020304" pitchFamily="18" charset="0"/>
              </a:rPr>
              <a:t>Переменный ток</a:t>
            </a:r>
            <a:r>
              <a:rPr lang="ru-RU" altLang="ru-RU" dirty="0">
                <a:latin typeface="Times New Roman" panose="02020603050405020304" pitchFamily="18" charset="0"/>
                <a:cs typeface="Times New Roman" panose="02020603050405020304" pitchFamily="18" charset="0"/>
              </a:rPr>
              <a:t>, в отличие от тока постоянного, непрерывно изменяется как по величине, так и по направлению, причем изменения эти происходят периодически, т. е. точно повторяются через равные промежутки времени. </a:t>
            </a:r>
          </a:p>
        </p:txBody>
      </p:sp>
      <p:sp>
        <p:nvSpPr>
          <p:cNvPr id="3077" name="Text Box 8">
            <a:extLst>
              <a:ext uri="{FF2B5EF4-FFF2-40B4-BE49-F238E27FC236}">
                <a16:creationId xmlns:a16="http://schemas.microsoft.com/office/drawing/2014/main" id="{FD4E62CA-A583-4525-AF79-85A85C9E41AF}"/>
              </a:ext>
            </a:extLst>
          </p:cNvPr>
          <p:cNvSpPr txBox="1">
            <a:spLocks noChangeArrowheads="1"/>
          </p:cNvSpPr>
          <p:nvPr/>
        </p:nvSpPr>
        <p:spPr bwMode="auto">
          <a:xfrm>
            <a:off x="666219" y="3429000"/>
            <a:ext cx="9970789"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dirty="0">
                <a:latin typeface="Times New Roman" panose="02020603050405020304" pitchFamily="18" charset="0"/>
                <a:cs typeface="Times New Roman" panose="02020603050405020304" pitchFamily="18" charset="0"/>
              </a:rPr>
              <a:t>Переменные токи далее считаются </a:t>
            </a:r>
            <a:r>
              <a:rPr lang="ru-RU" altLang="ru-RU" i="1" u="sng" dirty="0">
                <a:solidFill>
                  <a:srgbClr val="FF0066"/>
                </a:solidFill>
                <a:latin typeface="Times New Roman" panose="02020603050405020304" pitchFamily="18" charset="0"/>
                <a:cs typeface="Times New Roman" panose="02020603050405020304" pitchFamily="18" charset="0"/>
              </a:rPr>
              <a:t>квазистационарными</a:t>
            </a:r>
            <a:r>
              <a:rPr lang="ru-RU" altLang="ru-RU" dirty="0">
                <a:latin typeface="Times New Roman" panose="02020603050405020304" pitchFamily="18" charset="0"/>
                <a:cs typeface="Times New Roman" panose="02020603050405020304" pitchFamily="18" charset="0"/>
              </a:rPr>
              <a:t>, т.е. к мгновенным значениям всех электрических величин применимы законы постоянного тока.</a:t>
            </a:r>
          </a:p>
        </p:txBody>
      </p:sp>
      <p:sp>
        <p:nvSpPr>
          <p:cNvPr id="2" name="Прямоугольник 1">
            <a:extLst>
              <a:ext uri="{FF2B5EF4-FFF2-40B4-BE49-F238E27FC236}">
                <a16:creationId xmlns:a16="http://schemas.microsoft.com/office/drawing/2014/main" id="{EC4AF674-1484-4C48-AA9D-9F46425E6072}"/>
              </a:ext>
            </a:extLst>
          </p:cNvPr>
          <p:cNvSpPr/>
          <p:nvPr/>
        </p:nvSpPr>
        <p:spPr>
          <a:xfrm>
            <a:off x="932099" y="46219"/>
            <a:ext cx="1479892" cy="369332"/>
          </a:xfrm>
          <a:prstGeom prst="rect">
            <a:avLst/>
          </a:prstGeom>
        </p:spPr>
        <p:txBody>
          <a:bodyPr wrap="none">
            <a:spAutoFit/>
          </a:bodyPr>
          <a:lstStyle/>
          <a:p>
            <a:pPr>
              <a:defRPr/>
            </a:pPr>
            <a:r>
              <a:rPr lang="ru-RU" dirty="0">
                <a:solidFill>
                  <a:schemeClr val="bg1"/>
                </a:solidFill>
              </a:rPr>
              <a:t>Кафедра ТЭЦ</a:t>
            </a:r>
          </a:p>
        </p:txBody>
      </p:sp>
    </p:spTree>
    <p:extLst>
      <p:ext uri="{BB962C8B-B14F-4D97-AF65-F5344CB8AC3E}">
        <p14:creationId xmlns:p14="http://schemas.microsoft.com/office/powerpoint/2010/main" val="13147002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4">
            <a:extLst>
              <a:ext uri="{FF2B5EF4-FFF2-40B4-BE49-F238E27FC236}">
                <a16:creationId xmlns:a16="http://schemas.microsoft.com/office/drawing/2014/main" id="{673B4579-A5FF-4DCB-8DE0-A9BC5D1AE1E2}"/>
              </a:ext>
            </a:extLst>
          </p:cNvPr>
          <p:cNvSpPr txBox="1">
            <a:spLocks noChangeArrowheads="1"/>
          </p:cNvSpPr>
          <p:nvPr/>
        </p:nvSpPr>
        <p:spPr bwMode="auto">
          <a:xfrm>
            <a:off x="283169" y="684014"/>
            <a:ext cx="11586333" cy="6093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indent="360363" eaLnBrk="1" hangingPunct="1">
              <a:spcBef>
                <a:spcPct val="0"/>
              </a:spcBef>
              <a:buFontTx/>
              <a:buNone/>
            </a:pPr>
            <a:r>
              <a:rPr lang="ru-RU" altLang="ru-RU" sz="2800" dirty="0">
                <a:latin typeface="Times New Roman" panose="02020603050405020304" pitchFamily="18" charset="0"/>
                <a:cs typeface="Times New Roman" panose="02020603050405020304" pitchFamily="18" charset="0"/>
              </a:rPr>
              <a:t>Может ли ток меняться со временем так, чтобы в каждый момент времени он был одинаков в каждой точке цепи? Ток, то есть направленное движение зарядов, вызывается электрическим полем. </a:t>
            </a:r>
          </a:p>
          <a:p>
            <a:pPr indent="360363" eaLnBrk="1" hangingPunct="1">
              <a:spcBef>
                <a:spcPct val="0"/>
              </a:spcBef>
              <a:buFontTx/>
              <a:buNone/>
            </a:pPr>
            <a:r>
              <a:rPr lang="ru-RU" altLang="ru-RU" sz="2800" dirty="0">
                <a:latin typeface="Times New Roman" panose="02020603050405020304" pitchFamily="18" charset="0"/>
                <a:cs typeface="Times New Roman" panose="02020603050405020304" pitchFamily="18" charset="0"/>
              </a:rPr>
              <a:t>Поэтому время установления тока в цепи </a:t>
            </a:r>
            <a:r>
              <a:rPr lang="ru-RU" altLang="ru-RU" sz="2800" i="1" dirty="0">
                <a:latin typeface="Times New Roman" panose="02020603050405020304" pitchFamily="18" charset="0"/>
                <a:cs typeface="Times New Roman" panose="02020603050405020304" pitchFamily="18" charset="0"/>
              </a:rPr>
              <a:t>t </a:t>
            </a:r>
            <a:r>
              <a:rPr lang="ru-RU" altLang="ru-RU" sz="2800" dirty="0">
                <a:latin typeface="Times New Roman" panose="02020603050405020304" pitchFamily="18" charset="0"/>
                <a:cs typeface="Times New Roman" panose="02020603050405020304" pitchFamily="18" charset="0"/>
              </a:rPr>
              <a:t>определяется только скоростью распространения электрического поля, то есть скоростью света </a:t>
            </a:r>
            <a:r>
              <a:rPr lang="ru-RU" altLang="ru-RU" sz="2800" i="1" dirty="0">
                <a:solidFill>
                  <a:srgbClr val="FF0000"/>
                </a:solidFill>
                <a:latin typeface="Times New Roman" panose="02020603050405020304" pitchFamily="18" charset="0"/>
                <a:cs typeface="Times New Roman" panose="02020603050405020304" pitchFamily="18" charset="0"/>
              </a:rPr>
              <a:t>с</a:t>
            </a:r>
            <a:r>
              <a:rPr lang="ru-RU" altLang="ru-RU" sz="2800" dirty="0">
                <a:latin typeface="Times New Roman" panose="02020603050405020304" pitchFamily="18" charset="0"/>
                <a:cs typeface="Times New Roman" panose="02020603050405020304" pitchFamily="18" charset="0"/>
              </a:rPr>
              <a:t> (</a:t>
            </a:r>
            <a:r>
              <a:rPr lang="ru-RU" altLang="ru-RU" sz="2800" i="1" dirty="0">
                <a:solidFill>
                  <a:srgbClr val="FF0000"/>
                </a:solidFill>
                <a:latin typeface="Times New Roman" panose="02020603050405020304" pitchFamily="18" charset="0"/>
                <a:cs typeface="Times New Roman" panose="02020603050405020304" pitchFamily="18" charset="0"/>
              </a:rPr>
              <a:t>L </a:t>
            </a:r>
            <a:r>
              <a:rPr lang="ru-RU" altLang="ru-RU" sz="2800" dirty="0">
                <a:latin typeface="Times New Roman" panose="02020603050405020304" pitchFamily="18" charset="0"/>
                <a:cs typeface="Times New Roman" panose="02020603050405020304" pitchFamily="18" charset="0"/>
              </a:rPr>
              <a:t>- длина цепи):</a:t>
            </a:r>
          </a:p>
          <a:p>
            <a:pPr eaLnBrk="1" hangingPunct="1">
              <a:spcBef>
                <a:spcPct val="0"/>
              </a:spcBef>
              <a:buFontTx/>
              <a:buNone/>
            </a:pPr>
            <a:endParaRPr lang="ru-RU" altLang="ru-RU" sz="1800" i="1" dirty="0"/>
          </a:p>
          <a:p>
            <a:pPr eaLnBrk="1" hangingPunct="1">
              <a:spcBef>
                <a:spcPct val="0"/>
              </a:spcBef>
              <a:buFontTx/>
              <a:buNone/>
            </a:pPr>
            <a:r>
              <a:rPr lang="ru-RU" altLang="ru-RU" sz="4800" i="1" dirty="0">
                <a:latin typeface="Times New Roman" panose="02020603050405020304" pitchFamily="18" charset="0"/>
                <a:cs typeface="Times New Roman" panose="02020603050405020304" pitchFamily="18" charset="0"/>
              </a:rPr>
              <a:t>                     </a:t>
            </a:r>
            <a:r>
              <a:rPr lang="en-US" altLang="ru-RU" sz="4800" b="1" i="1" dirty="0">
                <a:solidFill>
                  <a:srgbClr val="FF0066"/>
                </a:solidFill>
                <a:latin typeface="Times New Roman" panose="02020603050405020304" pitchFamily="18" charset="0"/>
                <a:cs typeface="Times New Roman" panose="02020603050405020304" pitchFamily="18" charset="0"/>
              </a:rPr>
              <a:t>t</a:t>
            </a:r>
            <a:r>
              <a:rPr lang="ru-RU" altLang="ru-RU" sz="4800" b="1" i="1" dirty="0">
                <a:solidFill>
                  <a:srgbClr val="FF0066"/>
                </a:solidFill>
                <a:latin typeface="Times New Roman" panose="02020603050405020304" pitchFamily="18" charset="0"/>
              </a:rPr>
              <a:t> = L/c</a:t>
            </a:r>
          </a:p>
          <a:p>
            <a:pPr eaLnBrk="1" hangingPunct="1">
              <a:spcBef>
                <a:spcPct val="0"/>
              </a:spcBef>
              <a:buFontTx/>
              <a:buNone/>
            </a:pPr>
            <a:endParaRPr lang="ru-RU" altLang="ru-RU" sz="1800" dirty="0"/>
          </a:p>
          <a:p>
            <a:pPr indent="360363" eaLnBrk="1" hangingPunct="1">
              <a:spcBef>
                <a:spcPct val="0"/>
              </a:spcBef>
              <a:buFontTx/>
              <a:buNone/>
            </a:pPr>
            <a:r>
              <a:rPr lang="ru-RU" altLang="ru-RU" sz="2400" dirty="0">
                <a:latin typeface="Times New Roman" panose="02020603050405020304" pitchFamily="18" charset="0"/>
                <a:cs typeface="Times New Roman" panose="02020603050405020304" pitchFamily="18" charset="0"/>
              </a:rPr>
              <a:t>Это время нужно сравнивать с характерным временем изменения электрического поля (напряжения источника тока). В случае периодической </a:t>
            </a:r>
            <a:r>
              <a:rPr lang="ru-RU" altLang="ru-RU" sz="2400" dirty="0" err="1">
                <a:latin typeface="Times New Roman" panose="02020603050405020304" pitchFamily="18" charset="0"/>
                <a:cs typeface="Times New Roman" panose="02020603050405020304" pitchFamily="18" charset="0"/>
              </a:rPr>
              <a:t>э.д.с</a:t>
            </a:r>
            <a:r>
              <a:rPr lang="ru-RU" altLang="ru-RU" sz="2400" dirty="0">
                <a:latin typeface="Times New Roman" panose="02020603050405020304" pitchFamily="18" charset="0"/>
                <a:cs typeface="Times New Roman" panose="02020603050405020304" pitchFamily="18" charset="0"/>
              </a:rPr>
              <a:t>. это время - просто период </a:t>
            </a:r>
            <a:r>
              <a:rPr lang="ru-RU" altLang="ru-RU" sz="2400" b="1" i="1" dirty="0">
                <a:solidFill>
                  <a:srgbClr val="FF0066"/>
                </a:solidFill>
                <a:latin typeface="Times New Roman" panose="02020603050405020304" pitchFamily="18" charset="0"/>
                <a:cs typeface="Times New Roman" panose="02020603050405020304" pitchFamily="18" charset="0"/>
              </a:rPr>
              <a:t>Т</a:t>
            </a:r>
            <a:r>
              <a:rPr lang="ru-RU" altLang="ru-RU" sz="2400" dirty="0">
                <a:latin typeface="Times New Roman" panose="02020603050405020304" pitchFamily="18" charset="0"/>
                <a:cs typeface="Times New Roman" panose="02020603050405020304" pitchFamily="18" charset="0"/>
              </a:rPr>
              <a:t> колебаний напряжения на</a:t>
            </a:r>
            <a:r>
              <a:rPr lang="en-US" altLang="ru-RU" sz="2400" dirty="0">
                <a:latin typeface="Times New Roman" panose="02020603050405020304" pitchFamily="18" charset="0"/>
                <a:cs typeface="Times New Roman" panose="02020603050405020304" pitchFamily="18" charset="0"/>
              </a:rPr>
              <a:t> </a:t>
            </a:r>
            <a:r>
              <a:rPr lang="ru-RU" altLang="ru-RU" sz="2400" dirty="0" err="1">
                <a:latin typeface="Times New Roman" panose="02020603050405020304" pitchFamily="18" charset="0"/>
                <a:cs typeface="Times New Roman" panose="02020603050405020304" pitchFamily="18" charset="0"/>
              </a:rPr>
              <a:t>э.д.с</a:t>
            </a:r>
            <a:r>
              <a:rPr lang="ru-RU" altLang="ru-RU" sz="2400" dirty="0">
                <a:latin typeface="Times New Roman" panose="02020603050405020304" pitchFamily="18" charset="0"/>
                <a:cs typeface="Times New Roman" panose="02020603050405020304" pitchFamily="18" charset="0"/>
              </a:rPr>
              <a:t>.  Например, в наших электрических сетях напряжение (и ток) колеблется с частотой </a:t>
            </a:r>
            <a:r>
              <a:rPr lang="en-US" altLang="ru-RU" sz="2400" dirty="0">
                <a:latin typeface="Times New Roman" panose="02020603050405020304" pitchFamily="18" charset="0"/>
                <a:cs typeface="Times New Roman" panose="02020603050405020304" pitchFamily="18" charset="0"/>
              </a:rPr>
              <a:t> </a:t>
            </a:r>
            <a:r>
              <a:rPr lang="ru-RU" altLang="ru-RU" sz="2400" b="1" i="1" dirty="0">
                <a:latin typeface="Times New Roman" panose="02020603050405020304" pitchFamily="18" charset="0"/>
                <a:cs typeface="Times New Roman" panose="02020603050405020304" pitchFamily="18" charset="0"/>
              </a:rPr>
              <a:t>50 Гц</a:t>
            </a:r>
            <a:r>
              <a:rPr lang="ru-RU" altLang="ru-RU" sz="2400" dirty="0">
                <a:latin typeface="Times New Roman" panose="02020603050405020304" pitchFamily="18" charset="0"/>
                <a:cs typeface="Times New Roman" panose="02020603050405020304" pitchFamily="18" charset="0"/>
              </a:rPr>
              <a:t>, то есть 50 раз в секунду. </a:t>
            </a:r>
            <a:br>
              <a:rPr lang="ru-RU" altLang="ru-RU" sz="2400" dirty="0">
                <a:latin typeface="Times New Roman" panose="02020603050405020304" pitchFamily="18" charset="0"/>
                <a:cs typeface="Times New Roman" panose="02020603050405020304" pitchFamily="18" charset="0"/>
              </a:rPr>
            </a:br>
            <a:r>
              <a:rPr lang="ru-RU" altLang="ru-RU" sz="2400" dirty="0">
                <a:latin typeface="Times New Roman" panose="02020603050405020304" pitchFamily="18" charset="0"/>
                <a:cs typeface="Times New Roman" panose="02020603050405020304" pitchFamily="18" charset="0"/>
              </a:rPr>
              <a:t>Период колебаний составляет </a:t>
            </a:r>
            <a:r>
              <a:rPr lang="en-US" altLang="ru-RU" sz="2400" b="1" i="1" dirty="0">
                <a:latin typeface="Times New Roman" panose="02020603050405020304" pitchFamily="18" charset="0"/>
                <a:cs typeface="Times New Roman" panose="02020603050405020304" pitchFamily="18" charset="0"/>
              </a:rPr>
              <a:t>T = </a:t>
            </a:r>
            <a:r>
              <a:rPr lang="ru-RU" altLang="ru-RU" sz="2400" b="1" i="1" dirty="0">
                <a:latin typeface="Times New Roman" panose="02020603050405020304" pitchFamily="18" charset="0"/>
                <a:cs typeface="Times New Roman" panose="02020603050405020304" pitchFamily="18" charset="0"/>
              </a:rPr>
              <a:t>0,02</a:t>
            </a:r>
            <a:r>
              <a:rPr lang="ru-RU" altLang="ru-RU" sz="2400" dirty="0">
                <a:latin typeface="Times New Roman" panose="02020603050405020304" pitchFamily="18" charset="0"/>
                <a:cs typeface="Times New Roman" panose="02020603050405020304" pitchFamily="18" charset="0"/>
              </a:rPr>
              <a:t> с. </a:t>
            </a:r>
            <a:br>
              <a:rPr lang="ru-RU" altLang="ru-RU" sz="2000" dirty="0">
                <a:latin typeface="Times New Roman" panose="02020603050405020304" pitchFamily="18" charset="0"/>
                <a:cs typeface="Times New Roman" panose="02020603050405020304" pitchFamily="18" charset="0"/>
              </a:rPr>
            </a:br>
            <a:endParaRPr lang="ru-RU" altLang="ru-RU" sz="1800" dirty="0"/>
          </a:p>
        </p:txBody>
      </p:sp>
      <p:sp>
        <p:nvSpPr>
          <p:cNvPr id="4099" name="Rectangle 5">
            <a:extLst>
              <a:ext uri="{FF2B5EF4-FFF2-40B4-BE49-F238E27FC236}">
                <a16:creationId xmlns:a16="http://schemas.microsoft.com/office/drawing/2014/main" id="{27C9EE38-7D01-404C-B504-DEE31A932A57}"/>
              </a:ext>
            </a:extLst>
          </p:cNvPr>
          <p:cNvSpPr>
            <a:spLocks noChangeArrowheads="1"/>
          </p:cNvSpPr>
          <p:nvPr/>
        </p:nvSpPr>
        <p:spPr bwMode="auto">
          <a:xfrm>
            <a:off x="3414733" y="3632769"/>
            <a:ext cx="1873250" cy="647700"/>
          </a:xfrm>
          <a:prstGeom prst="rect">
            <a:avLst/>
          </a:prstGeom>
          <a:noFill/>
          <a:ln w="38100" cmpd="dbl">
            <a:solidFill>
              <a:srgbClr val="993366"/>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ru-RU" altLang="ru-RU" sz="1800"/>
          </a:p>
        </p:txBody>
      </p:sp>
      <p:sp>
        <p:nvSpPr>
          <p:cNvPr id="2" name="Прямоугольник 1">
            <a:extLst>
              <a:ext uri="{FF2B5EF4-FFF2-40B4-BE49-F238E27FC236}">
                <a16:creationId xmlns:a16="http://schemas.microsoft.com/office/drawing/2014/main" id="{0E4269D5-F237-4E6B-9D7F-A63D32DC9BF1}"/>
              </a:ext>
            </a:extLst>
          </p:cNvPr>
          <p:cNvSpPr/>
          <p:nvPr/>
        </p:nvSpPr>
        <p:spPr>
          <a:xfrm>
            <a:off x="618873" y="80010"/>
            <a:ext cx="1479892" cy="369332"/>
          </a:xfrm>
          <a:prstGeom prst="rect">
            <a:avLst/>
          </a:prstGeom>
        </p:spPr>
        <p:txBody>
          <a:bodyPr wrap="none">
            <a:spAutoFit/>
          </a:bodyPr>
          <a:lstStyle/>
          <a:p>
            <a:pPr>
              <a:defRPr/>
            </a:pPr>
            <a:r>
              <a:rPr lang="ru-RU" dirty="0">
                <a:solidFill>
                  <a:schemeClr val="bg1"/>
                </a:solidFill>
              </a:rPr>
              <a:t>Кафедра ТЭЦ</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4">
            <a:extLst>
              <a:ext uri="{FF2B5EF4-FFF2-40B4-BE49-F238E27FC236}">
                <a16:creationId xmlns:a16="http://schemas.microsoft.com/office/drawing/2014/main" id="{673B4579-A5FF-4DCB-8DE0-A9BC5D1AE1E2}"/>
              </a:ext>
            </a:extLst>
          </p:cNvPr>
          <p:cNvSpPr txBox="1">
            <a:spLocks noChangeArrowheads="1"/>
          </p:cNvSpPr>
          <p:nvPr/>
        </p:nvSpPr>
        <p:spPr bwMode="auto">
          <a:xfrm>
            <a:off x="436553" y="710842"/>
            <a:ext cx="11444748"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indent="360363" eaLnBrk="1" hangingPunct="1">
              <a:spcBef>
                <a:spcPct val="0"/>
              </a:spcBef>
              <a:buFontTx/>
              <a:buNone/>
            </a:pPr>
            <a:r>
              <a:rPr lang="ru-RU" altLang="ru-RU" dirty="0">
                <a:latin typeface="Times New Roman" panose="02020603050405020304" pitchFamily="18" charset="0"/>
                <a:cs typeface="Times New Roman" panose="02020603050405020304" pitchFamily="18" charset="0"/>
              </a:rPr>
              <a:t>Пусть длина нашей цепи </a:t>
            </a:r>
            <a:r>
              <a:rPr lang="en-US" altLang="ru-RU" b="1" i="1" dirty="0">
                <a:latin typeface="Times New Roman" panose="02020603050405020304" pitchFamily="18" charset="0"/>
                <a:cs typeface="Times New Roman" panose="02020603050405020304" pitchFamily="18" charset="0"/>
              </a:rPr>
              <a:t>L = </a:t>
            </a:r>
            <a:r>
              <a:rPr lang="ru-RU" altLang="ru-RU" b="1" i="1" dirty="0">
                <a:latin typeface="Times New Roman" panose="02020603050405020304" pitchFamily="18" charset="0"/>
                <a:cs typeface="Times New Roman" panose="02020603050405020304" pitchFamily="18" charset="0"/>
              </a:rPr>
              <a:t>100 м</a:t>
            </a:r>
            <a:r>
              <a:rPr lang="ru-RU" altLang="ru-RU" dirty="0">
                <a:latin typeface="Times New Roman" panose="02020603050405020304" pitchFamily="18" charset="0"/>
                <a:cs typeface="Times New Roman" panose="02020603050405020304" pitchFamily="18" charset="0"/>
              </a:rPr>
              <a:t>.</a:t>
            </a:r>
            <a:br>
              <a:rPr lang="ru-RU" altLang="ru-RU" dirty="0"/>
            </a:br>
            <a:r>
              <a:rPr lang="ru-RU" altLang="ru-RU" dirty="0">
                <a:latin typeface="Times New Roman" panose="02020603050405020304" pitchFamily="18" charset="0"/>
                <a:cs typeface="Times New Roman" panose="02020603050405020304" pitchFamily="18" charset="0"/>
              </a:rPr>
              <a:t>Тогда отношение </a:t>
            </a:r>
            <a:r>
              <a:rPr lang="en-US" altLang="ru-RU" i="1" dirty="0">
                <a:latin typeface="Times New Roman" panose="02020603050405020304" pitchFamily="18" charset="0"/>
                <a:cs typeface="Times New Roman" panose="02020603050405020304" pitchFamily="18" charset="0"/>
              </a:rPr>
              <a:t>t</a:t>
            </a:r>
            <a:r>
              <a:rPr lang="ru-RU" altLang="ru-RU" i="1" dirty="0">
                <a:latin typeface="Times New Roman" panose="02020603050405020304" pitchFamily="18" charset="0"/>
                <a:cs typeface="Times New Roman" panose="02020603050405020304" pitchFamily="18" charset="0"/>
              </a:rPr>
              <a:t>/T </a:t>
            </a:r>
            <a:r>
              <a:rPr lang="ru-RU" altLang="ru-RU" dirty="0">
                <a:latin typeface="Times New Roman" panose="02020603050405020304" pitchFamily="18" charset="0"/>
                <a:cs typeface="Times New Roman" panose="02020603050405020304" pitchFamily="18" charset="0"/>
              </a:rPr>
              <a:t>составит примерно 10</a:t>
            </a:r>
            <a:r>
              <a:rPr lang="ru-RU" altLang="ru-RU" baseline="30000" dirty="0">
                <a:latin typeface="Times New Roman" panose="02020603050405020304" pitchFamily="18" charset="0"/>
                <a:cs typeface="Times New Roman" panose="02020603050405020304" pitchFamily="18" charset="0"/>
              </a:rPr>
              <a:t>-5</a:t>
            </a:r>
            <a:r>
              <a:rPr lang="ru-RU" altLang="ru-RU" dirty="0">
                <a:latin typeface="Times New Roman" panose="02020603050405020304" pitchFamily="18" charset="0"/>
                <a:cs typeface="Times New Roman" panose="02020603050405020304" pitchFamily="18" charset="0"/>
              </a:rPr>
              <a:t> - именно такую очень небольшую относительную ошибку мы сделаем, если будем для нашей цепи с переменным током пользоваться законами постоянного тока.</a:t>
            </a:r>
          </a:p>
        </p:txBody>
      </p:sp>
      <p:sp>
        <p:nvSpPr>
          <p:cNvPr id="4105" name="Text Box 9">
            <a:extLst>
              <a:ext uri="{FF2B5EF4-FFF2-40B4-BE49-F238E27FC236}">
                <a16:creationId xmlns:a16="http://schemas.microsoft.com/office/drawing/2014/main" id="{AB03420E-6852-4E82-BAF1-8989E6F797F0}"/>
              </a:ext>
            </a:extLst>
          </p:cNvPr>
          <p:cNvSpPr txBox="1">
            <a:spLocks noChangeArrowheads="1"/>
          </p:cNvSpPr>
          <p:nvPr/>
        </p:nvSpPr>
        <p:spPr bwMode="auto">
          <a:xfrm>
            <a:off x="607635" y="3333135"/>
            <a:ext cx="10105594" cy="2062103"/>
          </a:xfrm>
          <a:prstGeom prst="rect">
            <a:avLst/>
          </a:prstGeom>
          <a:noFill/>
          <a:ln w="57150" cmpd="thickThin">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dirty="0">
                <a:latin typeface="Times New Roman" panose="02020603050405020304" pitchFamily="18" charset="0"/>
                <a:cs typeface="Times New Roman" panose="02020603050405020304" pitchFamily="18" charset="0"/>
              </a:rPr>
              <a:t>Переменный ток в цепи, для которой выполняется соотношение </a:t>
            </a:r>
            <a:r>
              <a:rPr lang="ru-RU" altLang="ru-RU" b="1" i="1" dirty="0">
                <a:solidFill>
                  <a:srgbClr val="FF0066"/>
                </a:solidFill>
                <a:latin typeface="Times New Roman" panose="02020603050405020304" pitchFamily="18" charset="0"/>
                <a:cs typeface="Times New Roman" panose="02020603050405020304" pitchFamily="18" charset="0"/>
              </a:rPr>
              <a:t>t&lt;&lt;T</a:t>
            </a:r>
            <a:r>
              <a:rPr lang="ru-RU" altLang="ru-RU" dirty="0">
                <a:latin typeface="Times New Roman" panose="02020603050405020304" pitchFamily="18" charset="0"/>
                <a:cs typeface="Times New Roman" panose="02020603050405020304" pitchFamily="18" charset="0"/>
              </a:rPr>
              <a:t> и для которой с высокой точностью можно пользоваться законами постоянного </a:t>
            </a:r>
            <a:r>
              <a:rPr lang="ru-RU" altLang="ru-RU" dirty="0" err="1">
                <a:latin typeface="Times New Roman" panose="02020603050405020304" pitchFamily="18" charset="0"/>
                <a:cs typeface="Times New Roman" panose="02020603050405020304" pitchFamily="18" charset="0"/>
              </a:rPr>
              <a:t>тока,называется</a:t>
            </a:r>
            <a:r>
              <a:rPr lang="ru-RU" altLang="ru-RU" dirty="0">
                <a:latin typeface="Times New Roman" panose="02020603050405020304" pitchFamily="18" charset="0"/>
                <a:cs typeface="Times New Roman" panose="02020603050405020304" pitchFamily="18" charset="0"/>
              </a:rPr>
              <a:t> </a:t>
            </a:r>
            <a:r>
              <a:rPr lang="ru-RU" altLang="ru-RU" b="1" i="1" u="sng" dirty="0">
                <a:solidFill>
                  <a:srgbClr val="FF0066"/>
                </a:solidFill>
                <a:latin typeface="Times New Roman" panose="02020603050405020304" pitchFamily="18" charset="0"/>
                <a:cs typeface="Times New Roman" panose="02020603050405020304" pitchFamily="18" charset="0"/>
              </a:rPr>
              <a:t>квазистационарным током</a:t>
            </a:r>
            <a:r>
              <a:rPr lang="ru-RU" altLang="ru-RU" dirty="0">
                <a:latin typeface="Times New Roman" panose="02020603050405020304" pitchFamily="18" charset="0"/>
                <a:cs typeface="Times New Roman" panose="02020603050405020304" pitchFamily="18" charset="0"/>
              </a:rPr>
              <a:t>. </a:t>
            </a:r>
          </a:p>
        </p:txBody>
      </p:sp>
      <p:sp>
        <p:nvSpPr>
          <p:cNvPr id="2" name="Прямоугольник 1">
            <a:extLst>
              <a:ext uri="{FF2B5EF4-FFF2-40B4-BE49-F238E27FC236}">
                <a16:creationId xmlns:a16="http://schemas.microsoft.com/office/drawing/2014/main" id="{BE165551-4F76-4BE7-A208-902D357F79BD}"/>
              </a:ext>
            </a:extLst>
          </p:cNvPr>
          <p:cNvSpPr/>
          <p:nvPr/>
        </p:nvSpPr>
        <p:spPr>
          <a:xfrm>
            <a:off x="1138016" y="82620"/>
            <a:ext cx="1479892" cy="369332"/>
          </a:xfrm>
          <a:prstGeom prst="rect">
            <a:avLst/>
          </a:prstGeom>
        </p:spPr>
        <p:txBody>
          <a:bodyPr wrap="none">
            <a:spAutoFit/>
          </a:bodyPr>
          <a:lstStyle/>
          <a:p>
            <a:pPr>
              <a:defRPr/>
            </a:pPr>
            <a:r>
              <a:rPr lang="ru-RU" dirty="0">
                <a:solidFill>
                  <a:schemeClr val="bg1"/>
                </a:solidFill>
              </a:rPr>
              <a:t>Кафедра ТЭЦ</a:t>
            </a:r>
          </a:p>
        </p:txBody>
      </p:sp>
    </p:spTree>
    <p:extLst>
      <p:ext uri="{BB962C8B-B14F-4D97-AF65-F5344CB8AC3E}">
        <p14:creationId xmlns:p14="http://schemas.microsoft.com/office/powerpoint/2010/main" val="33870681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4105"/>
                                        </p:tgtEl>
                                        <p:attrNameLst>
                                          <p:attrName>style.visibility</p:attrName>
                                        </p:attrNameLst>
                                      </p:cBhvr>
                                      <p:to>
                                        <p:strVal val="visible"/>
                                      </p:to>
                                    </p:set>
                                    <p:animEffect transition="in" filter="diamond(in)">
                                      <p:cBhvr>
                                        <p:cTn id="7" dur="2000"/>
                                        <p:tgtEl>
                                          <p:spTgt spid="4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4">
            <a:extLst>
              <a:ext uri="{FF2B5EF4-FFF2-40B4-BE49-F238E27FC236}">
                <a16:creationId xmlns:a16="http://schemas.microsoft.com/office/drawing/2014/main" id="{C4BE1B35-1FF1-4DBA-92D0-3F26B3807E8D}"/>
              </a:ext>
            </a:extLst>
          </p:cNvPr>
          <p:cNvSpPr txBox="1">
            <a:spLocks noChangeArrowheads="1"/>
          </p:cNvSpPr>
          <p:nvPr/>
        </p:nvSpPr>
        <p:spPr bwMode="auto">
          <a:xfrm>
            <a:off x="554540" y="556687"/>
            <a:ext cx="11486044"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2800" b="1" i="1" u="sng" dirty="0">
                <a:solidFill>
                  <a:srgbClr val="FF0066"/>
                </a:solidFill>
                <a:latin typeface="Times New Roman" panose="02020603050405020304" pitchFamily="18" charset="0"/>
                <a:cs typeface="Times New Roman" panose="02020603050405020304" pitchFamily="18" charset="0"/>
              </a:rPr>
              <a:t>Переменный ток</a:t>
            </a:r>
            <a:r>
              <a:rPr lang="ru-RU" altLang="ru-RU" sz="2800" i="1" dirty="0">
                <a:latin typeface="Times New Roman" panose="02020603050405020304" pitchFamily="18" charset="0"/>
                <a:cs typeface="Times New Roman" panose="02020603050405020304" pitchFamily="18" charset="0"/>
              </a:rPr>
              <a:t> – это электрический ток, который изменяется с течением времени по гармоническому</a:t>
            </a:r>
            <a:r>
              <a:rPr lang="en-US" altLang="ru-RU" sz="2800" i="1" dirty="0">
                <a:latin typeface="Times New Roman" panose="02020603050405020304" pitchFamily="18" charset="0"/>
                <a:cs typeface="Times New Roman" panose="02020603050405020304" pitchFamily="18" charset="0"/>
              </a:rPr>
              <a:t> (</a:t>
            </a:r>
            <a:r>
              <a:rPr lang="ru-RU" altLang="ru-RU" sz="2800" i="1" dirty="0">
                <a:latin typeface="Times New Roman" panose="02020603050405020304" pitchFamily="18" charset="0"/>
                <a:cs typeface="Times New Roman" panose="02020603050405020304" pitchFamily="18" charset="0"/>
              </a:rPr>
              <a:t>синусоидальному</a:t>
            </a:r>
            <a:r>
              <a:rPr lang="en-US" altLang="ru-RU" sz="2800" i="1" dirty="0">
                <a:latin typeface="Times New Roman" panose="02020603050405020304" pitchFamily="18" charset="0"/>
                <a:cs typeface="Times New Roman" panose="02020603050405020304" pitchFamily="18" charset="0"/>
              </a:rPr>
              <a:t>)</a:t>
            </a:r>
            <a:r>
              <a:rPr lang="ru-RU" altLang="ru-RU" sz="2800" i="1" dirty="0">
                <a:latin typeface="Times New Roman" panose="02020603050405020304" pitchFamily="18" charset="0"/>
                <a:cs typeface="Times New Roman" panose="02020603050405020304" pitchFamily="18" charset="0"/>
              </a:rPr>
              <a:t> закону.</a:t>
            </a:r>
            <a:r>
              <a:rPr lang="ru-RU" altLang="ru-RU" sz="2800" dirty="0">
                <a:latin typeface="Times New Roman" panose="02020603050405020304" pitchFamily="18" charset="0"/>
                <a:cs typeface="Times New Roman" panose="02020603050405020304" pitchFamily="18" charset="0"/>
              </a:rPr>
              <a:t> </a:t>
            </a:r>
          </a:p>
        </p:txBody>
      </p:sp>
      <p:sp>
        <p:nvSpPr>
          <p:cNvPr id="5123" name="Text Box 6">
            <a:extLst>
              <a:ext uri="{FF2B5EF4-FFF2-40B4-BE49-F238E27FC236}">
                <a16:creationId xmlns:a16="http://schemas.microsoft.com/office/drawing/2014/main" id="{D49944B3-0FD3-41D2-AA4E-9E25B7383945}"/>
              </a:ext>
            </a:extLst>
          </p:cNvPr>
          <p:cNvSpPr txBox="1">
            <a:spLocks noChangeArrowheads="1"/>
          </p:cNvSpPr>
          <p:nvPr/>
        </p:nvSpPr>
        <p:spPr bwMode="auto">
          <a:xfrm>
            <a:off x="3539613" y="1691978"/>
            <a:ext cx="406927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pl-PL" altLang="ru-RU" sz="4000" dirty="0">
                <a:latin typeface="Times New Roman" panose="02020603050405020304" pitchFamily="18" charset="0"/>
              </a:rPr>
              <a:t>I = I</a:t>
            </a:r>
            <a:r>
              <a:rPr lang="pl-PL" altLang="ru-RU" sz="4000" baseline="-25000" dirty="0">
                <a:latin typeface="Times New Roman" panose="02020603050405020304" pitchFamily="18" charset="0"/>
              </a:rPr>
              <a:t>0</a:t>
            </a:r>
            <a:r>
              <a:rPr lang="pl-PL" altLang="ru-RU" sz="4000" dirty="0">
                <a:latin typeface="Times New Roman" panose="02020603050405020304" pitchFamily="18" charset="0"/>
              </a:rPr>
              <a:t>·sin(</a:t>
            </a:r>
            <a:r>
              <a:rPr lang="en-US" altLang="ru-RU" sz="4000" dirty="0">
                <a:latin typeface="Times New Roman" panose="02020603050405020304" pitchFamily="18" charset="0"/>
              </a:rPr>
              <a:t>ω</a:t>
            </a:r>
            <a:r>
              <a:rPr lang="pl-PL" altLang="ru-RU" sz="4000" dirty="0">
                <a:latin typeface="Times New Roman" panose="02020603050405020304" pitchFamily="18" charset="0"/>
              </a:rPr>
              <a:t>t+</a:t>
            </a:r>
            <a:r>
              <a:rPr lang="en-US" altLang="ru-RU" sz="4000" dirty="0">
                <a:latin typeface="Times New Roman" panose="02020603050405020304" pitchFamily="18" charset="0"/>
              </a:rPr>
              <a:t>φ</a:t>
            </a:r>
            <a:r>
              <a:rPr lang="pl-PL" altLang="ru-RU" sz="4000" dirty="0">
                <a:latin typeface="Times New Roman" panose="02020603050405020304" pitchFamily="18" charset="0"/>
              </a:rPr>
              <a:t>),</a:t>
            </a:r>
            <a:endParaRPr lang="ru-RU" altLang="ru-RU" sz="4000" dirty="0">
              <a:latin typeface="Times New Roman" panose="02020603050405020304" pitchFamily="18" charset="0"/>
            </a:endParaRPr>
          </a:p>
        </p:txBody>
      </p:sp>
      <p:grpSp>
        <p:nvGrpSpPr>
          <p:cNvPr id="2" name="Group 23">
            <a:extLst>
              <a:ext uri="{FF2B5EF4-FFF2-40B4-BE49-F238E27FC236}">
                <a16:creationId xmlns:a16="http://schemas.microsoft.com/office/drawing/2014/main" id="{5D85B8BD-BEAE-47E1-BBC9-72F5F9963F5B}"/>
              </a:ext>
            </a:extLst>
          </p:cNvPr>
          <p:cNvGrpSpPr>
            <a:grpSpLocks/>
          </p:cNvGrpSpPr>
          <p:nvPr/>
        </p:nvGrpSpPr>
        <p:grpSpPr bwMode="auto">
          <a:xfrm>
            <a:off x="2424114" y="3933826"/>
            <a:ext cx="2160587" cy="727075"/>
            <a:chOff x="249" y="2478"/>
            <a:chExt cx="1689" cy="381"/>
          </a:xfrm>
        </p:grpSpPr>
        <p:sp>
          <p:nvSpPr>
            <p:cNvPr id="5132" name="AutoShape 11">
              <a:extLst>
                <a:ext uri="{FF2B5EF4-FFF2-40B4-BE49-F238E27FC236}">
                  <a16:creationId xmlns:a16="http://schemas.microsoft.com/office/drawing/2014/main" id="{0442B70E-7C96-402E-A89B-4138A7C56BE9}"/>
                </a:ext>
              </a:extLst>
            </p:cNvPr>
            <p:cNvSpPr>
              <a:spLocks noChangeArrowheads="1"/>
            </p:cNvSpPr>
            <p:nvPr/>
          </p:nvSpPr>
          <p:spPr bwMode="auto">
            <a:xfrm flipV="1">
              <a:off x="249" y="2478"/>
              <a:ext cx="1633" cy="362"/>
            </a:xfrm>
            <a:prstGeom prst="wedgeRoundRectCallout">
              <a:avLst>
                <a:gd name="adj1" fmla="val 51958"/>
                <a:gd name="adj2" fmla="val 283977"/>
                <a:gd name="adj3" fmla="val 16667"/>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rot="10800000"/>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endParaRPr lang="ru-RU" altLang="ru-RU" sz="1800"/>
            </a:p>
          </p:txBody>
        </p:sp>
        <p:sp>
          <p:nvSpPr>
            <p:cNvPr id="5133" name="Text Box 15">
              <a:extLst>
                <a:ext uri="{FF2B5EF4-FFF2-40B4-BE49-F238E27FC236}">
                  <a16:creationId xmlns:a16="http://schemas.microsoft.com/office/drawing/2014/main" id="{0CA96902-45CC-4D5D-9BD9-5B17E62DD7DF}"/>
                </a:ext>
              </a:extLst>
            </p:cNvPr>
            <p:cNvSpPr txBox="1">
              <a:spLocks noChangeArrowheads="1"/>
            </p:cNvSpPr>
            <p:nvPr/>
          </p:nvSpPr>
          <p:spPr bwMode="auto">
            <a:xfrm>
              <a:off x="260" y="2523"/>
              <a:ext cx="1678"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ru-RU" sz="1800"/>
                <a:t>I</a:t>
              </a:r>
              <a:r>
                <a:rPr lang="ru-RU" altLang="ru-RU" sz="1800" baseline="-25000"/>
                <a:t>0</a:t>
              </a:r>
              <a:r>
                <a:rPr lang="en-US" altLang="ru-RU" sz="1800"/>
                <a:t>-</a:t>
              </a:r>
              <a:r>
                <a:rPr lang="ru-RU" altLang="ru-RU" sz="1800"/>
                <a:t>амплитуда колебаний</a:t>
              </a:r>
            </a:p>
          </p:txBody>
        </p:sp>
      </p:grpSp>
      <p:grpSp>
        <p:nvGrpSpPr>
          <p:cNvPr id="3" name="Group 24">
            <a:extLst>
              <a:ext uri="{FF2B5EF4-FFF2-40B4-BE49-F238E27FC236}">
                <a16:creationId xmlns:a16="http://schemas.microsoft.com/office/drawing/2014/main" id="{06D69E21-4AC1-4CB4-B416-7F9F009C7871}"/>
              </a:ext>
            </a:extLst>
          </p:cNvPr>
          <p:cNvGrpSpPr>
            <a:grpSpLocks/>
          </p:cNvGrpSpPr>
          <p:nvPr/>
        </p:nvGrpSpPr>
        <p:grpSpPr bwMode="auto">
          <a:xfrm>
            <a:off x="5087939" y="3716339"/>
            <a:ext cx="2016125" cy="839787"/>
            <a:chOff x="2200" y="2251"/>
            <a:chExt cx="1451" cy="382"/>
          </a:xfrm>
        </p:grpSpPr>
        <p:sp>
          <p:nvSpPr>
            <p:cNvPr id="5130" name="AutoShape 12">
              <a:extLst>
                <a:ext uri="{FF2B5EF4-FFF2-40B4-BE49-F238E27FC236}">
                  <a16:creationId xmlns:a16="http://schemas.microsoft.com/office/drawing/2014/main" id="{7990E992-033C-4851-A08E-9691FD1222E9}"/>
                </a:ext>
              </a:extLst>
            </p:cNvPr>
            <p:cNvSpPr>
              <a:spLocks noChangeArrowheads="1"/>
            </p:cNvSpPr>
            <p:nvPr/>
          </p:nvSpPr>
          <p:spPr bwMode="auto">
            <a:xfrm flipV="1">
              <a:off x="2200" y="2251"/>
              <a:ext cx="1451" cy="362"/>
            </a:xfrm>
            <a:prstGeom prst="wedgeRoundRectCallout">
              <a:avLst>
                <a:gd name="adj1" fmla="val -19264"/>
                <a:gd name="adj2" fmla="val 214639"/>
                <a:gd name="adj3" fmla="val 16667"/>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rot="10800000"/>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endParaRPr lang="ru-RU" altLang="ru-RU" sz="1800"/>
            </a:p>
          </p:txBody>
        </p:sp>
        <p:sp>
          <p:nvSpPr>
            <p:cNvPr id="5131" name="Text Box 16">
              <a:extLst>
                <a:ext uri="{FF2B5EF4-FFF2-40B4-BE49-F238E27FC236}">
                  <a16:creationId xmlns:a16="http://schemas.microsoft.com/office/drawing/2014/main" id="{974DF631-9515-4BB4-8371-A91921B54A4E}"/>
                </a:ext>
              </a:extLst>
            </p:cNvPr>
            <p:cNvSpPr txBox="1">
              <a:spLocks noChangeArrowheads="1"/>
            </p:cNvSpPr>
            <p:nvPr/>
          </p:nvSpPr>
          <p:spPr bwMode="auto">
            <a:xfrm>
              <a:off x="2200" y="2341"/>
              <a:ext cx="1451"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ru-RU" sz="1800" b="1">
                  <a:latin typeface="Symbol" panose="05050102010706020507" pitchFamily="18" charset="2"/>
                </a:rPr>
                <a:t>w</a:t>
              </a:r>
              <a:r>
                <a:rPr lang="en-US" altLang="ru-RU" sz="1800"/>
                <a:t>  - </a:t>
              </a:r>
              <a:r>
                <a:rPr lang="ru-RU" altLang="ru-RU" sz="1800"/>
                <a:t>частота колебаний</a:t>
              </a:r>
            </a:p>
          </p:txBody>
        </p:sp>
      </p:grpSp>
      <p:grpSp>
        <p:nvGrpSpPr>
          <p:cNvPr id="4" name="Group 21">
            <a:extLst>
              <a:ext uri="{FF2B5EF4-FFF2-40B4-BE49-F238E27FC236}">
                <a16:creationId xmlns:a16="http://schemas.microsoft.com/office/drawing/2014/main" id="{91B60C7E-E02E-4DB7-B161-21B2E880AC5F}"/>
              </a:ext>
            </a:extLst>
          </p:cNvPr>
          <p:cNvGrpSpPr>
            <a:grpSpLocks/>
          </p:cNvGrpSpPr>
          <p:nvPr/>
        </p:nvGrpSpPr>
        <p:grpSpPr bwMode="auto">
          <a:xfrm>
            <a:off x="7608888" y="2997201"/>
            <a:ext cx="2519362" cy="862013"/>
            <a:chOff x="4059" y="1162"/>
            <a:chExt cx="1401" cy="362"/>
          </a:xfrm>
        </p:grpSpPr>
        <p:sp>
          <p:nvSpPr>
            <p:cNvPr id="5128" name="AutoShape 13">
              <a:extLst>
                <a:ext uri="{FF2B5EF4-FFF2-40B4-BE49-F238E27FC236}">
                  <a16:creationId xmlns:a16="http://schemas.microsoft.com/office/drawing/2014/main" id="{CC0DEAC4-6F49-4728-AE74-42067792A048}"/>
                </a:ext>
              </a:extLst>
            </p:cNvPr>
            <p:cNvSpPr>
              <a:spLocks noChangeArrowheads="1"/>
            </p:cNvSpPr>
            <p:nvPr/>
          </p:nvSpPr>
          <p:spPr bwMode="auto">
            <a:xfrm flipV="1">
              <a:off x="4059" y="1162"/>
              <a:ext cx="1270" cy="362"/>
            </a:xfrm>
            <a:prstGeom prst="wedgeRoundRectCallout">
              <a:avLst>
                <a:gd name="adj1" fmla="val -100162"/>
                <a:gd name="adj2" fmla="val 127069"/>
                <a:gd name="adj3" fmla="val 16667"/>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rot="10800000"/>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endParaRPr lang="ru-RU" altLang="ru-RU" sz="1800"/>
            </a:p>
          </p:txBody>
        </p:sp>
        <p:sp>
          <p:nvSpPr>
            <p:cNvPr id="5129" name="Text Box 17">
              <a:extLst>
                <a:ext uri="{FF2B5EF4-FFF2-40B4-BE49-F238E27FC236}">
                  <a16:creationId xmlns:a16="http://schemas.microsoft.com/office/drawing/2014/main" id="{93D889D5-A773-49FA-B7DC-5290BCB34D42}"/>
                </a:ext>
              </a:extLst>
            </p:cNvPr>
            <p:cNvSpPr txBox="1">
              <a:spLocks noChangeArrowheads="1"/>
            </p:cNvSpPr>
            <p:nvPr/>
          </p:nvSpPr>
          <p:spPr bwMode="auto">
            <a:xfrm>
              <a:off x="4099" y="1245"/>
              <a:ext cx="1361"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ru-RU" sz="1800" b="1">
                  <a:latin typeface="Symbol" panose="05050102010706020507" pitchFamily="18" charset="2"/>
                  <a:sym typeface="Symbol" panose="05050102010706020507" pitchFamily="18" charset="2"/>
                </a:rPr>
                <a:t></a:t>
              </a:r>
              <a:r>
                <a:rPr lang="en-US" altLang="ru-RU" sz="1800"/>
                <a:t>-</a:t>
              </a:r>
              <a:r>
                <a:rPr lang="ru-RU" altLang="ru-RU" sz="1800"/>
                <a:t>начальная фаза колебаний</a:t>
              </a:r>
            </a:p>
          </p:txBody>
        </p:sp>
      </p:grpSp>
      <p:sp>
        <p:nvSpPr>
          <p:cNvPr id="5127" name="Text Box 25">
            <a:extLst>
              <a:ext uri="{FF2B5EF4-FFF2-40B4-BE49-F238E27FC236}">
                <a16:creationId xmlns:a16="http://schemas.microsoft.com/office/drawing/2014/main" id="{7354074C-855D-42DC-8ADC-59ABA1C784CD}"/>
              </a:ext>
            </a:extLst>
          </p:cNvPr>
          <p:cNvSpPr txBox="1">
            <a:spLocks noChangeArrowheads="1"/>
          </p:cNvSpPr>
          <p:nvPr/>
        </p:nvSpPr>
        <p:spPr bwMode="auto">
          <a:xfrm>
            <a:off x="401156" y="4746776"/>
            <a:ext cx="11574534"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indent="360363" eaLnBrk="1" hangingPunct="1">
              <a:spcBef>
                <a:spcPct val="50000"/>
              </a:spcBef>
              <a:buFontTx/>
              <a:buNone/>
            </a:pPr>
            <a:r>
              <a:rPr lang="ru-RU" altLang="ru-RU" sz="2400" dirty="0">
                <a:latin typeface="Times New Roman" panose="02020603050405020304" pitchFamily="18" charset="0"/>
                <a:cs typeface="Times New Roman" panose="02020603050405020304" pitchFamily="18" charset="0"/>
              </a:rPr>
              <a:t>По теореме Фурье любое колебание можно представить как сумму гармонических колебаний. </a:t>
            </a:r>
            <a:br>
              <a:rPr lang="ru-RU" altLang="ru-RU" sz="2400" dirty="0">
                <a:latin typeface="Times New Roman" panose="02020603050405020304" pitchFamily="18" charset="0"/>
                <a:cs typeface="Times New Roman" panose="02020603050405020304" pitchFamily="18" charset="0"/>
              </a:rPr>
            </a:br>
            <a:r>
              <a:rPr lang="ru-RU" altLang="ru-RU" sz="2400" dirty="0">
                <a:latin typeface="Times New Roman" panose="02020603050405020304" pitchFamily="18" charset="0"/>
                <a:cs typeface="Times New Roman" panose="02020603050405020304" pitchFamily="18" charset="0"/>
              </a:rPr>
              <a:t>Таким образом, синусоидальные или гармонические колебания являются одновременно и самым важным, и самым простым типом колебаний. </a:t>
            </a:r>
          </a:p>
        </p:txBody>
      </p:sp>
      <p:sp>
        <p:nvSpPr>
          <p:cNvPr id="5" name="Прямоугольник 4">
            <a:extLst>
              <a:ext uri="{FF2B5EF4-FFF2-40B4-BE49-F238E27FC236}">
                <a16:creationId xmlns:a16="http://schemas.microsoft.com/office/drawing/2014/main" id="{922FFAB9-6C07-4AD1-9B8C-49F9B3FF07AE}"/>
              </a:ext>
            </a:extLst>
          </p:cNvPr>
          <p:cNvSpPr/>
          <p:nvPr/>
        </p:nvSpPr>
        <p:spPr>
          <a:xfrm>
            <a:off x="1126217" y="35923"/>
            <a:ext cx="1479892" cy="369332"/>
          </a:xfrm>
          <a:prstGeom prst="rect">
            <a:avLst/>
          </a:prstGeom>
        </p:spPr>
        <p:txBody>
          <a:bodyPr wrap="none">
            <a:spAutoFit/>
          </a:bodyPr>
          <a:lstStyle/>
          <a:p>
            <a:pPr>
              <a:defRPr/>
            </a:pPr>
            <a:r>
              <a:rPr lang="ru-RU" dirty="0">
                <a:solidFill>
                  <a:schemeClr val="bg1"/>
                </a:solidFill>
              </a:rPr>
              <a:t>Кафедра ТЭЦ</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8"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amond(in)">
                                      <p:cBhvr>
                                        <p:cTn id="7" dur="2000"/>
                                        <p:tgtEl>
                                          <p:spTgt spid="2"/>
                                        </p:tgtEl>
                                      </p:cBhvr>
                                    </p:animEffect>
                                  </p:childTnLst>
                                </p:cTn>
                              </p:par>
                              <p:par>
                                <p:cTn id="8" presetID="8" presetClass="entr" presetSubtype="16"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diamond(in)">
                                      <p:cBhvr>
                                        <p:cTn id="10" dur="2000"/>
                                        <p:tgtEl>
                                          <p:spTgt spid="3"/>
                                        </p:tgtEl>
                                      </p:cBhvr>
                                    </p:animEffect>
                                  </p:childTnLst>
                                </p:cTn>
                              </p:par>
                              <p:par>
                                <p:cTn id="11" presetID="5" presetClass="entr" presetSubtype="1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checkerboard(across)">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12312" name="Picture 24" descr="Рис_3_1">
            <a:extLst>
              <a:ext uri="{FF2B5EF4-FFF2-40B4-BE49-F238E27FC236}">
                <a16:creationId xmlns:a16="http://schemas.microsoft.com/office/drawing/2014/main" id="{10BB1840-04CF-4DAB-AEB6-C03E8A253B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6574" y="1145242"/>
            <a:ext cx="3370140" cy="2147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7" name="Номер слайда 7">
            <a:extLst>
              <a:ext uri="{FF2B5EF4-FFF2-40B4-BE49-F238E27FC236}">
                <a16:creationId xmlns:a16="http://schemas.microsoft.com/office/drawing/2014/main" id="{F50CB85A-17E9-4A92-A5DA-00AE9868AE66}"/>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6911811E-5FFA-471E-8BB2-CB1E98D7D816}" type="slidenum">
              <a:rPr lang="ru-RU" altLang="ru-RU" sz="1200">
                <a:latin typeface="Arial Black" panose="020B0A04020102020204" pitchFamily="34" charset="0"/>
              </a:rPr>
              <a:pPr>
                <a:spcBef>
                  <a:spcPct val="0"/>
                </a:spcBef>
                <a:buClrTx/>
                <a:buSzTx/>
                <a:buFontTx/>
                <a:buNone/>
              </a:pPr>
              <a:t>7</a:t>
            </a:fld>
            <a:endParaRPr lang="ru-RU" altLang="ru-RU" sz="1200">
              <a:latin typeface="Arial Black" panose="020B0A04020102020204" pitchFamily="34" charset="0"/>
            </a:endParaRPr>
          </a:p>
        </p:txBody>
      </p:sp>
      <p:sp>
        <p:nvSpPr>
          <p:cNvPr id="12307" name="Rectangle 19">
            <a:extLst>
              <a:ext uri="{FF2B5EF4-FFF2-40B4-BE49-F238E27FC236}">
                <a16:creationId xmlns:a16="http://schemas.microsoft.com/office/drawing/2014/main" id="{654E21B2-259F-454B-9F3E-F5ABB429EA52}"/>
              </a:ext>
            </a:extLst>
          </p:cNvPr>
          <p:cNvSpPr>
            <a:spLocks noGrp="1" noChangeArrowheads="1"/>
          </p:cNvSpPr>
          <p:nvPr>
            <p:ph type="title" sz="quarter"/>
          </p:nvPr>
        </p:nvSpPr>
        <p:spPr>
          <a:xfrm>
            <a:off x="2571135" y="478141"/>
            <a:ext cx="8229600" cy="450850"/>
          </a:xfrm>
          <a:noFill/>
        </p:spPr>
        <p:txBody>
          <a:bodyPr/>
          <a:lstStyle/>
          <a:p>
            <a:pPr algn="ctr" eaLnBrk="1" hangingPunct="1"/>
            <a:r>
              <a:rPr lang="ru-RU" altLang="ru-RU" sz="3200" i="1" dirty="0">
                <a:solidFill>
                  <a:srgbClr val="0000CC"/>
                </a:solidFill>
              </a:rPr>
              <a:t>Однофазный синусоидальный ток</a:t>
            </a:r>
          </a:p>
        </p:txBody>
      </p:sp>
      <p:graphicFrame>
        <p:nvGraphicFramePr>
          <p:cNvPr id="6149" name="Object 31">
            <a:extLst>
              <a:ext uri="{FF2B5EF4-FFF2-40B4-BE49-F238E27FC236}">
                <a16:creationId xmlns:a16="http://schemas.microsoft.com/office/drawing/2014/main" id="{007E50DE-2638-43FF-A195-FC54974807A3}"/>
              </a:ext>
            </a:extLst>
          </p:cNvPr>
          <p:cNvGraphicFramePr>
            <a:graphicFrameLocks noGrp="1" noChangeAspect="1"/>
          </p:cNvGraphicFramePr>
          <p:nvPr>
            <p:ph sz="quarter" idx="1"/>
          </p:nvPr>
        </p:nvGraphicFramePr>
        <p:xfrm>
          <a:off x="3943350" y="2813050"/>
          <a:ext cx="114300" cy="203200"/>
        </p:xfrm>
        <a:graphic>
          <a:graphicData uri="http://schemas.openxmlformats.org/presentationml/2006/ole">
            <mc:AlternateContent xmlns:mc="http://schemas.openxmlformats.org/markup-compatibility/2006">
              <mc:Choice xmlns:v="urn:schemas-microsoft-com:vml" Requires="v">
                <p:oleObj name="Формула" r:id="rId3" imgW="114201" imgH="203024" progId="Equation.3">
                  <p:embed/>
                </p:oleObj>
              </mc:Choice>
              <mc:Fallback>
                <p:oleObj name="Формула" r:id="rId3" imgW="114201" imgH="203024" progId="Equation.3">
                  <p:embed/>
                  <p:pic>
                    <p:nvPicPr>
                      <p:cNvPr id="6149" name="Object 31">
                        <a:extLst>
                          <a:ext uri="{FF2B5EF4-FFF2-40B4-BE49-F238E27FC236}">
                            <a16:creationId xmlns:a16="http://schemas.microsoft.com/office/drawing/2014/main" id="{007E50DE-2638-43FF-A195-FC54974807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43350" y="2813050"/>
                        <a:ext cx="114300" cy="203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21" name="Object 33">
            <a:extLst>
              <a:ext uri="{FF2B5EF4-FFF2-40B4-BE49-F238E27FC236}">
                <a16:creationId xmlns:a16="http://schemas.microsoft.com/office/drawing/2014/main" id="{18AF0218-3928-4E11-A4AB-B499A5A49008}"/>
              </a:ext>
            </a:extLst>
          </p:cNvPr>
          <p:cNvGraphicFramePr>
            <a:graphicFrameLocks noGrp="1" noChangeAspect="1"/>
          </p:cNvGraphicFramePr>
          <p:nvPr>
            <p:ph sz="quarter" idx="2"/>
          </p:nvPr>
        </p:nvGraphicFramePr>
        <p:xfrm>
          <a:off x="3492500" y="3825875"/>
          <a:ext cx="647700" cy="222250"/>
        </p:xfrm>
        <a:graphic>
          <a:graphicData uri="http://schemas.openxmlformats.org/presentationml/2006/ole">
            <mc:AlternateContent xmlns:mc="http://schemas.openxmlformats.org/markup-compatibility/2006">
              <mc:Choice xmlns:v="urn:schemas-microsoft-com:vml" Requires="v">
                <p:oleObj name="Формула" r:id="rId5" imgW="482391" imgH="165028" progId="Equation.3">
                  <p:embed/>
                </p:oleObj>
              </mc:Choice>
              <mc:Fallback>
                <p:oleObj name="Формула" r:id="rId5" imgW="482391" imgH="165028" progId="Equation.3">
                  <p:embed/>
                  <p:pic>
                    <p:nvPicPr>
                      <p:cNvPr id="12321" name="Object 33">
                        <a:extLst>
                          <a:ext uri="{FF2B5EF4-FFF2-40B4-BE49-F238E27FC236}">
                            <a16:creationId xmlns:a16="http://schemas.microsoft.com/office/drawing/2014/main" id="{18AF0218-3928-4E11-A4AB-B499A5A4900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92500" y="3825875"/>
                        <a:ext cx="647700" cy="222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10" name="Rectangle 22">
            <a:extLst>
              <a:ext uri="{FF2B5EF4-FFF2-40B4-BE49-F238E27FC236}">
                <a16:creationId xmlns:a16="http://schemas.microsoft.com/office/drawing/2014/main" id="{DC16552C-75F3-4E0C-B9FC-91A604433F55}"/>
              </a:ext>
            </a:extLst>
          </p:cNvPr>
          <p:cNvSpPr>
            <a:spLocks noChangeArrowheads="1"/>
          </p:cNvSpPr>
          <p:nvPr/>
        </p:nvSpPr>
        <p:spPr bwMode="auto">
          <a:xfrm>
            <a:off x="2413001" y="948707"/>
            <a:ext cx="8229600"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ru-RU" altLang="ru-RU" sz="2000" i="1" dirty="0">
                <a:solidFill>
                  <a:srgbClr val="0000CC"/>
                </a:solidFill>
              </a:rPr>
              <a:t>Основные понятия</a:t>
            </a:r>
          </a:p>
        </p:txBody>
      </p:sp>
      <p:graphicFrame>
        <p:nvGraphicFramePr>
          <p:cNvPr id="12324" name="Object 36">
            <a:extLst>
              <a:ext uri="{FF2B5EF4-FFF2-40B4-BE49-F238E27FC236}">
                <a16:creationId xmlns:a16="http://schemas.microsoft.com/office/drawing/2014/main" id="{1C398A5D-3683-4130-A9EB-FD296ACB89BB}"/>
              </a:ext>
            </a:extLst>
          </p:cNvPr>
          <p:cNvGraphicFramePr>
            <a:graphicFrameLocks noGrp="1" noChangeAspect="1"/>
          </p:cNvGraphicFramePr>
          <p:nvPr>
            <p:ph sz="quarter" idx="3"/>
          </p:nvPr>
        </p:nvGraphicFramePr>
        <p:xfrm>
          <a:off x="5051425" y="2492375"/>
          <a:ext cx="215900" cy="203200"/>
        </p:xfrm>
        <a:graphic>
          <a:graphicData uri="http://schemas.openxmlformats.org/presentationml/2006/ole">
            <mc:AlternateContent xmlns:mc="http://schemas.openxmlformats.org/markup-compatibility/2006">
              <mc:Choice xmlns:v="urn:schemas-microsoft-com:vml" Requires="v">
                <p:oleObj name="Формула" r:id="rId7" imgW="215713" imgH="203024" progId="Equation.3">
                  <p:embed/>
                </p:oleObj>
              </mc:Choice>
              <mc:Fallback>
                <p:oleObj name="Формула" r:id="rId7" imgW="215713" imgH="203024" progId="Equation.3">
                  <p:embed/>
                  <p:pic>
                    <p:nvPicPr>
                      <p:cNvPr id="12324" name="Object 36">
                        <a:extLst>
                          <a:ext uri="{FF2B5EF4-FFF2-40B4-BE49-F238E27FC236}">
                            <a16:creationId xmlns:a16="http://schemas.microsoft.com/office/drawing/2014/main" id="{1C398A5D-3683-4130-A9EB-FD296ACB89B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51425" y="2492375"/>
                        <a:ext cx="215900" cy="203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14" name="Line 26">
            <a:extLst>
              <a:ext uri="{FF2B5EF4-FFF2-40B4-BE49-F238E27FC236}">
                <a16:creationId xmlns:a16="http://schemas.microsoft.com/office/drawing/2014/main" id="{868EFBAB-70B8-45F7-AE74-D3DFD4D794F6}"/>
              </a:ext>
            </a:extLst>
          </p:cNvPr>
          <p:cNvSpPr>
            <a:spLocks noChangeShapeType="1"/>
          </p:cNvSpPr>
          <p:nvPr/>
        </p:nvSpPr>
        <p:spPr bwMode="auto">
          <a:xfrm>
            <a:off x="2819400" y="2319339"/>
            <a:ext cx="0" cy="17287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ru-RU"/>
          </a:p>
        </p:txBody>
      </p:sp>
      <p:sp>
        <p:nvSpPr>
          <p:cNvPr id="12315" name="Line 27">
            <a:extLst>
              <a:ext uri="{FF2B5EF4-FFF2-40B4-BE49-F238E27FC236}">
                <a16:creationId xmlns:a16="http://schemas.microsoft.com/office/drawing/2014/main" id="{E1CF8503-39B7-445C-99F0-A9F57D5A7B6C}"/>
              </a:ext>
            </a:extLst>
          </p:cNvPr>
          <p:cNvSpPr>
            <a:spLocks noChangeShapeType="1"/>
          </p:cNvSpPr>
          <p:nvPr/>
        </p:nvSpPr>
        <p:spPr bwMode="auto">
          <a:xfrm>
            <a:off x="4763852" y="2319338"/>
            <a:ext cx="0" cy="17287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ru-RU"/>
          </a:p>
        </p:txBody>
      </p:sp>
      <p:sp>
        <p:nvSpPr>
          <p:cNvPr id="12316" name="Line 28">
            <a:extLst>
              <a:ext uri="{FF2B5EF4-FFF2-40B4-BE49-F238E27FC236}">
                <a16:creationId xmlns:a16="http://schemas.microsoft.com/office/drawing/2014/main" id="{90B6A73C-ABA9-4AED-AE59-C8B539964B5E}"/>
              </a:ext>
            </a:extLst>
          </p:cNvPr>
          <p:cNvSpPr>
            <a:spLocks noChangeShapeType="1"/>
          </p:cNvSpPr>
          <p:nvPr/>
        </p:nvSpPr>
        <p:spPr bwMode="auto">
          <a:xfrm>
            <a:off x="2682081" y="4048125"/>
            <a:ext cx="2160588" cy="0"/>
          </a:xfrm>
          <a:prstGeom prst="line">
            <a:avLst/>
          </a:prstGeom>
          <a:noFill/>
          <a:ln w="9525">
            <a:solidFill>
              <a:schemeClr val="tx1"/>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ru-RU"/>
          </a:p>
        </p:txBody>
      </p:sp>
      <p:sp>
        <p:nvSpPr>
          <p:cNvPr id="12317" name="Line 29">
            <a:extLst>
              <a:ext uri="{FF2B5EF4-FFF2-40B4-BE49-F238E27FC236}">
                <a16:creationId xmlns:a16="http://schemas.microsoft.com/office/drawing/2014/main" id="{1D69890C-02DE-4D16-9044-32BB534441DA}"/>
              </a:ext>
            </a:extLst>
          </p:cNvPr>
          <p:cNvSpPr>
            <a:spLocks noChangeShapeType="1"/>
          </p:cNvSpPr>
          <p:nvPr/>
        </p:nvSpPr>
        <p:spPr bwMode="auto">
          <a:xfrm>
            <a:off x="4979988" y="1916113"/>
            <a:ext cx="0" cy="900112"/>
          </a:xfrm>
          <a:prstGeom prst="line">
            <a:avLst/>
          </a:prstGeom>
          <a:noFill/>
          <a:ln w="9525">
            <a:solidFill>
              <a:schemeClr val="tx1"/>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ru-RU"/>
          </a:p>
        </p:txBody>
      </p:sp>
      <p:sp>
        <p:nvSpPr>
          <p:cNvPr id="12318" name="Line 30">
            <a:extLst>
              <a:ext uri="{FF2B5EF4-FFF2-40B4-BE49-F238E27FC236}">
                <a16:creationId xmlns:a16="http://schemas.microsoft.com/office/drawing/2014/main" id="{2BCDEFA3-C02A-40F4-ADF4-3B686AE46B8A}"/>
              </a:ext>
            </a:extLst>
          </p:cNvPr>
          <p:cNvSpPr>
            <a:spLocks noChangeShapeType="1"/>
          </p:cNvSpPr>
          <p:nvPr/>
        </p:nvSpPr>
        <p:spPr bwMode="auto">
          <a:xfrm>
            <a:off x="2459038" y="3257550"/>
            <a:ext cx="360362" cy="0"/>
          </a:xfrm>
          <a:prstGeom prst="line">
            <a:avLst/>
          </a:prstGeom>
          <a:noFill/>
          <a:ln w="9525">
            <a:solidFill>
              <a:schemeClr val="tx1"/>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ru-RU"/>
          </a:p>
        </p:txBody>
      </p:sp>
      <p:sp>
        <p:nvSpPr>
          <p:cNvPr id="12323" name="Text Box 35">
            <a:extLst>
              <a:ext uri="{FF2B5EF4-FFF2-40B4-BE49-F238E27FC236}">
                <a16:creationId xmlns:a16="http://schemas.microsoft.com/office/drawing/2014/main" id="{74020B9F-64C0-4C96-93CC-B799B900E918}"/>
              </a:ext>
            </a:extLst>
          </p:cNvPr>
          <p:cNvSpPr txBox="1">
            <a:spLocks noChangeArrowheads="1"/>
          </p:cNvSpPr>
          <p:nvPr/>
        </p:nvSpPr>
        <p:spPr bwMode="auto">
          <a:xfrm>
            <a:off x="2462214" y="2881313"/>
            <a:ext cx="66833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ru-RU" sz="1800">
                <a:solidFill>
                  <a:srgbClr val="003399"/>
                </a:solidFill>
                <a:latin typeface="Times New Roman" panose="02020603050405020304" pitchFamily="18" charset="0"/>
                <a:sym typeface="Symbol" panose="05050102010706020507" pitchFamily="18" charset="2"/>
              </a:rPr>
              <a:t></a:t>
            </a:r>
          </a:p>
        </p:txBody>
      </p:sp>
      <p:graphicFrame>
        <p:nvGraphicFramePr>
          <p:cNvPr id="6159" name="Object 43">
            <a:extLst>
              <a:ext uri="{FF2B5EF4-FFF2-40B4-BE49-F238E27FC236}">
                <a16:creationId xmlns:a16="http://schemas.microsoft.com/office/drawing/2014/main" id="{FEFA8D31-8AA8-4351-BBC0-AFAA244A9C24}"/>
              </a:ext>
            </a:extLst>
          </p:cNvPr>
          <p:cNvGraphicFramePr>
            <a:graphicFrameLocks noChangeAspect="1"/>
          </p:cNvGraphicFramePr>
          <p:nvPr/>
        </p:nvGraphicFramePr>
        <p:xfrm>
          <a:off x="7788275" y="3573463"/>
          <a:ext cx="114300" cy="203200"/>
        </p:xfrm>
        <a:graphic>
          <a:graphicData uri="http://schemas.openxmlformats.org/presentationml/2006/ole">
            <mc:AlternateContent xmlns:mc="http://schemas.openxmlformats.org/markup-compatibility/2006">
              <mc:Choice xmlns:v="urn:schemas-microsoft-com:vml" Requires="v">
                <p:oleObj name="Формула" r:id="rId9" imgW="114201" imgH="203024" progId="Equation.3">
                  <p:embed/>
                </p:oleObj>
              </mc:Choice>
              <mc:Fallback>
                <p:oleObj name="Формула" r:id="rId9" imgW="114201" imgH="203024" progId="Equation.3">
                  <p:embed/>
                  <p:pic>
                    <p:nvPicPr>
                      <p:cNvPr id="6159" name="Object 43">
                        <a:extLst>
                          <a:ext uri="{FF2B5EF4-FFF2-40B4-BE49-F238E27FC236}">
                            <a16:creationId xmlns:a16="http://schemas.microsoft.com/office/drawing/2014/main" id="{FEFA8D31-8AA8-4351-BBC0-AFAA244A9C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88275" y="3573463"/>
                        <a:ext cx="114300" cy="203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35" name="Object 47">
            <a:extLst>
              <a:ext uri="{FF2B5EF4-FFF2-40B4-BE49-F238E27FC236}">
                <a16:creationId xmlns:a16="http://schemas.microsoft.com/office/drawing/2014/main" id="{77691F1E-C0CC-4E66-8F48-8F7C5DC93E9F}"/>
              </a:ext>
            </a:extLst>
          </p:cNvPr>
          <p:cNvGraphicFramePr>
            <a:graphicFrameLocks noChangeAspect="1"/>
          </p:cNvGraphicFramePr>
          <p:nvPr/>
        </p:nvGraphicFramePr>
        <p:xfrm>
          <a:off x="1698626" y="4560888"/>
          <a:ext cx="1463675" cy="647700"/>
        </p:xfrm>
        <a:graphic>
          <a:graphicData uri="http://schemas.openxmlformats.org/presentationml/2006/ole">
            <mc:AlternateContent xmlns:mc="http://schemas.openxmlformats.org/markup-compatibility/2006">
              <mc:Choice xmlns:v="urn:schemas-microsoft-com:vml" Requires="v">
                <p:oleObj name="Формула" r:id="rId10" imgW="545863" imgH="241195" progId="Equation.3">
                  <p:embed/>
                </p:oleObj>
              </mc:Choice>
              <mc:Fallback>
                <p:oleObj name="Формула" r:id="rId10" imgW="545863" imgH="241195" progId="Equation.3">
                  <p:embed/>
                  <p:pic>
                    <p:nvPicPr>
                      <p:cNvPr id="12335" name="Object 47">
                        <a:extLst>
                          <a:ext uri="{FF2B5EF4-FFF2-40B4-BE49-F238E27FC236}">
                            <a16:creationId xmlns:a16="http://schemas.microsoft.com/office/drawing/2014/main" id="{77691F1E-C0CC-4E66-8F48-8F7C5DC93E9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98626" y="4560888"/>
                        <a:ext cx="14636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336" name="Object 48">
            <a:extLst>
              <a:ext uri="{FF2B5EF4-FFF2-40B4-BE49-F238E27FC236}">
                <a16:creationId xmlns:a16="http://schemas.microsoft.com/office/drawing/2014/main" id="{F262C9FF-03D4-4D97-88F4-42F16BA46C18}"/>
              </a:ext>
            </a:extLst>
          </p:cNvPr>
          <p:cNvGraphicFramePr>
            <a:graphicFrameLocks noChangeAspect="1"/>
          </p:cNvGraphicFramePr>
          <p:nvPr/>
        </p:nvGraphicFramePr>
        <p:xfrm>
          <a:off x="3701256" y="4234658"/>
          <a:ext cx="230188" cy="250825"/>
        </p:xfrm>
        <a:graphic>
          <a:graphicData uri="http://schemas.openxmlformats.org/presentationml/2006/ole">
            <mc:AlternateContent xmlns:mc="http://schemas.openxmlformats.org/markup-compatibility/2006">
              <mc:Choice xmlns:v="urn:schemas-microsoft-com:vml" Requires="v">
                <p:oleObj name="Формула" r:id="rId12" imgW="139639" imgH="152334" progId="Equation.3">
                  <p:embed/>
                </p:oleObj>
              </mc:Choice>
              <mc:Fallback>
                <p:oleObj name="Формула" r:id="rId12" imgW="139639" imgH="152334" progId="Equation.3">
                  <p:embed/>
                  <p:pic>
                    <p:nvPicPr>
                      <p:cNvPr id="12336" name="Object 48">
                        <a:extLst>
                          <a:ext uri="{FF2B5EF4-FFF2-40B4-BE49-F238E27FC236}">
                            <a16:creationId xmlns:a16="http://schemas.microsoft.com/office/drawing/2014/main" id="{F262C9FF-03D4-4D97-88F4-42F16BA46C18}"/>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701256" y="4234658"/>
                        <a:ext cx="230188" cy="250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37" name="Object 49">
            <a:extLst>
              <a:ext uri="{FF2B5EF4-FFF2-40B4-BE49-F238E27FC236}">
                <a16:creationId xmlns:a16="http://schemas.microsoft.com/office/drawing/2014/main" id="{2D4DC846-357B-4C76-8FB0-31AA2A7B7D65}"/>
              </a:ext>
            </a:extLst>
          </p:cNvPr>
          <p:cNvGraphicFramePr>
            <a:graphicFrameLocks noChangeAspect="1"/>
          </p:cNvGraphicFramePr>
          <p:nvPr>
            <p:extLst>
              <p:ext uri="{D42A27DB-BD31-4B8C-83A1-F6EECF244321}">
                <p14:modId xmlns:p14="http://schemas.microsoft.com/office/powerpoint/2010/main" val="657258918"/>
              </p:ext>
            </p:extLst>
          </p:nvPr>
        </p:nvGraphicFramePr>
        <p:xfrm>
          <a:off x="7678728" y="2138501"/>
          <a:ext cx="1997055" cy="1114147"/>
        </p:xfrm>
        <a:graphic>
          <a:graphicData uri="http://schemas.openxmlformats.org/presentationml/2006/ole">
            <mc:AlternateContent xmlns:mc="http://schemas.openxmlformats.org/markup-compatibility/2006">
              <mc:Choice xmlns:v="urn:schemas-microsoft-com:vml" Requires="v">
                <p:oleObj name="Формула" r:id="rId14" imgW="660400" imgH="368300" progId="Equation.3">
                  <p:embed/>
                </p:oleObj>
              </mc:Choice>
              <mc:Fallback>
                <p:oleObj name="Формула" r:id="rId14" imgW="660400" imgH="368300" progId="Equation.3">
                  <p:embed/>
                  <p:pic>
                    <p:nvPicPr>
                      <p:cNvPr id="12337" name="Object 49">
                        <a:extLst>
                          <a:ext uri="{FF2B5EF4-FFF2-40B4-BE49-F238E27FC236}">
                            <a16:creationId xmlns:a16="http://schemas.microsoft.com/office/drawing/2014/main" id="{2D4DC846-357B-4C76-8FB0-31AA2A7B7D65}"/>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678728" y="2138501"/>
                        <a:ext cx="1997055" cy="1114147"/>
                      </a:xfrm>
                      <a:prstGeom prst="rect">
                        <a:avLst/>
                      </a:prstGeom>
                      <a:noFill/>
                      <a:ln>
                        <a:noFill/>
                      </a:ln>
                      <a:effectLst/>
                    </p:spPr>
                  </p:pic>
                </p:oleObj>
              </mc:Fallback>
            </mc:AlternateContent>
          </a:graphicData>
        </a:graphic>
      </p:graphicFrame>
      <p:graphicFrame>
        <p:nvGraphicFramePr>
          <p:cNvPr id="12338" name="Object 50">
            <a:extLst>
              <a:ext uri="{FF2B5EF4-FFF2-40B4-BE49-F238E27FC236}">
                <a16:creationId xmlns:a16="http://schemas.microsoft.com/office/drawing/2014/main" id="{397C03D5-22F4-42D2-AF65-B580202248FC}"/>
              </a:ext>
            </a:extLst>
          </p:cNvPr>
          <p:cNvGraphicFramePr>
            <a:graphicFrameLocks noChangeAspect="1"/>
          </p:cNvGraphicFramePr>
          <p:nvPr/>
        </p:nvGraphicFramePr>
        <p:xfrm>
          <a:off x="1638301" y="5240339"/>
          <a:ext cx="1584325" cy="636587"/>
        </p:xfrm>
        <a:graphic>
          <a:graphicData uri="http://schemas.openxmlformats.org/presentationml/2006/ole">
            <mc:AlternateContent xmlns:mc="http://schemas.openxmlformats.org/markup-compatibility/2006">
              <mc:Choice xmlns:v="urn:schemas-microsoft-com:vml" Requires="v">
                <p:oleObj name="Формула" r:id="rId16" imgW="558558" imgH="241195" progId="Equation.3">
                  <p:embed/>
                </p:oleObj>
              </mc:Choice>
              <mc:Fallback>
                <p:oleObj name="Формула" r:id="rId16" imgW="558558" imgH="241195" progId="Equation.3">
                  <p:embed/>
                  <p:pic>
                    <p:nvPicPr>
                      <p:cNvPr id="12338" name="Object 50">
                        <a:extLst>
                          <a:ext uri="{FF2B5EF4-FFF2-40B4-BE49-F238E27FC236}">
                            <a16:creationId xmlns:a16="http://schemas.microsoft.com/office/drawing/2014/main" id="{397C03D5-22F4-42D2-AF65-B580202248FC}"/>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638301" y="5240339"/>
                        <a:ext cx="1584325"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339" name="Object 51">
            <a:extLst>
              <a:ext uri="{FF2B5EF4-FFF2-40B4-BE49-F238E27FC236}">
                <a16:creationId xmlns:a16="http://schemas.microsoft.com/office/drawing/2014/main" id="{83D9A7C8-8B7F-4B80-BCCA-14F2C0A11E97}"/>
              </a:ext>
            </a:extLst>
          </p:cNvPr>
          <p:cNvGraphicFramePr>
            <a:graphicFrameLocks noChangeAspect="1"/>
          </p:cNvGraphicFramePr>
          <p:nvPr>
            <p:extLst>
              <p:ext uri="{D42A27DB-BD31-4B8C-83A1-F6EECF244321}">
                <p14:modId xmlns:p14="http://schemas.microsoft.com/office/powerpoint/2010/main" val="3388457679"/>
              </p:ext>
            </p:extLst>
          </p:nvPr>
        </p:nvGraphicFramePr>
        <p:xfrm>
          <a:off x="1153320" y="5856288"/>
          <a:ext cx="2281237" cy="998538"/>
        </p:xfrm>
        <a:graphic>
          <a:graphicData uri="http://schemas.openxmlformats.org/presentationml/2006/ole">
            <mc:AlternateContent xmlns:mc="http://schemas.openxmlformats.org/markup-compatibility/2006">
              <mc:Choice xmlns:v="urn:schemas-microsoft-com:vml" Requires="v">
                <p:oleObj name="Формула" r:id="rId18" imgW="1015559" imgH="444307" progId="Equation.3">
                  <p:embed/>
                </p:oleObj>
              </mc:Choice>
              <mc:Fallback>
                <p:oleObj name="Формула" r:id="rId18" imgW="1015559" imgH="444307" progId="Equation.3">
                  <p:embed/>
                  <p:pic>
                    <p:nvPicPr>
                      <p:cNvPr id="12339" name="Object 51">
                        <a:extLst>
                          <a:ext uri="{FF2B5EF4-FFF2-40B4-BE49-F238E27FC236}">
                            <a16:creationId xmlns:a16="http://schemas.microsoft.com/office/drawing/2014/main" id="{83D9A7C8-8B7F-4B80-BCCA-14F2C0A11E97}"/>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153320" y="5856288"/>
                        <a:ext cx="2281237" cy="99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340" name="Text Box 52">
            <a:extLst>
              <a:ext uri="{FF2B5EF4-FFF2-40B4-BE49-F238E27FC236}">
                <a16:creationId xmlns:a16="http://schemas.microsoft.com/office/drawing/2014/main" id="{36CC0CD5-C6CF-4387-B328-8E76C1B0949E}"/>
              </a:ext>
            </a:extLst>
          </p:cNvPr>
          <p:cNvSpPr txBox="1">
            <a:spLocks noChangeArrowheads="1"/>
          </p:cNvSpPr>
          <p:nvPr/>
        </p:nvSpPr>
        <p:spPr bwMode="auto">
          <a:xfrm>
            <a:off x="7106602" y="1343082"/>
            <a:ext cx="4086276" cy="800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br>
              <a:rPr lang="ru-RU" altLang="ru-RU" sz="1800" dirty="0">
                <a:solidFill>
                  <a:srgbClr val="003399"/>
                </a:solidFill>
                <a:latin typeface="Times New Roman" panose="02020603050405020304" pitchFamily="18" charset="0"/>
              </a:rPr>
            </a:br>
            <a:r>
              <a:rPr lang="ru-RU" altLang="ru-RU" sz="2800" dirty="0">
                <a:solidFill>
                  <a:srgbClr val="003399"/>
                </a:solidFill>
                <a:latin typeface="Times New Roman" panose="02020603050405020304" pitchFamily="18" charset="0"/>
              </a:rPr>
              <a:t>Период </a:t>
            </a:r>
            <a:r>
              <a:rPr lang="ru-RU" altLang="ru-RU" sz="2800" i="1" dirty="0">
                <a:solidFill>
                  <a:srgbClr val="C00000"/>
                </a:solidFill>
                <a:latin typeface="Times New Roman" panose="02020603050405020304" pitchFamily="18" charset="0"/>
              </a:rPr>
              <a:t>Т</a:t>
            </a:r>
            <a:r>
              <a:rPr lang="ru-RU" altLang="ru-RU" sz="2800" dirty="0">
                <a:solidFill>
                  <a:srgbClr val="003399"/>
                </a:solidFill>
                <a:latin typeface="Times New Roman" panose="02020603050405020304" pitchFamily="18" charset="0"/>
              </a:rPr>
              <a:t> и частота</a:t>
            </a:r>
          </a:p>
        </p:txBody>
      </p:sp>
      <p:sp>
        <p:nvSpPr>
          <p:cNvPr id="12341" name="Text Box 53">
            <a:extLst>
              <a:ext uri="{FF2B5EF4-FFF2-40B4-BE49-F238E27FC236}">
                <a16:creationId xmlns:a16="http://schemas.microsoft.com/office/drawing/2014/main" id="{24D1E0FD-07D3-439A-A4DC-013045C82547}"/>
              </a:ext>
            </a:extLst>
          </p:cNvPr>
          <p:cNvSpPr txBox="1">
            <a:spLocks noChangeArrowheads="1"/>
          </p:cNvSpPr>
          <p:nvPr/>
        </p:nvSpPr>
        <p:spPr bwMode="auto">
          <a:xfrm>
            <a:off x="6847491" y="3121283"/>
            <a:ext cx="4169978"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ru-RU" altLang="ru-RU" sz="2800" dirty="0">
                <a:solidFill>
                  <a:srgbClr val="003399"/>
                </a:solidFill>
                <a:latin typeface="Times New Roman" panose="02020603050405020304" pitchFamily="18" charset="0"/>
              </a:rPr>
              <a:t>В России и Европе </a:t>
            </a:r>
          </a:p>
          <a:p>
            <a:pPr algn="ctr" eaLnBrk="1" hangingPunct="1">
              <a:spcBef>
                <a:spcPct val="0"/>
              </a:spcBef>
              <a:buClrTx/>
              <a:buSzTx/>
              <a:buFontTx/>
              <a:buNone/>
            </a:pPr>
            <a:r>
              <a:rPr lang="en-US" altLang="ru-RU" sz="2800" i="1" dirty="0">
                <a:solidFill>
                  <a:srgbClr val="C00000"/>
                </a:solidFill>
                <a:latin typeface="Times New Roman" panose="02020603050405020304" pitchFamily="18" charset="0"/>
              </a:rPr>
              <a:t>f</a:t>
            </a:r>
            <a:r>
              <a:rPr lang="en-US" altLang="ru-RU" sz="2800" dirty="0">
                <a:solidFill>
                  <a:srgbClr val="C00000"/>
                </a:solidFill>
                <a:latin typeface="Times New Roman" panose="02020603050405020304" pitchFamily="18" charset="0"/>
              </a:rPr>
              <a:t>=50</a:t>
            </a:r>
            <a:r>
              <a:rPr lang="ru-RU" altLang="ru-RU" sz="2800" dirty="0">
                <a:solidFill>
                  <a:srgbClr val="C00000"/>
                </a:solidFill>
                <a:latin typeface="Times New Roman" panose="02020603050405020304" pitchFamily="18" charset="0"/>
              </a:rPr>
              <a:t> Гц,</a:t>
            </a:r>
          </a:p>
          <a:p>
            <a:pPr algn="ctr" eaLnBrk="1" hangingPunct="1">
              <a:spcBef>
                <a:spcPct val="0"/>
              </a:spcBef>
              <a:buClrTx/>
              <a:buSzTx/>
              <a:buFontTx/>
              <a:buNone/>
            </a:pPr>
            <a:r>
              <a:rPr lang="ru-RU" altLang="ru-RU" sz="2800" i="1" dirty="0">
                <a:solidFill>
                  <a:srgbClr val="006600"/>
                </a:solidFill>
                <a:latin typeface="Times New Roman" panose="02020603050405020304" pitchFamily="18" charset="0"/>
              </a:rPr>
              <a:t>Т</a:t>
            </a:r>
            <a:r>
              <a:rPr lang="ru-RU" altLang="ru-RU" sz="2800" dirty="0">
                <a:solidFill>
                  <a:srgbClr val="006600"/>
                </a:solidFill>
                <a:latin typeface="Times New Roman" panose="02020603050405020304" pitchFamily="18" charset="0"/>
              </a:rPr>
              <a:t>=20 миллисекунд</a:t>
            </a:r>
          </a:p>
        </p:txBody>
      </p:sp>
      <p:sp>
        <p:nvSpPr>
          <p:cNvPr id="3" name="Прямоугольник 2">
            <a:extLst>
              <a:ext uri="{FF2B5EF4-FFF2-40B4-BE49-F238E27FC236}">
                <a16:creationId xmlns:a16="http://schemas.microsoft.com/office/drawing/2014/main" id="{8FF22F19-2E17-4854-A40E-6EE4B72E7226}"/>
              </a:ext>
            </a:extLst>
          </p:cNvPr>
          <p:cNvSpPr>
            <a:spLocks noChangeArrowheads="1"/>
          </p:cNvSpPr>
          <p:nvPr/>
        </p:nvSpPr>
        <p:spPr bwMode="auto">
          <a:xfrm>
            <a:off x="2949575" y="5270500"/>
            <a:ext cx="6929438"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ru-RU" sz="1800">
                <a:solidFill>
                  <a:srgbClr val="003399"/>
                </a:solidFill>
                <a:latin typeface="Times New Roman" panose="02020603050405020304" pitchFamily="18" charset="0"/>
              </a:rPr>
              <a:t>-</a:t>
            </a:r>
            <a:r>
              <a:rPr lang="ru-RU" altLang="ru-RU">
                <a:solidFill>
                  <a:srgbClr val="003399"/>
                </a:solidFill>
                <a:latin typeface="Times New Roman" panose="02020603050405020304" pitchFamily="18" charset="0"/>
              </a:rPr>
              <a:t>начальная фаза напряжения </a:t>
            </a:r>
            <a:r>
              <a:rPr lang="en-US" altLang="ru-RU" i="1">
                <a:solidFill>
                  <a:srgbClr val="C00000"/>
                </a:solidFill>
                <a:latin typeface="Times New Roman" panose="02020603050405020304" pitchFamily="18" charset="0"/>
              </a:rPr>
              <a:t>u</a:t>
            </a:r>
            <a:r>
              <a:rPr lang="en-US" altLang="ru-RU">
                <a:solidFill>
                  <a:srgbClr val="003399"/>
                </a:solidFill>
                <a:latin typeface="Times New Roman" panose="02020603050405020304" pitchFamily="18" charset="0"/>
              </a:rPr>
              <a:t>, </a:t>
            </a:r>
            <a:r>
              <a:rPr lang="ru-RU" altLang="ru-RU">
                <a:solidFill>
                  <a:srgbClr val="003399"/>
                </a:solidFill>
                <a:latin typeface="Times New Roman" panose="02020603050405020304" pitchFamily="18" charset="0"/>
              </a:rPr>
              <a:t>и тока</a:t>
            </a:r>
            <a:r>
              <a:rPr lang="en-US" altLang="ru-RU">
                <a:solidFill>
                  <a:srgbClr val="003399"/>
                </a:solidFill>
                <a:latin typeface="Times New Roman" panose="02020603050405020304" pitchFamily="18" charset="0"/>
              </a:rPr>
              <a:t> </a:t>
            </a:r>
            <a:r>
              <a:rPr lang="en-US" altLang="ru-RU" i="1">
                <a:solidFill>
                  <a:srgbClr val="C00000"/>
                </a:solidFill>
                <a:latin typeface="Times New Roman" panose="02020603050405020304" pitchFamily="18" charset="0"/>
              </a:rPr>
              <a:t>i</a:t>
            </a:r>
            <a:endParaRPr lang="ru-RU" altLang="ru-RU" i="1">
              <a:solidFill>
                <a:srgbClr val="C00000"/>
              </a:solidFill>
              <a:latin typeface="Times New Roman" panose="02020603050405020304" pitchFamily="18" charset="0"/>
            </a:endParaRPr>
          </a:p>
        </p:txBody>
      </p:sp>
      <p:sp>
        <p:nvSpPr>
          <p:cNvPr id="25" name="Прямоугольник 24">
            <a:extLst>
              <a:ext uri="{FF2B5EF4-FFF2-40B4-BE49-F238E27FC236}">
                <a16:creationId xmlns:a16="http://schemas.microsoft.com/office/drawing/2014/main" id="{87B628F3-0307-42BE-85F7-79BF74993449}"/>
              </a:ext>
            </a:extLst>
          </p:cNvPr>
          <p:cNvSpPr>
            <a:spLocks noChangeArrowheads="1"/>
          </p:cNvSpPr>
          <p:nvPr/>
        </p:nvSpPr>
        <p:spPr bwMode="auto">
          <a:xfrm>
            <a:off x="2949575" y="4625976"/>
            <a:ext cx="71945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ru-RU" sz="1800" dirty="0">
                <a:solidFill>
                  <a:srgbClr val="003399"/>
                </a:solidFill>
                <a:latin typeface="Times New Roman" panose="02020603050405020304" pitchFamily="18" charset="0"/>
              </a:rPr>
              <a:t>-</a:t>
            </a:r>
            <a:r>
              <a:rPr lang="ru-RU" altLang="ru-RU" sz="2800" dirty="0">
                <a:solidFill>
                  <a:srgbClr val="003399"/>
                </a:solidFill>
                <a:latin typeface="Times New Roman" panose="02020603050405020304" pitchFamily="18" charset="0"/>
              </a:rPr>
              <a:t>амплитудное значение напряжения </a:t>
            </a:r>
            <a:r>
              <a:rPr lang="en-US" altLang="ru-RU" sz="2800" i="1" dirty="0">
                <a:solidFill>
                  <a:srgbClr val="C00000"/>
                </a:solidFill>
                <a:latin typeface="Times New Roman" panose="02020603050405020304" pitchFamily="18" charset="0"/>
              </a:rPr>
              <a:t>u</a:t>
            </a:r>
            <a:r>
              <a:rPr lang="en-US" altLang="ru-RU" sz="2800" dirty="0">
                <a:solidFill>
                  <a:srgbClr val="003399"/>
                </a:solidFill>
                <a:latin typeface="Times New Roman" panose="02020603050405020304" pitchFamily="18" charset="0"/>
              </a:rPr>
              <a:t>, </a:t>
            </a:r>
            <a:r>
              <a:rPr lang="ru-RU" altLang="ru-RU" sz="2800" dirty="0">
                <a:solidFill>
                  <a:srgbClr val="003399"/>
                </a:solidFill>
                <a:latin typeface="Times New Roman" panose="02020603050405020304" pitchFamily="18" charset="0"/>
              </a:rPr>
              <a:t>и тока</a:t>
            </a:r>
            <a:r>
              <a:rPr lang="en-US" altLang="ru-RU" sz="2800" dirty="0">
                <a:solidFill>
                  <a:srgbClr val="003399"/>
                </a:solidFill>
                <a:latin typeface="Times New Roman" panose="02020603050405020304" pitchFamily="18" charset="0"/>
              </a:rPr>
              <a:t> </a:t>
            </a:r>
            <a:r>
              <a:rPr lang="en-US" altLang="ru-RU" sz="2800" i="1" dirty="0" err="1">
                <a:solidFill>
                  <a:srgbClr val="C00000"/>
                </a:solidFill>
                <a:latin typeface="Times New Roman" panose="02020603050405020304" pitchFamily="18" charset="0"/>
              </a:rPr>
              <a:t>i</a:t>
            </a:r>
            <a:endParaRPr lang="ru-RU" altLang="ru-RU" sz="2800" i="1" dirty="0">
              <a:solidFill>
                <a:srgbClr val="C00000"/>
              </a:solidFill>
              <a:latin typeface="Times New Roman" panose="02020603050405020304" pitchFamily="18" charset="0"/>
            </a:endParaRPr>
          </a:p>
        </p:txBody>
      </p:sp>
      <p:sp>
        <p:nvSpPr>
          <p:cNvPr id="26" name="Прямоугольник 25">
            <a:extLst>
              <a:ext uri="{FF2B5EF4-FFF2-40B4-BE49-F238E27FC236}">
                <a16:creationId xmlns:a16="http://schemas.microsoft.com/office/drawing/2014/main" id="{7B820EB2-D2DA-4A2E-B899-2CB2E06EB957}"/>
              </a:ext>
            </a:extLst>
          </p:cNvPr>
          <p:cNvSpPr>
            <a:spLocks noChangeArrowheads="1"/>
          </p:cNvSpPr>
          <p:nvPr/>
        </p:nvSpPr>
        <p:spPr bwMode="auto">
          <a:xfrm>
            <a:off x="3605213" y="6107114"/>
            <a:ext cx="67611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ru-RU" sz="1800">
                <a:solidFill>
                  <a:srgbClr val="003399"/>
                </a:solidFill>
                <a:latin typeface="Times New Roman" panose="02020603050405020304" pitchFamily="18" charset="0"/>
              </a:rPr>
              <a:t>-</a:t>
            </a:r>
            <a:r>
              <a:rPr lang="ru-RU" altLang="ru-RU" sz="2800">
                <a:solidFill>
                  <a:srgbClr val="003399"/>
                </a:solidFill>
                <a:latin typeface="Times New Roman" panose="02020603050405020304" pitchFamily="18" charset="0"/>
              </a:rPr>
              <a:t>циклическая частота или угловая скорость</a:t>
            </a:r>
            <a:endParaRPr lang="ru-RU" altLang="ru-RU" sz="2800" i="1">
              <a:solidFill>
                <a:srgbClr val="C00000"/>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30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31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4" fill="hold" nodeType="clickEffect">
                                  <p:stCondLst>
                                    <p:cond delay="0"/>
                                  </p:stCondLst>
                                  <p:childTnLst>
                                    <p:set>
                                      <p:cBhvr>
                                        <p:cTn id="14" dur="1" fill="hold">
                                          <p:stCondLst>
                                            <p:cond delay="0"/>
                                          </p:stCondLst>
                                        </p:cTn>
                                        <p:tgtEl>
                                          <p:spTgt spid="12312"/>
                                        </p:tgtEl>
                                        <p:attrNameLst>
                                          <p:attrName>style.visibility</p:attrName>
                                        </p:attrNameLst>
                                      </p:cBhvr>
                                      <p:to>
                                        <p:strVal val="visible"/>
                                      </p:to>
                                    </p:set>
                                    <p:animEffect transition="in" filter="wipe(down)">
                                      <p:cBhvr>
                                        <p:cTn id="15" dur="500"/>
                                        <p:tgtEl>
                                          <p:spTgt spid="1231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nodeType="clickEffect">
                                  <p:stCondLst>
                                    <p:cond delay="0"/>
                                  </p:stCondLst>
                                  <p:childTnLst>
                                    <p:set>
                                      <p:cBhvr>
                                        <p:cTn id="19" dur="1" fill="hold">
                                          <p:stCondLst>
                                            <p:cond delay="0"/>
                                          </p:stCondLst>
                                        </p:cTn>
                                        <p:tgtEl>
                                          <p:spTgt spid="12324"/>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12317"/>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12335"/>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25"/>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nodeType="clickEffect">
                                  <p:stCondLst>
                                    <p:cond delay="0"/>
                                  </p:stCondLst>
                                  <p:childTnLst>
                                    <p:set>
                                      <p:cBhvr>
                                        <p:cTn id="29" dur="1" fill="hold">
                                          <p:stCondLst>
                                            <p:cond delay="0"/>
                                          </p:stCondLst>
                                        </p:cTn>
                                        <p:tgtEl>
                                          <p:spTgt spid="12314"/>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12315"/>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12336"/>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12316"/>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12337"/>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12340"/>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12341"/>
                                        </p:tgtEl>
                                        <p:attrNameLst>
                                          <p:attrName>style.visibility</p:attrName>
                                        </p:attrNameLst>
                                      </p:cBhvr>
                                      <p:to>
                                        <p:strVal val="visible"/>
                                      </p:to>
                                    </p:se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4" fill="hold" nodeType="clickEffect">
                                  <p:stCondLst>
                                    <p:cond delay="0"/>
                                  </p:stCondLst>
                                  <p:childTnLst>
                                    <p:set>
                                      <p:cBhvr>
                                        <p:cTn id="47" dur="1" fill="hold">
                                          <p:stCondLst>
                                            <p:cond delay="0"/>
                                          </p:stCondLst>
                                        </p:cTn>
                                        <p:tgtEl>
                                          <p:spTgt spid="12321"/>
                                        </p:tgtEl>
                                        <p:attrNameLst>
                                          <p:attrName>style.visibility</p:attrName>
                                        </p:attrNameLst>
                                      </p:cBhvr>
                                      <p:to>
                                        <p:strVal val="visible"/>
                                      </p:to>
                                    </p:set>
                                    <p:animEffect transition="in" filter="wipe(down)">
                                      <p:cBhvr>
                                        <p:cTn id="48" dur="500"/>
                                        <p:tgtEl>
                                          <p:spTgt spid="12321"/>
                                        </p:tgtEl>
                                      </p:cBhvr>
                                    </p:animEffect>
                                  </p:childTnLst>
                                </p:cTn>
                              </p:par>
                              <p:par>
                                <p:cTn id="49" presetID="22" presetClass="entr" presetSubtype="4" fill="hold" nodeType="withEffect">
                                  <p:stCondLst>
                                    <p:cond delay="0"/>
                                  </p:stCondLst>
                                  <p:childTnLst>
                                    <p:set>
                                      <p:cBhvr>
                                        <p:cTn id="50" dur="1" fill="hold">
                                          <p:stCondLst>
                                            <p:cond delay="0"/>
                                          </p:stCondLst>
                                        </p:cTn>
                                        <p:tgtEl>
                                          <p:spTgt spid="12339"/>
                                        </p:tgtEl>
                                        <p:attrNameLst>
                                          <p:attrName>style.visibility</p:attrName>
                                        </p:attrNameLst>
                                      </p:cBhvr>
                                      <p:to>
                                        <p:strVal val="visible"/>
                                      </p:to>
                                    </p:set>
                                    <p:animEffect transition="in" filter="wipe(down)">
                                      <p:cBhvr>
                                        <p:cTn id="51" dur="500"/>
                                        <p:tgtEl>
                                          <p:spTgt spid="12339"/>
                                        </p:tgtEl>
                                      </p:cBhvr>
                                    </p:animEffect>
                                  </p:childTnLst>
                                </p:cTn>
                              </p:par>
                              <p:par>
                                <p:cTn id="52" presetID="22" presetClass="entr" presetSubtype="4" fill="hold" grpId="0" nodeType="withEffect">
                                  <p:stCondLst>
                                    <p:cond delay="0"/>
                                  </p:stCondLst>
                                  <p:childTnLst>
                                    <p:set>
                                      <p:cBhvr>
                                        <p:cTn id="53" dur="1" fill="hold">
                                          <p:stCondLst>
                                            <p:cond delay="0"/>
                                          </p:stCondLst>
                                        </p:cTn>
                                        <p:tgtEl>
                                          <p:spTgt spid="26"/>
                                        </p:tgtEl>
                                        <p:attrNameLst>
                                          <p:attrName>style.visibility</p:attrName>
                                        </p:attrNameLst>
                                      </p:cBhvr>
                                      <p:to>
                                        <p:strVal val="visible"/>
                                      </p:to>
                                    </p:set>
                                    <p:animEffect transition="in" filter="wipe(down)">
                                      <p:cBhvr>
                                        <p:cTn id="54" dur="500"/>
                                        <p:tgtEl>
                                          <p:spTgt spid="26"/>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4" fill="hold" nodeType="clickEffect">
                                  <p:stCondLst>
                                    <p:cond delay="0"/>
                                  </p:stCondLst>
                                  <p:childTnLst>
                                    <p:set>
                                      <p:cBhvr>
                                        <p:cTn id="58" dur="1" fill="hold">
                                          <p:stCondLst>
                                            <p:cond delay="0"/>
                                          </p:stCondLst>
                                        </p:cTn>
                                        <p:tgtEl>
                                          <p:spTgt spid="12318"/>
                                        </p:tgtEl>
                                        <p:attrNameLst>
                                          <p:attrName>style.visibility</p:attrName>
                                        </p:attrNameLst>
                                      </p:cBhvr>
                                      <p:to>
                                        <p:strVal val="visible"/>
                                      </p:to>
                                    </p:set>
                                    <p:animEffect transition="in" filter="wipe(down)">
                                      <p:cBhvr>
                                        <p:cTn id="59" dur="500"/>
                                        <p:tgtEl>
                                          <p:spTgt spid="12318"/>
                                        </p:tgtEl>
                                      </p:cBhvr>
                                    </p:animEffect>
                                  </p:childTnLst>
                                </p:cTn>
                              </p:par>
                              <p:par>
                                <p:cTn id="60" presetID="22" presetClass="entr" presetSubtype="4" fill="hold" grpId="0" nodeType="withEffect">
                                  <p:stCondLst>
                                    <p:cond delay="0"/>
                                  </p:stCondLst>
                                  <p:childTnLst>
                                    <p:set>
                                      <p:cBhvr>
                                        <p:cTn id="61" dur="1" fill="hold">
                                          <p:stCondLst>
                                            <p:cond delay="0"/>
                                          </p:stCondLst>
                                        </p:cTn>
                                        <p:tgtEl>
                                          <p:spTgt spid="12323"/>
                                        </p:tgtEl>
                                        <p:attrNameLst>
                                          <p:attrName>style.visibility</p:attrName>
                                        </p:attrNameLst>
                                      </p:cBhvr>
                                      <p:to>
                                        <p:strVal val="visible"/>
                                      </p:to>
                                    </p:set>
                                    <p:animEffect transition="in" filter="wipe(down)">
                                      <p:cBhvr>
                                        <p:cTn id="62" dur="500"/>
                                        <p:tgtEl>
                                          <p:spTgt spid="12323"/>
                                        </p:tgtEl>
                                      </p:cBhvr>
                                    </p:animEffect>
                                  </p:childTnLst>
                                </p:cTn>
                              </p:par>
                              <p:par>
                                <p:cTn id="63" presetID="22" presetClass="entr" presetSubtype="4" fill="hold" nodeType="withEffect">
                                  <p:stCondLst>
                                    <p:cond delay="0"/>
                                  </p:stCondLst>
                                  <p:childTnLst>
                                    <p:set>
                                      <p:cBhvr>
                                        <p:cTn id="64" dur="1" fill="hold">
                                          <p:stCondLst>
                                            <p:cond delay="0"/>
                                          </p:stCondLst>
                                        </p:cTn>
                                        <p:tgtEl>
                                          <p:spTgt spid="12338"/>
                                        </p:tgtEl>
                                        <p:attrNameLst>
                                          <p:attrName>style.visibility</p:attrName>
                                        </p:attrNameLst>
                                      </p:cBhvr>
                                      <p:to>
                                        <p:strVal val="visible"/>
                                      </p:to>
                                    </p:set>
                                    <p:animEffect transition="in" filter="wipe(down)">
                                      <p:cBhvr>
                                        <p:cTn id="65" dur="500"/>
                                        <p:tgtEl>
                                          <p:spTgt spid="12338"/>
                                        </p:tgtEl>
                                      </p:cBhvr>
                                    </p:animEffect>
                                  </p:childTnLst>
                                </p:cTn>
                              </p:par>
                              <p:par>
                                <p:cTn id="66" presetID="22" presetClass="entr" presetSubtype="4" fill="hold" grpId="0" nodeType="withEffect">
                                  <p:stCondLst>
                                    <p:cond delay="0"/>
                                  </p:stCondLst>
                                  <p:childTnLst>
                                    <p:set>
                                      <p:cBhvr>
                                        <p:cTn id="67" dur="1" fill="hold">
                                          <p:stCondLst>
                                            <p:cond delay="0"/>
                                          </p:stCondLst>
                                        </p:cTn>
                                        <p:tgtEl>
                                          <p:spTgt spid="3"/>
                                        </p:tgtEl>
                                        <p:attrNameLst>
                                          <p:attrName>style.visibility</p:attrName>
                                        </p:attrNameLst>
                                      </p:cBhvr>
                                      <p:to>
                                        <p:strVal val="visible"/>
                                      </p:to>
                                    </p:set>
                                    <p:animEffect transition="in" filter="wipe(down)">
                                      <p:cBhvr>
                                        <p:cTn id="6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07" grpId="0"/>
      <p:bldP spid="12310" grpId="0"/>
      <p:bldP spid="12323" grpId="0"/>
      <p:bldP spid="12340" grpId="0"/>
      <p:bldP spid="12341" grpId="0"/>
      <p:bldP spid="3" grpId="0"/>
      <p:bldP spid="25" grpId="0"/>
      <p:bldP spid="26" grpId="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Номер слайда 7">
            <a:extLst>
              <a:ext uri="{FF2B5EF4-FFF2-40B4-BE49-F238E27FC236}">
                <a16:creationId xmlns:a16="http://schemas.microsoft.com/office/drawing/2014/main" id="{9D63E012-F885-44BB-A719-D56340AD9B42}"/>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FB3EEAED-7A56-4496-BA03-01096B9BF260}" type="slidenum">
              <a:rPr lang="ru-RU" altLang="ru-RU" sz="1200">
                <a:latin typeface="Arial Black" panose="020B0A04020102020204" pitchFamily="34" charset="0"/>
              </a:rPr>
              <a:pPr>
                <a:spcBef>
                  <a:spcPct val="0"/>
                </a:spcBef>
                <a:buClrTx/>
                <a:buSzTx/>
                <a:buFontTx/>
                <a:buNone/>
              </a:pPr>
              <a:t>8</a:t>
            </a:fld>
            <a:endParaRPr lang="ru-RU" altLang="ru-RU" sz="1200">
              <a:latin typeface="Arial Black" panose="020B0A04020102020204" pitchFamily="34" charset="0"/>
            </a:endParaRPr>
          </a:p>
        </p:txBody>
      </p:sp>
      <p:sp>
        <p:nvSpPr>
          <p:cNvPr id="11286" name="Text Box 22">
            <a:extLst>
              <a:ext uri="{FF2B5EF4-FFF2-40B4-BE49-F238E27FC236}">
                <a16:creationId xmlns:a16="http://schemas.microsoft.com/office/drawing/2014/main" id="{215ECD7C-9C50-46DD-8BEE-DABB49ACBD22}"/>
              </a:ext>
            </a:extLst>
          </p:cNvPr>
          <p:cNvSpPr txBox="1">
            <a:spLocks noChangeArrowheads="1"/>
          </p:cNvSpPr>
          <p:nvPr/>
        </p:nvSpPr>
        <p:spPr bwMode="auto">
          <a:xfrm>
            <a:off x="8716963" y="2849564"/>
            <a:ext cx="406400" cy="62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a:spcBef>
                <a:spcPct val="50000"/>
              </a:spcBef>
              <a:buClrTx/>
              <a:buSzTx/>
              <a:buFontTx/>
              <a:buNone/>
            </a:pPr>
            <a:r>
              <a:rPr lang="ru-RU" altLang="ru-RU" sz="3500" i="1">
                <a:latin typeface="Times New Roman" panose="02020603050405020304" pitchFamily="18" charset="0"/>
              </a:rPr>
              <a:t>u</a:t>
            </a:r>
            <a:endParaRPr lang="ru-RU" altLang="ru-RU" sz="2400" i="1">
              <a:latin typeface="Times New Roman" panose="02020603050405020304" pitchFamily="18" charset="0"/>
            </a:endParaRPr>
          </a:p>
        </p:txBody>
      </p:sp>
      <p:sp>
        <p:nvSpPr>
          <p:cNvPr id="11287" name="Text Box 23">
            <a:extLst>
              <a:ext uri="{FF2B5EF4-FFF2-40B4-BE49-F238E27FC236}">
                <a16:creationId xmlns:a16="http://schemas.microsoft.com/office/drawing/2014/main" id="{D08E5F6B-B0F6-4669-8951-980B10B0B3E3}"/>
              </a:ext>
            </a:extLst>
          </p:cNvPr>
          <p:cNvSpPr txBox="1">
            <a:spLocks noChangeArrowheads="1"/>
          </p:cNvSpPr>
          <p:nvPr/>
        </p:nvSpPr>
        <p:spPr bwMode="auto">
          <a:xfrm>
            <a:off x="8386764" y="4100514"/>
            <a:ext cx="307975" cy="62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a:spcBef>
                <a:spcPct val="50000"/>
              </a:spcBef>
              <a:buClrTx/>
              <a:buSzTx/>
              <a:buFontTx/>
              <a:buNone/>
            </a:pPr>
            <a:r>
              <a:rPr lang="ru-RU" altLang="ru-RU" sz="3500" i="1">
                <a:latin typeface="Times New Roman" panose="02020603050405020304" pitchFamily="18" charset="0"/>
              </a:rPr>
              <a:t>i</a:t>
            </a:r>
            <a:endParaRPr lang="ru-RU" altLang="ru-RU" sz="2400" i="1">
              <a:latin typeface="Times New Roman" panose="02020603050405020304" pitchFamily="18" charset="0"/>
            </a:endParaRPr>
          </a:p>
        </p:txBody>
      </p:sp>
      <p:sp>
        <p:nvSpPr>
          <p:cNvPr id="11290" name="Line 26">
            <a:extLst>
              <a:ext uri="{FF2B5EF4-FFF2-40B4-BE49-F238E27FC236}">
                <a16:creationId xmlns:a16="http://schemas.microsoft.com/office/drawing/2014/main" id="{80DC7D8E-92CA-44EB-A9F2-9D599F6DC443}"/>
              </a:ext>
            </a:extLst>
          </p:cNvPr>
          <p:cNvSpPr>
            <a:spLocks noChangeShapeType="1"/>
          </p:cNvSpPr>
          <p:nvPr/>
        </p:nvSpPr>
        <p:spPr bwMode="auto">
          <a:xfrm flipV="1">
            <a:off x="4394200" y="3105150"/>
            <a:ext cx="1588" cy="10287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11291" name="Line 27">
            <a:extLst>
              <a:ext uri="{FF2B5EF4-FFF2-40B4-BE49-F238E27FC236}">
                <a16:creationId xmlns:a16="http://schemas.microsoft.com/office/drawing/2014/main" id="{4F590C10-4799-47AD-957A-5231B7347ADB}"/>
              </a:ext>
            </a:extLst>
          </p:cNvPr>
          <p:cNvSpPr>
            <a:spLocks noChangeShapeType="1"/>
          </p:cNvSpPr>
          <p:nvPr/>
        </p:nvSpPr>
        <p:spPr bwMode="auto">
          <a:xfrm>
            <a:off x="4367213" y="3681414"/>
            <a:ext cx="481012" cy="3175"/>
          </a:xfrm>
          <a:prstGeom prst="line">
            <a:avLst/>
          </a:prstGeom>
          <a:noFill/>
          <a:ln w="1905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graphicFrame>
        <p:nvGraphicFramePr>
          <p:cNvPr id="11292" name="Object 28">
            <a:extLst>
              <a:ext uri="{FF2B5EF4-FFF2-40B4-BE49-F238E27FC236}">
                <a16:creationId xmlns:a16="http://schemas.microsoft.com/office/drawing/2014/main" id="{73B7955D-A73B-4369-BCC7-849E56532FEF}"/>
              </a:ext>
            </a:extLst>
          </p:cNvPr>
          <p:cNvGraphicFramePr>
            <a:graphicFrameLocks noChangeAspect="1"/>
          </p:cNvGraphicFramePr>
          <p:nvPr/>
        </p:nvGraphicFramePr>
        <p:xfrm>
          <a:off x="3711575" y="3429000"/>
          <a:ext cx="609600" cy="304800"/>
        </p:xfrm>
        <a:graphic>
          <a:graphicData uri="http://schemas.openxmlformats.org/presentationml/2006/ole">
            <mc:AlternateContent xmlns:mc="http://schemas.openxmlformats.org/markup-compatibility/2006">
              <mc:Choice xmlns:v="urn:schemas-microsoft-com:vml" Requires="v">
                <p:oleObj name="Формула" r:id="rId2" imgW="406048" imgH="203024" progId="Equation.3">
                  <p:embed/>
                </p:oleObj>
              </mc:Choice>
              <mc:Fallback>
                <p:oleObj name="Формула" r:id="rId2" imgW="406048" imgH="203024" progId="Equation.3">
                  <p:embed/>
                  <p:pic>
                    <p:nvPicPr>
                      <p:cNvPr id="11292" name="Object 28">
                        <a:extLst>
                          <a:ext uri="{FF2B5EF4-FFF2-40B4-BE49-F238E27FC236}">
                            <a16:creationId xmlns:a16="http://schemas.microsoft.com/office/drawing/2014/main" id="{73B7955D-A73B-4369-BCC7-849E56532F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1575" y="3429000"/>
                        <a:ext cx="609600"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1300" name="Group 36">
            <a:extLst>
              <a:ext uri="{FF2B5EF4-FFF2-40B4-BE49-F238E27FC236}">
                <a16:creationId xmlns:a16="http://schemas.microsoft.com/office/drawing/2014/main" id="{E43247EC-284B-441B-ABFC-C1677A71606B}"/>
              </a:ext>
            </a:extLst>
          </p:cNvPr>
          <p:cNvGrpSpPr>
            <a:grpSpLocks/>
          </p:cNvGrpSpPr>
          <p:nvPr/>
        </p:nvGrpSpPr>
        <p:grpSpPr bwMode="auto">
          <a:xfrm>
            <a:off x="3797300" y="3429000"/>
            <a:ext cx="4889500" cy="1493838"/>
            <a:chOff x="1760" y="2096"/>
            <a:chExt cx="3080" cy="941"/>
          </a:xfrm>
        </p:grpSpPr>
        <p:sp>
          <p:nvSpPr>
            <p:cNvPr id="7204" name="Freeform 37">
              <a:extLst>
                <a:ext uri="{FF2B5EF4-FFF2-40B4-BE49-F238E27FC236}">
                  <a16:creationId xmlns:a16="http://schemas.microsoft.com/office/drawing/2014/main" id="{CB10F954-6DAF-4566-911A-8D512EFDCBB4}"/>
                </a:ext>
              </a:extLst>
            </p:cNvPr>
            <p:cNvSpPr>
              <a:spLocks/>
            </p:cNvSpPr>
            <p:nvPr/>
          </p:nvSpPr>
          <p:spPr bwMode="auto">
            <a:xfrm>
              <a:off x="2688" y="2096"/>
              <a:ext cx="1048" cy="472"/>
            </a:xfrm>
            <a:custGeom>
              <a:avLst/>
              <a:gdLst>
                <a:gd name="T0" fmla="*/ 0 w 1048"/>
                <a:gd name="T1" fmla="*/ 472 h 472"/>
                <a:gd name="T2" fmla="*/ 560 w 1048"/>
                <a:gd name="T3" fmla="*/ 0 h 472"/>
                <a:gd name="T4" fmla="*/ 1048 w 1048"/>
                <a:gd name="T5" fmla="*/ 472 h 472"/>
                <a:gd name="T6" fmla="*/ 0 60000 65536"/>
                <a:gd name="T7" fmla="*/ 0 60000 65536"/>
                <a:gd name="T8" fmla="*/ 0 60000 65536"/>
              </a:gdLst>
              <a:ahLst/>
              <a:cxnLst>
                <a:cxn ang="T6">
                  <a:pos x="T0" y="T1"/>
                </a:cxn>
                <a:cxn ang="T7">
                  <a:pos x="T2" y="T3"/>
                </a:cxn>
                <a:cxn ang="T8">
                  <a:pos x="T4" y="T5"/>
                </a:cxn>
              </a:cxnLst>
              <a:rect l="0" t="0" r="r" b="b"/>
              <a:pathLst>
                <a:path w="1048" h="472">
                  <a:moveTo>
                    <a:pt x="0" y="472"/>
                  </a:moveTo>
                  <a:cubicBezTo>
                    <a:pt x="192" y="236"/>
                    <a:pt x="385" y="0"/>
                    <a:pt x="560" y="0"/>
                  </a:cubicBezTo>
                  <a:cubicBezTo>
                    <a:pt x="735" y="0"/>
                    <a:pt x="967" y="393"/>
                    <a:pt x="1048" y="472"/>
                  </a:cubicBezTo>
                </a:path>
              </a:pathLst>
            </a:custGeom>
            <a:noFill/>
            <a:ln w="38100" cap="flat" cmpd="sng">
              <a:solidFill>
                <a:srgbClr val="6633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7205" name="Freeform 38">
              <a:extLst>
                <a:ext uri="{FF2B5EF4-FFF2-40B4-BE49-F238E27FC236}">
                  <a16:creationId xmlns:a16="http://schemas.microsoft.com/office/drawing/2014/main" id="{380748B6-5C14-4271-9919-71CFB9AF9713}"/>
                </a:ext>
              </a:extLst>
            </p:cNvPr>
            <p:cNvSpPr>
              <a:spLocks/>
            </p:cNvSpPr>
            <p:nvPr/>
          </p:nvSpPr>
          <p:spPr bwMode="auto">
            <a:xfrm>
              <a:off x="3736" y="2552"/>
              <a:ext cx="992" cy="459"/>
            </a:xfrm>
            <a:custGeom>
              <a:avLst/>
              <a:gdLst>
                <a:gd name="T0" fmla="*/ 0 w 992"/>
                <a:gd name="T1" fmla="*/ 16 h 459"/>
                <a:gd name="T2" fmla="*/ 472 w 992"/>
                <a:gd name="T3" fmla="*/ 456 h 459"/>
                <a:gd name="T4" fmla="*/ 992 w 992"/>
                <a:gd name="T5" fmla="*/ 0 h 459"/>
                <a:gd name="T6" fmla="*/ 0 60000 65536"/>
                <a:gd name="T7" fmla="*/ 0 60000 65536"/>
                <a:gd name="T8" fmla="*/ 0 60000 65536"/>
              </a:gdLst>
              <a:ahLst/>
              <a:cxnLst>
                <a:cxn ang="T6">
                  <a:pos x="T0" y="T1"/>
                </a:cxn>
                <a:cxn ang="T7">
                  <a:pos x="T2" y="T3"/>
                </a:cxn>
                <a:cxn ang="T8">
                  <a:pos x="T4" y="T5"/>
                </a:cxn>
              </a:cxnLst>
              <a:rect l="0" t="0" r="r" b="b"/>
              <a:pathLst>
                <a:path w="992" h="459">
                  <a:moveTo>
                    <a:pt x="0" y="16"/>
                  </a:moveTo>
                  <a:cubicBezTo>
                    <a:pt x="153" y="237"/>
                    <a:pt x="307" y="459"/>
                    <a:pt x="472" y="456"/>
                  </a:cubicBezTo>
                  <a:cubicBezTo>
                    <a:pt x="637" y="453"/>
                    <a:pt x="907" y="76"/>
                    <a:pt x="992" y="0"/>
                  </a:cubicBezTo>
                </a:path>
              </a:pathLst>
            </a:custGeom>
            <a:noFill/>
            <a:ln w="38100" cap="flat" cmpd="sng">
              <a:solidFill>
                <a:srgbClr val="6633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7206" name="Freeform 39">
              <a:extLst>
                <a:ext uri="{FF2B5EF4-FFF2-40B4-BE49-F238E27FC236}">
                  <a16:creationId xmlns:a16="http://schemas.microsoft.com/office/drawing/2014/main" id="{E74B0FF0-4625-4D99-A5D7-C7E35CAA449B}"/>
                </a:ext>
              </a:extLst>
            </p:cNvPr>
            <p:cNvSpPr>
              <a:spLocks/>
            </p:cNvSpPr>
            <p:nvPr/>
          </p:nvSpPr>
          <p:spPr bwMode="auto">
            <a:xfrm>
              <a:off x="1760" y="2552"/>
              <a:ext cx="944" cy="485"/>
            </a:xfrm>
            <a:custGeom>
              <a:avLst/>
              <a:gdLst>
                <a:gd name="T0" fmla="*/ 944 w 944"/>
                <a:gd name="T1" fmla="*/ 0 h 485"/>
                <a:gd name="T2" fmla="*/ 440 w 944"/>
                <a:gd name="T3" fmla="*/ 456 h 485"/>
                <a:gd name="T4" fmla="*/ 0 w 944"/>
                <a:gd name="T5" fmla="*/ 176 h 485"/>
                <a:gd name="T6" fmla="*/ 0 60000 65536"/>
                <a:gd name="T7" fmla="*/ 0 60000 65536"/>
                <a:gd name="T8" fmla="*/ 0 60000 65536"/>
              </a:gdLst>
              <a:ahLst/>
              <a:cxnLst>
                <a:cxn ang="T6">
                  <a:pos x="T0" y="T1"/>
                </a:cxn>
                <a:cxn ang="T7">
                  <a:pos x="T2" y="T3"/>
                </a:cxn>
                <a:cxn ang="T8">
                  <a:pos x="T4" y="T5"/>
                </a:cxn>
              </a:cxnLst>
              <a:rect l="0" t="0" r="r" b="b"/>
              <a:pathLst>
                <a:path w="944" h="485">
                  <a:moveTo>
                    <a:pt x="944" y="0"/>
                  </a:moveTo>
                  <a:cubicBezTo>
                    <a:pt x="770" y="213"/>
                    <a:pt x="597" y="427"/>
                    <a:pt x="440" y="456"/>
                  </a:cubicBezTo>
                  <a:cubicBezTo>
                    <a:pt x="283" y="485"/>
                    <a:pt x="73" y="223"/>
                    <a:pt x="0" y="176"/>
                  </a:cubicBezTo>
                </a:path>
              </a:pathLst>
            </a:custGeom>
            <a:noFill/>
            <a:ln w="38100" cap="flat" cmpd="sng">
              <a:solidFill>
                <a:srgbClr val="6633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7207" name="Freeform 40">
              <a:extLst>
                <a:ext uri="{FF2B5EF4-FFF2-40B4-BE49-F238E27FC236}">
                  <a16:creationId xmlns:a16="http://schemas.microsoft.com/office/drawing/2014/main" id="{E39006E3-37CE-4D90-AC34-FD7ABF847ADD}"/>
                </a:ext>
              </a:extLst>
            </p:cNvPr>
            <p:cNvSpPr>
              <a:spLocks/>
            </p:cNvSpPr>
            <p:nvPr/>
          </p:nvSpPr>
          <p:spPr bwMode="auto">
            <a:xfrm>
              <a:off x="4720" y="2416"/>
              <a:ext cx="120" cy="144"/>
            </a:xfrm>
            <a:custGeom>
              <a:avLst/>
              <a:gdLst>
                <a:gd name="T0" fmla="*/ 0 w 120"/>
                <a:gd name="T1" fmla="*/ 144 h 144"/>
                <a:gd name="T2" fmla="*/ 120 w 120"/>
                <a:gd name="T3" fmla="*/ 0 h 144"/>
                <a:gd name="T4" fmla="*/ 0 60000 65536"/>
                <a:gd name="T5" fmla="*/ 0 60000 65536"/>
              </a:gdLst>
              <a:ahLst/>
              <a:cxnLst>
                <a:cxn ang="T4">
                  <a:pos x="T0" y="T1"/>
                </a:cxn>
                <a:cxn ang="T5">
                  <a:pos x="T2" y="T3"/>
                </a:cxn>
              </a:cxnLst>
              <a:rect l="0" t="0" r="r" b="b"/>
              <a:pathLst>
                <a:path w="120" h="144">
                  <a:moveTo>
                    <a:pt x="0" y="144"/>
                  </a:moveTo>
                  <a:cubicBezTo>
                    <a:pt x="50" y="84"/>
                    <a:pt x="100" y="24"/>
                    <a:pt x="120" y="0"/>
                  </a:cubicBezTo>
                </a:path>
              </a:pathLst>
            </a:custGeom>
            <a:noFill/>
            <a:ln w="38100" cap="flat" cmpd="sng">
              <a:solidFill>
                <a:srgbClr val="6633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grpSp>
      <p:grpSp>
        <p:nvGrpSpPr>
          <p:cNvPr id="11308" name="Group 44">
            <a:extLst>
              <a:ext uri="{FF2B5EF4-FFF2-40B4-BE49-F238E27FC236}">
                <a16:creationId xmlns:a16="http://schemas.microsoft.com/office/drawing/2014/main" id="{10ED89AB-B3EB-4DC3-B561-34DE3C46C833}"/>
              </a:ext>
            </a:extLst>
          </p:cNvPr>
          <p:cNvGrpSpPr>
            <a:grpSpLocks/>
          </p:cNvGrpSpPr>
          <p:nvPr/>
        </p:nvGrpSpPr>
        <p:grpSpPr bwMode="auto">
          <a:xfrm>
            <a:off x="4359275" y="2408238"/>
            <a:ext cx="4533900" cy="3505200"/>
            <a:chOff x="2104" y="1484"/>
            <a:chExt cx="2856" cy="2208"/>
          </a:xfrm>
        </p:grpSpPr>
        <p:sp>
          <p:nvSpPr>
            <p:cNvPr id="7201" name="Freeform 45">
              <a:extLst>
                <a:ext uri="{FF2B5EF4-FFF2-40B4-BE49-F238E27FC236}">
                  <a16:creationId xmlns:a16="http://schemas.microsoft.com/office/drawing/2014/main" id="{B9D9238A-2168-4BF5-80A7-0E317BCD239C}"/>
                </a:ext>
              </a:extLst>
            </p:cNvPr>
            <p:cNvSpPr>
              <a:spLocks/>
            </p:cNvSpPr>
            <p:nvPr/>
          </p:nvSpPr>
          <p:spPr bwMode="auto">
            <a:xfrm>
              <a:off x="3120" y="2552"/>
              <a:ext cx="1056" cy="1140"/>
            </a:xfrm>
            <a:custGeom>
              <a:avLst/>
              <a:gdLst>
                <a:gd name="T0" fmla="*/ 0 w 1056"/>
                <a:gd name="T1" fmla="*/ 24 h 1140"/>
                <a:gd name="T2" fmla="*/ 576 w 1056"/>
                <a:gd name="T3" fmla="*/ 1136 h 1140"/>
                <a:gd name="T4" fmla="*/ 1056 w 1056"/>
                <a:gd name="T5" fmla="*/ 0 h 1140"/>
                <a:gd name="T6" fmla="*/ 0 60000 65536"/>
                <a:gd name="T7" fmla="*/ 0 60000 65536"/>
                <a:gd name="T8" fmla="*/ 0 60000 65536"/>
              </a:gdLst>
              <a:ahLst/>
              <a:cxnLst>
                <a:cxn ang="T6">
                  <a:pos x="T0" y="T1"/>
                </a:cxn>
                <a:cxn ang="T7">
                  <a:pos x="T2" y="T3"/>
                </a:cxn>
                <a:cxn ang="T8">
                  <a:pos x="T4" y="T5"/>
                </a:cxn>
              </a:cxnLst>
              <a:rect l="0" t="0" r="r" b="b"/>
              <a:pathLst>
                <a:path w="1056" h="1140">
                  <a:moveTo>
                    <a:pt x="0" y="24"/>
                  </a:moveTo>
                  <a:cubicBezTo>
                    <a:pt x="200" y="582"/>
                    <a:pt x="400" y="1140"/>
                    <a:pt x="576" y="1136"/>
                  </a:cubicBezTo>
                  <a:cubicBezTo>
                    <a:pt x="752" y="1132"/>
                    <a:pt x="976" y="189"/>
                    <a:pt x="1056" y="0"/>
                  </a:cubicBezTo>
                </a:path>
              </a:pathLst>
            </a:custGeom>
            <a:noFill/>
            <a:ln w="57150" cap="flat" cmpd="sng">
              <a:solidFill>
                <a:srgbClr val="0066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7202" name="Freeform 46">
              <a:extLst>
                <a:ext uri="{FF2B5EF4-FFF2-40B4-BE49-F238E27FC236}">
                  <a16:creationId xmlns:a16="http://schemas.microsoft.com/office/drawing/2014/main" id="{74BC0958-EA3D-499B-8888-59276B8C0CCA}"/>
                </a:ext>
              </a:extLst>
            </p:cNvPr>
            <p:cNvSpPr>
              <a:spLocks/>
            </p:cNvSpPr>
            <p:nvPr/>
          </p:nvSpPr>
          <p:spPr bwMode="auto">
            <a:xfrm>
              <a:off x="4176" y="1484"/>
              <a:ext cx="784" cy="1076"/>
            </a:xfrm>
            <a:custGeom>
              <a:avLst/>
              <a:gdLst>
                <a:gd name="T0" fmla="*/ 0 w 784"/>
                <a:gd name="T1" fmla="*/ 1076 h 1076"/>
                <a:gd name="T2" fmla="*/ 376 w 784"/>
                <a:gd name="T3" fmla="*/ 28 h 1076"/>
                <a:gd name="T4" fmla="*/ 784 w 784"/>
                <a:gd name="T5" fmla="*/ 908 h 1076"/>
                <a:gd name="T6" fmla="*/ 0 60000 65536"/>
                <a:gd name="T7" fmla="*/ 0 60000 65536"/>
                <a:gd name="T8" fmla="*/ 0 60000 65536"/>
              </a:gdLst>
              <a:ahLst/>
              <a:cxnLst>
                <a:cxn ang="T6">
                  <a:pos x="T0" y="T1"/>
                </a:cxn>
                <a:cxn ang="T7">
                  <a:pos x="T2" y="T3"/>
                </a:cxn>
                <a:cxn ang="T8">
                  <a:pos x="T4" y="T5"/>
                </a:cxn>
              </a:cxnLst>
              <a:rect l="0" t="0" r="r" b="b"/>
              <a:pathLst>
                <a:path w="784" h="1076">
                  <a:moveTo>
                    <a:pt x="0" y="1076"/>
                  </a:moveTo>
                  <a:cubicBezTo>
                    <a:pt x="122" y="566"/>
                    <a:pt x="245" y="56"/>
                    <a:pt x="376" y="28"/>
                  </a:cubicBezTo>
                  <a:cubicBezTo>
                    <a:pt x="507" y="0"/>
                    <a:pt x="716" y="761"/>
                    <a:pt x="784" y="908"/>
                  </a:cubicBezTo>
                </a:path>
              </a:pathLst>
            </a:custGeom>
            <a:noFill/>
            <a:ln w="57150" cap="flat" cmpd="sng">
              <a:solidFill>
                <a:srgbClr val="0066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7203" name="Freeform 47">
              <a:extLst>
                <a:ext uri="{FF2B5EF4-FFF2-40B4-BE49-F238E27FC236}">
                  <a16:creationId xmlns:a16="http://schemas.microsoft.com/office/drawing/2014/main" id="{6742CB2A-8604-4780-8A1B-EA3DA0090EFE}"/>
                </a:ext>
              </a:extLst>
            </p:cNvPr>
            <p:cNvSpPr>
              <a:spLocks/>
            </p:cNvSpPr>
            <p:nvPr/>
          </p:nvSpPr>
          <p:spPr bwMode="auto">
            <a:xfrm>
              <a:off x="2104" y="1496"/>
              <a:ext cx="1008" cy="1160"/>
            </a:xfrm>
            <a:custGeom>
              <a:avLst/>
              <a:gdLst>
                <a:gd name="T0" fmla="*/ 1008 w 1008"/>
                <a:gd name="T1" fmla="*/ 1064 h 1160"/>
                <a:gd name="T2" fmla="*/ 512 w 1008"/>
                <a:gd name="T3" fmla="*/ 16 h 1160"/>
                <a:gd name="T4" fmla="*/ 0 w 1008"/>
                <a:gd name="T5" fmla="*/ 1160 h 1160"/>
                <a:gd name="T6" fmla="*/ 0 60000 65536"/>
                <a:gd name="T7" fmla="*/ 0 60000 65536"/>
                <a:gd name="T8" fmla="*/ 0 60000 65536"/>
              </a:gdLst>
              <a:ahLst/>
              <a:cxnLst>
                <a:cxn ang="T6">
                  <a:pos x="T0" y="T1"/>
                </a:cxn>
                <a:cxn ang="T7">
                  <a:pos x="T2" y="T3"/>
                </a:cxn>
                <a:cxn ang="T8">
                  <a:pos x="T4" y="T5"/>
                </a:cxn>
              </a:cxnLst>
              <a:rect l="0" t="0" r="r" b="b"/>
              <a:pathLst>
                <a:path w="1008" h="1160">
                  <a:moveTo>
                    <a:pt x="1008" y="1064"/>
                  </a:moveTo>
                  <a:cubicBezTo>
                    <a:pt x="844" y="532"/>
                    <a:pt x="680" y="0"/>
                    <a:pt x="512" y="16"/>
                  </a:cubicBezTo>
                  <a:cubicBezTo>
                    <a:pt x="344" y="32"/>
                    <a:pt x="84" y="969"/>
                    <a:pt x="0" y="1160"/>
                  </a:cubicBezTo>
                </a:path>
              </a:pathLst>
            </a:custGeom>
            <a:noFill/>
            <a:ln w="57150" cap="flat" cmpd="sng">
              <a:solidFill>
                <a:srgbClr val="006600"/>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grpSp>
      <p:sp>
        <p:nvSpPr>
          <p:cNvPr id="11313" name="Line 49">
            <a:extLst>
              <a:ext uri="{FF2B5EF4-FFF2-40B4-BE49-F238E27FC236}">
                <a16:creationId xmlns:a16="http://schemas.microsoft.com/office/drawing/2014/main" id="{8D0F163C-2906-4D48-BB8B-DB2022C84509}"/>
              </a:ext>
            </a:extLst>
          </p:cNvPr>
          <p:cNvSpPr>
            <a:spLocks noChangeShapeType="1"/>
          </p:cNvSpPr>
          <p:nvPr/>
        </p:nvSpPr>
        <p:spPr bwMode="auto">
          <a:xfrm>
            <a:off x="5340350" y="4113214"/>
            <a:ext cx="0" cy="19081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11314" name="Line 50">
            <a:extLst>
              <a:ext uri="{FF2B5EF4-FFF2-40B4-BE49-F238E27FC236}">
                <a16:creationId xmlns:a16="http://schemas.microsoft.com/office/drawing/2014/main" id="{E5F42011-1CB2-4F1F-8CC7-6440370769DD}"/>
              </a:ext>
            </a:extLst>
          </p:cNvPr>
          <p:cNvSpPr>
            <a:spLocks noChangeShapeType="1"/>
          </p:cNvSpPr>
          <p:nvPr/>
        </p:nvSpPr>
        <p:spPr bwMode="auto">
          <a:xfrm>
            <a:off x="4872039" y="5516563"/>
            <a:ext cx="428625" cy="0"/>
          </a:xfrm>
          <a:prstGeom prst="line">
            <a:avLst/>
          </a:prstGeom>
          <a:noFill/>
          <a:ln w="1905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11319" name="Line 55">
            <a:extLst>
              <a:ext uri="{FF2B5EF4-FFF2-40B4-BE49-F238E27FC236}">
                <a16:creationId xmlns:a16="http://schemas.microsoft.com/office/drawing/2014/main" id="{5ECA4FA2-A75E-47B9-A905-AFD5BBDAE6B1}"/>
              </a:ext>
            </a:extLst>
          </p:cNvPr>
          <p:cNvSpPr>
            <a:spLocks noChangeShapeType="1"/>
          </p:cNvSpPr>
          <p:nvPr/>
        </p:nvSpPr>
        <p:spPr bwMode="auto">
          <a:xfrm flipV="1">
            <a:off x="4872038" y="1952626"/>
            <a:ext cx="0" cy="418782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11320" name="Line 56">
            <a:extLst>
              <a:ext uri="{FF2B5EF4-FFF2-40B4-BE49-F238E27FC236}">
                <a16:creationId xmlns:a16="http://schemas.microsoft.com/office/drawing/2014/main" id="{E07FB717-D900-430D-A10F-B95E379905EB}"/>
              </a:ext>
            </a:extLst>
          </p:cNvPr>
          <p:cNvSpPr>
            <a:spLocks noChangeShapeType="1"/>
          </p:cNvSpPr>
          <p:nvPr/>
        </p:nvSpPr>
        <p:spPr bwMode="auto">
          <a:xfrm>
            <a:off x="3230563" y="4114800"/>
            <a:ext cx="645795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ru-RU"/>
          </a:p>
        </p:txBody>
      </p:sp>
      <p:sp>
        <p:nvSpPr>
          <p:cNvPr id="11321" name="Text Box 57">
            <a:extLst>
              <a:ext uri="{FF2B5EF4-FFF2-40B4-BE49-F238E27FC236}">
                <a16:creationId xmlns:a16="http://schemas.microsoft.com/office/drawing/2014/main" id="{F0756099-75DE-440E-8F42-5EBDC2695962}"/>
              </a:ext>
            </a:extLst>
          </p:cNvPr>
          <p:cNvSpPr txBox="1">
            <a:spLocks noChangeArrowheads="1"/>
          </p:cNvSpPr>
          <p:nvPr/>
        </p:nvSpPr>
        <p:spPr bwMode="auto">
          <a:xfrm>
            <a:off x="9386888" y="3573464"/>
            <a:ext cx="495300" cy="62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50000"/>
              </a:spcBef>
              <a:buClrTx/>
              <a:buSzTx/>
              <a:buFontTx/>
              <a:buNone/>
            </a:pPr>
            <a:r>
              <a:rPr lang="en-US" altLang="ru-RU" sz="3500" i="1">
                <a:latin typeface="Times New Roman" panose="02020603050405020304" pitchFamily="18" charset="0"/>
              </a:rPr>
              <a:t>t</a:t>
            </a:r>
            <a:endParaRPr lang="ru-RU" altLang="ru-RU" sz="3500" i="1">
              <a:latin typeface="Times New Roman" panose="02020603050405020304" pitchFamily="18" charset="0"/>
            </a:endParaRPr>
          </a:p>
        </p:txBody>
      </p:sp>
      <p:sp>
        <p:nvSpPr>
          <p:cNvPr id="11322" name="Text Box 58">
            <a:extLst>
              <a:ext uri="{FF2B5EF4-FFF2-40B4-BE49-F238E27FC236}">
                <a16:creationId xmlns:a16="http://schemas.microsoft.com/office/drawing/2014/main" id="{18F5565B-4CA9-4AD3-B5EB-A37202DB21BB}"/>
              </a:ext>
            </a:extLst>
          </p:cNvPr>
          <p:cNvSpPr txBox="1">
            <a:spLocks noChangeArrowheads="1"/>
          </p:cNvSpPr>
          <p:nvPr/>
        </p:nvSpPr>
        <p:spPr bwMode="auto">
          <a:xfrm>
            <a:off x="4938714" y="1665289"/>
            <a:ext cx="915987" cy="62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50000"/>
              </a:spcBef>
              <a:buClrTx/>
              <a:buSzTx/>
              <a:buFontTx/>
              <a:buNone/>
            </a:pPr>
            <a:r>
              <a:rPr lang="en-US" altLang="ru-RU" sz="3500" i="1">
                <a:latin typeface="Times New Roman" panose="02020603050405020304" pitchFamily="18" charset="0"/>
              </a:rPr>
              <a:t>i,u </a:t>
            </a:r>
            <a:endParaRPr lang="ru-RU" altLang="ru-RU" sz="2400" i="1">
              <a:latin typeface="Times New Roman" panose="02020603050405020304" pitchFamily="18" charset="0"/>
            </a:endParaRPr>
          </a:p>
        </p:txBody>
      </p:sp>
      <p:sp>
        <p:nvSpPr>
          <p:cNvPr id="11323" name="Text Box 59">
            <a:extLst>
              <a:ext uri="{FF2B5EF4-FFF2-40B4-BE49-F238E27FC236}">
                <a16:creationId xmlns:a16="http://schemas.microsoft.com/office/drawing/2014/main" id="{0BAB9204-7D02-432F-8C15-8D7C62A3DA15}"/>
              </a:ext>
            </a:extLst>
          </p:cNvPr>
          <p:cNvSpPr txBox="1">
            <a:spLocks noChangeArrowheads="1"/>
          </p:cNvSpPr>
          <p:nvPr/>
        </p:nvSpPr>
        <p:spPr bwMode="auto">
          <a:xfrm>
            <a:off x="4583113" y="4076700"/>
            <a:ext cx="400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50000"/>
              </a:spcBef>
              <a:buClrTx/>
              <a:buSzTx/>
              <a:buFontTx/>
              <a:buNone/>
            </a:pPr>
            <a:r>
              <a:rPr lang="ru-RU" altLang="ru-RU" sz="2400">
                <a:latin typeface="Times New Roman" panose="02020603050405020304" pitchFamily="18" charset="0"/>
              </a:rPr>
              <a:t>0</a:t>
            </a:r>
          </a:p>
        </p:txBody>
      </p:sp>
      <p:grpSp>
        <p:nvGrpSpPr>
          <p:cNvPr id="11327" name="Group 63">
            <a:extLst>
              <a:ext uri="{FF2B5EF4-FFF2-40B4-BE49-F238E27FC236}">
                <a16:creationId xmlns:a16="http://schemas.microsoft.com/office/drawing/2014/main" id="{5476D3A3-2A97-4F5C-8E14-BFAE0CE7D2CE}"/>
              </a:ext>
            </a:extLst>
          </p:cNvPr>
          <p:cNvGrpSpPr>
            <a:grpSpLocks/>
          </p:cNvGrpSpPr>
          <p:nvPr/>
        </p:nvGrpSpPr>
        <p:grpSpPr bwMode="auto">
          <a:xfrm>
            <a:off x="6264276" y="3716338"/>
            <a:ext cx="447675" cy="406400"/>
            <a:chOff x="1848" y="1607"/>
            <a:chExt cx="282" cy="256"/>
          </a:xfrm>
        </p:grpSpPr>
        <p:sp>
          <p:nvSpPr>
            <p:cNvPr id="7199" name="Text Box 64">
              <a:extLst>
                <a:ext uri="{FF2B5EF4-FFF2-40B4-BE49-F238E27FC236}">
                  <a16:creationId xmlns:a16="http://schemas.microsoft.com/office/drawing/2014/main" id="{13B42F1E-C5B6-49BC-BAC2-6FBC15E8FA53}"/>
                </a:ext>
              </a:extLst>
            </p:cNvPr>
            <p:cNvSpPr txBox="1">
              <a:spLocks noChangeArrowheads="1"/>
            </p:cNvSpPr>
            <p:nvPr/>
          </p:nvSpPr>
          <p:spPr bwMode="auto">
            <a:xfrm>
              <a:off x="1848" y="1607"/>
              <a:ext cx="16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a:spcBef>
                  <a:spcPct val="50000"/>
                </a:spcBef>
                <a:buClrTx/>
                <a:buSzTx/>
                <a:buFontTx/>
                <a:buNone/>
              </a:pPr>
              <a:r>
                <a:rPr lang="ru-RU" altLang="ru-RU" sz="2000">
                  <a:latin typeface="Times New Roman" panose="02020603050405020304" pitchFamily="18" charset="0"/>
                </a:rPr>
                <a:t>I</a:t>
              </a:r>
            </a:p>
          </p:txBody>
        </p:sp>
        <p:sp>
          <p:nvSpPr>
            <p:cNvPr id="7200" name="Text Box 65">
              <a:extLst>
                <a:ext uri="{FF2B5EF4-FFF2-40B4-BE49-F238E27FC236}">
                  <a16:creationId xmlns:a16="http://schemas.microsoft.com/office/drawing/2014/main" id="{F8115795-BBB2-4D68-B2D0-1640237CBA3F}"/>
                </a:ext>
              </a:extLst>
            </p:cNvPr>
            <p:cNvSpPr txBox="1">
              <a:spLocks noChangeArrowheads="1"/>
            </p:cNvSpPr>
            <p:nvPr/>
          </p:nvSpPr>
          <p:spPr bwMode="auto">
            <a:xfrm>
              <a:off x="1914" y="1651"/>
              <a:ext cx="21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a:spcBef>
                  <a:spcPct val="50000"/>
                </a:spcBef>
                <a:buClrTx/>
                <a:buSzTx/>
                <a:buFontTx/>
                <a:buNone/>
              </a:pPr>
              <a:r>
                <a:rPr lang="ru-RU" altLang="ru-RU" sz="1600">
                  <a:latin typeface="Times New Roman" panose="02020603050405020304" pitchFamily="18" charset="0"/>
                </a:rPr>
                <a:t>m</a:t>
              </a:r>
            </a:p>
          </p:txBody>
        </p:sp>
      </p:grpSp>
      <p:sp>
        <p:nvSpPr>
          <p:cNvPr id="11344" name="Line 80">
            <a:extLst>
              <a:ext uri="{FF2B5EF4-FFF2-40B4-BE49-F238E27FC236}">
                <a16:creationId xmlns:a16="http://schemas.microsoft.com/office/drawing/2014/main" id="{B89A59AE-802D-4B7E-AF2A-B360F2292332}"/>
              </a:ext>
            </a:extLst>
          </p:cNvPr>
          <p:cNvSpPr>
            <a:spLocks noChangeShapeType="1"/>
          </p:cNvSpPr>
          <p:nvPr/>
        </p:nvSpPr>
        <p:spPr bwMode="auto">
          <a:xfrm flipV="1">
            <a:off x="6162675" y="3429001"/>
            <a:ext cx="0" cy="684213"/>
          </a:xfrm>
          <a:prstGeom prst="line">
            <a:avLst/>
          </a:prstGeom>
          <a:noFill/>
          <a:ln w="1270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ru-RU"/>
          </a:p>
        </p:txBody>
      </p:sp>
      <p:graphicFrame>
        <p:nvGraphicFramePr>
          <p:cNvPr id="11345" name="Object 81">
            <a:extLst>
              <a:ext uri="{FF2B5EF4-FFF2-40B4-BE49-F238E27FC236}">
                <a16:creationId xmlns:a16="http://schemas.microsoft.com/office/drawing/2014/main" id="{4C280731-C083-45FB-ADEC-187C1CC2C3A2}"/>
              </a:ext>
            </a:extLst>
          </p:cNvPr>
          <p:cNvGraphicFramePr>
            <a:graphicFrameLocks noGrp="1" noChangeAspect="1"/>
          </p:cNvGraphicFramePr>
          <p:nvPr>
            <p:ph sz="quarter" idx="1"/>
          </p:nvPr>
        </p:nvGraphicFramePr>
        <p:xfrm>
          <a:off x="5411789" y="5280025"/>
          <a:ext cx="504825" cy="260350"/>
        </p:xfrm>
        <a:graphic>
          <a:graphicData uri="http://schemas.openxmlformats.org/presentationml/2006/ole">
            <mc:AlternateContent xmlns:mc="http://schemas.openxmlformats.org/markup-compatibility/2006">
              <mc:Choice xmlns:v="urn:schemas-microsoft-com:vml" Requires="v">
                <p:oleObj name="Формула" r:id="rId4" imgW="393529" imgH="203112" progId="Equation.3">
                  <p:embed/>
                </p:oleObj>
              </mc:Choice>
              <mc:Fallback>
                <p:oleObj name="Формула" r:id="rId4" imgW="393529" imgH="203112" progId="Equation.3">
                  <p:embed/>
                  <p:pic>
                    <p:nvPicPr>
                      <p:cNvPr id="11345" name="Object 81">
                        <a:extLst>
                          <a:ext uri="{FF2B5EF4-FFF2-40B4-BE49-F238E27FC236}">
                            <a16:creationId xmlns:a16="http://schemas.microsoft.com/office/drawing/2014/main" id="{4C280731-C083-45FB-ADEC-187C1CC2C3A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11789" y="5280025"/>
                        <a:ext cx="504825" cy="260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52" name="Object 88">
            <a:extLst>
              <a:ext uri="{FF2B5EF4-FFF2-40B4-BE49-F238E27FC236}">
                <a16:creationId xmlns:a16="http://schemas.microsoft.com/office/drawing/2014/main" id="{2B49D15F-EC94-4DC1-B025-0EE212C13F11}"/>
              </a:ext>
            </a:extLst>
          </p:cNvPr>
          <p:cNvGraphicFramePr>
            <a:graphicFrameLocks noGrp="1" noChangeAspect="1"/>
          </p:cNvGraphicFramePr>
          <p:nvPr>
            <p:ph sz="quarter" idx="3"/>
          </p:nvPr>
        </p:nvGraphicFramePr>
        <p:xfrm>
          <a:off x="5187950" y="3044826"/>
          <a:ext cx="395288" cy="371475"/>
        </p:xfrm>
        <a:graphic>
          <a:graphicData uri="http://schemas.openxmlformats.org/presentationml/2006/ole">
            <mc:AlternateContent xmlns:mc="http://schemas.openxmlformats.org/markup-compatibility/2006">
              <mc:Choice xmlns:v="urn:schemas-microsoft-com:vml" Requires="v">
                <p:oleObj name="Формула" r:id="rId6" imgW="215713" imgH="203024" progId="Equation.3">
                  <p:embed/>
                </p:oleObj>
              </mc:Choice>
              <mc:Fallback>
                <p:oleObj name="Формула" r:id="rId6" imgW="215713" imgH="203024" progId="Equation.3">
                  <p:embed/>
                  <p:pic>
                    <p:nvPicPr>
                      <p:cNvPr id="11352" name="Object 88">
                        <a:extLst>
                          <a:ext uri="{FF2B5EF4-FFF2-40B4-BE49-F238E27FC236}">
                            <a16:creationId xmlns:a16="http://schemas.microsoft.com/office/drawing/2014/main" id="{2B49D15F-EC94-4DC1-B025-0EE212C13F1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87950" y="3044826"/>
                        <a:ext cx="395288" cy="37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47" name="Object 83">
            <a:extLst>
              <a:ext uri="{FF2B5EF4-FFF2-40B4-BE49-F238E27FC236}">
                <a16:creationId xmlns:a16="http://schemas.microsoft.com/office/drawing/2014/main" id="{A046B64C-53B6-4A0C-8C9F-F3F6086392FB}"/>
              </a:ext>
            </a:extLst>
          </p:cNvPr>
          <p:cNvGraphicFramePr>
            <a:graphicFrameLocks noChangeAspect="1"/>
          </p:cNvGraphicFramePr>
          <p:nvPr/>
        </p:nvGraphicFramePr>
        <p:xfrm>
          <a:off x="2105025" y="1389063"/>
          <a:ext cx="2800350" cy="442912"/>
        </p:xfrm>
        <a:graphic>
          <a:graphicData uri="http://schemas.openxmlformats.org/presentationml/2006/ole">
            <mc:AlternateContent xmlns:mc="http://schemas.openxmlformats.org/markup-compatibility/2006">
              <mc:Choice xmlns:v="urn:schemas-microsoft-com:vml" Requires="v">
                <p:oleObj name="Формула" r:id="rId8" imgW="1282700" imgH="203200" progId="Equation.3">
                  <p:embed/>
                </p:oleObj>
              </mc:Choice>
              <mc:Fallback>
                <p:oleObj name="Формула" r:id="rId8" imgW="1282700" imgH="203200" progId="Equation.3">
                  <p:embed/>
                  <p:pic>
                    <p:nvPicPr>
                      <p:cNvPr id="11347" name="Object 83">
                        <a:extLst>
                          <a:ext uri="{FF2B5EF4-FFF2-40B4-BE49-F238E27FC236}">
                            <a16:creationId xmlns:a16="http://schemas.microsoft.com/office/drawing/2014/main" id="{A046B64C-53B6-4A0C-8C9F-F3F6086392F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05025" y="1389063"/>
                        <a:ext cx="2800350" cy="442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48" name="Object 84">
            <a:extLst>
              <a:ext uri="{FF2B5EF4-FFF2-40B4-BE49-F238E27FC236}">
                <a16:creationId xmlns:a16="http://schemas.microsoft.com/office/drawing/2014/main" id="{FD63477D-7250-4BE0-A167-FD1C3E15126C}"/>
              </a:ext>
            </a:extLst>
          </p:cNvPr>
          <p:cNvGraphicFramePr>
            <a:graphicFrameLocks noChangeAspect="1"/>
          </p:cNvGraphicFramePr>
          <p:nvPr/>
        </p:nvGraphicFramePr>
        <p:xfrm>
          <a:off x="6143625" y="1365251"/>
          <a:ext cx="2578100" cy="442913"/>
        </p:xfrm>
        <a:graphic>
          <a:graphicData uri="http://schemas.openxmlformats.org/presentationml/2006/ole">
            <mc:AlternateContent xmlns:mc="http://schemas.openxmlformats.org/markup-compatibility/2006">
              <mc:Choice xmlns:v="urn:schemas-microsoft-com:vml" Requires="v">
                <p:oleObj name="Формула" r:id="rId10" imgW="1180588" imgH="203112" progId="Equation.3">
                  <p:embed/>
                </p:oleObj>
              </mc:Choice>
              <mc:Fallback>
                <p:oleObj name="Формула" r:id="rId10" imgW="1180588" imgH="203112" progId="Equation.3">
                  <p:embed/>
                  <p:pic>
                    <p:nvPicPr>
                      <p:cNvPr id="11348" name="Object 84">
                        <a:extLst>
                          <a:ext uri="{FF2B5EF4-FFF2-40B4-BE49-F238E27FC236}">
                            <a16:creationId xmlns:a16="http://schemas.microsoft.com/office/drawing/2014/main" id="{FD63477D-7250-4BE0-A167-FD1C3E15126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143625" y="1365251"/>
                        <a:ext cx="2578100"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359" name="Line 95">
            <a:extLst>
              <a:ext uri="{FF2B5EF4-FFF2-40B4-BE49-F238E27FC236}">
                <a16:creationId xmlns:a16="http://schemas.microsoft.com/office/drawing/2014/main" id="{75171F31-6948-4D5F-BFCD-747CD77AAA74}"/>
              </a:ext>
            </a:extLst>
          </p:cNvPr>
          <p:cNvSpPr>
            <a:spLocks noChangeShapeType="1"/>
          </p:cNvSpPr>
          <p:nvPr/>
        </p:nvSpPr>
        <p:spPr bwMode="auto">
          <a:xfrm flipV="1">
            <a:off x="5187950" y="2479675"/>
            <a:ext cx="0" cy="1620838"/>
          </a:xfrm>
          <a:prstGeom prst="line">
            <a:avLst/>
          </a:prstGeom>
          <a:noFill/>
          <a:ln w="19050">
            <a:solidFill>
              <a:srgbClr val="0080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ru-RU"/>
          </a:p>
        </p:txBody>
      </p:sp>
      <p:graphicFrame>
        <p:nvGraphicFramePr>
          <p:cNvPr id="7192" name="Object 97">
            <a:extLst>
              <a:ext uri="{FF2B5EF4-FFF2-40B4-BE49-F238E27FC236}">
                <a16:creationId xmlns:a16="http://schemas.microsoft.com/office/drawing/2014/main" id="{52084889-5034-4009-AACA-BD03C457918E}"/>
              </a:ext>
            </a:extLst>
          </p:cNvPr>
          <p:cNvGraphicFramePr>
            <a:graphicFrameLocks noChangeAspect="1"/>
          </p:cNvGraphicFramePr>
          <p:nvPr/>
        </p:nvGraphicFramePr>
        <p:xfrm>
          <a:off x="7859713" y="5545138"/>
          <a:ext cx="114300" cy="203200"/>
        </p:xfrm>
        <a:graphic>
          <a:graphicData uri="http://schemas.openxmlformats.org/presentationml/2006/ole">
            <mc:AlternateContent xmlns:mc="http://schemas.openxmlformats.org/markup-compatibility/2006">
              <mc:Choice xmlns:v="urn:schemas-microsoft-com:vml" Requires="v">
                <p:oleObj name="Формула" r:id="rId12" imgW="114201" imgH="203024" progId="Equation.3">
                  <p:embed/>
                </p:oleObj>
              </mc:Choice>
              <mc:Fallback>
                <p:oleObj name="Формула" r:id="rId12" imgW="114201" imgH="203024" progId="Equation.3">
                  <p:embed/>
                  <p:pic>
                    <p:nvPicPr>
                      <p:cNvPr id="7192" name="Object 97">
                        <a:extLst>
                          <a:ext uri="{FF2B5EF4-FFF2-40B4-BE49-F238E27FC236}">
                            <a16:creationId xmlns:a16="http://schemas.microsoft.com/office/drawing/2014/main" id="{52084889-5034-4009-AACA-BD03C457918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859713" y="5545138"/>
                        <a:ext cx="114300" cy="203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362" name="Object 98">
            <a:extLst>
              <a:ext uri="{FF2B5EF4-FFF2-40B4-BE49-F238E27FC236}">
                <a16:creationId xmlns:a16="http://schemas.microsoft.com/office/drawing/2014/main" id="{1102174A-3F8E-4CAB-AAD6-A41C75302B40}"/>
              </a:ext>
            </a:extLst>
          </p:cNvPr>
          <p:cNvGraphicFramePr>
            <a:graphicFrameLocks noChangeAspect="1"/>
          </p:cNvGraphicFramePr>
          <p:nvPr/>
        </p:nvGraphicFramePr>
        <p:xfrm>
          <a:off x="7840663" y="5700714"/>
          <a:ext cx="2349500" cy="695325"/>
        </p:xfrm>
        <a:graphic>
          <a:graphicData uri="http://schemas.openxmlformats.org/presentationml/2006/ole">
            <mc:AlternateContent xmlns:mc="http://schemas.openxmlformats.org/markup-compatibility/2006">
              <mc:Choice xmlns:v="urn:schemas-microsoft-com:vml" Requires="v">
                <p:oleObj name="Формула" r:id="rId14" imgW="685800" imgH="203200" progId="Equation.3">
                  <p:embed/>
                </p:oleObj>
              </mc:Choice>
              <mc:Fallback>
                <p:oleObj name="Формула" r:id="rId14" imgW="685800" imgH="203200" progId="Equation.3">
                  <p:embed/>
                  <p:pic>
                    <p:nvPicPr>
                      <p:cNvPr id="11362" name="Object 98">
                        <a:extLst>
                          <a:ext uri="{FF2B5EF4-FFF2-40B4-BE49-F238E27FC236}">
                            <a16:creationId xmlns:a16="http://schemas.microsoft.com/office/drawing/2014/main" id="{1102174A-3F8E-4CAB-AAD6-A41C75302B40}"/>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840663" y="5700714"/>
                        <a:ext cx="2349500"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363" name="Text Box 99">
            <a:extLst>
              <a:ext uri="{FF2B5EF4-FFF2-40B4-BE49-F238E27FC236}">
                <a16:creationId xmlns:a16="http://schemas.microsoft.com/office/drawing/2014/main" id="{21EE0727-8DF2-4230-9EF9-A46FEEBD80C7}"/>
              </a:ext>
            </a:extLst>
          </p:cNvPr>
          <p:cNvSpPr txBox="1">
            <a:spLocks noChangeArrowheads="1"/>
          </p:cNvSpPr>
          <p:nvPr/>
        </p:nvSpPr>
        <p:spPr bwMode="auto">
          <a:xfrm>
            <a:off x="7840663" y="5081589"/>
            <a:ext cx="2627312" cy="522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ru-RU" sz="2800">
                <a:solidFill>
                  <a:srgbClr val="003399"/>
                </a:solidFill>
                <a:latin typeface="Times New Roman" panose="02020603050405020304" pitchFamily="18" charset="0"/>
              </a:rPr>
              <a:t>Фазовый сдвиг:</a:t>
            </a:r>
          </a:p>
        </p:txBody>
      </p:sp>
      <p:sp>
        <p:nvSpPr>
          <p:cNvPr id="11364" name="Line 100">
            <a:extLst>
              <a:ext uri="{FF2B5EF4-FFF2-40B4-BE49-F238E27FC236}">
                <a16:creationId xmlns:a16="http://schemas.microsoft.com/office/drawing/2014/main" id="{BC8608E9-1E18-42A9-BA47-0C5DA52B9F80}"/>
              </a:ext>
            </a:extLst>
          </p:cNvPr>
          <p:cNvSpPr>
            <a:spLocks noChangeShapeType="1"/>
          </p:cNvSpPr>
          <p:nvPr/>
        </p:nvSpPr>
        <p:spPr bwMode="auto">
          <a:xfrm>
            <a:off x="4403725" y="3986214"/>
            <a:ext cx="0" cy="2052637"/>
          </a:xfrm>
          <a:prstGeom prst="line">
            <a:avLst/>
          </a:prstGeom>
          <a:noFill/>
          <a:ln w="19050">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ru-RU"/>
          </a:p>
        </p:txBody>
      </p:sp>
      <p:sp>
        <p:nvSpPr>
          <p:cNvPr id="11365" name="Line 101">
            <a:extLst>
              <a:ext uri="{FF2B5EF4-FFF2-40B4-BE49-F238E27FC236}">
                <a16:creationId xmlns:a16="http://schemas.microsoft.com/office/drawing/2014/main" id="{A8B3A6F5-B101-463C-8501-71ED1BD011D5}"/>
              </a:ext>
            </a:extLst>
          </p:cNvPr>
          <p:cNvSpPr>
            <a:spLocks noChangeShapeType="1"/>
          </p:cNvSpPr>
          <p:nvPr/>
        </p:nvSpPr>
        <p:spPr bwMode="auto">
          <a:xfrm>
            <a:off x="4403726" y="5856288"/>
            <a:ext cx="936625" cy="0"/>
          </a:xfrm>
          <a:prstGeom prst="line">
            <a:avLst/>
          </a:prstGeom>
          <a:noFill/>
          <a:ln w="12700">
            <a:solidFill>
              <a:schemeClr val="tx1"/>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ru-RU"/>
          </a:p>
        </p:txBody>
      </p:sp>
      <p:sp>
        <p:nvSpPr>
          <p:cNvPr id="11366" name="Text Box 102">
            <a:extLst>
              <a:ext uri="{FF2B5EF4-FFF2-40B4-BE49-F238E27FC236}">
                <a16:creationId xmlns:a16="http://schemas.microsoft.com/office/drawing/2014/main" id="{CB855672-843D-497F-8B00-77A05CA34E50}"/>
              </a:ext>
            </a:extLst>
          </p:cNvPr>
          <p:cNvSpPr txBox="1">
            <a:spLocks noChangeArrowheads="1"/>
          </p:cNvSpPr>
          <p:nvPr/>
        </p:nvSpPr>
        <p:spPr bwMode="auto">
          <a:xfrm>
            <a:off x="4440239" y="5243514"/>
            <a:ext cx="4286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ru-RU" i="1">
                <a:solidFill>
                  <a:srgbClr val="003399"/>
                </a:solidFill>
                <a:latin typeface="Times New Roman" panose="02020603050405020304" pitchFamily="18" charset="0"/>
                <a:sym typeface="Symbol" panose="05050102010706020507" pitchFamily="18" charset="2"/>
              </a:rPr>
              <a:t></a:t>
            </a:r>
          </a:p>
        </p:txBody>
      </p:sp>
      <p:sp>
        <p:nvSpPr>
          <p:cNvPr id="39" name="Rectangle 19">
            <a:extLst>
              <a:ext uri="{FF2B5EF4-FFF2-40B4-BE49-F238E27FC236}">
                <a16:creationId xmlns:a16="http://schemas.microsoft.com/office/drawing/2014/main" id="{22D7F56D-2650-4C2B-A033-37DFECCDDAA5}"/>
              </a:ext>
            </a:extLst>
          </p:cNvPr>
          <p:cNvSpPr>
            <a:spLocks noGrp="1" noChangeArrowheads="1"/>
          </p:cNvSpPr>
          <p:nvPr>
            <p:ph type="title" sz="quarter"/>
          </p:nvPr>
        </p:nvSpPr>
        <p:spPr>
          <a:xfrm>
            <a:off x="566338" y="622300"/>
            <a:ext cx="9969910" cy="450850"/>
          </a:xfrm>
          <a:noFill/>
        </p:spPr>
        <p:txBody>
          <a:bodyPr/>
          <a:lstStyle/>
          <a:p>
            <a:pPr algn="ctr" eaLnBrk="1" hangingPunct="1"/>
            <a:r>
              <a:rPr lang="ru-RU" altLang="ru-RU" sz="2400" i="1" dirty="0">
                <a:solidFill>
                  <a:srgbClr val="0000CC"/>
                </a:solidFill>
              </a:rPr>
              <a:t>Мгновенные значения напряжения </a:t>
            </a:r>
            <a:r>
              <a:rPr lang="en-US" altLang="ru-RU" sz="2400" i="1" dirty="0">
                <a:solidFill>
                  <a:srgbClr val="C00000"/>
                </a:solidFill>
              </a:rPr>
              <a:t>u(t)</a:t>
            </a:r>
            <a:r>
              <a:rPr lang="ru-RU" altLang="ru-RU" sz="2400" i="1" dirty="0">
                <a:solidFill>
                  <a:srgbClr val="0000CC"/>
                </a:solidFill>
              </a:rPr>
              <a:t>, тока </a:t>
            </a:r>
            <a:r>
              <a:rPr lang="en-US" altLang="ru-RU" sz="2400" i="1" dirty="0" err="1">
                <a:solidFill>
                  <a:srgbClr val="C00000"/>
                </a:solidFill>
              </a:rPr>
              <a:t>i</a:t>
            </a:r>
            <a:r>
              <a:rPr lang="ru-RU" altLang="ru-RU" sz="2400" i="1" dirty="0">
                <a:solidFill>
                  <a:srgbClr val="C00000"/>
                </a:solidFill>
              </a:rPr>
              <a:t>(</a:t>
            </a:r>
            <a:r>
              <a:rPr lang="en-US" altLang="ru-RU" sz="2400" i="1" dirty="0">
                <a:solidFill>
                  <a:srgbClr val="C00000"/>
                </a:solidFill>
              </a:rPr>
              <a:t>t</a:t>
            </a:r>
            <a:r>
              <a:rPr lang="ru-RU" altLang="ru-RU" sz="2400" i="1" dirty="0">
                <a:solidFill>
                  <a:srgbClr val="C00000"/>
                </a:solidFill>
              </a:rPr>
              <a:t>)</a:t>
            </a:r>
            <a:r>
              <a:rPr lang="ru-RU" altLang="ru-RU" sz="2400" i="1" dirty="0">
                <a:solidFill>
                  <a:srgbClr val="0000CC"/>
                </a:solidFill>
              </a:rPr>
              <a:t> и фазовый сдвиг</a:t>
            </a:r>
            <a:r>
              <a:rPr lang="en-US" altLang="ru-RU" sz="2400" i="1" dirty="0">
                <a:solidFill>
                  <a:srgbClr val="0000CC"/>
                </a:solidFill>
              </a:rPr>
              <a:t> </a:t>
            </a:r>
            <a:r>
              <a:rPr lang="en-US" altLang="ru-RU" sz="2400" i="1" dirty="0">
                <a:solidFill>
                  <a:srgbClr val="C00000"/>
                </a:solidFill>
                <a:sym typeface="Symbol" panose="05050102010706020507" pitchFamily="18" charset="2"/>
              </a:rPr>
              <a:t></a:t>
            </a:r>
            <a:endParaRPr lang="ru-RU" altLang="ru-RU" sz="2400" i="1" dirty="0">
              <a:solidFill>
                <a:srgbClr val="C00000"/>
              </a:solidFill>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34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134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32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31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3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3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323"/>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130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35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135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28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129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129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1291"/>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1130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134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132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128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1313"/>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1314"/>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1345"/>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nodeType="clickEffect">
                                  <p:stCondLst>
                                    <p:cond delay="0"/>
                                  </p:stCondLst>
                                  <p:childTnLst>
                                    <p:set>
                                      <p:cBhvr>
                                        <p:cTn id="58" dur="1" fill="hold">
                                          <p:stCondLst>
                                            <p:cond delay="0"/>
                                          </p:stCondLst>
                                        </p:cTn>
                                        <p:tgtEl>
                                          <p:spTgt spid="11364"/>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1366"/>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136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1363"/>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1362"/>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86" grpId="0"/>
      <p:bldP spid="11287" grpId="0"/>
      <p:bldP spid="11321" grpId="0"/>
      <p:bldP spid="11322" grpId="0"/>
      <p:bldP spid="11323" grpId="0"/>
      <p:bldP spid="11363" grpId="0"/>
      <p:bldP spid="11366" grpId="0"/>
      <p:bldP spid="3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ext Box 4">
            <a:extLst>
              <a:ext uri="{FF2B5EF4-FFF2-40B4-BE49-F238E27FC236}">
                <a16:creationId xmlns:a16="http://schemas.microsoft.com/office/drawing/2014/main" id="{6546532B-7D8D-41AC-829D-7E2E0CBD65B0}"/>
              </a:ext>
            </a:extLst>
          </p:cNvPr>
          <p:cNvSpPr txBox="1">
            <a:spLocks noChangeArrowheads="1"/>
          </p:cNvSpPr>
          <p:nvPr/>
        </p:nvSpPr>
        <p:spPr bwMode="auto">
          <a:xfrm>
            <a:off x="3154978" y="509817"/>
            <a:ext cx="6840537" cy="457200"/>
          </a:xfrm>
          <a:prstGeom prst="rect">
            <a:avLst/>
          </a:prstGeom>
          <a:noFill/>
          <a:ln w="9525">
            <a:noFill/>
            <a:miter lim="800000"/>
            <a:headEnd/>
            <a:tailEnd/>
          </a:ln>
          <a:effectLst/>
        </p:spPr>
        <p:txBody>
          <a:bodyPr>
            <a:spAutoFit/>
          </a:bodyPr>
          <a:lstStyle/>
          <a:p>
            <a:pPr eaLnBrk="1" hangingPunct="1">
              <a:spcBef>
                <a:spcPct val="50000"/>
              </a:spcBef>
              <a:defRPr/>
            </a:pPr>
            <a:r>
              <a:rPr lang="ru-RU" sz="2400" b="1" u="sng" dirty="0">
                <a:solidFill>
                  <a:srgbClr val="660066"/>
                </a:solidFill>
                <a:effectLst>
                  <a:outerShdw blurRad="38100" dist="38100" dir="2700000" algn="tl">
                    <a:srgbClr val="C0C0C0"/>
                  </a:outerShdw>
                </a:effectLst>
                <a:latin typeface="Arial" charset="0"/>
                <a:cs typeface="Arial" charset="0"/>
              </a:rPr>
              <a:t>Сопротивление  в цепи переменного тока</a:t>
            </a:r>
          </a:p>
        </p:txBody>
      </p:sp>
      <p:pic>
        <p:nvPicPr>
          <p:cNvPr id="6147" name="Picture 5">
            <a:extLst>
              <a:ext uri="{FF2B5EF4-FFF2-40B4-BE49-F238E27FC236}">
                <a16:creationId xmlns:a16="http://schemas.microsoft.com/office/drawing/2014/main" id="{584B61B9-10D0-468F-A747-3887811ABBF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85939" y="1141565"/>
            <a:ext cx="2089150" cy="157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 Box 6">
            <a:extLst>
              <a:ext uri="{FF2B5EF4-FFF2-40B4-BE49-F238E27FC236}">
                <a16:creationId xmlns:a16="http://schemas.microsoft.com/office/drawing/2014/main" id="{63E3DBA7-BD3D-44BD-89B9-133C69A4DF82}"/>
              </a:ext>
            </a:extLst>
          </p:cNvPr>
          <p:cNvSpPr txBox="1">
            <a:spLocks noChangeArrowheads="1"/>
          </p:cNvSpPr>
          <p:nvPr/>
        </p:nvSpPr>
        <p:spPr bwMode="auto">
          <a:xfrm>
            <a:off x="4357686" y="1087821"/>
            <a:ext cx="7128358"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2400" dirty="0">
                <a:latin typeface="Times New Roman" panose="02020603050405020304" pitchFamily="18" charset="0"/>
                <a:cs typeface="Times New Roman" panose="02020603050405020304" pitchFamily="18" charset="0"/>
              </a:rPr>
              <a:t>Пусть внешняя цепь имеет настолько малые индуктивность и емкость, что ими можно пренебречь. Пусть начальная фаза </a:t>
            </a:r>
            <a:r>
              <a:rPr lang="ru-RU" altLang="ru-RU" sz="2400" dirty="0">
                <a:solidFill>
                  <a:srgbClr val="FF0066"/>
                </a:solidFill>
                <a:latin typeface="Times New Roman" panose="02020603050405020304" pitchFamily="18" charset="0"/>
                <a:cs typeface="Times New Roman" panose="02020603050405020304" pitchFamily="18" charset="0"/>
              </a:rPr>
              <a:t>φ = 0</a:t>
            </a:r>
            <a:r>
              <a:rPr lang="ru-RU" altLang="ru-RU" sz="2400" dirty="0">
                <a:latin typeface="Times New Roman" panose="02020603050405020304" pitchFamily="18" charset="0"/>
                <a:cs typeface="Times New Roman" panose="02020603050405020304" pitchFamily="18" charset="0"/>
              </a:rPr>
              <a:t>. Ток через сопротивление изменяется по закону: </a:t>
            </a:r>
          </a:p>
        </p:txBody>
      </p:sp>
      <p:sp>
        <p:nvSpPr>
          <p:cNvPr id="6149" name="Text Box 7">
            <a:extLst>
              <a:ext uri="{FF2B5EF4-FFF2-40B4-BE49-F238E27FC236}">
                <a16:creationId xmlns:a16="http://schemas.microsoft.com/office/drawing/2014/main" id="{6DA1E6BE-943C-46A9-A03A-7AC3FC18D713}"/>
              </a:ext>
            </a:extLst>
          </p:cNvPr>
          <p:cNvSpPr txBox="1">
            <a:spLocks noChangeArrowheads="1"/>
          </p:cNvSpPr>
          <p:nvPr/>
        </p:nvSpPr>
        <p:spPr bwMode="auto">
          <a:xfrm>
            <a:off x="5864635" y="2615881"/>
            <a:ext cx="2663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pl-PL" altLang="ru-RU" sz="2400" dirty="0">
                <a:latin typeface="Times New Roman" panose="02020603050405020304" pitchFamily="18" charset="0"/>
              </a:rPr>
              <a:t>I</a:t>
            </a:r>
            <a:r>
              <a:rPr lang="ru-RU" altLang="ru-RU" sz="2400" dirty="0">
                <a:latin typeface="Times New Roman" panose="02020603050405020304" pitchFamily="18" charset="0"/>
              </a:rPr>
              <a:t> = </a:t>
            </a:r>
            <a:r>
              <a:rPr lang="pl-PL" altLang="ru-RU" sz="2400" dirty="0">
                <a:latin typeface="Times New Roman" panose="02020603050405020304" pitchFamily="18" charset="0"/>
              </a:rPr>
              <a:t>I</a:t>
            </a:r>
            <a:r>
              <a:rPr lang="ru-RU" altLang="ru-RU" sz="2400" baseline="-25000" dirty="0">
                <a:latin typeface="Times New Roman" panose="02020603050405020304" pitchFamily="18" charset="0"/>
              </a:rPr>
              <a:t>0</a:t>
            </a:r>
            <a:r>
              <a:rPr lang="ru-RU" altLang="ru-RU" sz="2400" dirty="0">
                <a:latin typeface="Times New Roman" panose="02020603050405020304" pitchFamily="18" charset="0"/>
              </a:rPr>
              <a:t>·</a:t>
            </a:r>
            <a:r>
              <a:rPr lang="pl-PL" altLang="ru-RU" sz="2400" dirty="0">
                <a:latin typeface="Times New Roman" panose="02020603050405020304" pitchFamily="18" charset="0"/>
              </a:rPr>
              <a:t>sin</a:t>
            </a:r>
            <a:r>
              <a:rPr lang="ru-RU" altLang="ru-RU" sz="2400" dirty="0">
                <a:latin typeface="Times New Roman" panose="02020603050405020304" pitchFamily="18" charset="0"/>
              </a:rPr>
              <a:t>(</a:t>
            </a:r>
            <a:r>
              <a:rPr lang="en-US" altLang="ru-RU" sz="2400" dirty="0">
                <a:latin typeface="Times New Roman" panose="02020603050405020304" pitchFamily="18" charset="0"/>
              </a:rPr>
              <a:t>ω</a:t>
            </a:r>
            <a:r>
              <a:rPr lang="pl-PL" altLang="ru-RU" sz="2400" dirty="0">
                <a:latin typeface="Times New Roman" panose="02020603050405020304" pitchFamily="18" charset="0"/>
              </a:rPr>
              <a:t>t</a:t>
            </a:r>
            <a:r>
              <a:rPr lang="ru-RU" altLang="ru-RU" sz="2400" dirty="0">
                <a:latin typeface="Times New Roman" panose="02020603050405020304" pitchFamily="18" charset="0"/>
              </a:rPr>
              <a:t>+</a:t>
            </a:r>
            <a:r>
              <a:rPr lang="en-US" altLang="ru-RU" sz="2400" dirty="0">
                <a:latin typeface="Times New Roman" panose="02020603050405020304" pitchFamily="18" charset="0"/>
              </a:rPr>
              <a:t>φ</a:t>
            </a:r>
            <a:r>
              <a:rPr lang="ru-RU" altLang="ru-RU" sz="2400" dirty="0">
                <a:latin typeface="Times New Roman" panose="02020603050405020304" pitchFamily="18" charset="0"/>
              </a:rPr>
              <a:t>) </a:t>
            </a:r>
          </a:p>
        </p:txBody>
      </p:sp>
      <p:sp>
        <p:nvSpPr>
          <p:cNvPr id="6150" name="Text Box 8">
            <a:extLst>
              <a:ext uri="{FF2B5EF4-FFF2-40B4-BE49-F238E27FC236}">
                <a16:creationId xmlns:a16="http://schemas.microsoft.com/office/drawing/2014/main" id="{DDAEE34F-4524-4051-B4BE-D534C229281C}"/>
              </a:ext>
            </a:extLst>
          </p:cNvPr>
          <p:cNvSpPr txBox="1">
            <a:spLocks noChangeArrowheads="1"/>
          </p:cNvSpPr>
          <p:nvPr/>
        </p:nvSpPr>
        <p:spPr bwMode="auto">
          <a:xfrm>
            <a:off x="1701908" y="3135140"/>
            <a:ext cx="8788184"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ru-RU" altLang="ru-RU" sz="2800" dirty="0">
                <a:latin typeface="Times New Roman" panose="02020603050405020304" pitchFamily="18" charset="0"/>
              </a:rPr>
              <a:t>По закону Ома для однородного участка цепи </a:t>
            </a:r>
            <a:r>
              <a:rPr lang="ru-RU" altLang="ru-RU" sz="2800" b="1" u="sng" dirty="0">
                <a:solidFill>
                  <a:srgbClr val="FF0066"/>
                </a:solidFill>
                <a:latin typeface="Times New Roman" panose="02020603050405020304" pitchFamily="18" charset="0"/>
              </a:rPr>
              <a:t>а</a:t>
            </a:r>
            <a:r>
              <a:rPr lang="en-US" altLang="ru-RU" sz="2800" b="1" u="sng" dirty="0" err="1">
                <a:solidFill>
                  <a:srgbClr val="FF0066"/>
                </a:solidFill>
                <a:latin typeface="Times New Roman" panose="02020603050405020304" pitchFamily="18" charset="0"/>
              </a:rPr>
              <a:t>Rδ</a:t>
            </a:r>
            <a:r>
              <a:rPr lang="ru-RU" altLang="ru-RU" sz="2800" dirty="0">
                <a:latin typeface="Times New Roman" panose="02020603050405020304" pitchFamily="18" charset="0"/>
              </a:rPr>
              <a:t>:                 </a:t>
            </a:r>
            <a:br>
              <a:rPr lang="ru-RU" altLang="ru-RU" sz="2800" dirty="0">
                <a:latin typeface="Times New Roman" panose="02020603050405020304" pitchFamily="18" charset="0"/>
              </a:rPr>
            </a:br>
            <a:r>
              <a:rPr lang="ru-RU" altLang="ru-RU" sz="2800" dirty="0">
                <a:latin typeface="Times New Roman" panose="02020603050405020304" pitchFamily="18" charset="0"/>
              </a:rPr>
              <a:t> </a:t>
            </a:r>
            <a:r>
              <a:rPr lang="pl-PL" altLang="ru-RU" sz="2800" dirty="0">
                <a:latin typeface="Times New Roman" panose="02020603050405020304" pitchFamily="18" charset="0"/>
              </a:rPr>
              <a:t>U = I·R = I</a:t>
            </a:r>
            <a:r>
              <a:rPr lang="pl-PL" altLang="ru-RU" sz="2800" baseline="-25000" dirty="0">
                <a:latin typeface="Times New Roman" panose="02020603050405020304" pitchFamily="18" charset="0"/>
              </a:rPr>
              <a:t>0</a:t>
            </a:r>
            <a:r>
              <a:rPr lang="pl-PL" altLang="ru-RU" sz="2800" dirty="0">
                <a:latin typeface="Times New Roman" panose="02020603050405020304" pitchFamily="18" charset="0"/>
              </a:rPr>
              <a:t>·R·sin</a:t>
            </a:r>
            <a:r>
              <a:rPr lang="en-US" altLang="ru-RU" sz="2800" dirty="0">
                <a:latin typeface="Times New Roman" panose="02020603050405020304" pitchFamily="18" charset="0"/>
              </a:rPr>
              <a:t>ω</a:t>
            </a:r>
            <a:r>
              <a:rPr lang="pl-PL" altLang="ru-RU" sz="2800" dirty="0">
                <a:latin typeface="Times New Roman" panose="02020603050405020304" pitchFamily="18" charset="0"/>
              </a:rPr>
              <a:t>t.</a:t>
            </a:r>
            <a:endParaRPr lang="ru-RU" altLang="ru-RU" sz="2800" dirty="0">
              <a:latin typeface="Times New Roman" panose="02020603050405020304" pitchFamily="18" charset="0"/>
            </a:endParaRPr>
          </a:p>
        </p:txBody>
      </p:sp>
      <p:sp>
        <p:nvSpPr>
          <p:cNvPr id="6151" name="Text Box 9">
            <a:extLst>
              <a:ext uri="{FF2B5EF4-FFF2-40B4-BE49-F238E27FC236}">
                <a16:creationId xmlns:a16="http://schemas.microsoft.com/office/drawing/2014/main" id="{8E3B28A8-400D-4816-8E82-FFB5B2B15196}"/>
              </a:ext>
            </a:extLst>
          </p:cNvPr>
          <p:cNvSpPr txBox="1">
            <a:spLocks noChangeArrowheads="1"/>
          </p:cNvSpPr>
          <p:nvPr/>
        </p:nvSpPr>
        <p:spPr bwMode="auto">
          <a:xfrm>
            <a:off x="424754" y="4244506"/>
            <a:ext cx="11297264"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dirty="0">
                <a:latin typeface="Times New Roman" panose="02020603050405020304" pitchFamily="18" charset="0"/>
              </a:rPr>
              <a:t>Таким образом, напряжение на концах участка цепи изменяется также по синусоидальному закону, причем разность фаз между колебаниями силы тока </a:t>
            </a:r>
            <a:r>
              <a:rPr lang="pl-PL" altLang="ru-RU" b="1" dirty="0">
                <a:solidFill>
                  <a:srgbClr val="FF0066"/>
                </a:solidFill>
                <a:latin typeface="Times New Roman" panose="02020603050405020304" pitchFamily="18" charset="0"/>
              </a:rPr>
              <a:t>I</a:t>
            </a:r>
            <a:r>
              <a:rPr lang="ru-RU" altLang="ru-RU" dirty="0">
                <a:latin typeface="Times New Roman" panose="02020603050405020304" pitchFamily="18" charset="0"/>
              </a:rPr>
              <a:t> и напряжения </a:t>
            </a:r>
            <a:r>
              <a:rPr lang="pl-PL" altLang="ru-RU" b="1" dirty="0">
                <a:solidFill>
                  <a:srgbClr val="FF0066"/>
                </a:solidFill>
                <a:latin typeface="Times New Roman" panose="02020603050405020304" pitchFamily="18" charset="0"/>
              </a:rPr>
              <a:t>U</a:t>
            </a:r>
            <a:r>
              <a:rPr lang="ru-RU" altLang="ru-RU" dirty="0">
                <a:latin typeface="Times New Roman" panose="02020603050405020304" pitchFamily="18" charset="0"/>
              </a:rPr>
              <a:t> равна нулю. </a:t>
            </a:r>
          </a:p>
        </p:txBody>
      </p:sp>
      <p:sp>
        <p:nvSpPr>
          <p:cNvPr id="4" name="Прямоугольник 3">
            <a:extLst>
              <a:ext uri="{FF2B5EF4-FFF2-40B4-BE49-F238E27FC236}">
                <a16:creationId xmlns:a16="http://schemas.microsoft.com/office/drawing/2014/main" id="{7D88558A-811A-4D01-8F9A-717DA1128CCB}"/>
              </a:ext>
            </a:extLst>
          </p:cNvPr>
          <p:cNvSpPr/>
          <p:nvPr/>
        </p:nvSpPr>
        <p:spPr>
          <a:xfrm>
            <a:off x="1291399" y="94079"/>
            <a:ext cx="1479892" cy="369332"/>
          </a:xfrm>
          <a:prstGeom prst="rect">
            <a:avLst/>
          </a:prstGeom>
        </p:spPr>
        <p:txBody>
          <a:bodyPr wrap="none">
            <a:spAutoFit/>
          </a:bodyPr>
          <a:lstStyle/>
          <a:p>
            <a:pPr>
              <a:defRPr/>
            </a:pPr>
            <a:r>
              <a:rPr lang="ru-RU" dirty="0">
                <a:solidFill>
                  <a:schemeClr val="bg1"/>
                </a:solidFill>
              </a:rPr>
              <a:t>Кафедра ТЭЦ</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ext Box 4">
            <a:extLst>
              <a:ext uri="{FF2B5EF4-FFF2-40B4-BE49-F238E27FC236}">
                <a16:creationId xmlns:a16="http://schemas.microsoft.com/office/drawing/2014/main" id="{6546532B-7D8D-41AC-829D-7E2E0CBD65B0}"/>
              </a:ext>
            </a:extLst>
          </p:cNvPr>
          <p:cNvSpPr txBox="1">
            <a:spLocks noChangeArrowheads="1"/>
          </p:cNvSpPr>
          <p:nvPr/>
        </p:nvSpPr>
        <p:spPr bwMode="auto">
          <a:xfrm>
            <a:off x="2470653" y="558801"/>
            <a:ext cx="6840537" cy="457200"/>
          </a:xfrm>
          <a:prstGeom prst="rect">
            <a:avLst/>
          </a:prstGeom>
          <a:noFill/>
          <a:ln w="9525">
            <a:noFill/>
            <a:miter lim="800000"/>
            <a:headEnd/>
            <a:tailEnd/>
          </a:ln>
          <a:effectLst/>
        </p:spPr>
        <p:txBody>
          <a:bodyPr>
            <a:spAutoFit/>
          </a:bodyPr>
          <a:lstStyle/>
          <a:p>
            <a:pPr eaLnBrk="1" hangingPunct="1">
              <a:spcBef>
                <a:spcPct val="50000"/>
              </a:spcBef>
              <a:defRPr/>
            </a:pPr>
            <a:r>
              <a:rPr lang="ru-RU" sz="2400" b="1" u="sng" dirty="0">
                <a:solidFill>
                  <a:srgbClr val="660066"/>
                </a:solidFill>
                <a:effectLst>
                  <a:outerShdw blurRad="38100" dist="38100" dir="2700000" algn="tl">
                    <a:srgbClr val="C0C0C0"/>
                  </a:outerShdw>
                </a:effectLst>
                <a:latin typeface="Arial" charset="0"/>
                <a:cs typeface="Arial" charset="0"/>
              </a:rPr>
              <a:t>Сопротивление  в цепи переменного тока</a:t>
            </a:r>
          </a:p>
        </p:txBody>
      </p:sp>
      <p:sp>
        <p:nvSpPr>
          <p:cNvPr id="6154" name="Text Box 10">
            <a:extLst>
              <a:ext uri="{FF2B5EF4-FFF2-40B4-BE49-F238E27FC236}">
                <a16:creationId xmlns:a16="http://schemas.microsoft.com/office/drawing/2014/main" id="{04A3DD64-1A25-4402-9948-93127459417C}"/>
              </a:ext>
            </a:extLst>
          </p:cNvPr>
          <p:cNvSpPr txBox="1">
            <a:spLocks noChangeArrowheads="1"/>
          </p:cNvSpPr>
          <p:nvPr/>
        </p:nvSpPr>
        <p:spPr bwMode="auto">
          <a:xfrm>
            <a:off x="1260938" y="1435872"/>
            <a:ext cx="8360910" cy="523220"/>
          </a:xfrm>
          <a:prstGeom prst="rect">
            <a:avLst/>
          </a:prstGeom>
          <a:noFill/>
          <a:ln w="9525">
            <a:noFill/>
            <a:miter lim="800000"/>
            <a:headEnd/>
            <a:tailEnd/>
          </a:ln>
          <a:effectLst/>
        </p:spPr>
        <p:txBody>
          <a:bodyPr wrap="square">
            <a:spAutoFit/>
          </a:bodyPr>
          <a:lstStyle/>
          <a:p>
            <a:pPr eaLnBrk="1" hangingPunct="1">
              <a:spcBef>
                <a:spcPct val="50000"/>
              </a:spcBef>
              <a:defRPr/>
            </a:pPr>
            <a:r>
              <a:rPr lang="ru-RU" sz="2800" dirty="0">
                <a:latin typeface="Times New Roman" pitchFamily="18" charset="0"/>
                <a:cs typeface="Arial" charset="0"/>
              </a:rPr>
              <a:t>Максимальное значение </a:t>
            </a:r>
            <a:r>
              <a:rPr lang="pl-PL" sz="2800" dirty="0">
                <a:latin typeface="Times New Roman" pitchFamily="18" charset="0"/>
                <a:cs typeface="Arial" charset="0"/>
              </a:rPr>
              <a:t>U</a:t>
            </a:r>
            <a:r>
              <a:rPr lang="ru-RU" sz="2800" dirty="0">
                <a:latin typeface="Times New Roman" pitchFamily="18" charset="0"/>
                <a:cs typeface="Arial" charset="0"/>
              </a:rPr>
              <a:t> равно: </a:t>
            </a:r>
            <a:r>
              <a:rPr lang="pl-PL" sz="2800" b="1" dirty="0">
                <a:effectLst>
                  <a:outerShdw blurRad="38100" dist="38100" dir="2700000" algn="tl">
                    <a:srgbClr val="C0C0C0"/>
                  </a:outerShdw>
                </a:effectLst>
                <a:latin typeface="Times New Roman" pitchFamily="18" charset="0"/>
                <a:cs typeface="Arial" charset="0"/>
              </a:rPr>
              <a:t>U</a:t>
            </a:r>
            <a:r>
              <a:rPr lang="pl-PL" sz="2800" b="1" baseline="-25000" dirty="0">
                <a:effectLst>
                  <a:outerShdw blurRad="38100" dist="38100" dir="2700000" algn="tl">
                    <a:srgbClr val="C0C0C0"/>
                  </a:outerShdw>
                </a:effectLst>
                <a:latin typeface="Times New Roman" pitchFamily="18" charset="0"/>
                <a:cs typeface="Arial" charset="0"/>
              </a:rPr>
              <a:t>0</a:t>
            </a:r>
            <a:r>
              <a:rPr lang="en-GB" sz="2800" b="1" dirty="0">
                <a:effectLst>
                  <a:outerShdw blurRad="38100" dist="38100" dir="2700000" algn="tl">
                    <a:srgbClr val="C0C0C0"/>
                  </a:outerShdw>
                </a:effectLst>
                <a:latin typeface="Times New Roman" pitchFamily="18" charset="0"/>
                <a:cs typeface="Arial" charset="0"/>
              </a:rPr>
              <a:t>R </a:t>
            </a:r>
            <a:r>
              <a:rPr lang="pl-PL" sz="2800" b="1" dirty="0">
                <a:effectLst>
                  <a:outerShdw blurRad="38100" dist="38100" dir="2700000" algn="tl">
                    <a:srgbClr val="C0C0C0"/>
                  </a:outerShdw>
                </a:effectLst>
                <a:latin typeface="Times New Roman" pitchFamily="18" charset="0"/>
                <a:cs typeface="Arial" charset="0"/>
              </a:rPr>
              <a:t>= I</a:t>
            </a:r>
            <a:r>
              <a:rPr lang="pl-PL" sz="2800" b="1" baseline="-25000" dirty="0">
                <a:effectLst>
                  <a:outerShdw blurRad="38100" dist="38100" dir="2700000" algn="tl">
                    <a:srgbClr val="C0C0C0"/>
                  </a:outerShdw>
                </a:effectLst>
                <a:latin typeface="Times New Roman" pitchFamily="18" charset="0"/>
                <a:cs typeface="Arial" charset="0"/>
              </a:rPr>
              <a:t>0</a:t>
            </a:r>
            <a:r>
              <a:rPr lang="pl-PL" sz="2800" b="1" dirty="0">
                <a:effectLst>
                  <a:outerShdw blurRad="38100" dist="38100" dir="2700000" algn="tl">
                    <a:srgbClr val="C0C0C0"/>
                  </a:outerShdw>
                </a:effectLst>
                <a:latin typeface="Times New Roman" pitchFamily="18" charset="0"/>
                <a:cs typeface="Arial" charset="0"/>
              </a:rPr>
              <a:t>·R</a:t>
            </a:r>
            <a:r>
              <a:rPr lang="ru-RU" sz="2800" dirty="0">
                <a:latin typeface="Times New Roman" pitchFamily="18" charset="0"/>
                <a:cs typeface="Arial" charset="0"/>
              </a:rPr>
              <a:t> </a:t>
            </a:r>
          </a:p>
        </p:txBody>
      </p:sp>
      <p:sp>
        <p:nvSpPr>
          <p:cNvPr id="6153" name="Text Box 11">
            <a:extLst>
              <a:ext uri="{FF2B5EF4-FFF2-40B4-BE49-F238E27FC236}">
                <a16:creationId xmlns:a16="http://schemas.microsoft.com/office/drawing/2014/main" id="{65981587-A028-4016-BA55-1100FDCA8079}"/>
              </a:ext>
            </a:extLst>
          </p:cNvPr>
          <p:cNvSpPr txBox="1">
            <a:spLocks noChangeArrowheads="1"/>
          </p:cNvSpPr>
          <p:nvPr/>
        </p:nvSpPr>
        <p:spPr bwMode="auto">
          <a:xfrm>
            <a:off x="1260938" y="2093882"/>
            <a:ext cx="9191163"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2800" dirty="0">
                <a:latin typeface="Times New Roman" panose="02020603050405020304" pitchFamily="18" charset="0"/>
                <a:cs typeface="Times New Roman" panose="02020603050405020304" pitchFamily="18" charset="0"/>
              </a:rPr>
              <a:t>При небольших значениях частоты переменного тока активное сопротивление проводника не зависит от частоты и практически совпадает с его электрическим сопротивлением в цепи постоянного тока. </a:t>
            </a:r>
          </a:p>
        </p:txBody>
      </p:sp>
      <p:pic>
        <p:nvPicPr>
          <p:cNvPr id="4" name="Рисунок 3">
            <a:extLst>
              <a:ext uri="{FF2B5EF4-FFF2-40B4-BE49-F238E27FC236}">
                <a16:creationId xmlns:a16="http://schemas.microsoft.com/office/drawing/2014/main" id="{DC76281A-A6D4-49E6-9118-BCA548947752}"/>
              </a:ext>
            </a:extLst>
          </p:cNvPr>
          <p:cNvPicPr>
            <a:picLocks noChangeAspect="1"/>
          </p:cNvPicPr>
          <p:nvPr/>
        </p:nvPicPr>
        <p:blipFill>
          <a:blip r:embed="rId2"/>
          <a:stretch>
            <a:fillRect/>
          </a:stretch>
        </p:blipFill>
        <p:spPr>
          <a:xfrm>
            <a:off x="6955675" y="3781486"/>
            <a:ext cx="4962287" cy="2985855"/>
          </a:xfrm>
          <a:prstGeom prst="rect">
            <a:avLst/>
          </a:prstGeom>
        </p:spPr>
      </p:pic>
      <p:sp>
        <p:nvSpPr>
          <p:cNvPr id="14" name="Прямоугольник 13">
            <a:extLst>
              <a:ext uri="{FF2B5EF4-FFF2-40B4-BE49-F238E27FC236}">
                <a16:creationId xmlns:a16="http://schemas.microsoft.com/office/drawing/2014/main" id="{1C89326A-742F-4B99-902A-F591045A6AAE}"/>
              </a:ext>
            </a:extLst>
          </p:cNvPr>
          <p:cNvSpPr/>
          <p:nvPr/>
        </p:nvSpPr>
        <p:spPr>
          <a:xfrm>
            <a:off x="990761" y="122074"/>
            <a:ext cx="1479892" cy="369332"/>
          </a:xfrm>
          <a:prstGeom prst="rect">
            <a:avLst/>
          </a:prstGeom>
        </p:spPr>
        <p:txBody>
          <a:bodyPr wrap="none">
            <a:spAutoFit/>
          </a:bodyPr>
          <a:lstStyle/>
          <a:p>
            <a:pPr>
              <a:defRPr/>
            </a:pPr>
            <a:r>
              <a:rPr lang="ru-RU" dirty="0">
                <a:solidFill>
                  <a:schemeClr val="bg1"/>
                </a:solidFill>
              </a:rPr>
              <a:t>Кафедра ТЭЦ</a:t>
            </a:r>
          </a:p>
        </p:txBody>
      </p:sp>
    </p:spTree>
    <p:extLst>
      <p:ext uri="{BB962C8B-B14F-4D97-AF65-F5344CB8AC3E}">
        <p14:creationId xmlns:p14="http://schemas.microsoft.com/office/powerpoint/2010/main" val="37938092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4">
            <a:extLst>
              <a:ext uri="{FF2B5EF4-FFF2-40B4-BE49-F238E27FC236}">
                <a16:creationId xmlns:a16="http://schemas.microsoft.com/office/drawing/2014/main" id="{66CC88C6-268A-4023-8BB4-EC8E7C9C1C00}"/>
              </a:ext>
            </a:extLst>
          </p:cNvPr>
          <p:cNvSpPr txBox="1">
            <a:spLocks noChangeArrowheads="1"/>
          </p:cNvSpPr>
          <p:nvPr/>
        </p:nvSpPr>
        <p:spPr bwMode="auto">
          <a:xfrm>
            <a:off x="973394" y="620714"/>
            <a:ext cx="10913805"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2800" dirty="0">
                <a:latin typeface="Times New Roman" panose="02020603050405020304" pitchFamily="18" charset="0"/>
                <a:cs typeface="Times New Roman" panose="02020603050405020304" pitchFamily="18" charset="0"/>
              </a:rPr>
              <a:t>Следовательно, в проводнике с активным сопротивлением колебания силы тока по фазе совпадают с колебаниями напряжения, а амплитуда силы тока равна амплитуде напряжения, деленной на сопротивление: </a:t>
            </a:r>
          </a:p>
        </p:txBody>
      </p:sp>
      <p:pic>
        <p:nvPicPr>
          <p:cNvPr id="7171" name="Picture 6" descr="Img_Iper_Ref_002">
            <a:extLst>
              <a:ext uri="{FF2B5EF4-FFF2-40B4-BE49-F238E27FC236}">
                <a16:creationId xmlns:a16="http://schemas.microsoft.com/office/drawing/2014/main" id="{EA3CE86B-1E7E-4EE3-BB33-A5EFD1E26D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19722" y="3152253"/>
            <a:ext cx="4895850" cy="325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Прямоугольник 3">
            <a:extLst>
              <a:ext uri="{FF2B5EF4-FFF2-40B4-BE49-F238E27FC236}">
                <a16:creationId xmlns:a16="http://schemas.microsoft.com/office/drawing/2014/main" id="{FE824454-EA52-469B-9193-1FF957C4409A}"/>
              </a:ext>
            </a:extLst>
          </p:cNvPr>
          <p:cNvSpPr/>
          <p:nvPr/>
        </p:nvSpPr>
        <p:spPr>
          <a:xfrm>
            <a:off x="1291399" y="94079"/>
            <a:ext cx="1479892" cy="369332"/>
          </a:xfrm>
          <a:prstGeom prst="rect">
            <a:avLst/>
          </a:prstGeom>
        </p:spPr>
        <p:txBody>
          <a:bodyPr wrap="none">
            <a:spAutoFit/>
          </a:bodyPr>
          <a:lstStyle/>
          <a:p>
            <a:pPr>
              <a:defRPr/>
            </a:pPr>
            <a:r>
              <a:rPr lang="ru-RU" dirty="0">
                <a:solidFill>
                  <a:schemeClr val="bg1"/>
                </a:solidFill>
              </a:rPr>
              <a:t>Кафедра ТЭЦ</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4">
            <a:extLst>
              <a:ext uri="{FF2B5EF4-FFF2-40B4-BE49-F238E27FC236}">
                <a16:creationId xmlns:a16="http://schemas.microsoft.com/office/drawing/2014/main" id="{253027A3-F661-46F8-890A-5E9E9ECD4BC2}"/>
              </a:ext>
            </a:extLst>
          </p:cNvPr>
          <p:cNvSpPr txBox="1">
            <a:spLocks noChangeArrowheads="1"/>
          </p:cNvSpPr>
          <p:nvPr/>
        </p:nvSpPr>
        <p:spPr bwMode="auto">
          <a:xfrm>
            <a:off x="501445" y="856458"/>
            <a:ext cx="1087841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indent="360363" eaLnBrk="1" hangingPunct="1">
              <a:spcBef>
                <a:spcPct val="50000"/>
              </a:spcBef>
              <a:buFontTx/>
              <a:buNone/>
            </a:pPr>
            <a:r>
              <a:rPr lang="ru-RU" altLang="ru-RU" sz="2400" dirty="0">
                <a:latin typeface="Times New Roman" panose="02020603050405020304" pitchFamily="18" charset="0"/>
                <a:cs typeface="Times New Roman" panose="02020603050405020304" pitchFamily="18" charset="0"/>
              </a:rPr>
              <a:t>Амплитуду колебаний напряжения в цепи переменного тока можно выразить через амплитудные значения напряжения на отдельных ее элементах, воспользовавшись методом векторных диаграмм. </a:t>
            </a:r>
          </a:p>
        </p:txBody>
      </p:sp>
      <p:sp>
        <p:nvSpPr>
          <p:cNvPr id="8195" name="Text Box 5">
            <a:extLst>
              <a:ext uri="{FF2B5EF4-FFF2-40B4-BE49-F238E27FC236}">
                <a16:creationId xmlns:a16="http://schemas.microsoft.com/office/drawing/2014/main" id="{5CC2F300-E188-4AC3-A64C-2EB194FDDA86}"/>
              </a:ext>
            </a:extLst>
          </p:cNvPr>
          <p:cNvSpPr txBox="1">
            <a:spLocks noChangeArrowheads="1"/>
          </p:cNvSpPr>
          <p:nvPr/>
        </p:nvSpPr>
        <p:spPr bwMode="auto">
          <a:xfrm>
            <a:off x="388478" y="2510176"/>
            <a:ext cx="10926485"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2800" dirty="0">
                <a:latin typeface="Times New Roman" panose="02020603050405020304" pitchFamily="18" charset="0"/>
                <a:cs typeface="Times New Roman" panose="02020603050405020304" pitchFamily="18" charset="0"/>
              </a:rPr>
              <a:t>Выберем ось х диаграммы таким образом, чтобы вектор, изображающий колебания тока, был направлен вдоль этой оси. В дальнейшем мы будем называть ее </a:t>
            </a:r>
            <a:r>
              <a:rPr lang="ru-RU" altLang="ru-RU" sz="2800" b="1" i="1" dirty="0">
                <a:solidFill>
                  <a:srgbClr val="FF0066"/>
                </a:solidFill>
                <a:latin typeface="Times New Roman" panose="02020603050405020304" pitchFamily="18" charset="0"/>
                <a:cs typeface="Times New Roman" panose="02020603050405020304" pitchFamily="18" charset="0"/>
              </a:rPr>
              <a:t>осью токов</a:t>
            </a:r>
            <a:r>
              <a:rPr lang="ru-RU" altLang="ru-RU" sz="2800" dirty="0">
                <a:solidFill>
                  <a:srgbClr val="FF0066"/>
                </a:solidFill>
                <a:latin typeface="Times New Roman" panose="02020603050405020304" pitchFamily="18" charset="0"/>
                <a:cs typeface="Times New Roman" panose="02020603050405020304" pitchFamily="18" charset="0"/>
              </a:rPr>
              <a:t>.</a:t>
            </a:r>
            <a:r>
              <a:rPr lang="ru-RU" altLang="ru-RU" sz="2800" dirty="0">
                <a:latin typeface="Times New Roman" panose="02020603050405020304" pitchFamily="18" charset="0"/>
                <a:cs typeface="Times New Roman" panose="02020603050405020304" pitchFamily="18" charset="0"/>
              </a:rPr>
              <a:t> </a:t>
            </a:r>
          </a:p>
        </p:txBody>
      </p:sp>
      <p:sp>
        <p:nvSpPr>
          <p:cNvPr id="10246" name="Text Box 6">
            <a:extLst>
              <a:ext uri="{FF2B5EF4-FFF2-40B4-BE49-F238E27FC236}">
                <a16:creationId xmlns:a16="http://schemas.microsoft.com/office/drawing/2014/main" id="{4873917E-DCCD-4B34-9390-97E474B52C0E}"/>
              </a:ext>
            </a:extLst>
          </p:cNvPr>
          <p:cNvSpPr txBox="1">
            <a:spLocks noChangeArrowheads="1"/>
          </p:cNvSpPr>
          <p:nvPr/>
        </p:nvSpPr>
        <p:spPr bwMode="auto">
          <a:xfrm>
            <a:off x="3954697" y="556420"/>
            <a:ext cx="3542001" cy="369332"/>
          </a:xfrm>
          <a:prstGeom prst="rect">
            <a:avLst/>
          </a:prstGeom>
          <a:noFill/>
          <a:ln w="9525">
            <a:noFill/>
            <a:miter lim="800000"/>
            <a:headEnd/>
            <a:tailEnd/>
          </a:ln>
          <a:effectLst/>
        </p:spPr>
        <p:txBody>
          <a:bodyPr wrap="square">
            <a:spAutoFit/>
          </a:bodyPr>
          <a:lstStyle/>
          <a:p>
            <a:pPr eaLnBrk="1" hangingPunct="1">
              <a:spcBef>
                <a:spcPct val="50000"/>
              </a:spcBef>
              <a:defRPr/>
            </a:pPr>
            <a:r>
              <a:rPr lang="ru-RU" b="1" u="sng" dirty="0">
                <a:effectLst>
                  <a:outerShdw blurRad="38100" dist="38100" dir="2700000" algn="tl">
                    <a:srgbClr val="C0C0C0"/>
                  </a:outerShdw>
                </a:effectLst>
                <a:latin typeface="Arial" charset="0"/>
                <a:cs typeface="Arial" charset="0"/>
              </a:rPr>
              <a:t>Метод векторных диаграмм</a:t>
            </a:r>
          </a:p>
        </p:txBody>
      </p:sp>
      <p:grpSp>
        <p:nvGrpSpPr>
          <p:cNvPr id="8197" name="Group 9">
            <a:extLst>
              <a:ext uri="{FF2B5EF4-FFF2-40B4-BE49-F238E27FC236}">
                <a16:creationId xmlns:a16="http://schemas.microsoft.com/office/drawing/2014/main" id="{D4AC71EC-C95F-4551-AD47-FB20B261DAB8}"/>
              </a:ext>
            </a:extLst>
          </p:cNvPr>
          <p:cNvGrpSpPr>
            <a:grpSpLocks/>
          </p:cNvGrpSpPr>
          <p:nvPr/>
        </p:nvGrpSpPr>
        <p:grpSpPr bwMode="auto">
          <a:xfrm>
            <a:off x="3029872" y="2002345"/>
            <a:ext cx="5183188" cy="457200"/>
            <a:chOff x="930" y="1117"/>
            <a:chExt cx="3265" cy="288"/>
          </a:xfrm>
        </p:grpSpPr>
        <p:sp>
          <p:nvSpPr>
            <p:cNvPr id="8200" name="Line 7">
              <a:extLst>
                <a:ext uri="{FF2B5EF4-FFF2-40B4-BE49-F238E27FC236}">
                  <a16:creationId xmlns:a16="http://schemas.microsoft.com/office/drawing/2014/main" id="{80249F2B-56D8-4DBD-BBEB-7697D53C93E7}"/>
                </a:ext>
              </a:extLst>
            </p:cNvPr>
            <p:cNvSpPr>
              <a:spLocks noChangeShapeType="1"/>
            </p:cNvSpPr>
            <p:nvPr/>
          </p:nvSpPr>
          <p:spPr bwMode="auto">
            <a:xfrm>
              <a:off x="930" y="1298"/>
              <a:ext cx="281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ru-RU"/>
            </a:p>
          </p:txBody>
        </p:sp>
        <p:sp>
          <p:nvSpPr>
            <p:cNvPr id="8201" name="Text Box 8">
              <a:extLst>
                <a:ext uri="{FF2B5EF4-FFF2-40B4-BE49-F238E27FC236}">
                  <a16:creationId xmlns:a16="http://schemas.microsoft.com/office/drawing/2014/main" id="{5567E045-5043-43D0-8179-9C0FD59F2F70}"/>
                </a:ext>
              </a:extLst>
            </p:cNvPr>
            <p:cNvSpPr txBox="1">
              <a:spLocks noChangeArrowheads="1"/>
            </p:cNvSpPr>
            <p:nvPr/>
          </p:nvSpPr>
          <p:spPr bwMode="auto">
            <a:xfrm>
              <a:off x="3787" y="1117"/>
              <a:ext cx="4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ru-RU" sz="2400" b="1">
                  <a:latin typeface="Times New Roman" panose="02020603050405020304" pitchFamily="18" charset="0"/>
                </a:rPr>
                <a:t>I</a:t>
              </a:r>
              <a:r>
                <a:rPr lang="en-US" altLang="ru-RU" sz="2400" b="1" baseline="-25000">
                  <a:latin typeface="Times New Roman" panose="02020603050405020304" pitchFamily="18" charset="0"/>
                </a:rPr>
                <a:t>0</a:t>
              </a:r>
              <a:endParaRPr lang="ru-RU" altLang="ru-RU" sz="2400" b="1" baseline="-25000">
                <a:latin typeface="Times New Roman" panose="02020603050405020304" pitchFamily="18" charset="0"/>
              </a:endParaRPr>
            </a:p>
          </p:txBody>
        </p:sp>
      </p:grpSp>
      <p:pic>
        <p:nvPicPr>
          <p:cNvPr id="8198" name="Picture 11">
            <a:extLst>
              <a:ext uri="{FF2B5EF4-FFF2-40B4-BE49-F238E27FC236}">
                <a16:creationId xmlns:a16="http://schemas.microsoft.com/office/drawing/2014/main" id="{6EA5100B-19F3-4A57-B4DE-4D2B30BBD64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08438" y="5221289"/>
            <a:ext cx="4248150" cy="146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9" name="Text Box 12">
            <a:extLst>
              <a:ext uri="{FF2B5EF4-FFF2-40B4-BE49-F238E27FC236}">
                <a16:creationId xmlns:a16="http://schemas.microsoft.com/office/drawing/2014/main" id="{DE497884-938F-4CD1-AAA4-DD1A35F863C1}"/>
              </a:ext>
            </a:extLst>
          </p:cNvPr>
          <p:cNvSpPr txBox="1">
            <a:spLocks noChangeArrowheads="1"/>
          </p:cNvSpPr>
          <p:nvPr/>
        </p:nvSpPr>
        <p:spPr bwMode="auto">
          <a:xfrm>
            <a:off x="300866" y="3893273"/>
            <a:ext cx="11502655"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2800" dirty="0">
                <a:latin typeface="Times New Roman" panose="02020603050405020304" pitchFamily="18" charset="0"/>
              </a:rPr>
              <a:t>Так как угол φ между колебаниями напряжения и тока на резисторе</a:t>
            </a:r>
            <a:r>
              <a:rPr lang="en-US" altLang="ru-RU" sz="2800" dirty="0">
                <a:latin typeface="Times New Roman" panose="02020603050405020304" pitchFamily="18" charset="0"/>
              </a:rPr>
              <a:t> </a:t>
            </a:r>
            <a:r>
              <a:rPr lang="ru-RU" altLang="ru-RU" sz="2800" dirty="0">
                <a:latin typeface="Times New Roman" panose="02020603050405020304" pitchFamily="18" charset="0"/>
              </a:rPr>
              <a:t>равен нулю, то вектор, изображающий колебания напряжения на сопротивлении </a:t>
            </a:r>
            <a:r>
              <a:rPr lang="pl-PL" altLang="ru-RU" sz="2800" dirty="0">
                <a:latin typeface="Times New Roman" panose="02020603050405020304" pitchFamily="18" charset="0"/>
              </a:rPr>
              <a:t>R</a:t>
            </a:r>
            <a:r>
              <a:rPr lang="ru-RU" altLang="ru-RU" sz="2800" dirty="0">
                <a:latin typeface="Times New Roman" panose="02020603050405020304" pitchFamily="18" charset="0"/>
              </a:rPr>
              <a:t>, будет направлен вдоль оси токов. Длина его равна </a:t>
            </a:r>
            <a:r>
              <a:rPr lang="pl-PL" altLang="ru-RU" sz="2800" b="1" dirty="0">
                <a:solidFill>
                  <a:srgbClr val="FF0066"/>
                </a:solidFill>
                <a:latin typeface="Times New Roman" panose="02020603050405020304" pitchFamily="18" charset="0"/>
              </a:rPr>
              <a:t>I</a:t>
            </a:r>
            <a:r>
              <a:rPr lang="ru-RU" altLang="ru-RU" sz="2800" b="1" baseline="-25000" dirty="0">
                <a:solidFill>
                  <a:srgbClr val="FF0066"/>
                </a:solidFill>
                <a:latin typeface="Times New Roman" panose="02020603050405020304" pitchFamily="18" charset="0"/>
              </a:rPr>
              <a:t>0</a:t>
            </a:r>
            <a:r>
              <a:rPr lang="ru-RU" altLang="ru-RU" sz="2800" b="1" dirty="0">
                <a:solidFill>
                  <a:srgbClr val="FF0066"/>
                </a:solidFill>
                <a:latin typeface="Times New Roman" panose="02020603050405020304" pitchFamily="18" charset="0"/>
              </a:rPr>
              <a:t>·</a:t>
            </a:r>
            <a:r>
              <a:rPr lang="pl-PL" altLang="ru-RU" sz="2800" b="1" dirty="0">
                <a:solidFill>
                  <a:srgbClr val="FF0066"/>
                </a:solidFill>
                <a:latin typeface="Times New Roman" panose="02020603050405020304" pitchFamily="18" charset="0"/>
              </a:rPr>
              <a:t>R</a:t>
            </a:r>
            <a:r>
              <a:rPr lang="ru-RU" altLang="ru-RU" sz="2800" dirty="0">
                <a:latin typeface="Times New Roman" panose="02020603050405020304" pitchFamily="18" charset="0"/>
              </a:rPr>
              <a:t>. </a:t>
            </a:r>
          </a:p>
        </p:txBody>
      </p:sp>
      <p:sp>
        <p:nvSpPr>
          <p:cNvPr id="10" name="Прямоугольник 9">
            <a:extLst>
              <a:ext uri="{FF2B5EF4-FFF2-40B4-BE49-F238E27FC236}">
                <a16:creationId xmlns:a16="http://schemas.microsoft.com/office/drawing/2014/main" id="{A5D9119D-F442-4DE1-B3DC-F2BD06176FB2}"/>
              </a:ext>
            </a:extLst>
          </p:cNvPr>
          <p:cNvSpPr/>
          <p:nvPr/>
        </p:nvSpPr>
        <p:spPr>
          <a:xfrm>
            <a:off x="1291399" y="94079"/>
            <a:ext cx="1479892" cy="369332"/>
          </a:xfrm>
          <a:prstGeom prst="rect">
            <a:avLst/>
          </a:prstGeom>
        </p:spPr>
        <p:txBody>
          <a:bodyPr wrap="none">
            <a:spAutoFit/>
          </a:bodyPr>
          <a:lstStyle/>
          <a:p>
            <a:pPr>
              <a:defRPr/>
            </a:pPr>
            <a:r>
              <a:rPr lang="ru-RU" dirty="0">
                <a:solidFill>
                  <a:schemeClr val="bg1"/>
                </a:solidFill>
              </a:rPr>
              <a:t>Кафедра ТЭЦ</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Text Box 4">
            <a:extLst>
              <a:ext uri="{FF2B5EF4-FFF2-40B4-BE49-F238E27FC236}">
                <a16:creationId xmlns:a16="http://schemas.microsoft.com/office/drawing/2014/main" id="{BA9754D8-076B-401F-BB49-E587AE5FCD59}"/>
              </a:ext>
            </a:extLst>
          </p:cNvPr>
          <p:cNvSpPr txBox="1">
            <a:spLocks noChangeArrowheads="1"/>
          </p:cNvSpPr>
          <p:nvPr/>
        </p:nvSpPr>
        <p:spPr bwMode="auto">
          <a:xfrm>
            <a:off x="3041650" y="-19050"/>
            <a:ext cx="6726238" cy="457200"/>
          </a:xfrm>
          <a:prstGeom prst="rect">
            <a:avLst/>
          </a:prstGeom>
          <a:noFill/>
          <a:ln w="9525">
            <a:noFill/>
            <a:miter lim="800000"/>
            <a:headEnd/>
            <a:tailEnd/>
          </a:ln>
          <a:effectLst/>
        </p:spPr>
        <p:txBody>
          <a:bodyPr>
            <a:spAutoFit/>
          </a:bodyPr>
          <a:lstStyle/>
          <a:p>
            <a:pPr eaLnBrk="1" hangingPunct="1">
              <a:spcBef>
                <a:spcPct val="50000"/>
              </a:spcBef>
              <a:defRPr/>
            </a:pPr>
            <a:r>
              <a:rPr lang="ru-RU" sz="2400" b="1" i="1">
                <a:solidFill>
                  <a:srgbClr val="FF0066"/>
                </a:solidFill>
                <a:effectLst>
                  <a:outerShdw blurRad="38100" dist="38100" dir="2700000" algn="tl">
                    <a:srgbClr val="C0C0C0"/>
                  </a:outerShdw>
                </a:effectLst>
                <a:latin typeface="Arial" charset="0"/>
                <a:cs typeface="Arial" charset="0"/>
              </a:rPr>
              <a:t>Конденсатор в цепи переменного тока</a:t>
            </a:r>
          </a:p>
        </p:txBody>
      </p:sp>
      <p:sp>
        <p:nvSpPr>
          <p:cNvPr id="9219" name="Text Box 5">
            <a:extLst>
              <a:ext uri="{FF2B5EF4-FFF2-40B4-BE49-F238E27FC236}">
                <a16:creationId xmlns:a16="http://schemas.microsoft.com/office/drawing/2014/main" id="{4AFFCE80-D765-447F-8F55-4E09C73FC2A7}"/>
              </a:ext>
            </a:extLst>
          </p:cNvPr>
          <p:cNvSpPr txBox="1">
            <a:spLocks noChangeArrowheads="1"/>
          </p:cNvSpPr>
          <p:nvPr/>
        </p:nvSpPr>
        <p:spPr bwMode="auto">
          <a:xfrm>
            <a:off x="425134" y="674083"/>
            <a:ext cx="115859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800" dirty="0"/>
              <a:t>Рассмотрим процессы, протекающие в электрической цепи переменного тока с конденсатором. </a:t>
            </a:r>
          </a:p>
        </p:txBody>
      </p:sp>
      <p:sp>
        <p:nvSpPr>
          <p:cNvPr id="2" name="Text Box 6">
            <a:extLst>
              <a:ext uri="{FF2B5EF4-FFF2-40B4-BE49-F238E27FC236}">
                <a16:creationId xmlns:a16="http://schemas.microsoft.com/office/drawing/2014/main" id="{EE0FD738-9EDA-49AC-83A4-4A2CB3D9D020}"/>
              </a:ext>
            </a:extLst>
          </p:cNvPr>
          <p:cNvSpPr txBox="1">
            <a:spLocks noChangeArrowheads="1"/>
          </p:cNvSpPr>
          <p:nvPr/>
        </p:nvSpPr>
        <p:spPr bwMode="auto">
          <a:xfrm>
            <a:off x="443706" y="1251377"/>
            <a:ext cx="10806363"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800" dirty="0"/>
              <a:t>Пусть напряжение подано на емкость. Индуктивностью цепи и сопротивлением проводов пренебрегаем, поэтому напряжение на конденсаторе можно считать равным внешнему напряжению. </a:t>
            </a:r>
          </a:p>
        </p:txBody>
      </p:sp>
      <p:pic>
        <p:nvPicPr>
          <p:cNvPr id="9221" name="Picture 7">
            <a:extLst>
              <a:ext uri="{FF2B5EF4-FFF2-40B4-BE49-F238E27FC236}">
                <a16:creationId xmlns:a16="http://schemas.microsoft.com/office/drawing/2014/main" id="{D595C8FB-C983-4866-93A2-CCA2CE982B0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63750" y="2492375"/>
            <a:ext cx="2592388" cy="179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2" name="Text Box 8">
            <a:extLst>
              <a:ext uri="{FF2B5EF4-FFF2-40B4-BE49-F238E27FC236}">
                <a16:creationId xmlns:a16="http://schemas.microsoft.com/office/drawing/2014/main" id="{28A3FACA-EEE2-4F64-B8B5-09A75CEE387D}"/>
              </a:ext>
            </a:extLst>
          </p:cNvPr>
          <p:cNvSpPr txBox="1">
            <a:spLocks noChangeArrowheads="1"/>
          </p:cNvSpPr>
          <p:nvPr/>
        </p:nvSpPr>
        <p:spPr bwMode="auto">
          <a:xfrm>
            <a:off x="5951538" y="2349501"/>
            <a:ext cx="424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800">
                <a:latin typeface="Times New Roman" panose="02020603050405020304" pitchFamily="18" charset="0"/>
              </a:rPr>
              <a:t>φ</a:t>
            </a:r>
            <a:r>
              <a:rPr lang="ru-RU" altLang="ru-RU" sz="1800" baseline="-25000">
                <a:latin typeface="Times New Roman" panose="02020603050405020304" pitchFamily="18" charset="0"/>
              </a:rPr>
              <a:t>А</a:t>
            </a:r>
            <a:r>
              <a:rPr lang="pl-PL" altLang="ru-RU" sz="1800">
                <a:latin typeface="Times New Roman" panose="02020603050405020304" pitchFamily="18" charset="0"/>
              </a:rPr>
              <a:t>-</a:t>
            </a:r>
            <a:r>
              <a:rPr lang="ru-RU" altLang="ru-RU" sz="1800">
                <a:latin typeface="Times New Roman" panose="02020603050405020304" pitchFamily="18" charset="0"/>
              </a:rPr>
              <a:t>φ</a:t>
            </a:r>
            <a:r>
              <a:rPr lang="ru-RU" altLang="ru-RU" sz="1800" baseline="-25000">
                <a:latin typeface="Times New Roman" panose="02020603050405020304" pitchFamily="18" charset="0"/>
              </a:rPr>
              <a:t>В</a:t>
            </a:r>
            <a:r>
              <a:rPr lang="pl-PL" altLang="ru-RU" sz="1800">
                <a:latin typeface="Times New Roman" panose="02020603050405020304" pitchFamily="18" charset="0"/>
              </a:rPr>
              <a:t> = U = q/C, </a:t>
            </a:r>
            <a:r>
              <a:rPr lang="ru-RU" altLang="ru-RU" sz="1800">
                <a:latin typeface="Times New Roman" panose="02020603050405020304" pitchFamily="18" charset="0"/>
              </a:rPr>
              <a:t>но</a:t>
            </a:r>
            <a:r>
              <a:rPr lang="pl-PL" altLang="ru-RU" sz="1800">
                <a:latin typeface="Times New Roman" panose="02020603050405020304" pitchFamily="18" charset="0"/>
              </a:rPr>
              <a:t> I = dq/dt,</a:t>
            </a:r>
            <a:r>
              <a:rPr lang="ru-RU" altLang="ru-RU" sz="1800">
                <a:latin typeface="Times New Roman" panose="02020603050405020304" pitchFamily="18" charset="0"/>
              </a:rPr>
              <a:t> </a:t>
            </a:r>
          </a:p>
        </p:txBody>
      </p:sp>
      <p:sp>
        <p:nvSpPr>
          <p:cNvPr id="9223" name="Text Box 9">
            <a:extLst>
              <a:ext uri="{FF2B5EF4-FFF2-40B4-BE49-F238E27FC236}">
                <a16:creationId xmlns:a16="http://schemas.microsoft.com/office/drawing/2014/main" id="{9296613C-68D0-43B3-AF12-D19F8CBDB5D0}"/>
              </a:ext>
            </a:extLst>
          </p:cNvPr>
          <p:cNvSpPr txBox="1">
            <a:spLocks noChangeArrowheads="1"/>
          </p:cNvSpPr>
          <p:nvPr/>
        </p:nvSpPr>
        <p:spPr bwMode="auto">
          <a:xfrm>
            <a:off x="4872039" y="2924176"/>
            <a:ext cx="19446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800">
                <a:latin typeface="Times New Roman" panose="02020603050405020304" pitchFamily="18" charset="0"/>
              </a:rPr>
              <a:t>следовательно, </a:t>
            </a:r>
          </a:p>
        </p:txBody>
      </p:sp>
      <p:graphicFrame>
        <p:nvGraphicFramePr>
          <p:cNvPr id="9224" name="Object 10">
            <a:extLst>
              <a:ext uri="{FF2B5EF4-FFF2-40B4-BE49-F238E27FC236}">
                <a16:creationId xmlns:a16="http://schemas.microsoft.com/office/drawing/2014/main" id="{316A5E57-3733-49D9-9678-445DE9D0FB9D}"/>
              </a:ext>
            </a:extLst>
          </p:cNvPr>
          <p:cNvGraphicFramePr>
            <a:graphicFrameLocks noChangeAspect="1"/>
          </p:cNvGraphicFramePr>
          <p:nvPr/>
        </p:nvGraphicFramePr>
        <p:xfrm>
          <a:off x="6816725" y="2781301"/>
          <a:ext cx="1512888" cy="652463"/>
        </p:xfrm>
        <a:graphic>
          <a:graphicData uri="http://schemas.openxmlformats.org/presentationml/2006/ole">
            <mc:AlternateContent xmlns:mc="http://schemas.openxmlformats.org/markup-compatibility/2006">
              <mc:Choice xmlns:v="urn:schemas-microsoft-com:vml" Requires="v">
                <p:oleObj name="Формула" r:id="rId3" imgW="647700" imgH="279400" progId="Equation.3">
                  <p:embed/>
                </p:oleObj>
              </mc:Choice>
              <mc:Fallback>
                <p:oleObj name="Формула" r:id="rId3" imgW="647700" imgH="279400" progId="Equation.3">
                  <p:embed/>
                  <p:pic>
                    <p:nvPicPr>
                      <p:cNvPr id="9224" name="Object 10">
                        <a:extLst>
                          <a:ext uri="{FF2B5EF4-FFF2-40B4-BE49-F238E27FC236}">
                            <a16:creationId xmlns:a16="http://schemas.microsoft.com/office/drawing/2014/main" id="{316A5E57-3733-49D9-9678-445DE9D0FB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16725" y="2781301"/>
                        <a:ext cx="1512888" cy="652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25" name="Text Box 11">
            <a:extLst>
              <a:ext uri="{FF2B5EF4-FFF2-40B4-BE49-F238E27FC236}">
                <a16:creationId xmlns:a16="http://schemas.microsoft.com/office/drawing/2014/main" id="{8396BEDD-60D3-451B-94B7-0A1AA0BD8F4B}"/>
              </a:ext>
            </a:extLst>
          </p:cNvPr>
          <p:cNvSpPr txBox="1">
            <a:spLocks noChangeArrowheads="1"/>
          </p:cNvSpPr>
          <p:nvPr/>
        </p:nvSpPr>
        <p:spPr bwMode="auto">
          <a:xfrm>
            <a:off x="7535864" y="3357563"/>
            <a:ext cx="17287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pl-PL" altLang="ru-RU" sz="2400">
                <a:latin typeface="Times New Roman" panose="02020603050405020304" pitchFamily="18" charset="0"/>
              </a:rPr>
              <a:t>I</a:t>
            </a:r>
            <a:r>
              <a:rPr lang="ru-RU" altLang="ru-RU" sz="2400">
                <a:latin typeface="Times New Roman" panose="02020603050405020304" pitchFamily="18" charset="0"/>
              </a:rPr>
              <a:t> = </a:t>
            </a:r>
            <a:r>
              <a:rPr lang="pl-PL" altLang="ru-RU" sz="2400">
                <a:latin typeface="Times New Roman" panose="02020603050405020304" pitchFamily="18" charset="0"/>
              </a:rPr>
              <a:t>I</a:t>
            </a:r>
            <a:r>
              <a:rPr lang="ru-RU" altLang="ru-RU" sz="2400" baseline="-25000">
                <a:latin typeface="Times New Roman" panose="02020603050405020304" pitchFamily="18" charset="0"/>
              </a:rPr>
              <a:t>0</a:t>
            </a:r>
            <a:r>
              <a:rPr lang="ru-RU" altLang="ru-RU" sz="2400">
                <a:latin typeface="Times New Roman" panose="02020603050405020304" pitchFamily="18" charset="0"/>
              </a:rPr>
              <a:t>·</a:t>
            </a:r>
            <a:r>
              <a:rPr lang="pl-PL" altLang="ru-RU" sz="2400">
                <a:latin typeface="Times New Roman" panose="02020603050405020304" pitchFamily="18" charset="0"/>
              </a:rPr>
              <a:t>sin</a:t>
            </a:r>
            <a:r>
              <a:rPr lang="en-US" altLang="ru-RU" sz="2400">
                <a:latin typeface="Times New Roman" panose="02020603050405020304" pitchFamily="18" charset="0"/>
              </a:rPr>
              <a:t>ω</a:t>
            </a:r>
            <a:r>
              <a:rPr lang="pl-PL" altLang="ru-RU" sz="2400">
                <a:latin typeface="Times New Roman" panose="02020603050405020304" pitchFamily="18" charset="0"/>
              </a:rPr>
              <a:t>t</a:t>
            </a:r>
            <a:r>
              <a:rPr lang="ru-RU" altLang="ru-RU" sz="2400">
                <a:latin typeface="Times New Roman" panose="02020603050405020304" pitchFamily="18" charset="0"/>
              </a:rPr>
              <a:t> </a:t>
            </a:r>
          </a:p>
        </p:txBody>
      </p:sp>
      <p:sp>
        <p:nvSpPr>
          <p:cNvPr id="9226" name="Text Box 12">
            <a:extLst>
              <a:ext uri="{FF2B5EF4-FFF2-40B4-BE49-F238E27FC236}">
                <a16:creationId xmlns:a16="http://schemas.microsoft.com/office/drawing/2014/main" id="{CF18D398-FAF3-4694-98EA-F89A37AED8A0}"/>
              </a:ext>
            </a:extLst>
          </p:cNvPr>
          <p:cNvSpPr txBox="1">
            <a:spLocks noChangeArrowheads="1"/>
          </p:cNvSpPr>
          <p:nvPr/>
        </p:nvSpPr>
        <p:spPr bwMode="auto">
          <a:xfrm>
            <a:off x="4440238" y="3429001"/>
            <a:ext cx="3168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800">
                <a:latin typeface="Times New Roman" panose="02020603050405020304" pitchFamily="18" charset="0"/>
              </a:rPr>
              <a:t>ток меняется по закону, </a:t>
            </a:r>
          </a:p>
        </p:txBody>
      </p:sp>
      <p:sp>
        <p:nvSpPr>
          <p:cNvPr id="9227" name="Text Box 13">
            <a:extLst>
              <a:ext uri="{FF2B5EF4-FFF2-40B4-BE49-F238E27FC236}">
                <a16:creationId xmlns:a16="http://schemas.microsoft.com/office/drawing/2014/main" id="{7F743B66-CC32-4E6D-9DFF-5E6D2B0ABE4F}"/>
              </a:ext>
            </a:extLst>
          </p:cNvPr>
          <p:cNvSpPr txBox="1">
            <a:spLocks noChangeArrowheads="1"/>
          </p:cNvSpPr>
          <p:nvPr/>
        </p:nvSpPr>
        <p:spPr bwMode="auto">
          <a:xfrm>
            <a:off x="4440239" y="3806826"/>
            <a:ext cx="21605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800"/>
              <a:t>откуда </a:t>
            </a:r>
          </a:p>
        </p:txBody>
      </p:sp>
      <p:graphicFrame>
        <p:nvGraphicFramePr>
          <p:cNvPr id="9228" name="Object 14">
            <a:extLst>
              <a:ext uri="{FF2B5EF4-FFF2-40B4-BE49-F238E27FC236}">
                <a16:creationId xmlns:a16="http://schemas.microsoft.com/office/drawing/2014/main" id="{F01654D2-EEA6-41B2-BD18-E358D7ADEE1E}"/>
              </a:ext>
            </a:extLst>
          </p:cNvPr>
          <p:cNvGraphicFramePr>
            <a:graphicFrameLocks noChangeAspect="1"/>
          </p:cNvGraphicFramePr>
          <p:nvPr/>
        </p:nvGraphicFramePr>
        <p:xfrm>
          <a:off x="5375276" y="3933826"/>
          <a:ext cx="5072063" cy="919163"/>
        </p:xfrm>
        <a:graphic>
          <a:graphicData uri="http://schemas.openxmlformats.org/presentationml/2006/ole">
            <mc:AlternateContent xmlns:mc="http://schemas.openxmlformats.org/markup-compatibility/2006">
              <mc:Choice xmlns:v="urn:schemas-microsoft-com:vml" Requires="v">
                <p:oleObj name="Формула" r:id="rId5" imgW="2171700" imgH="393700" progId="Equation.3">
                  <p:embed/>
                </p:oleObj>
              </mc:Choice>
              <mc:Fallback>
                <p:oleObj name="Формула" r:id="rId5" imgW="2171700" imgH="393700" progId="Equation.3">
                  <p:embed/>
                  <p:pic>
                    <p:nvPicPr>
                      <p:cNvPr id="9228" name="Object 14">
                        <a:extLst>
                          <a:ext uri="{FF2B5EF4-FFF2-40B4-BE49-F238E27FC236}">
                            <a16:creationId xmlns:a16="http://schemas.microsoft.com/office/drawing/2014/main" id="{F01654D2-EEA6-41B2-BD18-E358D7ADEE1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75276" y="3933826"/>
                        <a:ext cx="5072063" cy="919163"/>
                      </a:xfrm>
                      <a:prstGeom prst="rect">
                        <a:avLst/>
                      </a:prstGeom>
                      <a:solidFill>
                        <a:srgbClr val="FFFF99">
                          <a:alpha val="27058"/>
                        </a:srgbClr>
                      </a:solidFill>
                      <a:ln w="9525">
                        <a:solidFill>
                          <a:srgbClr val="00008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29" name="Rectangle 16">
            <a:extLst>
              <a:ext uri="{FF2B5EF4-FFF2-40B4-BE49-F238E27FC236}">
                <a16:creationId xmlns:a16="http://schemas.microsoft.com/office/drawing/2014/main" id="{263C1A6B-338C-482B-B4EF-9EFE2B6CD0FD}"/>
              </a:ext>
            </a:extLst>
          </p:cNvPr>
          <p:cNvSpPr>
            <a:spLocks noChangeArrowheads="1"/>
          </p:cNvSpPr>
          <p:nvPr/>
        </p:nvSpPr>
        <p:spPr bwMode="auto">
          <a:xfrm>
            <a:off x="1524001" y="3039547"/>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ru-RU" altLang="ru-RU" sz="1800"/>
          </a:p>
        </p:txBody>
      </p:sp>
      <p:sp>
        <p:nvSpPr>
          <p:cNvPr id="9233" name="Text Box 17">
            <a:extLst>
              <a:ext uri="{FF2B5EF4-FFF2-40B4-BE49-F238E27FC236}">
                <a16:creationId xmlns:a16="http://schemas.microsoft.com/office/drawing/2014/main" id="{570F7C2A-8DE7-4F02-B7FB-6564ECEF6BE2}"/>
              </a:ext>
            </a:extLst>
          </p:cNvPr>
          <p:cNvSpPr txBox="1">
            <a:spLocks noChangeArrowheads="1"/>
          </p:cNvSpPr>
          <p:nvPr/>
        </p:nvSpPr>
        <p:spPr bwMode="auto">
          <a:xfrm>
            <a:off x="465223" y="5226051"/>
            <a:ext cx="10584269"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800" dirty="0"/>
              <a:t>Постоянная интегрирования </a:t>
            </a:r>
            <a:r>
              <a:rPr lang="en-US" altLang="ru-RU" sz="1800" dirty="0"/>
              <a:t>q</a:t>
            </a:r>
            <a:r>
              <a:rPr lang="ru-RU" altLang="ru-RU" sz="1800" baseline="-25000" dirty="0"/>
              <a:t>0</a:t>
            </a:r>
            <a:r>
              <a:rPr lang="ru-RU" altLang="ru-RU" sz="1800" dirty="0"/>
              <a:t> обозначает произвольный заряд, не связанный с колебаниями тока, поэтому можно считать </a:t>
            </a:r>
            <a:r>
              <a:rPr lang="en-US" altLang="ru-RU" sz="1800" dirty="0"/>
              <a:t>q</a:t>
            </a:r>
            <a:r>
              <a:rPr lang="ru-RU" altLang="ru-RU" sz="1800" baseline="-25000" dirty="0"/>
              <a:t>0</a:t>
            </a:r>
            <a:r>
              <a:rPr lang="ru-RU" altLang="ru-RU" sz="1800" dirty="0"/>
              <a:t> = 0. </a:t>
            </a:r>
          </a:p>
        </p:txBody>
      </p:sp>
      <p:sp>
        <p:nvSpPr>
          <p:cNvPr id="9234" name="Oval 18">
            <a:extLst>
              <a:ext uri="{FF2B5EF4-FFF2-40B4-BE49-F238E27FC236}">
                <a16:creationId xmlns:a16="http://schemas.microsoft.com/office/drawing/2014/main" id="{AF145A59-4BF2-441C-910A-59E90EBE785A}"/>
              </a:ext>
            </a:extLst>
          </p:cNvPr>
          <p:cNvSpPr>
            <a:spLocks noChangeArrowheads="1"/>
          </p:cNvSpPr>
          <p:nvPr/>
        </p:nvSpPr>
        <p:spPr bwMode="auto">
          <a:xfrm>
            <a:off x="10056814" y="3863975"/>
            <a:ext cx="611187" cy="1296988"/>
          </a:xfrm>
          <a:prstGeom prst="ellipse">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ru-RU" altLang="ru-RU" sz="1800"/>
          </a:p>
        </p:txBody>
      </p:sp>
      <p:sp>
        <p:nvSpPr>
          <p:cNvPr id="9235" name="Text Box 19">
            <a:extLst>
              <a:ext uri="{FF2B5EF4-FFF2-40B4-BE49-F238E27FC236}">
                <a16:creationId xmlns:a16="http://schemas.microsoft.com/office/drawing/2014/main" id="{710D7C8D-72A4-4285-B7CA-88B97AD7DAC4}"/>
              </a:ext>
            </a:extLst>
          </p:cNvPr>
          <p:cNvSpPr txBox="1">
            <a:spLocks noChangeArrowheads="1"/>
          </p:cNvSpPr>
          <p:nvPr/>
        </p:nvSpPr>
        <p:spPr bwMode="auto">
          <a:xfrm rot="17158544">
            <a:off x="10029032" y="3398044"/>
            <a:ext cx="684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2400" b="1">
                <a:solidFill>
                  <a:srgbClr val="FF0066"/>
                </a:solidFill>
              </a:rPr>
              <a:t>=0</a:t>
            </a:r>
          </a:p>
        </p:txBody>
      </p:sp>
      <p:sp>
        <p:nvSpPr>
          <p:cNvPr id="17" name="Прямоугольник 16">
            <a:extLst>
              <a:ext uri="{FF2B5EF4-FFF2-40B4-BE49-F238E27FC236}">
                <a16:creationId xmlns:a16="http://schemas.microsoft.com/office/drawing/2014/main" id="{DD181BE7-50E1-4686-B06D-4B91C050F09F}"/>
              </a:ext>
            </a:extLst>
          </p:cNvPr>
          <p:cNvSpPr/>
          <p:nvPr/>
        </p:nvSpPr>
        <p:spPr>
          <a:xfrm>
            <a:off x="1291399" y="94079"/>
            <a:ext cx="1479892" cy="369332"/>
          </a:xfrm>
          <a:prstGeom prst="rect">
            <a:avLst/>
          </a:prstGeom>
        </p:spPr>
        <p:txBody>
          <a:bodyPr wrap="none">
            <a:spAutoFit/>
          </a:bodyPr>
          <a:lstStyle/>
          <a:p>
            <a:pPr>
              <a:defRPr/>
            </a:pPr>
            <a:r>
              <a:rPr lang="ru-RU" dirty="0">
                <a:solidFill>
                  <a:schemeClr val="bg1"/>
                </a:solidFill>
              </a:rPr>
              <a:t>Кафедра ТЭЦ</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234"/>
                                        </p:tgtEl>
                                        <p:attrNameLst>
                                          <p:attrName>style.visibility</p:attrName>
                                        </p:attrNameLst>
                                      </p:cBhvr>
                                      <p:to>
                                        <p:strVal val="visible"/>
                                      </p:to>
                                    </p:set>
                                    <p:animEffect transition="in" filter="checkerboard(across)">
                                      <p:cBhvr>
                                        <p:cTn id="7" dur="500"/>
                                        <p:tgtEl>
                                          <p:spTgt spid="9234"/>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9235"/>
                                        </p:tgtEl>
                                        <p:attrNameLst>
                                          <p:attrName>style.visibility</p:attrName>
                                        </p:attrNameLst>
                                      </p:cBhvr>
                                      <p:to>
                                        <p:strVal val="visible"/>
                                      </p:to>
                                    </p:set>
                                    <p:animEffect transition="in" filter="checkerboard(across)">
                                      <p:cBhvr>
                                        <p:cTn id="10" dur="500"/>
                                        <p:tgtEl>
                                          <p:spTgt spid="9235"/>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9233"/>
                                        </p:tgtEl>
                                        <p:attrNameLst>
                                          <p:attrName>style.visibility</p:attrName>
                                        </p:attrNameLst>
                                      </p:cBhvr>
                                      <p:to>
                                        <p:strVal val="visible"/>
                                      </p:to>
                                    </p:set>
                                    <p:animEffect transition="in" filter="checkerboard(across)">
                                      <p:cBhvr>
                                        <p:cTn id="13" dur="500"/>
                                        <p:tgtEl>
                                          <p:spTgt spid="92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33" grpId="0"/>
      <p:bldP spid="9234" grpId="0" animBg="1"/>
      <p:bldP spid="923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5">
            <a:extLst>
              <a:ext uri="{FF2B5EF4-FFF2-40B4-BE49-F238E27FC236}">
                <a16:creationId xmlns:a16="http://schemas.microsoft.com/office/drawing/2014/main" id="{86821883-3879-48F4-8A9C-19D4226FD096}"/>
              </a:ext>
            </a:extLst>
          </p:cNvPr>
          <p:cNvSpPr>
            <a:spLocks noChangeArrowheads="1"/>
          </p:cNvSpPr>
          <p:nvPr/>
        </p:nvSpPr>
        <p:spPr bwMode="auto">
          <a:xfrm>
            <a:off x="1524001" y="3039547"/>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ru-RU" altLang="ru-RU" sz="1800"/>
          </a:p>
        </p:txBody>
      </p:sp>
      <p:graphicFrame>
        <p:nvGraphicFramePr>
          <p:cNvPr id="10243" name="Object 4">
            <a:extLst>
              <a:ext uri="{FF2B5EF4-FFF2-40B4-BE49-F238E27FC236}">
                <a16:creationId xmlns:a16="http://schemas.microsoft.com/office/drawing/2014/main" id="{E9355857-1882-4341-B2A9-A49D76F94B39}"/>
              </a:ext>
            </a:extLst>
          </p:cNvPr>
          <p:cNvGraphicFramePr>
            <a:graphicFrameLocks noChangeAspect="1"/>
          </p:cNvGraphicFramePr>
          <p:nvPr/>
        </p:nvGraphicFramePr>
        <p:xfrm>
          <a:off x="2927351" y="908050"/>
          <a:ext cx="6767513" cy="819150"/>
        </p:xfrm>
        <a:graphic>
          <a:graphicData uri="http://schemas.openxmlformats.org/presentationml/2006/ole">
            <mc:AlternateContent xmlns:mc="http://schemas.openxmlformats.org/markup-compatibility/2006">
              <mc:Choice xmlns:v="urn:schemas-microsoft-com:vml" Requires="v">
                <p:oleObj name="Формула" r:id="rId2" imgW="3378200" imgH="406400" progId="Equation.3">
                  <p:embed/>
                </p:oleObj>
              </mc:Choice>
              <mc:Fallback>
                <p:oleObj name="Формула" r:id="rId2" imgW="3378200" imgH="406400" progId="Equation.3">
                  <p:embed/>
                  <p:pic>
                    <p:nvPicPr>
                      <p:cNvPr id="10243" name="Object 4">
                        <a:extLst>
                          <a:ext uri="{FF2B5EF4-FFF2-40B4-BE49-F238E27FC236}">
                            <a16:creationId xmlns:a16="http://schemas.microsoft.com/office/drawing/2014/main" id="{E9355857-1882-4341-B2A9-A49D76F94B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7351" y="908050"/>
                        <a:ext cx="6767513"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44" name="Text Box 6">
            <a:extLst>
              <a:ext uri="{FF2B5EF4-FFF2-40B4-BE49-F238E27FC236}">
                <a16:creationId xmlns:a16="http://schemas.microsoft.com/office/drawing/2014/main" id="{855A4A52-F14B-4073-B411-856D750A3E2D}"/>
              </a:ext>
            </a:extLst>
          </p:cNvPr>
          <p:cNvSpPr txBox="1">
            <a:spLocks noChangeArrowheads="1"/>
          </p:cNvSpPr>
          <p:nvPr/>
        </p:nvSpPr>
        <p:spPr bwMode="auto">
          <a:xfrm>
            <a:off x="2174875" y="638035"/>
            <a:ext cx="16557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800" dirty="0"/>
              <a:t>Тогда </a:t>
            </a:r>
          </a:p>
        </p:txBody>
      </p:sp>
      <p:sp>
        <p:nvSpPr>
          <p:cNvPr id="10245" name="Text Box 7">
            <a:extLst>
              <a:ext uri="{FF2B5EF4-FFF2-40B4-BE49-F238E27FC236}">
                <a16:creationId xmlns:a16="http://schemas.microsoft.com/office/drawing/2014/main" id="{2F6020F5-0694-4BE7-B902-C817AD9F5693}"/>
              </a:ext>
            </a:extLst>
          </p:cNvPr>
          <p:cNvSpPr txBox="1">
            <a:spLocks noChangeArrowheads="1"/>
          </p:cNvSpPr>
          <p:nvPr/>
        </p:nvSpPr>
        <p:spPr bwMode="auto">
          <a:xfrm>
            <a:off x="4405314" y="1809611"/>
            <a:ext cx="7556674"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800" i="1" dirty="0">
                <a:latin typeface="Times New Roman" panose="02020603050405020304" pitchFamily="18" charset="0"/>
                <a:cs typeface="Times New Roman" panose="02020603050405020304" pitchFamily="18" charset="0"/>
              </a:rPr>
              <a:t>Следовательно, колебания напряжения на обкладках конденсатора в цепи переменного тока </a:t>
            </a:r>
            <a:r>
              <a:rPr lang="ru-RU" altLang="ru-RU" sz="1800" b="1" i="1" u="sng" dirty="0">
                <a:solidFill>
                  <a:srgbClr val="FF0066"/>
                </a:solidFill>
                <a:latin typeface="Times New Roman" panose="02020603050405020304" pitchFamily="18" charset="0"/>
                <a:cs typeface="Times New Roman" panose="02020603050405020304" pitchFamily="18" charset="0"/>
              </a:rPr>
              <a:t>отстают</a:t>
            </a:r>
            <a:r>
              <a:rPr lang="ru-RU" altLang="ru-RU" sz="1800" i="1" dirty="0">
                <a:latin typeface="Times New Roman" panose="02020603050405020304" pitchFamily="18" charset="0"/>
                <a:cs typeface="Times New Roman" panose="02020603050405020304" pitchFamily="18" charset="0"/>
              </a:rPr>
              <a:t> по фазе от колебаний силы тока на </a:t>
            </a:r>
            <a:r>
              <a:rPr lang="ru-RU" altLang="ru-RU" sz="1800" i="1" dirty="0">
                <a:solidFill>
                  <a:srgbClr val="FF0066"/>
                </a:solidFill>
                <a:latin typeface="Times New Roman" panose="02020603050405020304" pitchFamily="18" charset="0"/>
                <a:cs typeface="Times New Roman" panose="02020603050405020304" pitchFamily="18" charset="0"/>
              </a:rPr>
              <a:t>π/2</a:t>
            </a:r>
            <a:r>
              <a:rPr lang="ru-RU" altLang="ru-RU" sz="1800" i="1" dirty="0">
                <a:latin typeface="Times New Roman" panose="02020603050405020304" pitchFamily="18" charset="0"/>
                <a:cs typeface="Times New Roman" panose="02020603050405020304" pitchFamily="18" charset="0"/>
              </a:rPr>
              <a:t> (или колебания силы тока опережают по фазе колебания напряжения на π/2)</a:t>
            </a:r>
            <a:r>
              <a:rPr lang="ru-RU" altLang="ru-RU" sz="1800" dirty="0">
                <a:latin typeface="Times New Roman" panose="02020603050405020304" pitchFamily="18" charset="0"/>
                <a:cs typeface="Times New Roman" panose="02020603050405020304" pitchFamily="18" charset="0"/>
              </a:rPr>
              <a:t>. Это означает, что в момент, когда конденсатор начинает заряжаться, сила тока максимальна, а напряжение равно нулю. После того как напряжение достигает максимума, сила тока становится равной нулю и т.д. </a:t>
            </a:r>
          </a:p>
        </p:txBody>
      </p:sp>
      <p:sp>
        <p:nvSpPr>
          <p:cNvPr id="10246" name="AutoShape 9">
            <a:extLst>
              <a:ext uri="{FF2B5EF4-FFF2-40B4-BE49-F238E27FC236}">
                <a16:creationId xmlns:a16="http://schemas.microsoft.com/office/drawing/2014/main" id="{9FD69FA3-9629-4F61-914C-EB5C2D2DF2A3}"/>
              </a:ext>
            </a:extLst>
          </p:cNvPr>
          <p:cNvSpPr>
            <a:spLocks noChangeArrowheads="1"/>
          </p:cNvSpPr>
          <p:nvPr/>
        </p:nvSpPr>
        <p:spPr bwMode="auto">
          <a:xfrm>
            <a:off x="1919288" y="5084764"/>
            <a:ext cx="8424862" cy="1584325"/>
          </a:xfrm>
          <a:prstGeom prst="wedgeRoundRectCallout">
            <a:avLst>
              <a:gd name="adj1" fmla="val -24903"/>
              <a:gd name="adj2" fmla="val -92486"/>
              <a:gd name="adj3" fmla="val 16667"/>
            </a:avLst>
          </a:prstGeom>
          <a:solidFill>
            <a:schemeClr val="accent1"/>
          </a:solidFill>
          <a:ln w="9525">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endParaRPr lang="ru-RU" altLang="ru-RU" sz="1800"/>
          </a:p>
        </p:txBody>
      </p:sp>
      <p:sp>
        <p:nvSpPr>
          <p:cNvPr id="10247" name="Text Box 10">
            <a:extLst>
              <a:ext uri="{FF2B5EF4-FFF2-40B4-BE49-F238E27FC236}">
                <a16:creationId xmlns:a16="http://schemas.microsoft.com/office/drawing/2014/main" id="{65A1F5E2-4DC1-401B-8423-72B0DD37D10B}"/>
              </a:ext>
            </a:extLst>
          </p:cNvPr>
          <p:cNvSpPr txBox="1">
            <a:spLocks noChangeArrowheads="1"/>
          </p:cNvSpPr>
          <p:nvPr/>
        </p:nvSpPr>
        <p:spPr bwMode="auto">
          <a:xfrm>
            <a:off x="1992313" y="5300664"/>
            <a:ext cx="8208962"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800" dirty="0">
                <a:solidFill>
                  <a:schemeClr val="bg1"/>
                </a:solidFill>
              </a:rPr>
              <a:t>Физический смысл этого заключается в следующем: чтобы возникло напряжение на конденсаторе, на него должен натечь заряд за счет протекания тока в цепи. Отсюда происходит отставание напряжения от силы тока. </a:t>
            </a:r>
          </a:p>
        </p:txBody>
      </p:sp>
      <p:pic>
        <p:nvPicPr>
          <p:cNvPr id="10248" name="Picture 11">
            <a:extLst>
              <a:ext uri="{FF2B5EF4-FFF2-40B4-BE49-F238E27FC236}">
                <a16:creationId xmlns:a16="http://schemas.microsoft.com/office/drawing/2014/main" id="{B77FD863-BEFA-4312-9957-9605196D8E0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00201" y="2349500"/>
            <a:ext cx="2805113" cy="165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Прямоугольник 8">
            <a:extLst>
              <a:ext uri="{FF2B5EF4-FFF2-40B4-BE49-F238E27FC236}">
                <a16:creationId xmlns:a16="http://schemas.microsoft.com/office/drawing/2014/main" id="{8FC0711E-08E1-4181-9F4B-9DB91D44D0E6}"/>
              </a:ext>
            </a:extLst>
          </p:cNvPr>
          <p:cNvSpPr/>
          <p:nvPr/>
        </p:nvSpPr>
        <p:spPr>
          <a:xfrm>
            <a:off x="1291399" y="94079"/>
            <a:ext cx="1479892" cy="369332"/>
          </a:xfrm>
          <a:prstGeom prst="rect">
            <a:avLst/>
          </a:prstGeom>
        </p:spPr>
        <p:txBody>
          <a:bodyPr wrap="none">
            <a:spAutoFit/>
          </a:bodyPr>
          <a:lstStyle/>
          <a:p>
            <a:pPr>
              <a:defRPr/>
            </a:pPr>
            <a:r>
              <a:rPr lang="ru-RU" dirty="0">
                <a:solidFill>
                  <a:schemeClr val="bg1"/>
                </a:solidFill>
              </a:rPr>
              <a:t>Кафедра ТЭЦ</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721D305E-F552-42B1-9182-25C2836EDB61}"/>
              </a:ext>
            </a:extLst>
          </p:cNvPr>
          <p:cNvSpPr/>
          <p:nvPr/>
        </p:nvSpPr>
        <p:spPr>
          <a:xfrm>
            <a:off x="5808663" y="659210"/>
            <a:ext cx="2151944" cy="21181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1266" name="Picture 5" descr="Img_Iper_Ref_007">
            <a:extLst>
              <a:ext uri="{FF2B5EF4-FFF2-40B4-BE49-F238E27FC236}">
                <a16:creationId xmlns:a16="http://schemas.microsoft.com/office/drawing/2014/main" id="{17A69D27-5C06-4471-9F3F-BE820CD5FF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0142" y="569121"/>
            <a:ext cx="3455987" cy="2509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7" name="Text Box 6">
            <a:extLst>
              <a:ext uri="{FF2B5EF4-FFF2-40B4-BE49-F238E27FC236}">
                <a16:creationId xmlns:a16="http://schemas.microsoft.com/office/drawing/2014/main" id="{E4BB3B0F-466F-44A2-B361-27D343A55336}"/>
              </a:ext>
            </a:extLst>
          </p:cNvPr>
          <p:cNvSpPr txBox="1">
            <a:spLocks noChangeArrowheads="1"/>
          </p:cNvSpPr>
          <p:nvPr/>
        </p:nvSpPr>
        <p:spPr bwMode="auto">
          <a:xfrm>
            <a:off x="1847851" y="2852739"/>
            <a:ext cx="8424863"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800"/>
              <a:t>Отношение амплитуды колебаний напряжения на конденсаторе к амплитуде колебаний силы тока называют емкостным сопротивлением конденсатора (обозначается </a:t>
            </a:r>
            <a:r>
              <a:rPr lang="en-US" altLang="ru-RU" sz="1800" i="1"/>
              <a:t>X</a:t>
            </a:r>
            <a:r>
              <a:rPr lang="ru-RU" altLang="ru-RU" sz="1800" baseline="-25000"/>
              <a:t>C</a:t>
            </a:r>
            <a:r>
              <a:rPr lang="ru-RU" altLang="ru-RU" sz="1800"/>
              <a:t>): </a:t>
            </a:r>
          </a:p>
        </p:txBody>
      </p:sp>
      <p:sp>
        <p:nvSpPr>
          <p:cNvPr id="11268" name="Text Box 7">
            <a:extLst>
              <a:ext uri="{FF2B5EF4-FFF2-40B4-BE49-F238E27FC236}">
                <a16:creationId xmlns:a16="http://schemas.microsoft.com/office/drawing/2014/main" id="{E0CF9B93-6F69-478A-9CE9-DD000F972103}"/>
              </a:ext>
            </a:extLst>
          </p:cNvPr>
          <p:cNvSpPr txBox="1">
            <a:spLocks noChangeArrowheads="1"/>
          </p:cNvSpPr>
          <p:nvPr/>
        </p:nvSpPr>
        <p:spPr bwMode="auto">
          <a:xfrm>
            <a:off x="1919288" y="5013326"/>
            <a:ext cx="1441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800"/>
              <a:t>Величина</a:t>
            </a:r>
          </a:p>
        </p:txBody>
      </p:sp>
      <p:sp>
        <p:nvSpPr>
          <p:cNvPr id="11269" name="Rectangle 9">
            <a:extLst>
              <a:ext uri="{FF2B5EF4-FFF2-40B4-BE49-F238E27FC236}">
                <a16:creationId xmlns:a16="http://schemas.microsoft.com/office/drawing/2014/main" id="{8B54192B-1D3F-436C-8F34-83EAABE57241}"/>
              </a:ext>
            </a:extLst>
          </p:cNvPr>
          <p:cNvSpPr>
            <a:spLocks noChangeArrowheads="1"/>
          </p:cNvSpPr>
          <p:nvPr/>
        </p:nvSpPr>
        <p:spPr bwMode="auto">
          <a:xfrm>
            <a:off x="1524001" y="3049072"/>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ru-RU" altLang="ru-RU" sz="1800"/>
          </a:p>
        </p:txBody>
      </p:sp>
      <p:graphicFrame>
        <p:nvGraphicFramePr>
          <p:cNvPr id="11270" name="Object 8">
            <a:extLst>
              <a:ext uri="{FF2B5EF4-FFF2-40B4-BE49-F238E27FC236}">
                <a16:creationId xmlns:a16="http://schemas.microsoft.com/office/drawing/2014/main" id="{C1A2FF92-5B51-4FD7-93A6-A65FE11B84A6}"/>
              </a:ext>
            </a:extLst>
          </p:cNvPr>
          <p:cNvGraphicFramePr>
            <a:graphicFrameLocks noChangeAspect="1"/>
          </p:cNvGraphicFramePr>
          <p:nvPr/>
        </p:nvGraphicFramePr>
        <p:xfrm>
          <a:off x="2063750" y="3933825"/>
          <a:ext cx="1531938" cy="801688"/>
        </p:xfrm>
        <a:graphic>
          <a:graphicData uri="http://schemas.openxmlformats.org/presentationml/2006/ole">
            <mc:AlternateContent xmlns:mc="http://schemas.openxmlformats.org/markup-compatibility/2006">
              <mc:Choice xmlns:v="urn:schemas-microsoft-com:vml" Requires="v">
                <p:oleObj name="Формула" r:id="rId3" imgW="748975" imgH="393529" progId="Equation.3">
                  <p:embed/>
                </p:oleObj>
              </mc:Choice>
              <mc:Fallback>
                <p:oleObj name="Формула" r:id="rId3" imgW="748975" imgH="393529" progId="Equation.3">
                  <p:embed/>
                  <p:pic>
                    <p:nvPicPr>
                      <p:cNvPr id="11270" name="Object 8">
                        <a:extLst>
                          <a:ext uri="{FF2B5EF4-FFF2-40B4-BE49-F238E27FC236}">
                            <a16:creationId xmlns:a16="http://schemas.microsoft.com/office/drawing/2014/main" id="{C1A2FF92-5B51-4FD7-93A6-A65FE11B84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3750" y="3933825"/>
                        <a:ext cx="1531938" cy="80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271" name="Text Box 10">
            <a:extLst>
              <a:ext uri="{FF2B5EF4-FFF2-40B4-BE49-F238E27FC236}">
                <a16:creationId xmlns:a16="http://schemas.microsoft.com/office/drawing/2014/main" id="{9BA2BB5A-5B91-4636-852F-71B17F051FDA}"/>
              </a:ext>
            </a:extLst>
          </p:cNvPr>
          <p:cNvSpPr txBox="1">
            <a:spLocks noChangeArrowheads="1"/>
          </p:cNvSpPr>
          <p:nvPr/>
        </p:nvSpPr>
        <p:spPr bwMode="auto">
          <a:xfrm>
            <a:off x="4367214" y="4149726"/>
            <a:ext cx="28797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800"/>
              <a:t>а по закону Ома </a:t>
            </a:r>
            <a:r>
              <a:rPr lang="pl-PL" altLang="ru-RU" sz="1800"/>
              <a:t>U</a:t>
            </a:r>
            <a:r>
              <a:rPr lang="ru-RU" altLang="ru-RU" sz="1800"/>
              <a:t> = </a:t>
            </a:r>
            <a:r>
              <a:rPr lang="pl-PL" altLang="ru-RU" sz="1800"/>
              <a:t>I</a:t>
            </a:r>
            <a:r>
              <a:rPr lang="ru-RU" altLang="ru-RU" sz="1800"/>
              <a:t>·</a:t>
            </a:r>
            <a:r>
              <a:rPr lang="pl-PL" altLang="ru-RU" sz="1800"/>
              <a:t>R</a:t>
            </a:r>
            <a:r>
              <a:rPr lang="ru-RU" altLang="ru-RU" sz="1800"/>
              <a:t> </a:t>
            </a:r>
          </a:p>
        </p:txBody>
      </p:sp>
      <p:graphicFrame>
        <p:nvGraphicFramePr>
          <p:cNvPr id="11272" name="Object 12">
            <a:extLst>
              <a:ext uri="{FF2B5EF4-FFF2-40B4-BE49-F238E27FC236}">
                <a16:creationId xmlns:a16="http://schemas.microsoft.com/office/drawing/2014/main" id="{1D5D6CCC-212B-481B-ADEE-33CE6807DCDB}"/>
              </a:ext>
            </a:extLst>
          </p:cNvPr>
          <p:cNvGraphicFramePr>
            <a:graphicFrameLocks noChangeAspect="1"/>
          </p:cNvGraphicFramePr>
          <p:nvPr/>
        </p:nvGraphicFramePr>
        <p:xfrm>
          <a:off x="4079876" y="4797425"/>
          <a:ext cx="1439863" cy="889000"/>
        </p:xfrm>
        <a:graphic>
          <a:graphicData uri="http://schemas.openxmlformats.org/presentationml/2006/ole">
            <mc:AlternateContent xmlns:mc="http://schemas.openxmlformats.org/markup-compatibility/2006">
              <mc:Choice xmlns:v="urn:schemas-microsoft-com:vml" Requires="v">
                <p:oleObj name="Формула" r:id="rId5" imgW="628765" imgH="380864" progId="Equation.3">
                  <p:embed/>
                </p:oleObj>
              </mc:Choice>
              <mc:Fallback>
                <p:oleObj name="Формула" r:id="rId5" imgW="628765" imgH="380864" progId="Equation.3">
                  <p:embed/>
                  <p:pic>
                    <p:nvPicPr>
                      <p:cNvPr id="11272" name="Object 12">
                        <a:extLst>
                          <a:ext uri="{FF2B5EF4-FFF2-40B4-BE49-F238E27FC236}">
                            <a16:creationId xmlns:a16="http://schemas.microsoft.com/office/drawing/2014/main" id="{1D5D6CCC-212B-481B-ADEE-33CE6807DCD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79876" y="4797425"/>
                        <a:ext cx="1439863" cy="889000"/>
                      </a:xfrm>
                      <a:prstGeom prst="rect">
                        <a:avLst/>
                      </a:prstGeom>
                      <a:noFill/>
                      <a:ln w="57150" cmpd="thinThick">
                        <a:solidFill>
                          <a:srgbClr val="993366"/>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73" name="Text Box 13">
            <a:extLst>
              <a:ext uri="{FF2B5EF4-FFF2-40B4-BE49-F238E27FC236}">
                <a16:creationId xmlns:a16="http://schemas.microsoft.com/office/drawing/2014/main" id="{F28D7941-89E5-4509-A68E-13D4E60B5FC8}"/>
              </a:ext>
            </a:extLst>
          </p:cNvPr>
          <p:cNvSpPr txBox="1">
            <a:spLocks noChangeArrowheads="1"/>
          </p:cNvSpPr>
          <p:nvPr/>
        </p:nvSpPr>
        <p:spPr bwMode="auto">
          <a:xfrm>
            <a:off x="5808663" y="4941888"/>
            <a:ext cx="4572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800"/>
              <a:t>играет роль сопротивления участка цепи </a:t>
            </a:r>
          </a:p>
        </p:txBody>
      </p:sp>
      <p:sp>
        <p:nvSpPr>
          <p:cNvPr id="11274" name="Text Box 14">
            <a:extLst>
              <a:ext uri="{FF2B5EF4-FFF2-40B4-BE49-F238E27FC236}">
                <a16:creationId xmlns:a16="http://schemas.microsoft.com/office/drawing/2014/main" id="{F2CF3B99-3575-45EE-AD5A-0B66E8C08992}"/>
              </a:ext>
            </a:extLst>
          </p:cNvPr>
          <p:cNvSpPr txBox="1">
            <a:spLocks noChangeArrowheads="1"/>
          </p:cNvSpPr>
          <p:nvPr/>
        </p:nvSpPr>
        <p:spPr bwMode="auto">
          <a:xfrm>
            <a:off x="1847850" y="5949950"/>
            <a:ext cx="84978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800"/>
              <a:t>Она называется кажущимся сопротивлением  емкости (</a:t>
            </a:r>
            <a:r>
              <a:rPr lang="ru-RU" altLang="ru-RU" sz="1800" b="1" i="1">
                <a:solidFill>
                  <a:srgbClr val="FF0066"/>
                </a:solidFill>
              </a:rPr>
              <a:t>емкостное сопротивление</a:t>
            </a:r>
            <a:r>
              <a:rPr lang="ru-RU" altLang="ru-RU" sz="1800"/>
              <a:t>). </a:t>
            </a:r>
          </a:p>
        </p:txBody>
      </p:sp>
      <p:pic>
        <p:nvPicPr>
          <p:cNvPr id="11275" name="Picture 15">
            <a:extLst>
              <a:ext uri="{FF2B5EF4-FFF2-40B4-BE49-F238E27FC236}">
                <a16:creationId xmlns:a16="http://schemas.microsoft.com/office/drawing/2014/main" id="{85A16E86-27BC-4465-8781-DE424C74A0E4}"/>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971470" y="659210"/>
            <a:ext cx="1989137" cy="208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6" name="AutoShape 16">
            <a:extLst>
              <a:ext uri="{FF2B5EF4-FFF2-40B4-BE49-F238E27FC236}">
                <a16:creationId xmlns:a16="http://schemas.microsoft.com/office/drawing/2014/main" id="{AB88338E-916A-43A0-8814-1BFEC7C3E1B8}"/>
              </a:ext>
            </a:extLst>
          </p:cNvPr>
          <p:cNvSpPr>
            <a:spLocks noChangeArrowheads="1"/>
          </p:cNvSpPr>
          <p:nvPr/>
        </p:nvSpPr>
        <p:spPr bwMode="auto">
          <a:xfrm rot="2018914" flipH="1">
            <a:off x="7642226" y="836614"/>
            <a:ext cx="3025775" cy="503237"/>
          </a:xfrm>
          <a:prstGeom prst="wedgeRoundRectCallout">
            <a:avLst>
              <a:gd name="adj1" fmla="val 24556"/>
              <a:gd name="adj2" fmla="val 152954"/>
              <a:gd name="adj3" fmla="val 16667"/>
            </a:avLst>
          </a:prstGeom>
          <a:solidFill>
            <a:schemeClr val="accent1"/>
          </a:solidFill>
          <a:ln w="9525">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ru-RU" altLang="ru-RU" sz="1800" dirty="0">
                <a:solidFill>
                  <a:schemeClr val="bg1"/>
                </a:solidFill>
              </a:rPr>
              <a:t>векторная диаграмма</a:t>
            </a:r>
          </a:p>
        </p:txBody>
      </p:sp>
      <p:sp>
        <p:nvSpPr>
          <p:cNvPr id="13" name="Прямоугольник 12">
            <a:extLst>
              <a:ext uri="{FF2B5EF4-FFF2-40B4-BE49-F238E27FC236}">
                <a16:creationId xmlns:a16="http://schemas.microsoft.com/office/drawing/2014/main" id="{C1EE9F9B-E6F5-4C11-993E-CFDFAC15C4EF}"/>
              </a:ext>
            </a:extLst>
          </p:cNvPr>
          <p:cNvSpPr/>
          <p:nvPr/>
        </p:nvSpPr>
        <p:spPr>
          <a:xfrm>
            <a:off x="1291399" y="94079"/>
            <a:ext cx="1479892" cy="369332"/>
          </a:xfrm>
          <a:prstGeom prst="rect">
            <a:avLst/>
          </a:prstGeom>
        </p:spPr>
        <p:txBody>
          <a:bodyPr wrap="none">
            <a:spAutoFit/>
          </a:bodyPr>
          <a:lstStyle/>
          <a:p>
            <a:pPr>
              <a:defRPr/>
            </a:pPr>
            <a:r>
              <a:rPr lang="ru-RU" dirty="0">
                <a:solidFill>
                  <a:schemeClr val="bg1"/>
                </a:solidFill>
              </a:rPr>
              <a:t>Кафедра ТЭЦ</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a:extLst>
              <a:ext uri="{FF2B5EF4-FFF2-40B4-BE49-F238E27FC236}">
                <a16:creationId xmlns:a16="http://schemas.microsoft.com/office/drawing/2014/main" id="{444BA1E8-CB94-B2A7-7D24-D3ACC84DB777}"/>
              </a:ext>
            </a:extLst>
          </p:cNvPr>
          <p:cNvSpPr/>
          <p:nvPr/>
        </p:nvSpPr>
        <p:spPr>
          <a:xfrm>
            <a:off x="4729163" y="5122531"/>
            <a:ext cx="3384550" cy="15750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Прямоугольник 1">
            <a:extLst>
              <a:ext uri="{FF2B5EF4-FFF2-40B4-BE49-F238E27FC236}">
                <a16:creationId xmlns:a16="http://schemas.microsoft.com/office/drawing/2014/main" id="{AD57322C-BB07-C582-9582-549612AEE444}"/>
              </a:ext>
            </a:extLst>
          </p:cNvPr>
          <p:cNvSpPr/>
          <p:nvPr/>
        </p:nvSpPr>
        <p:spPr>
          <a:xfrm>
            <a:off x="1419578" y="2874766"/>
            <a:ext cx="3307997" cy="21181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316" name="Text Box 4">
            <a:extLst>
              <a:ext uri="{FF2B5EF4-FFF2-40B4-BE49-F238E27FC236}">
                <a16:creationId xmlns:a16="http://schemas.microsoft.com/office/drawing/2014/main" id="{67DDD370-7C1B-4850-B0C5-632BA8EE4332}"/>
              </a:ext>
            </a:extLst>
          </p:cNvPr>
          <p:cNvSpPr txBox="1">
            <a:spLocks noChangeArrowheads="1"/>
          </p:cNvSpPr>
          <p:nvPr/>
        </p:nvSpPr>
        <p:spPr bwMode="auto">
          <a:xfrm>
            <a:off x="2711451" y="-12700"/>
            <a:ext cx="7127875" cy="457200"/>
          </a:xfrm>
          <a:prstGeom prst="rect">
            <a:avLst/>
          </a:prstGeom>
          <a:noFill/>
          <a:ln w="9525" algn="ctr">
            <a:noFill/>
            <a:miter lim="800000"/>
            <a:headEnd/>
            <a:tailEnd/>
          </a:ln>
          <a:effectLst/>
        </p:spPr>
        <p:txBody>
          <a:bodyPr>
            <a:spAutoFit/>
          </a:bodyPr>
          <a:lstStyle/>
          <a:p>
            <a:pPr eaLnBrk="1" hangingPunct="1">
              <a:spcBef>
                <a:spcPct val="50000"/>
              </a:spcBef>
              <a:defRPr/>
            </a:pPr>
            <a:r>
              <a:rPr lang="ru-RU" sz="2400" b="1" i="1">
                <a:solidFill>
                  <a:srgbClr val="FF0066"/>
                </a:solidFill>
                <a:effectLst>
                  <a:outerShdw blurRad="38100" dist="38100" dir="2700000" algn="tl">
                    <a:srgbClr val="C0C0C0"/>
                  </a:outerShdw>
                </a:effectLst>
                <a:latin typeface="Arial" charset="0"/>
                <a:cs typeface="Arial" charset="0"/>
              </a:rPr>
              <a:t>Индуктивность в цепи переменного тока </a:t>
            </a:r>
          </a:p>
        </p:txBody>
      </p:sp>
      <p:sp>
        <p:nvSpPr>
          <p:cNvPr id="13317" name="Text Box 5">
            <a:extLst>
              <a:ext uri="{FF2B5EF4-FFF2-40B4-BE49-F238E27FC236}">
                <a16:creationId xmlns:a16="http://schemas.microsoft.com/office/drawing/2014/main" id="{5E6B5AD5-5A4F-4492-9BE3-25727FA125F0}"/>
              </a:ext>
            </a:extLst>
          </p:cNvPr>
          <p:cNvSpPr txBox="1">
            <a:spLocks noChangeArrowheads="1"/>
          </p:cNvSpPr>
          <p:nvPr/>
        </p:nvSpPr>
        <p:spPr bwMode="auto">
          <a:xfrm>
            <a:off x="1160206" y="702470"/>
            <a:ext cx="10526415" cy="1708160"/>
          </a:xfrm>
          <a:prstGeom prst="rect">
            <a:avLst/>
          </a:prstGeom>
          <a:noFill/>
          <a:ln w="9525">
            <a:noFill/>
            <a:miter lim="800000"/>
            <a:headEnd/>
            <a:tailEnd/>
          </a:ln>
          <a:effectLst/>
        </p:spPr>
        <p:txBody>
          <a:bodyPr wrap="square">
            <a:spAutoFit/>
          </a:bodyPr>
          <a:lstStyle/>
          <a:p>
            <a:pPr eaLnBrk="1" hangingPunct="1">
              <a:spcBef>
                <a:spcPct val="50000"/>
              </a:spcBef>
              <a:defRPr/>
            </a:pPr>
            <a:r>
              <a:rPr lang="ru-RU" dirty="0">
                <a:latin typeface="Times New Roman" pitchFamily="18" charset="0"/>
                <a:cs typeface="Arial" charset="0"/>
              </a:rPr>
              <a:t>Пусть напряжение подается на концы катушки с индуктивностью </a:t>
            </a:r>
            <a:r>
              <a:rPr lang="en-US" dirty="0">
                <a:latin typeface="Times New Roman" pitchFamily="18" charset="0"/>
                <a:cs typeface="Arial" charset="0"/>
              </a:rPr>
              <a:t>L</a:t>
            </a:r>
            <a:r>
              <a:rPr lang="ru-RU" dirty="0">
                <a:latin typeface="Times New Roman" pitchFamily="18" charset="0"/>
                <a:cs typeface="Arial" charset="0"/>
              </a:rPr>
              <a:t> с пренебрежимо малым сопротивлением и емкостью. </a:t>
            </a:r>
          </a:p>
          <a:p>
            <a:pPr eaLnBrk="1" hangingPunct="1">
              <a:spcBef>
                <a:spcPct val="50000"/>
              </a:spcBef>
              <a:defRPr/>
            </a:pPr>
            <a:r>
              <a:rPr lang="ru-RU" b="1" dirty="0">
                <a:effectLst>
                  <a:outerShdw blurRad="38100" dist="38100" dir="2700000" algn="tl">
                    <a:srgbClr val="C0C0C0"/>
                  </a:outerShdw>
                </a:effectLst>
                <a:latin typeface="Times New Roman" pitchFamily="18" charset="0"/>
                <a:cs typeface="Arial" charset="0"/>
              </a:rPr>
              <a:t>Индуктивность</a:t>
            </a:r>
            <a:r>
              <a:rPr lang="ru-RU" dirty="0">
                <a:latin typeface="Times New Roman" pitchFamily="18" charset="0"/>
                <a:cs typeface="Arial" charset="0"/>
              </a:rPr>
              <a:t> контура с током – это коэффициент пропорциональности между протекающим по контуру током и возникающем при этом магнитным потоком. Индуктивность </a:t>
            </a:r>
            <a:r>
              <a:rPr lang="en-US" dirty="0">
                <a:latin typeface="Times New Roman" pitchFamily="18" charset="0"/>
                <a:cs typeface="Arial" charset="0"/>
              </a:rPr>
              <a:t>L</a:t>
            </a:r>
            <a:r>
              <a:rPr lang="ru-RU" dirty="0">
                <a:latin typeface="Times New Roman" pitchFamily="18" charset="0"/>
                <a:cs typeface="Arial" charset="0"/>
              </a:rPr>
              <a:t> зависит от формы и размеров контура, а также свойств среды                      </a:t>
            </a:r>
            <a:r>
              <a:rPr lang="ru-RU" sz="2400" b="1" dirty="0">
                <a:latin typeface="Times New Roman" pitchFamily="18" charset="0"/>
                <a:cs typeface="Arial" charset="0"/>
              </a:rPr>
              <a:t>Ф = </a:t>
            </a:r>
            <a:r>
              <a:rPr lang="en-US" sz="2400" b="1" dirty="0">
                <a:latin typeface="Times New Roman" pitchFamily="18" charset="0"/>
                <a:cs typeface="Arial" charset="0"/>
              </a:rPr>
              <a:t>L</a:t>
            </a:r>
            <a:r>
              <a:rPr lang="ru-RU" sz="2400" b="1" dirty="0">
                <a:latin typeface="Times New Roman" pitchFamily="18" charset="0"/>
                <a:cs typeface="Arial" charset="0"/>
              </a:rPr>
              <a:t>·</a:t>
            </a:r>
            <a:r>
              <a:rPr lang="pl-PL" sz="2400" b="1" dirty="0">
                <a:latin typeface="Times New Roman" pitchFamily="18" charset="0"/>
                <a:cs typeface="Arial" charset="0"/>
              </a:rPr>
              <a:t>I</a:t>
            </a:r>
            <a:r>
              <a:rPr lang="ru-RU" sz="2400" b="1" dirty="0">
                <a:latin typeface="Times New Roman" pitchFamily="18" charset="0"/>
                <a:cs typeface="Arial" charset="0"/>
              </a:rPr>
              <a:t>.</a:t>
            </a:r>
            <a:r>
              <a:rPr lang="ru-RU" dirty="0">
                <a:latin typeface="Times New Roman" pitchFamily="18" charset="0"/>
                <a:cs typeface="Arial" charset="0"/>
              </a:rPr>
              <a:t> </a:t>
            </a:r>
          </a:p>
        </p:txBody>
      </p:sp>
      <p:pic>
        <p:nvPicPr>
          <p:cNvPr id="12292" name="Picture 6">
            <a:extLst>
              <a:ext uri="{FF2B5EF4-FFF2-40B4-BE49-F238E27FC236}">
                <a16:creationId xmlns:a16="http://schemas.microsoft.com/office/drawing/2014/main" id="{5F9B87A5-27C7-4E94-BCD8-1900E91E09E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19289" y="2852739"/>
            <a:ext cx="3024187" cy="216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3" name="Text Box 7">
            <a:extLst>
              <a:ext uri="{FF2B5EF4-FFF2-40B4-BE49-F238E27FC236}">
                <a16:creationId xmlns:a16="http://schemas.microsoft.com/office/drawing/2014/main" id="{1062FECA-3393-49B8-B502-BB51A8120FF1}"/>
              </a:ext>
            </a:extLst>
          </p:cNvPr>
          <p:cNvSpPr txBox="1">
            <a:spLocks noChangeArrowheads="1"/>
          </p:cNvSpPr>
          <p:nvPr/>
        </p:nvSpPr>
        <p:spPr bwMode="auto">
          <a:xfrm>
            <a:off x="4727576" y="2852739"/>
            <a:ext cx="5472113" cy="160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800" dirty="0"/>
              <a:t>При наличии переменного тока в катушке индуктивности возникнет ЭДС самоиндукции</a:t>
            </a:r>
            <a:br>
              <a:rPr lang="en-US" altLang="ru-RU" sz="1800" dirty="0"/>
            </a:br>
            <a:endParaRPr lang="en-US" altLang="ru-RU" sz="1800" dirty="0"/>
          </a:p>
          <a:p>
            <a:pPr eaLnBrk="1" hangingPunct="1">
              <a:spcBef>
                <a:spcPct val="50000"/>
              </a:spcBef>
              <a:buFontTx/>
              <a:buNone/>
            </a:pPr>
            <a:r>
              <a:rPr lang="ru-RU" altLang="ru-RU" sz="1800" dirty="0"/>
              <a:t>Уравнение закона Ома запишется следующим образом:  </a:t>
            </a:r>
          </a:p>
        </p:txBody>
      </p:sp>
      <p:pic>
        <p:nvPicPr>
          <p:cNvPr id="12294" name="Picture 12">
            <a:extLst>
              <a:ext uri="{FF2B5EF4-FFF2-40B4-BE49-F238E27FC236}">
                <a16:creationId xmlns:a16="http://schemas.microsoft.com/office/drawing/2014/main" id="{49E36D73-C354-4FC1-A5CB-F5FBCAE6D0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25014" y="3141664"/>
            <a:ext cx="612775"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5" name="Text Box 13">
            <a:extLst>
              <a:ext uri="{FF2B5EF4-FFF2-40B4-BE49-F238E27FC236}">
                <a16:creationId xmlns:a16="http://schemas.microsoft.com/office/drawing/2014/main" id="{9513470E-BCDB-4586-A132-4F5E483B41DF}"/>
              </a:ext>
            </a:extLst>
          </p:cNvPr>
          <p:cNvSpPr txBox="1">
            <a:spLocks noChangeArrowheads="1"/>
          </p:cNvSpPr>
          <p:nvPr/>
        </p:nvSpPr>
        <p:spPr bwMode="auto">
          <a:xfrm>
            <a:off x="6096000" y="4292600"/>
            <a:ext cx="3384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pl-PL" altLang="ru-RU" sz="2400">
                <a:latin typeface="Times New Roman" panose="02020603050405020304" pitchFamily="18" charset="0"/>
              </a:rPr>
              <a:t>U</a:t>
            </a:r>
            <a:r>
              <a:rPr lang="ru-RU" altLang="ru-RU" sz="2400">
                <a:latin typeface="Times New Roman" panose="02020603050405020304" pitchFamily="18" charset="0"/>
              </a:rPr>
              <a:t> = </a:t>
            </a:r>
            <a:r>
              <a:rPr lang="pl-PL" altLang="ru-RU" sz="2400">
                <a:latin typeface="Times New Roman" panose="02020603050405020304" pitchFamily="18" charset="0"/>
              </a:rPr>
              <a:t>I</a:t>
            </a:r>
            <a:r>
              <a:rPr lang="ru-RU" altLang="ru-RU" sz="2400">
                <a:latin typeface="Times New Roman" panose="02020603050405020304" pitchFamily="18" charset="0"/>
              </a:rPr>
              <a:t>·</a:t>
            </a:r>
            <a:r>
              <a:rPr lang="pl-PL" altLang="ru-RU" sz="2400">
                <a:latin typeface="Times New Roman" panose="02020603050405020304" pitchFamily="18" charset="0"/>
              </a:rPr>
              <a:t>R</a:t>
            </a:r>
            <a:r>
              <a:rPr lang="ru-RU" altLang="ru-RU" sz="2400">
                <a:latin typeface="Times New Roman" panose="02020603050405020304" pitchFamily="18" charset="0"/>
              </a:rPr>
              <a:t> – </a:t>
            </a:r>
          </a:p>
        </p:txBody>
      </p:sp>
      <p:pic>
        <p:nvPicPr>
          <p:cNvPr id="12296" name="Picture 15">
            <a:extLst>
              <a:ext uri="{FF2B5EF4-FFF2-40B4-BE49-F238E27FC236}">
                <a16:creationId xmlns:a16="http://schemas.microsoft.com/office/drawing/2014/main" id="{3FFA6516-F808-4ECF-83DE-35A7E9608C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19964" y="4292600"/>
            <a:ext cx="719137"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8" name="Oval 16">
            <a:extLst>
              <a:ext uri="{FF2B5EF4-FFF2-40B4-BE49-F238E27FC236}">
                <a16:creationId xmlns:a16="http://schemas.microsoft.com/office/drawing/2014/main" id="{A10050F0-9E78-4436-9EF2-D545C96C2C5D}"/>
              </a:ext>
            </a:extLst>
          </p:cNvPr>
          <p:cNvSpPr>
            <a:spLocks noChangeArrowheads="1"/>
          </p:cNvSpPr>
          <p:nvPr/>
        </p:nvSpPr>
        <p:spPr bwMode="auto">
          <a:xfrm>
            <a:off x="6600825" y="4149726"/>
            <a:ext cx="647700" cy="792163"/>
          </a:xfrm>
          <a:prstGeom prst="ellipse">
            <a:avLst/>
          </a:prstGeom>
          <a:noFill/>
          <a:ln w="158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ru-RU" altLang="ru-RU" sz="1800"/>
          </a:p>
        </p:txBody>
      </p:sp>
      <p:sp>
        <p:nvSpPr>
          <p:cNvPr id="13329" name="Text Box 17">
            <a:extLst>
              <a:ext uri="{FF2B5EF4-FFF2-40B4-BE49-F238E27FC236}">
                <a16:creationId xmlns:a16="http://schemas.microsoft.com/office/drawing/2014/main" id="{3D4F2E2A-992F-42D2-A515-4E61A1785DB3}"/>
              </a:ext>
            </a:extLst>
          </p:cNvPr>
          <p:cNvSpPr txBox="1">
            <a:spLocks noChangeArrowheads="1"/>
          </p:cNvSpPr>
          <p:nvPr/>
        </p:nvSpPr>
        <p:spPr bwMode="auto">
          <a:xfrm>
            <a:off x="7175501" y="4868863"/>
            <a:ext cx="7921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ru-RU" sz="1800">
                <a:solidFill>
                  <a:srgbClr val="FF0066"/>
                </a:solidFill>
              </a:rPr>
              <a:t>=0</a:t>
            </a:r>
            <a:endParaRPr lang="ru-RU" altLang="ru-RU" sz="1800">
              <a:solidFill>
                <a:srgbClr val="FF0066"/>
              </a:solidFill>
            </a:endParaRPr>
          </a:p>
        </p:txBody>
      </p:sp>
      <p:graphicFrame>
        <p:nvGraphicFramePr>
          <p:cNvPr id="12299" name="Object 21">
            <a:extLst>
              <a:ext uri="{FF2B5EF4-FFF2-40B4-BE49-F238E27FC236}">
                <a16:creationId xmlns:a16="http://schemas.microsoft.com/office/drawing/2014/main" id="{60D09768-D148-4D96-86EF-26D9F5ECA573}"/>
              </a:ext>
            </a:extLst>
          </p:cNvPr>
          <p:cNvGraphicFramePr>
            <a:graphicFrameLocks noChangeAspect="1"/>
          </p:cNvGraphicFramePr>
          <p:nvPr/>
        </p:nvGraphicFramePr>
        <p:xfrm>
          <a:off x="1992314" y="5445125"/>
          <a:ext cx="1044575" cy="306388"/>
        </p:xfrm>
        <a:graphic>
          <a:graphicData uri="http://schemas.openxmlformats.org/presentationml/2006/ole">
            <mc:AlternateContent xmlns:mc="http://schemas.openxmlformats.org/markup-compatibility/2006">
              <mc:Choice xmlns:v="urn:schemas-microsoft-com:vml" Requires="v">
                <p:oleObj name="Формула" r:id="rId5" imgW="558558" imgH="165028" progId="Equation.3">
                  <p:embed/>
                </p:oleObj>
              </mc:Choice>
              <mc:Fallback>
                <p:oleObj name="Формула" r:id="rId5" imgW="558558" imgH="165028" progId="Equation.3">
                  <p:embed/>
                  <p:pic>
                    <p:nvPicPr>
                      <p:cNvPr id="12299" name="Object 21">
                        <a:extLst>
                          <a:ext uri="{FF2B5EF4-FFF2-40B4-BE49-F238E27FC236}">
                            <a16:creationId xmlns:a16="http://schemas.microsoft.com/office/drawing/2014/main" id="{60D09768-D148-4D96-86EF-26D9F5ECA57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92314" y="5445125"/>
                        <a:ext cx="1044575"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2300" name="Picture 22">
            <a:extLst>
              <a:ext uri="{FF2B5EF4-FFF2-40B4-BE49-F238E27FC236}">
                <a16:creationId xmlns:a16="http://schemas.microsoft.com/office/drawing/2014/main" id="{111E04B6-8204-4ADC-81B0-86568FA03E8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16501" y="5445126"/>
            <a:ext cx="2809875"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Прямоугольник 12">
            <a:extLst>
              <a:ext uri="{FF2B5EF4-FFF2-40B4-BE49-F238E27FC236}">
                <a16:creationId xmlns:a16="http://schemas.microsoft.com/office/drawing/2014/main" id="{E9EC4D8B-AF75-4154-94AC-F413A42C8995}"/>
              </a:ext>
            </a:extLst>
          </p:cNvPr>
          <p:cNvSpPr/>
          <p:nvPr/>
        </p:nvSpPr>
        <p:spPr>
          <a:xfrm>
            <a:off x="990532" y="112084"/>
            <a:ext cx="1479892" cy="369332"/>
          </a:xfrm>
          <a:prstGeom prst="rect">
            <a:avLst/>
          </a:prstGeom>
        </p:spPr>
        <p:txBody>
          <a:bodyPr wrap="none">
            <a:spAutoFit/>
          </a:bodyPr>
          <a:lstStyle/>
          <a:p>
            <a:pPr>
              <a:defRPr/>
            </a:pPr>
            <a:r>
              <a:rPr lang="ru-RU" dirty="0">
                <a:solidFill>
                  <a:schemeClr val="bg1"/>
                </a:solidFill>
              </a:rPr>
              <a:t>Кафедра ТЭЦ</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3329"/>
                                        </p:tgtEl>
                                        <p:attrNameLst>
                                          <p:attrName>style.visibility</p:attrName>
                                        </p:attrNameLst>
                                      </p:cBhvr>
                                      <p:to>
                                        <p:strVal val="visible"/>
                                      </p:to>
                                    </p:set>
                                    <p:animEffect transition="in" filter="checkerboard(across)">
                                      <p:cBhvr>
                                        <p:cTn id="7" dur="500"/>
                                        <p:tgtEl>
                                          <p:spTgt spid="13329"/>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3328"/>
                                        </p:tgtEl>
                                        <p:attrNameLst>
                                          <p:attrName>style.visibility</p:attrName>
                                        </p:attrNameLst>
                                      </p:cBhvr>
                                      <p:to>
                                        <p:strVal val="visible"/>
                                      </p:to>
                                    </p:set>
                                    <p:animEffect transition="in" filter="checkerboard(across)">
                                      <p:cBhvr>
                                        <p:cTn id="10" dur="500"/>
                                        <p:tgtEl>
                                          <p:spTgt spid="133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28" grpId="0" animBg="1"/>
      <p:bldP spid="1332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a:extLst>
              <a:ext uri="{FF2B5EF4-FFF2-40B4-BE49-F238E27FC236}">
                <a16:creationId xmlns:a16="http://schemas.microsoft.com/office/drawing/2014/main" id="{1F59AF96-932B-7ACD-EF3D-739302BFA5A4}"/>
              </a:ext>
            </a:extLst>
          </p:cNvPr>
          <p:cNvSpPr/>
          <p:nvPr/>
        </p:nvSpPr>
        <p:spPr>
          <a:xfrm>
            <a:off x="6960395" y="2346325"/>
            <a:ext cx="3456779" cy="201612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Прямоугольник 1">
            <a:extLst>
              <a:ext uri="{FF2B5EF4-FFF2-40B4-BE49-F238E27FC236}">
                <a16:creationId xmlns:a16="http://schemas.microsoft.com/office/drawing/2014/main" id="{D64FB64C-5FDD-3E5A-7452-85D829D16CCB}"/>
              </a:ext>
            </a:extLst>
          </p:cNvPr>
          <p:cNvSpPr/>
          <p:nvPr/>
        </p:nvSpPr>
        <p:spPr>
          <a:xfrm>
            <a:off x="1235075" y="2433640"/>
            <a:ext cx="3384550" cy="15750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314" name="Rectangle 5">
            <a:extLst>
              <a:ext uri="{FF2B5EF4-FFF2-40B4-BE49-F238E27FC236}">
                <a16:creationId xmlns:a16="http://schemas.microsoft.com/office/drawing/2014/main" id="{E6BCB698-0FA4-4027-935D-CED09603A13A}"/>
              </a:ext>
            </a:extLst>
          </p:cNvPr>
          <p:cNvSpPr>
            <a:spLocks noChangeArrowheads="1"/>
          </p:cNvSpPr>
          <p:nvPr/>
        </p:nvSpPr>
        <p:spPr bwMode="auto">
          <a:xfrm>
            <a:off x="1524001" y="3049072"/>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ru-RU" altLang="ru-RU" sz="1800"/>
          </a:p>
        </p:txBody>
      </p:sp>
      <p:graphicFrame>
        <p:nvGraphicFramePr>
          <p:cNvPr id="13315" name="Object 4">
            <a:extLst>
              <a:ext uri="{FF2B5EF4-FFF2-40B4-BE49-F238E27FC236}">
                <a16:creationId xmlns:a16="http://schemas.microsoft.com/office/drawing/2014/main" id="{C7849300-F0CF-49F3-ADE4-F6BF4512BD92}"/>
              </a:ext>
            </a:extLst>
          </p:cNvPr>
          <p:cNvGraphicFramePr>
            <a:graphicFrameLocks noChangeAspect="1"/>
          </p:cNvGraphicFramePr>
          <p:nvPr/>
        </p:nvGraphicFramePr>
        <p:xfrm>
          <a:off x="2640014" y="836614"/>
          <a:ext cx="7343775" cy="776287"/>
        </p:xfrm>
        <a:graphic>
          <a:graphicData uri="http://schemas.openxmlformats.org/presentationml/2006/ole">
            <mc:AlternateContent xmlns:mc="http://schemas.openxmlformats.org/markup-compatibility/2006">
              <mc:Choice xmlns:v="urn:schemas-microsoft-com:vml" Requires="v">
                <p:oleObj name="Формула" r:id="rId2" imgW="3695700" imgH="393700" progId="Equation.3">
                  <p:embed/>
                </p:oleObj>
              </mc:Choice>
              <mc:Fallback>
                <p:oleObj name="Формула" r:id="rId2" imgW="3695700" imgH="393700" progId="Equation.3">
                  <p:embed/>
                  <p:pic>
                    <p:nvPicPr>
                      <p:cNvPr id="13315" name="Object 4">
                        <a:extLst>
                          <a:ext uri="{FF2B5EF4-FFF2-40B4-BE49-F238E27FC236}">
                            <a16:creationId xmlns:a16="http://schemas.microsoft.com/office/drawing/2014/main" id="{C7849300-F0CF-49F3-ADE4-F6BF4512BD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0014" y="836614"/>
                        <a:ext cx="7343775" cy="77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316" name="Text Box 6">
            <a:extLst>
              <a:ext uri="{FF2B5EF4-FFF2-40B4-BE49-F238E27FC236}">
                <a16:creationId xmlns:a16="http://schemas.microsoft.com/office/drawing/2014/main" id="{C3E381F0-3571-41A3-9ADE-2889137678B0}"/>
              </a:ext>
            </a:extLst>
          </p:cNvPr>
          <p:cNvSpPr txBox="1">
            <a:spLocks noChangeArrowheads="1"/>
          </p:cNvSpPr>
          <p:nvPr/>
        </p:nvSpPr>
        <p:spPr bwMode="auto">
          <a:xfrm>
            <a:off x="1919288" y="260351"/>
            <a:ext cx="10080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800"/>
              <a:t>тогда</a:t>
            </a:r>
          </a:p>
        </p:txBody>
      </p:sp>
      <p:sp>
        <p:nvSpPr>
          <p:cNvPr id="13317" name="Text Box 7">
            <a:extLst>
              <a:ext uri="{FF2B5EF4-FFF2-40B4-BE49-F238E27FC236}">
                <a16:creationId xmlns:a16="http://schemas.microsoft.com/office/drawing/2014/main" id="{2F76C654-294E-42A4-822B-BC31F7E14F4C}"/>
              </a:ext>
            </a:extLst>
          </p:cNvPr>
          <p:cNvSpPr txBox="1">
            <a:spLocks noChangeArrowheads="1"/>
          </p:cNvSpPr>
          <p:nvPr/>
        </p:nvSpPr>
        <p:spPr bwMode="auto">
          <a:xfrm>
            <a:off x="1919289" y="1989138"/>
            <a:ext cx="83534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800"/>
              <a:t>Таким образом, колебания напряжения на индуктивности </a:t>
            </a:r>
            <a:r>
              <a:rPr lang="ru-RU" altLang="ru-RU" sz="1800" i="1" u="sng">
                <a:solidFill>
                  <a:srgbClr val="FF0066"/>
                </a:solidFill>
              </a:rPr>
              <a:t>опережают</a:t>
            </a:r>
            <a:r>
              <a:rPr lang="ru-RU" altLang="ru-RU" sz="1800"/>
              <a:t> колебания тока на π/2. </a:t>
            </a:r>
          </a:p>
        </p:txBody>
      </p:sp>
      <p:pic>
        <p:nvPicPr>
          <p:cNvPr id="13318" name="Picture 8">
            <a:extLst>
              <a:ext uri="{FF2B5EF4-FFF2-40B4-BE49-F238E27FC236}">
                <a16:creationId xmlns:a16="http://schemas.microsoft.com/office/drawing/2014/main" id="{F2520168-B6BE-41C9-80D8-230179187DD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104064" y="2392028"/>
            <a:ext cx="3384550" cy="193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9" name="AutoShape 9">
            <a:extLst>
              <a:ext uri="{FF2B5EF4-FFF2-40B4-BE49-F238E27FC236}">
                <a16:creationId xmlns:a16="http://schemas.microsoft.com/office/drawing/2014/main" id="{89EDC834-930B-4996-BD48-E376822CF4EE}"/>
              </a:ext>
            </a:extLst>
          </p:cNvPr>
          <p:cNvSpPr>
            <a:spLocks noChangeArrowheads="1"/>
          </p:cNvSpPr>
          <p:nvPr/>
        </p:nvSpPr>
        <p:spPr bwMode="auto">
          <a:xfrm>
            <a:off x="1992313" y="4437064"/>
            <a:ext cx="8424862" cy="2232025"/>
          </a:xfrm>
          <a:prstGeom prst="wedgeRoundRectCallout">
            <a:avLst>
              <a:gd name="adj1" fmla="val -3667"/>
              <a:gd name="adj2" fmla="val -131648"/>
              <a:gd name="adj3" fmla="val 16667"/>
            </a:avLst>
          </a:prstGeom>
          <a:solidFill>
            <a:schemeClr val="accent1"/>
          </a:solidFill>
          <a:ln w="9525">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endParaRPr lang="ru-RU" altLang="ru-RU" sz="1800"/>
          </a:p>
        </p:txBody>
      </p:sp>
      <p:sp>
        <p:nvSpPr>
          <p:cNvPr id="13320" name="Text Box 10">
            <a:extLst>
              <a:ext uri="{FF2B5EF4-FFF2-40B4-BE49-F238E27FC236}">
                <a16:creationId xmlns:a16="http://schemas.microsoft.com/office/drawing/2014/main" id="{A1DD6AFF-5C67-43D2-AADD-83B8F86252A7}"/>
              </a:ext>
            </a:extLst>
          </p:cNvPr>
          <p:cNvSpPr txBox="1">
            <a:spLocks noChangeArrowheads="1"/>
          </p:cNvSpPr>
          <p:nvPr/>
        </p:nvSpPr>
        <p:spPr bwMode="auto">
          <a:xfrm>
            <a:off x="2279651" y="4508500"/>
            <a:ext cx="8208963" cy="201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800" dirty="0">
                <a:solidFill>
                  <a:schemeClr val="bg1"/>
                </a:solidFill>
              </a:rPr>
              <a:t>Физический смысл того, что </a:t>
            </a:r>
            <a:r>
              <a:rPr lang="ru-RU" altLang="ru-RU" sz="1800" dirty="0" err="1">
                <a:solidFill>
                  <a:schemeClr val="bg1"/>
                </a:solidFill>
              </a:rPr>
              <a:t>Δφ</a:t>
            </a:r>
            <a:r>
              <a:rPr lang="ru-RU" altLang="ru-RU" sz="1800" dirty="0">
                <a:solidFill>
                  <a:schemeClr val="bg1"/>
                </a:solidFill>
              </a:rPr>
              <a:t> &lt; 0 следующая: если активное сопротивление R=0, то все внешнее напряжение в точности уравновешивает ЭДС самоиндукции U =   </a:t>
            </a:r>
            <a:r>
              <a:rPr lang="en-US" altLang="ru-RU" sz="1800" i="1" dirty="0">
                <a:solidFill>
                  <a:schemeClr val="bg1"/>
                </a:solidFill>
              </a:rPr>
              <a:t>Es</a:t>
            </a:r>
            <a:r>
              <a:rPr lang="ru-RU" altLang="ru-RU" sz="1800" dirty="0">
                <a:solidFill>
                  <a:schemeClr val="bg1"/>
                </a:solidFill>
              </a:rPr>
              <a:t> . Но ЭДС самоиндукции пропорциональна не мгновенному значению тока, а быстроте его изменения, которая будет наибольшей в те моменты, когда сила тока проходит через ноль. Поэтому максимумы напряжения </a:t>
            </a:r>
            <a:r>
              <a:rPr lang="pl-PL" altLang="ru-RU" sz="1800" dirty="0">
                <a:solidFill>
                  <a:schemeClr val="bg1"/>
                </a:solidFill>
              </a:rPr>
              <a:t>U</a:t>
            </a:r>
            <a:r>
              <a:rPr lang="ru-RU" altLang="ru-RU" sz="1800" dirty="0">
                <a:solidFill>
                  <a:schemeClr val="bg1"/>
                </a:solidFill>
              </a:rPr>
              <a:t> совпадают с нулевыми значениями тока и наоборот. </a:t>
            </a:r>
          </a:p>
        </p:txBody>
      </p:sp>
      <p:pic>
        <p:nvPicPr>
          <p:cNvPr id="13321" name="Picture 11">
            <a:extLst>
              <a:ext uri="{FF2B5EF4-FFF2-40B4-BE49-F238E27FC236}">
                <a16:creationId xmlns:a16="http://schemas.microsoft.com/office/drawing/2014/main" id="{D3D38F1D-0540-43C6-AD42-7252ADD4C94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841376" y="4954331"/>
            <a:ext cx="612775" cy="43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2" name="Picture 13">
            <a:extLst>
              <a:ext uri="{FF2B5EF4-FFF2-40B4-BE49-F238E27FC236}">
                <a16:creationId xmlns:a16="http://schemas.microsoft.com/office/drawing/2014/main" id="{4B2744BE-7590-4E64-AD91-0B4740596A6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1" y="2636839"/>
            <a:ext cx="2809875"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Прямоугольник 10">
            <a:extLst>
              <a:ext uri="{FF2B5EF4-FFF2-40B4-BE49-F238E27FC236}">
                <a16:creationId xmlns:a16="http://schemas.microsoft.com/office/drawing/2014/main" id="{786B2DD0-197E-4204-B94B-5F9979323CD0}"/>
              </a:ext>
            </a:extLst>
          </p:cNvPr>
          <p:cNvSpPr/>
          <p:nvPr/>
        </p:nvSpPr>
        <p:spPr>
          <a:xfrm>
            <a:off x="1291399" y="94079"/>
            <a:ext cx="1479892" cy="369332"/>
          </a:xfrm>
          <a:prstGeom prst="rect">
            <a:avLst/>
          </a:prstGeom>
        </p:spPr>
        <p:txBody>
          <a:bodyPr wrap="none">
            <a:spAutoFit/>
          </a:bodyPr>
          <a:lstStyle/>
          <a:p>
            <a:pPr>
              <a:defRPr/>
            </a:pPr>
            <a:r>
              <a:rPr lang="ru-RU" dirty="0">
                <a:solidFill>
                  <a:schemeClr val="bg1"/>
                </a:solidFill>
              </a:rPr>
              <a:t>Кафедра ТЭЦ</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BA28514C-4F67-5242-C351-B29C6060EA4C}"/>
              </a:ext>
            </a:extLst>
          </p:cNvPr>
          <p:cNvSpPr/>
          <p:nvPr/>
        </p:nvSpPr>
        <p:spPr>
          <a:xfrm>
            <a:off x="1982666" y="692149"/>
            <a:ext cx="8749501" cy="22224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14338" name="Picture 5" descr="Img_Iper_Ref_005">
            <a:extLst>
              <a:ext uri="{FF2B5EF4-FFF2-40B4-BE49-F238E27FC236}">
                <a16:creationId xmlns:a16="http://schemas.microsoft.com/office/drawing/2014/main" id="{898A288F-6902-43E4-A74D-6E76BB238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9289" y="620714"/>
            <a:ext cx="3551237" cy="199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39" name="Picture 6">
            <a:extLst>
              <a:ext uri="{FF2B5EF4-FFF2-40B4-BE49-F238E27FC236}">
                <a16:creationId xmlns:a16="http://schemas.microsoft.com/office/drawing/2014/main" id="{F154D438-F419-49FB-974A-9DD35CF13A5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67439" y="692150"/>
            <a:ext cx="2376487" cy="222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0" name="AutoShape 7">
            <a:extLst>
              <a:ext uri="{FF2B5EF4-FFF2-40B4-BE49-F238E27FC236}">
                <a16:creationId xmlns:a16="http://schemas.microsoft.com/office/drawing/2014/main" id="{5F0DFD50-C965-4D20-8EC3-FEC89FDE59B6}"/>
              </a:ext>
            </a:extLst>
          </p:cNvPr>
          <p:cNvSpPr>
            <a:spLocks noChangeArrowheads="1"/>
          </p:cNvSpPr>
          <p:nvPr/>
        </p:nvSpPr>
        <p:spPr bwMode="auto">
          <a:xfrm rot="2018914" flipH="1">
            <a:off x="7642226" y="836614"/>
            <a:ext cx="3025775" cy="503237"/>
          </a:xfrm>
          <a:prstGeom prst="wedgeRoundRectCallout">
            <a:avLst>
              <a:gd name="adj1" fmla="val 24556"/>
              <a:gd name="adj2" fmla="val 152954"/>
              <a:gd name="adj3" fmla="val 16667"/>
            </a:avLst>
          </a:prstGeom>
          <a:solidFill>
            <a:schemeClr val="accent1"/>
          </a:solidFill>
          <a:ln w="9525">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ru-RU" altLang="ru-RU" sz="1800" dirty="0">
                <a:solidFill>
                  <a:schemeClr val="bg1"/>
                </a:solidFill>
              </a:rPr>
              <a:t>векторная диаграмма</a:t>
            </a:r>
          </a:p>
        </p:txBody>
      </p:sp>
      <p:sp>
        <p:nvSpPr>
          <p:cNvPr id="14341" name="Rectangle 9">
            <a:extLst>
              <a:ext uri="{FF2B5EF4-FFF2-40B4-BE49-F238E27FC236}">
                <a16:creationId xmlns:a16="http://schemas.microsoft.com/office/drawing/2014/main" id="{63F86765-29EB-44BE-8E54-52AAE648CC5A}"/>
              </a:ext>
            </a:extLst>
          </p:cNvPr>
          <p:cNvSpPr>
            <a:spLocks noChangeArrowheads="1"/>
          </p:cNvSpPr>
          <p:nvPr/>
        </p:nvSpPr>
        <p:spPr bwMode="auto">
          <a:xfrm>
            <a:off x="1524001" y="31300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ru-RU" altLang="ru-RU" sz="1800"/>
          </a:p>
        </p:txBody>
      </p:sp>
      <p:graphicFrame>
        <p:nvGraphicFramePr>
          <p:cNvPr id="14342" name="Object 8">
            <a:extLst>
              <a:ext uri="{FF2B5EF4-FFF2-40B4-BE49-F238E27FC236}">
                <a16:creationId xmlns:a16="http://schemas.microsoft.com/office/drawing/2014/main" id="{AFDD84D1-A1EC-46F4-B4F8-546EE20E04D8}"/>
              </a:ext>
            </a:extLst>
          </p:cNvPr>
          <p:cNvGraphicFramePr>
            <a:graphicFrameLocks noChangeAspect="1"/>
          </p:cNvGraphicFramePr>
          <p:nvPr/>
        </p:nvGraphicFramePr>
        <p:xfrm>
          <a:off x="2208213" y="3357564"/>
          <a:ext cx="3167062" cy="542925"/>
        </p:xfrm>
        <a:graphic>
          <a:graphicData uri="http://schemas.openxmlformats.org/presentationml/2006/ole">
            <mc:AlternateContent xmlns:mc="http://schemas.openxmlformats.org/markup-compatibility/2006">
              <mc:Choice xmlns:v="urn:schemas-microsoft-com:vml" Requires="v">
                <p:oleObj name="Формула" r:id="rId4" imgW="1333500" imgH="228600" progId="Equation.3">
                  <p:embed/>
                </p:oleObj>
              </mc:Choice>
              <mc:Fallback>
                <p:oleObj name="Формула" r:id="rId4" imgW="1333500" imgH="228600" progId="Equation.3">
                  <p:embed/>
                  <p:pic>
                    <p:nvPicPr>
                      <p:cNvPr id="14342" name="Object 8">
                        <a:extLst>
                          <a:ext uri="{FF2B5EF4-FFF2-40B4-BE49-F238E27FC236}">
                            <a16:creationId xmlns:a16="http://schemas.microsoft.com/office/drawing/2014/main" id="{AFDD84D1-A1EC-46F4-B4F8-546EE20E04D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8213" y="3357564"/>
                        <a:ext cx="3167062"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43" name="Text Box 10">
            <a:extLst>
              <a:ext uri="{FF2B5EF4-FFF2-40B4-BE49-F238E27FC236}">
                <a16:creationId xmlns:a16="http://schemas.microsoft.com/office/drawing/2014/main" id="{1531B793-3648-4CAF-8E7A-9C3CFAFC637E}"/>
              </a:ext>
            </a:extLst>
          </p:cNvPr>
          <p:cNvSpPr txBox="1">
            <a:spLocks noChangeArrowheads="1"/>
          </p:cNvSpPr>
          <p:nvPr/>
        </p:nvSpPr>
        <p:spPr bwMode="auto">
          <a:xfrm>
            <a:off x="2063750" y="4221163"/>
            <a:ext cx="80645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2000">
                <a:latin typeface="Times New Roman" panose="02020603050405020304" pitchFamily="18" charset="0"/>
              </a:rPr>
              <a:t>Роль сопротивления в данном случае играет величина </a:t>
            </a:r>
            <a:r>
              <a:rPr lang="pl-PL" altLang="ru-RU" sz="2400">
                <a:latin typeface="Times New Roman" panose="02020603050405020304" pitchFamily="18" charset="0"/>
              </a:rPr>
              <a:t>R</a:t>
            </a:r>
            <a:r>
              <a:rPr lang="en-US" altLang="ru-RU" sz="2400" baseline="-25000">
                <a:latin typeface="Times New Roman" panose="02020603050405020304" pitchFamily="18" charset="0"/>
              </a:rPr>
              <a:t>L</a:t>
            </a:r>
            <a:r>
              <a:rPr lang="ru-RU" altLang="ru-RU" sz="2400">
                <a:latin typeface="Times New Roman" panose="02020603050405020304" pitchFamily="18" charset="0"/>
              </a:rPr>
              <a:t>=ω</a:t>
            </a:r>
            <a:r>
              <a:rPr lang="en-US" altLang="ru-RU" sz="2400">
                <a:latin typeface="Times New Roman" panose="02020603050405020304" pitchFamily="18" charset="0"/>
              </a:rPr>
              <a:t>L</a:t>
            </a:r>
            <a:r>
              <a:rPr lang="ru-RU" altLang="ru-RU" sz="2000">
                <a:latin typeface="Times New Roman" panose="02020603050405020304" pitchFamily="18" charset="0"/>
              </a:rPr>
              <a:t>, называемая кажущееся сопротивление индуктивности (</a:t>
            </a:r>
            <a:r>
              <a:rPr lang="ru-RU" altLang="ru-RU" sz="2000" b="1" i="1">
                <a:solidFill>
                  <a:srgbClr val="FF0066"/>
                </a:solidFill>
                <a:latin typeface="Times New Roman" panose="02020603050405020304" pitchFamily="18" charset="0"/>
              </a:rPr>
              <a:t>индуктивное сопротивление</a:t>
            </a:r>
            <a:r>
              <a:rPr lang="ru-RU" altLang="ru-RU" sz="2000">
                <a:latin typeface="Times New Roman" panose="02020603050405020304" pitchFamily="18" charset="0"/>
              </a:rPr>
              <a:t>). </a:t>
            </a:r>
            <a:br>
              <a:rPr lang="ru-RU" altLang="ru-RU" sz="2000">
                <a:latin typeface="Times New Roman" panose="02020603050405020304" pitchFamily="18" charset="0"/>
              </a:rPr>
            </a:br>
            <a:r>
              <a:rPr lang="ru-RU" altLang="ru-RU" sz="2000">
                <a:latin typeface="Times New Roman" panose="02020603050405020304" pitchFamily="18" charset="0"/>
              </a:rPr>
              <a:t>Если индуктивность измеряется в Генри, а частота ω в с</a:t>
            </a:r>
            <a:r>
              <a:rPr lang="ru-RU" altLang="ru-RU" sz="2000" baseline="30000">
                <a:latin typeface="Times New Roman" panose="02020603050405020304" pitchFamily="18" charset="0"/>
              </a:rPr>
              <a:t>-1</a:t>
            </a:r>
            <a:r>
              <a:rPr lang="ru-RU" altLang="ru-RU" sz="2000">
                <a:latin typeface="Times New Roman" panose="02020603050405020304" pitchFamily="18" charset="0"/>
              </a:rPr>
              <a:t>, то </a:t>
            </a:r>
            <a:r>
              <a:rPr lang="pl-PL" altLang="ru-RU" sz="2000">
                <a:latin typeface="Times New Roman" panose="02020603050405020304" pitchFamily="18" charset="0"/>
              </a:rPr>
              <a:t>R</a:t>
            </a:r>
            <a:r>
              <a:rPr lang="en-US" altLang="ru-RU" sz="2000" baseline="-25000">
                <a:latin typeface="Times New Roman" panose="02020603050405020304" pitchFamily="18" charset="0"/>
              </a:rPr>
              <a:t>L</a:t>
            </a:r>
            <a:r>
              <a:rPr lang="ru-RU" altLang="ru-RU" sz="2000">
                <a:latin typeface="Times New Roman" panose="02020603050405020304" pitchFamily="18" charset="0"/>
              </a:rPr>
              <a:t> будет выражаться в Ом.</a:t>
            </a:r>
          </a:p>
        </p:txBody>
      </p:sp>
      <p:sp>
        <p:nvSpPr>
          <p:cNvPr id="8" name="Прямоугольник 7">
            <a:extLst>
              <a:ext uri="{FF2B5EF4-FFF2-40B4-BE49-F238E27FC236}">
                <a16:creationId xmlns:a16="http://schemas.microsoft.com/office/drawing/2014/main" id="{3B0D6F11-3F08-4619-A7E2-A2D33673F857}"/>
              </a:ext>
            </a:extLst>
          </p:cNvPr>
          <p:cNvSpPr/>
          <p:nvPr/>
        </p:nvSpPr>
        <p:spPr>
          <a:xfrm>
            <a:off x="1291399" y="94079"/>
            <a:ext cx="1479892" cy="369332"/>
          </a:xfrm>
          <a:prstGeom prst="rect">
            <a:avLst/>
          </a:prstGeom>
        </p:spPr>
        <p:txBody>
          <a:bodyPr wrap="none">
            <a:spAutoFit/>
          </a:bodyPr>
          <a:lstStyle/>
          <a:p>
            <a:pPr>
              <a:defRPr/>
            </a:pPr>
            <a:r>
              <a:rPr lang="ru-RU" dirty="0">
                <a:solidFill>
                  <a:schemeClr val="bg1"/>
                </a:solidFill>
              </a:rPr>
              <a:t>Кафедра ТЭЦ</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a:extLst>
              <a:ext uri="{FF2B5EF4-FFF2-40B4-BE49-F238E27FC236}">
                <a16:creationId xmlns:a16="http://schemas.microsoft.com/office/drawing/2014/main" id="{6F6A4A6A-CA05-5FBE-CD10-179588F1BACF}"/>
              </a:ext>
            </a:extLst>
          </p:cNvPr>
          <p:cNvSpPr/>
          <p:nvPr/>
        </p:nvSpPr>
        <p:spPr>
          <a:xfrm>
            <a:off x="8032562" y="4323557"/>
            <a:ext cx="2764213" cy="2387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Прямоугольник 1">
            <a:extLst>
              <a:ext uri="{FF2B5EF4-FFF2-40B4-BE49-F238E27FC236}">
                <a16:creationId xmlns:a16="http://schemas.microsoft.com/office/drawing/2014/main" id="{836D73E8-0CF5-97C0-5C45-65A993FE8637}"/>
              </a:ext>
            </a:extLst>
          </p:cNvPr>
          <p:cNvSpPr/>
          <p:nvPr/>
        </p:nvSpPr>
        <p:spPr>
          <a:xfrm>
            <a:off x="924675" y="2620258"/>
            <a:ext cx="3277576" cy="2387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388" name="Text Box 4">
            <a:extLst>
              <a:ext uri="{FF2B5EF4-FFF2-40B4-BE49-F238E27FC236}">
                <a16:creationId xmlns:a16="http://schemas.microsoft.com/office/drawing/2014/main" id="{331E4F29-5316-4769-9681-31430C76FAC8}"/>
              </a:ext>
            </a:extLst>
          </p:cNvPr>
          <p:cNvSpPr txBox="1">
            <a:spLocks noChangeArrowheads="1"/>
          </p:cNvSpPr>
          <p:nvPr/>
        </p:nvSpPr>
        <p:spPr bwMode="auto">
          <a:xfrm>
            <a:off x="2711451" y="0"/>
            <a:ext cx="5616575" cy="457200"/>
          </a:xfrm>
          <a:prstGeom prst="rect">
            <a:avLst/>
          </a:prstGeom>
          <a:noFill/>
          <a:ln w="9525" algn="ctr">
            <a:noFill/>
            <a:miter lim="800000"/>
            <a:headEnd/>
            <a:tailEnd/>
          </a:ln>
          <a:effectLst/>
        </p:spPr>
        <p:txBody>
          <a:bodyPr>
            <a:spAutoFit/>
          </a:bodyPr>
          <a:lstStyle/>
          <a:p>
            <a:pPr eaLnBrk="1" hangingPunct="1">
              <a:spcBef>
                <a:spcPct val="50000"/>
              </a:spcBef>
              <a:defRPr/>
            </a:pPr>
            <a:r>
              <a:rPr lang="ru-RU" sz="2400" b="1" i="1">
                <a:solidFill>
                  <a:srgbClr val="FF0066"/>
                </a:solidFill>
                <a:effectLst>
                  <a:outerShdw blurRad="38100" dist="38100" dir="2700000" algn="tl">
                    <a:srgbClr val="C0C0C0"/>
                  </a:outerShdw>
                </a:effectLst>
                <a:latin typeface="Arial" charset="0"/>
                <a:cs typeface="Arial" charset="0"/>
              </a:rPr>
              <a:t>Закон Ома для переменного тока </a:t>
            </a:r>
          </a:p>
        </p:txBody>
      </p:sp>
      <p:sp>
        <p:nvSpPr>
          <p:cNvPr id="15363" name="Text Box 5">
            <a:extLst>
              <a:ext uri="{FF2B5EF4-FFF2-40B4-BE49-F238E27FC236}">
                <a16:creationId xmlns:a16="http://schemas.microsoft.com/office/drawing/2014/main" id="{F9F8A788-3865-480B-85D0-AD18B8A2778F}"/>
              </a:ext>
            </a:extLst>
          </p:cNvPr>
          <p:cNvSpPr txBox="1">
            <a:spLocks noChangeArrowheads="1"/>
          </p:cNvSpPr>
          <p:nvPr/>
        </p:nvSpPr>
        <p:spPr bwMode="auto">
          <a:xfrm>
            <a:off x="542741" y="649814"/>
            <a:ext cx="1126776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800" dirty="0"/>
              <a:t>Рассмотрим электрическую цепь, состоящую из последовательно соединенных резистора, конденсатора и катушки. Если к выводам этой электрической цепи приложить электрическое напряжение, изменяющееся по гармоническому закону с частотой </a:t>
            </a:r>
            <a:r>
              <a:rPr lang="ru-RU" altLang="ru-RU" sz="1800" i="1" dirty="0"/>
              <a:t>ω</a:t>
            </a:r>
            <a:r>
              <a:rPr lang="ru-RU" altLang="ru-RU" sz="1800" dirty="0"/>
              <a:t> и амплитудой </a:t>
            </a:r>
            <a:r>
              <a:rPr lang="ru-RU" altLang="ru-RU" sz="1800" i="1" dirty="0" err="1"/>
              <a:t>U</a:t>
            </a:r>
            <a:r>
              <a:rPr lang="ru-RU" altLang="ru-RU" sz="1800" baseline="-25000" dirty="0" err="1"/>
              <a:t>m</a:t>
            </a:r>
            <a:r>
              <a:rPr lang="ru-RU" altLang="ru-RU" sz="1800" dirty="0"/>
              <a:t>, то в цепи возникнут вынужденные колебания силы тока с той же частотой и некоторой амплитудой </a:t>
            </a:r>
            <a:r>
              <a:rPr lang="ru-RU" altLang="ru-RU" sz="1800" i="1" dirty="0" err="1"/>
              <a:t>I</a:t>
            </a:r>
            <a:r>
              <a:rPr lang="ru-RU" altLang="ru-RU" sz="1800" baseline="-25000" dirty="0" err="1"/>
              <a:t>m</a:t>
            </a:r>
            <a:r>
              <a:rPr lang="ru-RU" altLang="ru-RU" sz="1800" dirty="0"/>
              <a:t>. </a:t>
            </a:r>
          </a:p>
        </p:txBody>
      </p:sp>
      <p:pic>
        <p:nvPicPr>
          <p:cNvPr id="15364" name="Picture 6">
            <a:extLst>
              <a:ext uri="{FF2B5EF4-FFF2-40B4-BE49-F238E27FC236}">
                <a16:creationId xmlns:a16="http://schemas.microsoft.com/office/drawing/2014/main" id="{139BA2FA-2A32-429D-BDFB-A5DDE3932B6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64217" y="2731849"/>
            <a:ext cx="2879725" cy="238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5" name="Rectangle 7">
            <a:extLst>
              <a:ext uri="{FF2B5EF4-FFF2-40B4-BE49-F238E27FC236}">
                <a16:creationId xmlns:a16="http://schemas.microsoft.com/office/drawing/2014/main" id="{88A88E79-B81D-4C70-898B-57C5C2E5E942}"/>
              </a:ext>
            </a:extLst>
          </p:cNvPr>
          <p:cNvSpPr>
            <a:spLocks noChangeArrowheads="1"/>
          </p:cNvSpPr>
          <p:nvPr/>
        </p:nvSpPr>
        <p:spPr bwMode="auto">
          <a:xfrm>
            <a:off x="5096330" y="2094668"/>
            <a:ext cx="21605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pl-PL" altLang="ru-RU" sz="2400" dirty="0">
                <a:latin typeface="Times New Roman" panose="02020603050405020304" pitchFamily="18" charset="0"/>
              </a:rPr>
              <a:t>I</a:t>
            </a:r>
            <a:r>
              <a:rPr lang="ru-RU" altLang="ru-RU" sz="2400" dirty="0">
                <a:latin typeface="Times New Roman" panose="02020603050405020304" pitchFamily="18" charset="0"/>
              </a:rPr>
              <a:t>= </a:t>
            </a:r>
            <a:r>
              <a:rPr lang="pl-PL" altLang="ru-RU" sz="2400" dirty="0">
                <a:latin typeface="Times New Roman" panose="02020603050405020304" pitchFamily="18" charset="0"/>
              </a:rPr>
              <a:t>I</a:t>
            </a:r>
            <a:r>
              <a:rPr lang="ru-RU" altLang="ru-RU" sz="2400" baseline="-25000" dirty="0">
                <a:latin typeface="Times New Roman" panose="02020603050405020304" pitchFamily="18" charset="0"/>
              </a:rPr>
              <a:t>0</a:t>
            </a:r>
            <a:r>
              <a:rPr lang="ru-RU" altLang="ru-RU" sz="2400" dirty="0">
                <a:latin typeface="Times New Roman" panose="02020603050405020304" pitchFamily="18" charset="0"/>
              </a:rPr>
              <a:t>·</a:t>
            </a:r>
            <a:r>
              <a:rPr lang="pl-PL" altLang="ru-RU" sz="2400" dirty="0">
                <a:latin typeface="Times New Roman" panose="02020603050405020304" pitchFamily="18" charset="0"/>
              </a:rPr>
              <a:t>sin</a:t>
            </a:r>
            <a:r>
              <a:rPr lang="en-US" altLang="ru-RU" sz="2400" dirty="0">
                <a:latin typeface="Times New Roman" panose="02020603050405020304" pitchFamily="18" charset="0"/>
              </a:rPr>
              <a:t>ω</a:t>
            </a:r>
            <a:r>
              <a:rPr lang="pl-PL" altLang="ru-RU" sz="2400" dirty="0">
                <a:latin typeface="Times New Roman" panose="02020603050405020304" pitchFamily="18" charset="0"/>
              </a:rPr>
              <a:t>t</a:t>
            </a:r>
            <a:r>
              <a:rPr lang="ru-RU" altLang="ru-RU" sz="2400" dirty="0">
                <a:latin typeface="Times New Roman" panose="02020603050405020304" pitchFamily="18" charset="0"/>
              </a:rPr>
              <a:t> </a:t>
            </a:r>
          </a:p>
        </p:txBody>
      </p:sp>
      <p:sp>
        <p:nvSpPr>
          <p:cNvPr id="15366" name="Text Box 8">
            <a:extLst>
              <a:ext uri="{FF2B5EF4-FFF2-40B4-BE49-F238E27FC236}">
                <a16:creationId xmlns:a16="http://schemas.microsoft.com/office/drawing/2014/main" id="{354C0AFD-4AA6-4A80-B9BC-754CDF25A082}"/>
              </a:ext>
            </a:extLst>
          </p:cNvPr>
          <p:cNvSpPr txBox="1">
            <a:spLocks noChangeArrowheads="1"/>
          </p:cNvSpPr>
          <p:nvPr/>
        </p:nvSpPr>
        <p:spPr bwMode="auto">
          <a:xfrm>
            <a:off x="4685633" y="2681012"/>
            <a:ext cx="6953793"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2000" dirty="0"/>
              <a:t>Вычислим напряжение всей цепи, сложив графически падения напряжения на каждом элементе цепи. </a:t>
            </a:r>
          </a:p>
          <a:p>
            <a:pPr eaLnBrk="1" hangingPunct="1">
              <a:spcBef>
                <a:spcPct val="50000"/>
              </a:spcBef>
              <a:buFontTx/>
              <a:buNone/>
            </a:pPr>
            <a:r>
              <a:rPr lang="ru-RU" altLang="ru-RU" sz="2000" dirty="0"/>
              <a:t>При последовательном соединении падения  напряжения на каждом из элементов цепи складываются.</a:t>
            </a:r>
          </a:p>
        </p:txBody>
      </p:sp>
      <p:sp>
        <p:nvSpPr>
          <p:cNvPr id="15367" name="Text Box 9">
            <a:extLst>
              <a:ext uri="{FF2B5EF4-FFF2-40B4-BE49-F238E27FC236}">
                <a16:creationId xmlns:a16="http://schemas.microsoft.com/office/drawing/2014/main" id="{CC89B4DA-053C-44C4-881D-27B6299183C7}"/>
              </a:ext>
            </a:extLst>
          </p:cNvPr>
          <p:cNvSpPr txBox="1">
            <a:spLocks noChangeArrowheads="1"/>
          </p:cNvSpPr>
          <p:nvPr/>
        </p:nvSpPr>
        <p:spPr bwMode="auto">
          <a:xfrm>
            <a:off x="1990726" y="5119449"/>
            <a:ext cx="54737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2000" dirty="0"/>
              <a:t>С учетом сдвига фаз между </a:t>
            </a:r>
            <a:r>
              <a:rPr lang="en-US" altLang="ru-RU" sz="2000" dirty="0"/>
              <a:t>U</a:t>
            </a:r>
            <a:r>
              <a:rPr lang="en-US" altLang="ru-RU" sz="2000" baseline="-25000" dirty="0"/>
              <a:t>R</a:t>
            </a:r>
            <a:r>
              <a:rPr lang="ru-RU" altLang="ru-RU" sz="2000" dirty="0"/>
              <a:t>,</a:t>
            </a:r>
            <a:r>
              <a:rPr lang="en-US" altLang="ru-RU" sz="2000" dirty="0"/>
              <a:t>U</a:t>
            </a:r>
            <a:r>
              <a:rPr lang="en-US" altLang="ru-RU" sz="2000" baseline="-25000" dirty="0"/>
              <a:t>C</a:t>
            </a:r>
            <a:r>
              <a:rPr lang="en-US" altLang="ru-RU" sz="2000" dirty="0"/>
              <a:t> </a:t>
            </a:r>
            <a:r>
              <a:rPr lang="ru-RU" altLang="ru-RU" sz="2000" dirty="0"/>
              <a:t>и </a:t>
            </a:r>
            <a:r>
              <a:rPr lang="en-US" altLang="ru-RU" sz="2000" dirty="0"/>
              <a:t>U</a:t>
            </a:r>
            <a:r>
              <a:rPr lang="en-US" altLang="ru-RU" sz="2000" baseline="-25000" dirty="0"/>
              <a:t>L</a:t>
            </a:r>
            <a:r>
              <a:rPr lang="ru-RU" altLang="ru-RU" sz="2000" dirty="0"/>
              <a:t>, о которых говорилось выше, векторная диаграмма будет иметь следующий вид </a:t>
            </a:r>
          </a:p>
        </p:txBody>
      </p:sp>
      <p:pic>
        <p:nvPicPr>
          <p:cNvPr id="15368" name="Picture 10" descr="File:Wykres wektorowy by Zureks.svg">
            <a:extLst>
              <a:ext uri="{FF2B5EF4-FFF2-40B4-BE49-F238E27FC236}">
                <a16:creationId xmlns:a16="http://schemas.microsoft.com/office/drawing/2014/main" id="{6D0989F7-1A9D-4DBE-B18E-57526E1AA3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01050" y="4365626"/>
            <a:ext cx="2027238" cy="230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Прямоугольник 8">
            <a:extLst>
              <a:ext uri="{FF2B5EF4-FFF2-40B4-BE49-F238E27FC236}">
                <a16:creationId xmlns:a16="http://schemas.microsoft.com/office/drawing/2014/main" id="{E2E3AE49-68A2-4885-B16E-3CC10E6ABCF9}"/>
              </a:ext>
            </a:extLst>
          </p:cNvPr>
          <p:cNvSpPr/>
          <p:nvPr/>
        </p:nvSpPr>
        <p:spPr>
          <a:xfrm>
            <a:off x="860746" y="87868"/>
            <a:ext cx="1479892" cy="369332"/>
          </a:xfrm>
          <a:prstGeom prst="rect">
            <a:avLst/>
          </a:prstGeom>
        </p:spPr>
        <p:txBody>
          <a:bodyPr wrap="none">
            <a:spAutoFit/>
          </a:bodyPr>
          <a:lstStyle/>
          <a:p>
            <a:pPr>
              <a:defRPr/>
            </a:pPr>
            <a:r>
              <a:rPr lang="ru-RU" dirty="0">
                <a:solidFill>
                  <a:schemeClr val="bg1"/>
                </a:solidFill>
              </a:rPr>
              <a:t>Кафедра ТЭЦ</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911FC21E-7235-D352-F37A-E19316063B33}"/>
              </a:ext>
            </a:extLst>
          </p:cNvPr>
          <p:cNvSpPr/>
          <p:nvPr/>
        </p:nvSpPr>
        <p:spPr>
          <a:xfrm>
            <a:off x="1824645" y="618333"/>
            <a:ext cx="5455632" cy="348376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386" name="Text Box 23">
            <a:extLst>
              <a:ext uri="{FF2B5EF4-FFF2-40B4-BE49-F238E27FC236}">
                <a16:creationId xmlns:a16="http://schemas.microsoft.com/office/drawing/2014/main" id="{0A713605-1D5B-4713-BF6D-C04B351AAC50}"/>
              </a:ext>
            </a:extLst>
          </p:cNvPr>
          <p:cNvSpPr txBox="1">
            <a:spLocks noChangeArrowheads="1"/>
          </p:cNvSpPr>
          <p:nvPr/>
        </p:nvSpPr>
        <p:spPr bwMode="auto">
          <a:xfrm>
            <a:off x="6087269" y="473871"/>
            <a:ext cx="4840288"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800" dirty="0"/>
              <a:t>Необходимо помнить, что при построении векторной диаграммы складываются </a:t>
            </a:r>
            <a:r>
              <a:rPr lang="ru-RU" altLang="ru-RU" sz="1800" b="1" i="1" dirty="0">
                <a:solidFill>
                  <a:srgbClr val="FF0066"/>
                </a:solidFill>
              </a:rPr>
              <a:t>амплитудные</a:t>
            </a:r>
            <a:r>
              <a:rPr lang="ru-RU" altLang="ru-RU" sz="1800" dirty="0">
                <a:solidFill>
                  <a:srgbClr val="FF0066"/>
                </a:solidFill>
              </a:rPr>
              <a:t> </a:t>
            </a:r>
            <a:r>
              <a:rPr lang="ru-RU" altLang="ru-RU" sz="1800" dirty="0"/>
              <a:t>значения  напряжений. </a:t>
            </a:r>
          </a:p>
        </p:txBody>
      </p:sp>
      <p:grpSp>
        <p:nvGrpSpPr>
          <p:cNvPr id="16387" name="Group 28">
            <a:extLst>
              <a:ext uri="{FF2B5EF4-FFF2-40B4-BE49-F238E27FC236}">
                <a16:creationId xmlns:a16="http://schemas.microsoft.com/office/drawing/2014/main" id="{457C42A2-BB91-4DF4-98B1-47FDD7D4A4AF}"/>
              </a:ext>
            </a:extLst>
          </p:cNvPr>
          <p:cNvGrpSpPr>
            <a:grpSpLocks/>
          </p:cNvGrpSpPr>
          <p:nvPr/>
        </p:nvGrpSpPr>
        <p:grpSpPr bwMode="auto">
          <a:xfrm>
            <a:off x="1992314" y="333376"/>
            <a:ext cx="5216525" cy="3770313"/>
            <a:chOff x="295" y="210"/>
            <a:chExt cx="3286" cy="2375"/>
          </a:xfrm>
        </p:grpSpPr>
        <p:sp>
          <p:nvSpPr>
            <p:cNvPr id="16392" name="Line 6">
              <a:extLst>
                <a:ext uri="{FF2B5EF4-FFF2-40B4-BE49-F238E27FC236}">
                  <a16:creationId xmlns:a16="http://schemas.microsoft.com/office/drawing/2014/main" id="{8F549E06-5622-4116-B081-57D60C8AF65F}"/>
                </a:ext>
              </a:extLst>
            </p:cNvPr>
            <p:cNvSpPr>
              <a:spLocks noChangeShapeType="1"/>
            </p:cNvSpPr>
            <p:nvPr/>
          </p:nvSpPr>
          <p:spPr bwMode="auto">
            <a:xfrm flipV="1">
              <a:off x="544" y="479"/>
              <a:ext cx="0" cy="1431"/>
            </a:xfrm>
            <a:prstGeom prst="line">
              <a:avLst/>
            </a:prstGeom>
            <a:noFill/>
            <a:ln w="349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ru-RU"/>
            </a:p>
          </p:txBody>
        </p:sp>
        <p:sp>
          <p:nvSpPr>
            <p:cNvPr id="16393" name="Text Box 7">
              <a:extLst>
                <a:ext uri="{FF2B5EF4-FFF2-40B4-BE49-F238E27FC236}">
                  <a16:creationId xmlns:a16="http://schemas.microsoft.com/office/drawing/2014/main" id="{ED231BA2-5E94-4ED5-B55D-0D7F96898AC1}"/>
                </a:ext>
              </a:extLst>
            </p:cNvPr>
            <p:cNvSpPr txBox="1">
              <a:spLocks noChangeArrowheads="1"/>
            </p:cNvSpPr>
            <p:nvPr/>
          </p:nvSpPr>
          <p:spPr bwMode="auto">
            <a:xfrm>
              <a:off x="1183" y="1556"/>
              <a:ext cx="2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l-GR" altLang="ru-RU" sz="2400" b="1">
                  <a:latin typeface="Times New Roman" panose="02020603050405020304" pitchFamily="18" charset="0"/>
                  <a:cs typeface="Times New Roman" panose="02020603050405020304" pitchFamily="18" charset="0"/>
                </a:rPr>
                <a:t>φ</a:t>
              </a:r>
            </a:p>
          </p:txBody>
        </p:sp>
        <p:sp>
          <p:nvSpPr>
            <p:cNvPr id="16394" name="Text Box 8">
              <a:extLst>
                <a:ext uri="{FF2B5EF4-FFF2-40B4-BE49-F238E27FC236}">
                  <a16:creationId xmlns:a16="http://schemas.microsoft.com/office/drawing/2014/main" id="{34A2D9C2-0600-433C-8096-5D30B32AAE0E}"/>
                </a:ext>
              </a:extLst>
            </p:cNvPr>
            <p:cNvSpPr txBox="1">
              <a:spLocks noChangeArrowheads="1"/>
            </p:cNvSpPr>
            <p:nvPr/>
          </p:nvSpPr>
          <p:spPr bwMode="auto">
            <a:xfrm>
              <a:off x="613" y="210"/>
              <a:ext cx="7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ru-RU" sz="2400" b="1">
                  <a:solidFill>
                    <a:srgbClr val="FF0066"/>
                  </a:solidFill>
                  <a:latin typeface="Times New Roman" panose="02020603050405020304" pitchFamily="18" charset="0"/>
                </a:rPr>
                <a:t>I</a:t>
              </a:r>
              <a:r>
                <a:rPr lang="en-US" altLang="ru-RU" sz="2400" b="1" baseline="-25000">
                  <a:solidFill>
                    <a:srgbClr val="FF0066"/>
                  </a:solidFill>
                  <a:latin typeface="Times New Roman" panose="02020603050405020304" pitchFamily="18" charset="0"/>
                </a:rPr>
                <a:t>0</a:t>
              </a:r>
              <a:r>
                <a:rPr lang="en-US" altLang="ru-RU" sz="2400" b="1">
                  <a:solidFill>
                    <a:srgbClr val="FF0066"/>
                  </a:solidFill>
                  <a:latin typeface="Times New Roman" panose="02020603050405020304" pitchFamily="18" charset="0"/>
                </a:rPr>
                <a:t>·</a:t>
              </a:r>
              <a:r>
                <a:rPr lang="el-GR" altLang="ru-RU" sz="2400" b="1">
                  <a:solidFill>
                    <a:srgbClr val="FF0066"/>
                  </a:solidFill>
                  <a:latin typeface="Times New Roman" panose="02020603050405020304" pitchFamily="18" charset="0"/>
                </a:rPr>
                <a:t>ω</a:t>
              </a:r>
              <a:r>
                <a:rPr lang="en-US" altLang="ru-RU" sz="2400" b="1">
                  <a:solidFill>
                    <a:srgbClr val="FF0066"/>
                  </a:solidFill>
                  <a:latin typeface="Times New Roman" panose="02020603050405020304" pitchFamily="18" charset="0"/>
                </a:rPr>
                <a:t>L</a:t>
              </a:r>
              <a:endParaRPr lang="el-GR" altLang="ru-RU" sz="2400" b="1">
                <a:solidFill>
                  <a:srgbClr val="FF0066"/>
                </a:solidFill>
                <a:latin typeface="Times New Roman" panose="02020603050405020304" pitchFamily="18" charset="0"/>
              </a:endParaRPr>
            </a:p>
          </p:txBody>
        </p:sp>
        <p:sp>
          <p:nvSpPr>
            <p:cNvPr id="16395" name="Text Box 9">
              <a:extLst>
                <a:ext uri="{FF2B5EF4-FFF2-40B4-BE49-F238E27FC236}">
                  <a16:creationId xmlns:a16="http://schemas.microsoft.com/office/drawing/2014/main" id="{CD1D0662-70F2-4951-9D6C-5F98343D609C}"/>
                </a:ext>
              </a:extLst>
            </p:cNvPr>
            <p:cNvSpPr txBox="1">
              <a:spLocks noChangeArrowheads="1"/>
            </p:cNvSpPr>
            <p:nvPr/>
          </p:nvSpPr>
          <p:spPr bwMode="auto">
            <a:xfrm>
              <a:off x="2655" y="1893"/>
              <a:ext cx="27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ru-RU" sz="2400" b="1">
                  <a:latin typeface="Times New Roman" panose="02020603050405020304" pitchFamily="18" charset="0"/>
                </a:rPr>
                <a:t>I</a:t>
              </a:r>
              <a:endParaRPr lang="ru-RU" altLang="ru-RU" sz="2400" b="1">
                <a:latin typeface="Times New Roman" panose="02020603050405020304" pitchFamily="18" charset="0"/>
              </a:endParaRPr>
            </a:p>
          </p:txBody>
        </p:sp>
        <p:sp>
          <p:nvSpPr>
            <p:cNvPr id="16396" name="Oval 10">
              <a:extLst>
                <a:ext uri="{FF2B5EF4-FFF2-40B4-BE49-F238E27FC236}">
                  <a16:creationId xmlns:a16="http://schemas.microsoft.com/office/drawing/2014/main" id="{60559BAE-F763-4E91-B04C-8FDD706C6849}"/>
                </a:ext>
              </a:extLst>
            </p:cNvPr>
            <p:cNvSpPr>
              <a:spLocks noChangeArrowheads="1"/>
            </p:cNvSpPr>
            <p:nvPr/>
          </p:nvSpPr>
          <p:spPr bwMode="auto">
            <a:xfrm>
              <a:off x="517" y="1856"/>
              <a:ext cx="68" cy="86"/>
            </a:xfrm>
            <a:prstGeom prst="ellipse">
              <a:avLst/>
            </a:prstGeom>
            <a:solidFill>
              <a:schemeClr val="tx2"/>
            </a:solidFill>
            <a:ln w="9525">
              <a:solidFill>
                <a:schemeClr val="tx1"/>
              </a:solidFill>
              <a:round/>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ru-RU" altLang="ru-RU" sz="1800"/>
            </a:p>
          </p:txBody>
        </p:sp>
        <p:sp>
          <p:nvSpPr>
            <p:cNvPr id="16397" name="Text Box 11">
              <a:extLst>
                <a:ext uri="{FF2B5EF4-FFF2-40B4-BE49-F238E27FC236}">
                  <a16:creationId xmlns:a16="http://schemas.microsoft.com/office/drawing/2014/main" id="{E2FF7520-97F6-4389-B11F-7D1A705579C9}"/>
                </a:ext>
              </a:extLst>
            </p:cNvPr>
            <p:cNvSpPr txBox="1">
              <a:spLocks noChangeArrowheads="1"/>
            </p:cNvSpPr>
            <p:nvPr/>
          </p:nvSpPr>
          <p:spPr bwMode="auto">
            <a:xfrm>
              <a:off x="295" y="1815"/>
              <a:ext cx="27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ru-RU" sz="2400" b="1"/>
                <a:t>0</a:t>
              </a:r>
              <a:endParaRPr lang="ru-RU" altLang="ru-RU" sz="2400" b="1"/>
            </a:p>
          </p:txBody>
        </p:sp>
        <p:sp>
          <p:nvSpPr>
            <p:cNvPr id="16398" name="Line 12">
              <a:extLst>
                <a:ext uri="{FF2B5EF4-FFF2-40B4-BE49-F238E27FC236}">
                  <a16:creationId xmlns:a16="http://schemas.microsoft.com/office/drawing/2014/main" id="{55BA4CF7-F8A9-42CD-9400-8ED956381D8D}"/>
                </a:ext>
              </a:extLst>
            </p:cNvPr>
            <p:cNvSpPr>
              <a:spLocks noChangeShapeType="1"/>
            </p:cNvSpPr>
            <p:nvPr/>
          </p:nvSpPr>
          <p:spPr bwMode="auto">
            <a:xfrm>
              <a:off x="544" y="1910"/>
              <a:ext cx="0" cy="674"/>
            </a:xfrm>
            <a:prstGeom prst="line">
              <a:avLst/>
            </a:prstGeom>
            <a:noFill/>
            <a:ln w="34925">
              <a:solidFill>
                <a:srgbClr val="008000"/>
              </a:solidFill>
              <a:round/>
              <a:headEnd/>
              <a:tailEnd type="triangle" w="med" len="med"/>
            </a:ln>
            <a:extLst>
              <a:ext uri="{909E8E84-426E-40DD-AFC4-6F175D3DCCD1}">
                <a14:hiddenFill xmlns:a14="http://schemas.microsoft.com/office/drawing/2010/main">
                  <a:noFill/>
                </a14:hiddenFill>
              </a:ext>
            </a:extLst>
          </p:spPr>
          <p:txBody>
            <a:bodyPr/>
            <a:lstStyle/>
            <a:p>
              <a:endParaRPr lang="ru-RU"/>
            </a:p>
          </p:txBody>
        </p:sp>
        <p:sp>
          <p:nvSpPr>
            <p:cNvPr id="16399" name="Line 13">
              <a:extLst>
                <a:ext uri="{FF2B5EF4-FFF2-40B4-BE49-F238E27FC236}">
                  <a16:creationId xmlns:a16="http://schemas.microsoft.com/office/drawing/2014/main" id="{BC288D79-4F3F-418F-B3BD-9D3348374F1D}"/>
                </a:ext>
              </a:extLst>
            </p:cNvPr>
            <p:cNvSpPr>
              <a:spLocks noChangeShapeType="1"/>
            </p:cNvSpPr>
            <p:nvPr/>
          </p:nvSpPr>
          <p:spPr bwMode="auto">
            <a:xfrm flipV="1">
              <a:off x="544" y="1151"/>
              <a:ext cx="0" cy="759"/>
            </a:xfrm>
            <a:prstGeom prst="line">
              <a:avLst/>
            </a:prstGeom>
            <a:noFill/>
            <a:ln w="349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ru-RU"/>
            </a:p>
          </p:txBody>
        </p:sp>
        <p:sp>
          <p:nvSpPr>
            <p:cNvPr id="16400" name="Line 14">
              <a:extLst>
                <a:ext uri="{FF2B5EF4-FFF2-40B4-BE49-F238E27FC236}">
                  <a16:creationId xmlns:a16="http://schemas.microsoft.com/office/drawing/2014/main" id="{C5415B1A-B060-4BA1-ADA7-C823D86FB055}"/>
                </a:ext>
              </a:extLst>
            </p:cNvPr>
            <p:cNvSpPr>
              <a:spLocks noChangeShapeType="1"/>
            </p:cNvSpPr>
            <p:nvPr/>
          </p:nvSpPr>
          <p:spPr bwMode="auto">
            <a:xfrm>
              <a:off x="567" y="1916"/>
              <a:ext cx="231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ru-RU"/>
            </a:p>
          </p:txBody>
        </p:sp>
        <p:sp>
          <p:nvSpPr>
            <p:cNvPr id="16401" name="Line 15">
              <a:extLst>
                <a:ext uri="{FF2B5EF4-FFF2-40B4-BE49-F238E27FC236}">
                  <a16:creationId xmlns:a16="http://schemas.microsoft.com/office/drawing/2014/main" id="{D6AF0A95-3CF0-484A-82A0-D5A6DF4152BE}"/>
                </a:ext>
              </a:extLst>
            </p:cNvPr>
            <p:cNvSpPr>
              <a:spLocks noChangeShapeType="1"/>
            </p:cNvSpPr>
            <p:nvPr/>
          </p:nvSpPr>
          <p:spPr bwMode="auto">
            <a:xfrm>
              <a:off x="544" y="1151"/>
              <a:ext cx="1293"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ru-RU"/>
            </a:p>
          </p:txBody>
        </p:sp>
        <p:sp>
          <p:nvSpPr>
            <p:cNvPr id="16402" name="Line 16">
              <a:extLst>
                <a:ext uri="{FF2B5EF4-FFF2-40B4-BE49-F238E27FC236}">
                  <a16:creationId xmlns:a16="http://schemas.microsoft.com/office/drawing/2014/main" id="{0A4C7D4A-AC4B-435E-9EA5-09A03B12C611}"/>
                </a:ext>
              </a:extLst>
            </p:cNvPr>
            <p:cNvSpPr>
              <a:spLocks noChangeShapeType="1"/>
            </p:cNvSpPr>
            <p:nvPr/>
          </p:nvSpPr>
          <p:spPr bwMode="auto">
            <a:xfrm flipV="1">
              <a:off x="1837" y="1162"/>
              <a:ext cx="0" cy="759"/>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ru-RU"/>
            </a:p>
          </p:txBody>
        </p:sp>
        <p:sp>
          <p:nvSpPr>
            <p:cNvPr id="16403" name="Line 17">
              <a:extLst>
                <a:ext uri="{FF2B5EF4-FFF2-40B4-BE49-F238E27FC236}">
                  <a16:creationId xmlns:a16="http://schemas.microsoft.com/office/drawing/2014/main" id="{6401AAC4-D1AD-47CE-989D-A3EC526F7A5E}"/>
                </a:ext>
              </a:extLst>
            </p:cNvPr>
            <p:cNvSpPr>
              <a:spLocks noChangeShapeType="1"/>
            </p:cNvSpPr>
            <p:nvPr/>
          </p:nvSpPr>
          <p:spPr bwMode="auto">
            <a:xfrm flipV="1">
              <a:off x="544" y="1151"/>
              <a:ext cx="1293" cy="759"/>
            </a:xfrm>
            <a:prstGeom prst="line">
              <a:avLst/>
            </a:prstGeom>
            <a:noFill/>
            <a:ln w="34925">
              <a:solidFill>
                <a:srgbClr val="800080"/>
              </a:solidFill>
              <a:round/>
              <a:headEnd/>
              <a:tailEnd type="triangle" w="med" len="lg"/>
            </a:ln>
            <a:extLst>
              <a:ext uri="{909E8E84-426E-40DD-AFC4-6F175D3DCCD1}">
                <a14:hiddenFill xmlns:a14="http://schemas.microsoft.com/office/drawing/2010/main">
                  <a:noFill/>
                </a14:hiddenFill>
              </a:ext>
            </a:extLst>
          </p:spPr>
          <p:txBody>
            <a:bodyPr/>
            <a:lstStyle/>
            <a:p>
              <a:endParaRPr lang="ru-RU"/>
            </a:p>
          </p:txBody>
        </p:sp>
        <p:sp>
          <p:nvSpPr>
            <p:cNvPr id="16404" name="Freeform 18">
              <a:extLst>
                <a:ext uri="{FF2B5EF4-FFF2-40B4-BE49-F238E27FC236}">
                  <a16:creationId xmlns:a16="http://schemas.microsoft.com/office/drawing/2014/main" id="{1AF9549D-B04D-4563-870E-581FC9015F08}"/>
                </a:ext>
              </a:extLst>
            </p:cNvPr>
            <p:cNvSpPr>
              <a:spLocks/>
            </p:cNvSpPr>
            <p:nvPr/>
          </p:nvSpPr>
          <p:spPr bwMode="auto">
            <a:xfrm>
              <a:off x="952" y="1658"/>
              <a:ext cx="216" cy="252"/>
            </a:xfrm>
            <a:custGeom>
              <a:avLst/>
              <a:gdLst>
                <a:gd name="T0" fmla="*/ 0 w 144"/>
                <a:gd name="T1" fmla="*/ 0 h 136"/>
                <a:gd name="T2" fmla="*/ 1548 w 144"/>
                <a:gd name="T3" fmla="*/ 1812 h 136"/>
                <a:gd name="T4" fmla="*/ 527 w 144"/>
                <a:gd name="T5" fmla="*/ 5503 h 136"/>
                <a:gd name="T6" fmla="*/ 0 60000 65536"/>
                <a:gd name="T7" fmla="*/ 0 60000 65536"/>
                <a:gd name="T8" fmla="*/ 0 60000 65536"/>
                <a:gd name="T9" fmla="*/ 0 w 144"/>
                <a:gd name="T10" fmla="*/ 0 h 136"/>
                <a:gd name="T11" fmla="*/ 144 w 144"/>
                <a:gd name="T12" fmla="*/ 136 h 136"/>
              </a:gdLst>
              <a:ahLst/>
              <a:cxnLst>
                <a:cxn ang="T6">
                  <a:pos x="T0" y="T1"/>
                </a:cxn>
                <a:cxn ang="T7">
                  <a:pos x="T2" y="T3"/>
                </a:cxn>
                <a:cxn ang="T8">
                  <a:pos x="T4" y="T5"/>
                </a:cxn>
              </a:cxnLst>
              <a:rect l="T9" t="T10" r="T11" b="T12"/>
              <a:pathLst>
                <a:path w="144" h="136">
                  <a:moveTo>
                    <a:pt x="0" y="0"/>
                  </a:moveTo>
                  <a:cubicBezTo>
                    <a:pt x="64" y="11"/>
                    <a:pt x="128" y="22"/>
                    <a:pt x="136" y="45"/>
                  </a:cubicBezTo>
                  <a:cubicBezTo>
                    <a:pt x="144" y="68"/>
                    <a:pt x="31" y="113"/>
                    <a:pt x="46" y="136"/>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ru-RU"/>
            </a:p>
          </p:txBody>
        </p:sp>
        <p:sp>
          <p:nvSpPr>
            <p:cNvPr id="16405" name="Text Box 19">
              <a:extLst>
                <a:ext uri="{FF2B5EF4-FFF2-40B4-BE49-F238E27FC236}">
                  <a16:creationId xmlns:a16="http://schemas.microsoft.com/office/drawing/2014/main" id="{811C7F76-38C3-4D99-9330-D98484B88BA8}"/>
                </a:ext>
              </a:extLst>
            </p:cNvPr>
            <p:cNvSpPr txBox="1">
              <a:spLocks noChangeArrowheads="1"/>
            </p:cNvSpPr>
            <p:nvPr/>
          </p:nvSpPr>
          <p:spPr bwMode="auto">
            <a:xfrm>
              <a:off x="613" y="2297"/>
              <a:ext cx="7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ru-RU" sz="2400" b="1">
                  <a:latin typeface="Times New Roman" panose="02020603050405020304" pitchFamily="18" charset="0"/>
                </a:rPr>
                <a:t>I</a:t>
              </a:r>
              <a:r>
                <a:rPr lang="en-US" altLang="ru-RU" sz="2400" b="1" baseline="-25000">
                  <a:latin typeface="Times New Roman" panose="02020603050405020304" pitchFamily="18" charset="0"/>
                </a:rPr>
                <a:t>0</a:t>
              </a:r>
              <a:r>
                <a:rPr lang="ru-RU" altLang="ru-RU" sz="2400" b="1">
                  <a:latin typeface="Times New Roman" panose="02020603050405020304" pitchFamily="18" charset="0"/>
                </a:rPr>
                <a:t>/</a:t>
              </a:r>
              <a:r>
                <a:rPr lang="el-GR" altLang="ru-RU" sz="2400" b="1">
                  <a:latin typeface="Times New Roman" panose="02020603050405020304" pitchFamily="18" charset="0"/>
                </a:rPr>
                <a:t>ω</a:t>
              </a:r>
              <a:r>
                <a:rPr lang="ru-RU" altLang="ru-RU" sz="2400" b="1">
                  <a:latin typeface="Times New Roman" panose="02020603050405020304" pitchFamily="18" charset="0"/>
                </a:rPr>
                <a:t>С</a:t>
              </a:r>
              <a:endParaRPr lang="el-GR" altLang="ru-RU" sz="2400" b="1">
                <a:latin typeface="Times New Roman" panose="02020603050405020304" pitchFamily="18" charset="0"/>
              </a:endParaRPr>
            </a:p>
          </p:txBody>
        </p:sp>
        <p:sp>
          <p:nvSpPr>
            <p:cNvPr id="16406" name="Text Box 20">
              <a:extLst>
                <a:ext uri="{FF2B5EF4-FFF2-40B4-BE49-F238E27FC236}">
                  <a16:creationId xmlns:a16="http://schemas.microsoft.com/office/drawing/2014/main" id="{E6DFEAB3-ACF1-44FD-97DC-B91A959030AB}"/>
                </a:ext>
              </a:extLst>
            </p:cNvPr>
            <p:cNvSpPr txBox="1">
              <a:spLocks noChangeArrowheads="1"/>
            </p:cNvSpPr>
            <p:nvPr/>
          </p:nvSpPr>
          <p:spPr bwMode="auto">
            <a:xfrm>
              <a:off x="1226" y="1959"/>
              <a:ext cx="10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ru-RU" sz="2400" b="1">
                  <a:solidFill>
                    <a:srgbClr val="3333CC"/>
                  </a:solidFill>
                  <a:latin typeface="Times New Roman" panose="02020603050405020304" pitchFamily="18" charset="0"/>
                </a:rPr>
                <a:t>U</a:t>
              </a:r>
              <a:r>
                <a:rPr lang="en-US" altLang="ru-RU" sz="2400" b="1" baseline="-25000">
                  <a:solidFill>
                    <a:srgbClr val="3333CC"/>
                  </a:solidFill>
                  <a:latin typeface="Times New Roman" panose="02020603050405020304" pitchFamily="18" charset="0"/>
                </a:rPr>
                <a:t>0a</a:t>
              </a:r>
              <a:r>
                <a:rPr lang="en-US" altLang="ru-RU" sz="2400" b="1">
                  <a:solidFill>
                    <a:srgbClr val="3333CC"/>
                  </a:solidFill>
                  <a:latin typeface="Times New Roman" panose="02020603050405020304" pitchFamily="18" charset="0"/>
                </a:rPr>
                <a:t>=I</a:t>
              </a:r>
              <a:r>
                <a:rPr lang="en-US" altLang="ru-RU" sz="2400" b="1" baseline="-25000">
                  <a:solidFill>
                    <a:srgbClr val="3333CC"/>
                  </a:solidFill>
                  <a:latin typeface="Times New Roman" panose="02020603050405020304" pitchFamily="18" charset="0"/>
                </a:rPr>
                <a:t>0</a:t>
              </a:r>
              <a:r>
                <a:rPr lang="en-US" altLang="ru-RU" sz="2400" b="1">
                  <a:solidFill>
                    <a:srgbClr val="3333CC"/>
                  </a:solidFill>
                  <a:latin typeface="Times New Roman" panose="02020603050405020304" pitchFamily="18" charset="0"/>
                  <a:cs typeface="Times New Roman" panose="02020603050405020304" pitchFamily="18" charset="0"/>
                </a:rPr>
                <a:t>·R</a:t>
              </a:r>
              <a:endParaRPr lang="el-GR" altLang="ru-RU" sz="2400" b="1">
                <a:solidFill>
                  <a:srgbClr val="3333CC"/>
                </a:solidFill>
                <a:latin typeface="Times New Roman" panose="02020603050405020304" pitchFamily="18" charset="0"/>
              </a:endParaRPr>
            </a:p>
          </p:txBody>
        </p:sp>
        <p:sp>
          <p:nvSpPr>
            <p:cNvPr id="16407" name="Line 21">
              <a:extLst>
                <a:ext uri="{FF2B5EF4-FFF2-40B4-BE49-F238E27FC236}">
                  <a16:creationId xmlns:a16="http://schemas.microsoft.com/office/drawing/2014/main" id="{3928171D-07EC-480C-9046-1255C465D33E}"/>
                </a:ext>
              </a:extLst>
            </p:cNvPr>
            <p:cNvSpPr>
              <a:spLocks noChangeShapeType="1"/>
            </p:cNvSpPr>
            <p:nvPr/>
          </p:nvSpPr>
          <p:spPr bwMode="auto">
            <a:xfrm>
              <a:off x="544" y="1910"/>
              <a:ext cx="1293" cy="0"/>
            </a:xfrm>
            <a:prstGeom prst="line">
              <a:avLst/>
            </a:prstGeom>
            <a:noFill/>
            <a:ln w="34925">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ru-RU"/>
            </a:p>
          </p:txBody>
        </p:sp>
        <p:sp>
          <p:nvSpPr>
            <p:cNvPr id="16408" name="Text Box 22">
              <a:extLst>
                <a:ext uri="{FF2B5EF4-FFF2-40B4-BE49-F238E27FC236}">
                  <a16:creationId xmlns:a16="http://schemas.microsoft.com/office/drawing/2014/main" id="{FE917F4A-EF96-4856-94BA-6FF16F73F4C9}"/>
                </a:ext>
              </a:extLst>
            </p:cNvPr>
            <p:cNvSpPr txBox="1">
              <a:spLocks noChangeArrowheads="1"/>
            </p:cNvSpPr>
            <p:nvPr/>
          </p:nvSpPr>
          <p:spPr bwMode="auto">
            <a:xfrm>
              <a:off x="1882" y="1207"/>
              <a:ext cx="169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ru-RU" sz="2400" b="1">
                  <a:latin typeface="Times New Roman" panose="02020603050405020304" pitchFamily="18" charset="0"/>
                </a:rPr>
                <a:t>U</a:t>
              </a:r>
              <a:r>
                <a:rPr lang="en-US" altLang="ru-RU" sz="2400" b="1" baseline="-25000">
                  <a:latin typeface="Times New Roman" panose="02020603050405020304" pitchFamily="18" charset="0"/>
                </a:rPr>
                <a:t>0</a:t>
              </a:r>
              <a:r>
                <a:rPr lang="ru-RU" altLang="ru-RU" sz="2400" b="1" baseline="-25000">
                  <a:latin typeface="Times New Roman" panose="02020603050405020304" pitchFamily="18" charset="0"/>
                </a:rPr>
                <a:t>р</a:t>
              </a:r>
              <a:r>
                <a:rPr lang="en-US" altLang="ru-RU" sz="2400" b="1">
                  <a:latin typeface="Times New Roman" panose="02020603050405020304" pitchFamily="18" charset="0"/>
                </a:rPr>
                <a:t>=I</a:t>
              </a:r>
              <a:r>
                <a:rPr lang="en-US" altLang="ru-RU" sz="2400" b="1" baseline="-25000">
                  <a:latin typeface="Times New Roman" panose="02020603050405020304" pitchFamily="18" charset="0"/>
                </a:rPr>
                <a:t>0</a:t>
              </a:r>
              <a:r>
                <a:rPr lang="en-US" altLang="ru-RU" sz="2400" b="1">
                  <a:latin typeface="Times New Roman" panose="02020603050405020304" pitchFamily="18" charset="0"/>
                  <a:cs typeface="Times New Roman" panose="02020603050405020304" pitchFamily="18" charset="0"/>
                </a:rPr>
                <a:t>·</a:t>
              </a:r>
              <a:r>
                <a:rPr lang="ru-RU" altLang="ru-RU" sz="2400" b="1">
                  <a:latin typeface="Times New Roman" panose="02020603050405020304" pitchFamily="18" charset="0"/>
                  <a:cs typeface="Times New Roman" panose="02020603050405020304" pitchFamily="18" charset="0"/>
                </a:rPr>
                <a:t>(</a:t>
              </a:r>
              <a:r>
                <a:rPr lang="el-GR" altLang="ru-RU" sz="2400" b="1"/>
                <a:t>ω</a:t>
              </a:r>
              <a:r>
                <a:rPr lang="en-US" altLang="ru-RU" sz="2400" b="1"/>
                <a:t>L</a:t>
              </a:r>
              <a:r>
                <a:rPr lang="ru-RU" altLang="ru-RU" sz="2400" b="1"/>
                <a:t>- 1/</a:t>
              </a:r>
              <a:r>
                <a:rPr lang="el-GR" altLang="ru-RU" sz="2400" b="1"/>
                <a:t>ω</a:t>
              </a:r>
              <a:r>
                <a:rPr lang="ru-RU" altLang="ru-RU" sz="2400" b="1"/>
                <a:t>С)</a:t>
              </a:r>
              <a:endParaRPr lang="el-GR" altLang="ru-RU" sz="2400" b="1"/>
            </a:p>
          </p:txBody>
        </p:sp>
        <p:sp>
          <p:nvSpPr>
            <p:cNvPr id="16409" name="Text Box 27">
              <a:extLst>
                <a:ext uri="{FF2B5EF4-FFF2-40B4-BE49-F238E27FC236}">
                  <a16:creationId xmlns:a16="http://schemas.microsoft.com/office/drawing/2014/main" id="{CAD7E7DE-F447-4914-850E-453479544075}"/>
                </a:ext>
              </a:extLst>
            </p:cNvPr>
            <p:cNvSpPr txBox="1">
              <a:spLocks noChangeArrowheads="1"/>
            </p:cNvSpPr>
            <p:nvPr/>
          </p:nvSpPr>
          <p:spPr bwMode="auto">
            <a:xfrm rot="-2017288">
              <a:off x="839" y="1298"/>
              <a:ext cx="36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ru-RU" sz="2400" b="1">
                  <a:solidFill>
                    <a:srgbClr val="660066"/>
                  </a:solidFill>
                  <a:latin typeface="Times New Roman" panose="02020603050405020304" pitchFamily="18" charset="0"/>
                </a:rPr>
                <a:t>U</a:t>
              </a:r>
              <a:r>
                <a:rPr lang="en-US" altLang="ru-RU" sz="2400" b="1" baseline="-25000">
                  <a:solidFill>
                    <a:srgbClr val="660066"/>
                  </a:solidFill>
                  <a:latin typeface="Times New Roman" panose="02020603050405020304" pitchFamily="18" charset="0"/>
                </a:rPr>
                <a:t>0</a:t>
              </a:r>
              <a:endParaRPr lang="el-GR" altLang="ru-RU" sz="2400" b="1">
                <a:solidFill>
                  <a:srgbClr val="660066"/>
                </a:solidFill>
              </a:endParaRPr>
            </a:p>
          </p:txBody>
        </p:sp>
      </p:grpSp>
      <p:sp>
        <p:nvSpPr>
          <p:cNvPr id="16388" name="Text Box 30">
            <a:extLst>
              <a:ext uri="{FF2B5EF4-FFF2-40B4-BE49-F238E27FC236}">
                <a16:creationId xmlns:a16="http://schemas.microsoft.com/office/drawing/2014/main" id="{620102C0-6243-44DA-A2BC-07D55ADA31D7}"/>
              </a:ext>
            </a:extLst>
          </p:cNvPr>
          <p:cNvSpPr txBox="1">
            <a:spLocks noChangeArrowheads="1"/>
          </p:cNvSpPr>
          <p:nvPr/>
        </p:nvSpPr>
        <p:spPr bwMode="auto">
          <a:xfrm>
            <a:off x="7280277" y="1609109"/>
            <a:ext cx="4124779"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800" dirty="0"/>
              <a:t>Таким образом, полное напряжение между концами цепи </a:t>
            </a:r>
            <a:r>
              <a:rPr lang="ru-RU" altLang="ru-RU" sz="1800" i="1" dirty="0"/>
              <a:t>а и б</a:t>
            </a:r>
            <a:r>
              <a:rPr lang="ru-RU" altLang="ru-RU" sz="1800" dirty="0"/>
              <a:t> можно рассматривать как сумму двух гармонических колебаний: напряжения </a:t>
            </a:r>
            <a:r>
              <a:rPr lang="en-US" altLang="ru-RU" sz="1800" b="1" dirty="0">
                <a:solidFill>
                  <a:schemeClr val="accent2"/>
                </a:solidFill>
              </a:rPr>
              <a:t>U</a:t>
            </a:r>
            <a:r>
              <a:rPr lang="ru-RU" altLang="ru-RU" sz="1800" b="1" baseline="-25000" dirty="0">
                <a:solidFill>
                  <a:schemeClr val="accent2"/>
                </a:solidFill>
              </a:rPr>
              <a:t>0а</a:t>
            </a:r>
            <a:r>
              <a:rPr lang="ru-RU" altLang="ru-RU" sz="1800" dirty="0"/>
              <a:t> и напряжения </a:t>
            </a:r>
            <a:r>
              <a:rPr lang="en-US" altLang="ru-RU" sz="1800" b="1" dirty="0">
                <a:solidFill>
                  <a:srgbClr val="FF0066"/>
                </a:solidFill>
              </a:rPr>
              <a:t>U</a:t>
            </a:r>
            <a:r>
              <a:rPr lang="ru-RU" altLang="ru-RU" sz="1800" b="1" baseline="-25000" dirty="0">
                <a:solidFill>
                  <a:srgbClr val="FF0066"/>
                </a:solidFill>
              </a:rPr>
              <a:t>0р</a:t>
            </a:r>
            <a:r>
              <a:rPr lang="ru-RU" altLang="ru-RU" sz="1800" dirty="0"/>
              <a:t>, </a:t>
            </a:r>
          </a:p>
        </p:txBody>
      </p:sp>
      <p:sp>
        <p:nvSpPr>
          <p:cNvPr id="16389" name="Text Box 31">
            <a:extLst>
              <a:ext uri="{FF2B5EF4-FFF2-40B4-BE49-F238E27FC236}">
                <a16:creationId xmlns:a16="http://schemas.microsoft.com/office/drawing/2014/main" id="{F0A1D830-6948-406A-B8BC-185FA7790954}"/>
              </a:ext>
            </a:extLst>
          </p:cNvPr>
          <p:cNvSpPr txBox="1">
            <a:spLocks noChangeArrowheads="1"/>
          </p:cNvSpPr>
          <p:nvPr/>
        </p:nvSpPr>
        <p:spPr bwMode="auto">
          <a:xfrm>
            <a:off x="3863976" y="3860800"/>
            <a:ext cx="6264275" cy="1328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ru-RU" sz="1800" b="1">
                <a:solidFill>
                  <a:schemeClr val="accent2"/>
                </a:solidFill>
              </a:rPr>
              <a:t>U</a:t>
            </a:r>
            <a:r>
              <a:rPr lang="ru-RU" altLang="ru-RU" sz="1800" b="1" baseline="-25000">
                <a:solidFill>
                  <a:schemeClr val="accent2"/>
                </a:solidFill>
              </a:rPr>
              <a:t>0а</a:t>
            </a:r>
            <a:r>
              <a:rPr lang="ru-RU" altLang="ru-RU" sz="1800"/>
              <a:t> –активная составляющая напряжения (совпадает с током по фазе) </a:t>
            </a:r>
          </a:p>
          <a:p>
            <a:pPr eaLnBrk="1" hangingPunct="1">
              <a:spcBef>
                <a:spcPct val="50000"/>
              </a:spcBef>
              <a:buFontTx/>
              <a:buNone/>
            </a:pPr>
            <a:r>
              <a:rPr lang="en-US" altLang="ru-RU" sz="1800" b="1">
                <a:solidFill>
                  <a:srgbClr val="FF0066"/>
                </a:solidFill>
              </a:rPr>
              <a:t>U</a:t>
            </a:r>
            <a:r>
              <a:rPr lang="ru-RU" altLang="ru-RU" sz="1800" b="1" baseline="-25000">
                <a:solidFill>
                  <a:srgbClr val="FF0066"/>
                </a:solidFill>
              </a:rPr>
              <a:t>0р</a:t>
            </a:r>
            <a:r>
              <a:rPr lang="ru-RU" altLang="ru-RU" sz="1800"/>
              <a:t> –реактивная составляющая напряжения (отличается от силы тока по фазе на π/2) </a:t>
            </a:r>
          </a:p>
        </p:txBody>
      </p:sp>
      <p:sp>
        <p:nvSpPr>
          <p:cNvPr id="16390" name="Text Box 32">
            <a:extLst>
              <a:ext uri="{FF2B5EF4-FFF2-40B4-BE49-F238E27FC236}">
                <a16:creationId xmlns:a16="http://schemas.microsoft.com/office/drawing/2014/main" id="{A4BC3034-7214-4DC4-9C8C-323B66FCB763}"/>
              </a:ext>
            </a:extLst>
          </p:cNvPr>
          <p:cNvSpPr txBox="1">
            <a:spLocks noChangeArrowheads="1"/>
          </p:cNvSpPr>
          <p:nvPr/>
        </p:nvSpPr>
        <p:spPr bwMode="auto">
          <a:xfrm>
            <a:off x="4511675" y="5661025"/>
            <a:ext cx="2592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ru-RU" sz="2400">
                <a:latin typeface="Times New Roman" panose="02020603050405020304" pitchFamily="18" charset="0"/>
              </a:rPr>
              <a:t>U</a:t>
            </a:r>
            <a:r>
              <a:rPr lang="ru-RU" altLang="ru-RU" sz="2400">
                <a:latin typeface="Times New Roman" panose="02020603050405020304" pitchFamily="18" charset="0"/>
              </a:rPr>
              <a:t>= </a:t>
            </a:r>
            <a:r>
              <a:rPr lang="en-US" altLang="ru-RU" sz="2400">
                <a:latin typeface="Times New Roman" panose="02020603050405020304" pitchFamily="18" charset="0"/>
              </a:rPr>
              <a:t>U</a:t>
            </a:r>
            <a:r>
              <a:rPr lang="ru-RU" altLang="ru-RU" sz="2400" baseline="-25000">
                <a:latin typeface="Times New Roman" panose="02020603050405020304" pitchFamily="18" charset="0"/>
              </a:rPr>
              <a:t>0</a:t>
            </a:r>
            <a:r>
              <a:rPr lang="ru-RU" altLang="ru-RU" sz="2400">
                <a:latin typeface="Times New Roman" panose="02020603050405020304" pitchFamily="18" charset="0"/>
              </a:rPr>
              <a:t>·</a:t>
            </a:r>
            <a:r>
              <a:rPr lang="pl-PL" altLang="ru-RU" sz="2400">
                <a:latin typeface="Times New Roman" panose="02020603050405020304" pitchFamily="18" charset="0"/>
              </a:rPr>
              <a:t>sin</a:t>
            </a:r>
            <a:r>
              <a:rPr lang="ru-RU" altLang="ru-RU" sz="2400">
                <a:latin typeface="Times New Roman" panose="02020603050405020304" pitchFamily="18" charset="0"/>
              </a:rPr>
              <a:t>(</a:t>
            </a:r>
            <a:r>
              <a:rPr lang="en-US" altLang="ru-RU" sz="2400">
                <a:latin typeface="Times New Roman" panose="02020603050405020304" pitchFamily="18" charset="0"/>
              </a:rPr>
              <a:t>ω</a:t>
            </a:r>
            <a:r>
              <a:rPr lang="pl-PL" altLang="ru-RU" sz="2400">
                <a:latin typeface="Times New Roman" panose="02020603050405020304" pitchFamily="18" charset="0"/>
              </a:rPr>
              <a:t>t</a:t>
            </a:r>
            <a:r>
              <a:rPr lang="ru-RU" altLang="ru-RU" sz="2400">
                <a:latin typeface="Times New Roman" panose="02020603050405020304" pitchFamily="18" charset="0"/>
              </a:rPr>
              <a:t>+φ). </a:t>
            </a:r>
          </a:p>
        </p:txBody>
      </p:sp>
      <p:sp>
        <p:nvSpPr>
          <p:cNvPr id="16391" name="Text Box 33">
            <a:extLst>
              <a:ext uri="{FF2B5EF4-FFF2-40B4-BE49-F238E27FC236}">
                <a16:creationId xmlns:a16="http://schemas.microsoft.com/office/drawing/2014/main" id="{E3D4C502-DC52-422C-8C86-E310C2BA8592}"/>
              </a:ext>
            </a:extLst>
          </p:cNvPr>
          <p:cNvSpPr txBox="1">
            <a:spLocks noChangeArrowheads="1"/>
          </p:cNvSpPr>
          <p:nvPr/>
        </p:nvSpPr>
        <p:spPr bwMode="auto">
          <a:xfrm>
            <a:off x="1703389" y="5445126"/>
            <a:ext cx="24479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800"/>
              <a:t>Сумма </a:t>
            </a:r>
            <a:r>
              <a:rPr lang="en-US" altLang="ru-RU" sz="1800"/>
              <a:t>U</a:t>
            </a:r>
            <a:r>
              <a:rPr lang="ru-RU" altLang="ru-RU" sz="1800" baseline="-25000"/>
              <a:t>а</a:t>
            </a:r>
            <a:r>
              <a:rPr lang="ru-RU" altLang="ru-RU" sz="1800"/>
              <a:t> и </a:t>
            </a:r>
            <a:r>
              <a:rPr lang="en-US" altLang="ru-RU" sz="1800"/>
              <a:t>U</a:t>
            </a:r>
            <a:r>
              <a:rPr lang="ru-RU" altLang="ru-RU" sz="1800" baseline="-25000"/>
              <a:t>р</a:t>
            </a:r>
            <a:r>
              <a:rPr lang="ru-RU" altLang="ru-RU" sz="1800"/>
              <a:t> дает </a:t>
            </a:r>
          </a:p>
        </p:txBody>
      </p:sp>
      <p:sp>
        <p:nvSpPr>
          <p:cNvPr id="26" name="Прямоугольник 25">
            <a:extLst>
              <a:ext uri="{FF2B5EF4-FFF2-40B4-BE49-F238E27FC236}">
                <a16:creationId xmlns:a16="http://schemas.microsoft.com/office/drawing/2014/main" id="{67C50114-8057-46CD-ACBC-C80AF1DE10C6}"/>
              </a:ext>
            </a:extLst>
          </p:cNvPr>
          <p:cNvSpPr/>
          <p:nvPr/>
        </p:nvSpPr>
        <p:spPr>
          <a:xfrm>
            <a:off x="864847" y="104539"/>
            <a:ext cx="1479892" cy="369332"/>
          </a:xfrm>
          <a:prstGeom prst="rect">
            <a:avLst/>
          </a:prstGeom>
        </p:spPr>
        <p:txBody>
          <a:bodyPr wrap="none">
            <a:spAutoFit/>
          </a:bodyPr>
          <a:lstStyle/>
          <a:p>
            <a:pPr>
              <a:defRPr/>
            </a:pPr>
            <a:r>
              <a:rPr lang="ru-RU" dirty="0">
                <a:solidFill>
                  <a:schemeClr val="bg1"/>
                </a:solidFill>
              </a:rPr>
              <a:t>Кафедра ТЭЦ</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35C41394-95FD-82E6-A3A3-826B99D3EB20}"/>
              </a:ext>
            </a:extLst>
          </p:cNvPr>
          <p:cNvSpPr/>
          <p:nvPr/>
        </p:nvSpPr>
        <p:spPr>
          <a:xfrm>
            <a:off x="1919288" y="1137305"/>
            <a:ext cx="3384550" cy="21377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410" name="Text Box 4">
            <a:extLst>
              <a:ext uri="{FF2B5EF4-FFF2-40B4-BE49-F238E27FC236}">
                <a16:creationId xmlns:a16="http://schemas.microsoft.com/office/drawing/2014/main" id="{C5975CC1-69CE-4694-92DF-4703229DC99C}"/>
              </a:ext>
            </a:extLst>
          </p:cNvPr>
          <p:cNvSpPr txBox="1">
            <a:spLocks noChangeArrowheads="1"/>
          </p:cNvSpPr>
          <p:nvPr/>
        </p:nvSpPr>
        <p:spPr bwMode="auto">
          <a:xfrm>
            <a:off x="5927940" y="1797685"/>
            <a:ext cx="4974067"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800" dirty="0"/>
              <a:t>Так как сумма проекций векторов на произвольную ось равна проекции суммы этих векторов на ту же ось, то амплитуду полного напряжения можно найти как модуль суммы векторов: </a:t>
            </a:r>
          </a:p>
        </p:txBody>
      </p:sp>
      <p:sp>
        <p:nvSpPr>
          <p:cNvPr id="17411" name="Text Box 5">
            <a:extLst>
              <a:ext uri="{FF2B5EF4-FFF2-40B4-BE49-F238E27FC236}">
                <a16:creationId xmlns:a16="http://schemas.microsoft.com/office/drawing/2014/main" id="{AABC8AC8-DE08-4C15-B5AD-09D28456B942}"/>
              </a:ext>
            </a:extLst>
          </p:cNvPr>
          <p:cNvSpPr txBox="1">
            <a:spLocks noChangeArrowheads="1"/>
          </p:cNvSpPr>
          <p:nvPr/>
        </p:nvSpPr>
        <p:spPr bwMode="auto">
          <a:xfrm>
            <a:off x="3286920" y="594519"/>
            <a:ext cx="8497887"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800" dirty="0"/>
              <a:t>Падения напряжений </a:t>
            </a:r>
            <a:r>
              <a:rPr lang="en-US" altLang="ru-RU" sz="1800" dirty="0"/>
              <a:t>U</a:t>
            </a:r>
            <a:r>
              <a:rPr lang="en-US" altLang="ru-RU" sz="1800" baseline="-25000" dirty="0"/>
              <a:t>R</a:t>
            </a:r>
            <a:r>
              <a:rPr lang="ru-RU" altLang="ru-RU" sz="1800" dirty="0"/>
              <a:t>,</a:t>
            </a:r>
            <a:r>
              <a:rPr lang="en-US" altLang="ru-RU" sz="1800" dirty="0"/>
              <a:t>U</a:t>
            </a:r>
            <a:r>
              <a:rPr lang="en-US" altLang="ru-RU" sz="1800" baseline="-25000" dirty="0"/>
              <a:t>C</a:t>
            </a:r>
            <a:r>
              <a:rPr lang="en-US" altLang="ru-RU" sz="1800" dirty="0"/>
              <a:t> </a:t>
            </a:r>
            <a:r>
              <a:rPr lang="ru-RU" altLang="ru-RU" sz="1800" dirty="0"/>
              <a:t>и </a:t>
            </a:r>
            <a:r>
              <a:rPr lang="en-US" altLang="ru-RU" sz="1800" dirty="0"/>
              <a:t>U</a:t>
            </a:r>
            <a:r>
              <a:rPr lang="en-US" altLang="ru-RU" sz="1800" baseline="-25000" dirty="0"/>
              <a:t>L</a:t>
            </a:r>
            <a:r>
              <a:rPr lang="ru-RU" altLang="ru-RU" sz="1800" dirty="0"/>
              <a:t> в сумме должны быть равны приложенному к цепи напряжению </a:t>
            </a:r>
            <a:r>
              <a:rPr lang="en-US" altLang="ru-RU" sz="1800" dirty="0"/>
              <a:t>U</a:t>
            </a:r>
            <a:r>
              <a:rPr lang="ru-RU" altLang="ru-RU" sz="1800" dirty="0"/>
              <a:t>. Поэтому, сложив векторы </a:t>
            </a:r>
            <a:r>
              <a:rPr lang="en-US" altLang="ru-RU" sz="1800" dirty="0"/>
              <a:t>U</a:t>
            </a:r>
            <a:r>
              <a:rPr lang="en-US" altLang="ru-RU" sz="1800" baseline="-25000" dirty="0"/>
              <a:t>R</a:t>
            </a:r>
            <a:r>
              <a:rPr lang="ru-RU" altLang="ru-RU" sz="1800" dirty="0"/>
              <a:t>,</a:t>
            </a:r>
            <a:r>
              <a:rPr lang="en-US" altLang="ru-RU" sz="1800" dirty="0"/>
              <a:t>U</a:t>
            </a:r>
            <a:r>
              <a:rPr lang="en-US" altLang="ru-RU" sz="1800" baseline="-25000" dirty="0"/>
              <a:t>C</a:t>
            </a:r>
            <a:r>
              <a:rPr lang="en-US" altLang="ru-RU" sz="1800" dirty="0"/>
              <a:t> </a:t>
            </a:r>
            <a:r>
              <a:rPr lang="ru-RU" altLang="ru-RU" sz="1800" dirty="0"/>
              <a:t>и </a:t>
            </a:r>
            <a:r>
              <a:rPr lang="en-US" altLang="ru-RU" sz="1800" dirty="0"/>
              <a:t>U</a:t>
            </a:r>
            <a:r>
              <a:rPr lang="en-US" altLang="ru-RU" sz="1800" baseline="-25000" dirty="0"/>
              <a:t>L</a:t>
            </a:r>
            <a:r>
              <a:rPr lang="ru-RU" altLang="ru-RU" sz="1800" dirty="0"/>
              <a:t>, получаем вектор, длина которого равна </a:t>
            </a:r>
            <a:r>
              <a:rPr lang="en-US" altLang="ru-RU" sz="1800" dirty="0"/>
              <a:t>U</a:t>
            </a:r>
            <a:r>
              <a:rPr lang="ru-RU" altLang="ru-RU" sz="1800" baseline="-25000" dirty="0"/>
              <a:t>0</a:t>
            </a:r>
            <a:r>
              <a:rPr lang="ru-RU" altLang="ru-RU" sz="1800" dirty="0"/>
              <a:t> </a:t>
            </a:r>
          </a:p>
        </p:txBody>
      </p:sp>
      <p:sp>
        <p:nvSpPr>
          <p:cNvPr id="17412" name="Rectangle 7">
            <a:extLst>
              <a:ext uri="{FF2B5EF4-FFF2-40B4-BE49-F238E27FC236}">
                <a16:creationId xmlns:a16="http://schemas.microsoft.com/office/drawing/2014/main" id="{612870E1-A327-4D79-8DFF-B55534BE740E}"/>
              </a:ext>
            </a:extLst>
          </p:cNvPr>
          <p:cNvSpPr>
            <a:spLocks noChangeArrowheads="1"/>
          </p:cNvSpPr>
          <p:nvPr/>
        </p:nvSpPr>
        <p:spPr bwMode="auto">
          <a:xfrm>
            <a:off x="1524001" y="3020497"/>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ru-RU" altLang="ru-RU" sz="1800"/>
          </a:p>
        </p:txBody>
      </p:sp>
      <p:graphicFrame>
        <p:nvGraphicFramePr>
          <p:cNvPr id="17413" name="Object 6">
            <a:extLst>
              <a:ext uri="{FF2B5EF4-FFF2-40B4-BE49-F238E27FC236}">
                <a16:creationId xmlns:a16="http://schemas.microsoft.com/office/drawing/2014/main" id="{E4CB4BA6-9A56-483F-94A7-136569DE4B88}"/>
              </a:ext>
            </a:extLst>
          </p:cNvPr>
          <p:cNvGraphicFramePr>
            <a:graphicFrameLocks noChangeAspect="1"/>
          </p:cNvGraphicFramePr>
          <p:nvPr/>
        </p:nvGraphicFramePr>
        <p:xfrm>
          <a:off x="2711451" y="3933826"/>
          <a:ext cx="6264275" cy="1274763"/>
        </p:xfrm>
        <a:graphic>
          <a:graphicData uri="http://schemas.openxmlformats.org/presentationml/2006/ole">
            <mc:AlternateContent xmlns:mc="http://schemas.openxmlformats.org/markup-compatibility/2006">
              <mc:Choice xmlns:v="urn:schemas-microsoft-com:vml" Requires="v">
                <p:oleObj name="Формула" r:id="rId2" imgW="2197100" imgH="444500" progId="Equation.3">
                  <p:embed/>
                </p:oleObj>
              </mc:Choice>
              <mc:Fallback>
                <p:oleObj name="Формула" r:id="rId2" imgW="2197100" imgH="444500" progId="Equation.3">
                  <p:embed/>
                  <p:pic>
                    <p:nvPicPr>
                      <p:cNvPr id="17413" name="Object 6">
                        <a:extLst>
                          <a:ext uri="{FF2B5EF4-FFF2-40B4-BE49-F238E27FC236}">
                            <a16:creationId xmlns:a16="http://schemas.microsoft.com/office/drawing/2014/main" id="{E4CB4BA6-9A56-483F-94A7-136569DE4B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1451" y="3933826"/>
                        <a:ext cx="6264275" cy="1274763"/>
                      </a:xfrm>
                      <a:prstGeom prst="rect">
                        <a:avLst/>
                      </a:prstGeom>
                      <a:solidFill>
                        <a:srgbClr val="FFFF99"/>
                      </a:solidFill>
                      <a:ln w="57150" cmpd="thinThick">
                        <a:solidFill>
                          <a:srgbClr val="800080"/>
                        </a:solidFill>
                        <a:miter lim="800000"/>
                        <a:headEnd/>
                        <a:tailEnd/>
                      </a:ln>
                    </p:spPr>
                  </p:pic>
                </p:oleObj>
              </mc:Fallback>
            </mc:AlternateContent>
          </a:graphicData>
        </a:graphic>
      </p:graphicFrame>
      <p:pic>
        <p:nvPicPr>
          <p:cNvPr id="17414" name="Picture 8">
            <a:extLst>
              <a:ext uri="{FF2B5EF4-FFF2-40B4-BE49-F238E27FC236}">
                <a16:creationId xmlns:a16="http://schemas.microsoft.com/office/drawing/2014/main" id="{5FD0AF4F-5BEF-4883-ADD1-BC59429A989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19288" y="1268413"/>
            <a:ext cx="3384550" cy="200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5" name="AutoShape 9">
            <a:extLst>
              <a:ext uri="{FF2B5EF4-FFF2-40B4-BE49-F238E27FC236}">
                <a16:creationId xmlns:a16="http://schemas.microsoft.com/office/drawing/2014/main" id="{F2C0F256-5E66-4613-8289-50B318A2A140}"/>
              </a:ext>
            </a:extLst>
          </p:cNvPr>
          <p:cNvSpPr>
            <a:spLocks noChangeArrowheads="1"/>
          </p:cNvSpPr>
          <p:nvPr/>
        </p:nvSpPr>
        <p:spPr bwMode="auto">
          <a:xfrm>
            <a:off x="7391401" y="5445126"/>
            <a:ext cx="3059113" cy="1179513"/>
          </a:xfrm>
          <a:prstGeom prst="wedgeRoundRectCallout">
            <a:avLst>
              <a:gd name="adj1" fmla="val -79787"/>
              <a:gd name="adj2" fmla="val -63727"/>
              <a:gd name="adj3" fmla="val 16667"/>
            </a:avLst>
          </a:prstGeom>
          <a:solidFill>
            <a:srgbClr val="CCFFFF"/>
          </a:solidFill>
          <a:ln w="9525">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endParaRPr lang="ru-RU" altLang="ru-RU" sz="1800">
              <a:latin typeface="Times New Roman" panose="02020603050405020304" pitchFamily="18" charset="0"/>
            </a:endParaRPr>
          </a:p>
        </p:txBody>
      </p:sp>
      <p:sp>
        <p:nvSpPr>
          <p:cNvPr id="17416" name="Text Box 10">
            <a:extLst>
              <a:ext uri="{FF2B5EF4-FFF2-40B4-BE49-F238E27FC236}">
                <a16:creationId xmlns:a16="http://schemas.microsoft.com/office/drawing/2014/main" id="{5537B5F5-E9DA-4CCB-B169-0581047E839F}"/>
              </a:ext>
            </a:extLst>
          </p:cNvPr>
          <p:cNvSpPr txBox="1">
            <a:spLocks noChangeArrowheads="1"/>
          </p:cNvSpPr>
          <p:nvPr/>
        </p:nvSpPr>
        <p:spPr bwMode="auto">
          <a:xfrm>
            <a:off x="7535864" y="5661025"/>
            <a:ext cx="270033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buFontTx/>
              <a:buNone/>
            </a:pPr>
            <a:r>
              <a:rPr lang="ru-RU" altLang="ru-RU" sz="1800"/>
              <a:t>полный закон Ома для переменного тока </a:t>
            </a:r>
          </a:p>
        </p:txBody>
      </p:sp>
      <p:sp>
        <p:nvSpPr>
          <p:cNvPr id="17417" name="Text Box 11">
            <a:extLst>
              <a:ext uri="{FF2B5EF4-FFF2-40B4-BE49-F238E27FC236}">
                <a16:creationId xmlns:a16="http://schemas.microsoft.com/office/drawing/2014/main" id="{3B6FBB91-C71F-486C-BBF9-78EC492C5086}"/>
              </a:ext>
            </a:extLst>
          </p:cNvPr>
          <p:cNvSpPr txBox="1">
            <a:spLocks noChangeArrowheads="1"/>
          </p:cNvSpPr>
          <p:nvPr/>
        </p:nvSpPr>
        <p:spPr bwMode="auto">
          <a:xfrm>
            <a:off x="1703388" y="5805489"/>
            <a:ext cx="46799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ru-RU" sz="2000" b="1">
                <a:solidFill>
                  <a:srgbClr val="FF0066"/>
                </a:solidFill>
                <a:latin typeface="Times New Roman" panose="02020603050405020304" pitchFamily="18" charset="0"/>
              </a:rPr>
              <a:t>Z</a:t>
            </a:r>
            <a:r>
              <a:rPr lang="ru-RU" altLang="ru-RU" sz="2000"/>
              <a:t> - полное сопротивление цепи или </a:t>
            </a:r>
            <a:r>
              <a:rPr lang="ru-RU" altLang="ru-RU" sz="2000" b="1" u="sng">
                <a:solidFill>
                  <a:srgbClr val="FF0066"/>
                </a:solidFill>
              </a:rPr>
              <a:t>импеданс</a:t>
            </a:r>
            <a:r>
              <a:rPr lang="ru-RU" altLang="ru-RU" sz="2000"/>
              <a:t> </a:t>
            </a:r>
          </a:p>
        </p:txBody>
      </p:sp>
      <p:sp>
        <p:nvSpPr>
          <p:cNvPr id="10" name="Прямоугольник 9">
            <a:extLst>
              <a:ext uri="{FF2B5EF4-FFF2-40B4-BE49-F238E27FC236}">
                <a16:creationId xmlns:a16="http://schemas.microsoft.com/office/drawing/2014/main" id="{BBBFB983-02A3-458E-AA39-0E274C51D764}"/>
              </a:ext>
            </a:extLst>
          </p:cNvPr>
          <p:cNvSpPr/>
          <p:nvPr/>
        </p:nvSpPr>
        <p:spPr>
          <a:xfrm>
            <a:off x="677866" y="94079"/>
            <a:ext cx="1479892" cy="369332"/>
          </a:xfrm>
          <a:prstGeom prst="rect">
            <a:avLst/>
          </a:prstGeom>
        </p:spPr>
        <p:txBody>
          <a:bodyPr wrap="none">
            <a:spAutoFit/>
          </a:bodyPr>
          <a:lstStyle/>
          <a:p>
            <a:pPr>
              <a:defRPr/>
            </a:pPr>
            <a:r>
              <a:rPr lang="ru-RU" dirty="0">
                <a:solidFill>
                  <a:schemeClr val="bg1"/>
                </a:solidFill>
              </a:rPr>
              <a:t>Кафедра ТЭЦ</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4">
            <a:extLst>
              <a:ext uri="{FF2B5EF4-FFF2-40B4-BE49-F238E27FC236}">
                <a16:creationId xmlns:a16="http://schemas.microsoft.com/office/drawing/2014/main" id="{49302109-4984-4C21-A241-C83D6BC6C76D}"/>
              </a:ext>
            </a:extLst>
          </p:cNvPr>
          <p:cNvSpPr txBox="1">
            <a:spLocks noChangeArrowheads="1"/>
          </p:cNvSpPr>
          <p:nvPr/>
        </p:nvSpPr>
        <p:spPr bwMode="auto">
          <a:xfrm>
            <a:off x="2967038" y="584995"/>
            <a:ext cx="80645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800" dirty="0"/>
              <a:t>Вектор </a:t>
            </a:r>
            <a:r>
              <a:rPr lang="en-US" altLang="ru-RU" sz="1800" dirty="0"/>
              <a:t>U</a:t>
            </a:r>
            <a:r>
              <a:rPr lang="ru-RU" altLang="ru-RU" sz="1800" baseline="-25000" dirty="0"/>
              <a:t>0</a:t>
            </a:r>
            <a:r>
              <a:rPr lang="ru-RU" altLang="ru-RU" sz="1800" dirty="0"/>
              <a:t> образует с осью токов угол φ, тангенс которого равен: </a:t>
            </a:r>
          </a:p>
        </p:txBody>
      </p:sp>
      <p:sp>
        <p:nvSpPr>
          <p:cNvPr id="18435" name="Rectangle 6">
            <a:extLst>
              <a:ext uri="{FF2B5EF4-FFF2-40B4-BE49-F238E27FC236}">
                <a16:creationId xmlns:a16="http://schemas.microsoft.com/office/drawing/2014/main" id="{CC62856B-B323-4220-9680-6A63E38A288A}"/>
              </a:ext>
            </a:extLst>
          </p:cNvPr>
          <p:cNvSpPr>
            <a:spLocks noChangeArrowheads="1"/>
          </p:cNvSpPr>
          <p:nvPr/>
        </p:nvSpPr>
        <p:spPr bwMode="auto">
          <a:xfrm>
            <a:off x="1524001" y="2953822"/>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ru-RU" altLang="ru-RU" sz="1800"/>
          </a:p>
        </p:txBody>
      </p:sp>
      <p:graphicFrame>
        <p:nvGraphicFramePr>
          <p:cNvPr id="18436" name="Object 5">
            <a:extLst>
              <a:ext uri="{FF2B5EF4-FFF2-40B4-BE49-F238E27FC236}">
                <a16:creationId xmlns:a16="http://schemas.microsoft.com/office/drawing/2014/main" id="{E383C658-8EEC-4BEB-9154-024B311D586C}"/>
              </a:ext>
            </a:extLst>
          </p:cNvPr>
          <p:cNvGraphicFramePr>
            <a:graphicFrameLocks noChangeAspect="1"/>
          </p:cNvGraphicFramePr>
          <p:nvPr>
            <p:extLst>
              <p:ext uri="{D42A27DB-BD31-4B8C-83A1-F6EECF244321}">
                <p14:modId xmlns:p14="http://schemas.microsoft.com/office/powerpoint/2010/main" val="3181032476"/>
              </p:ext>
            </p:extLst>
          </p:nvPr>
        </p:nvGraphicFramePr>
        <p:xfrm>
          <a:off x="5055563" y="768351"/>
          <a:ext cx="2357438" cy="1346200"/>
        </p:xfrm>
        <a:graphic>
          <a:graphicData uri="http://schemas.openxmlformats.org/presentationml/2006/ole">
            <mc:AlternateContent xmlns:mc="http://schemas.openxmlformats.org/markup-compatibility/2006">
              <mc:Choice xmlns:v="urn:schemas-microsoft-com:vml" Requires="v">
                <p:oleObj name="Формула" r:id="rId2" imgW="990170" imgH="571252" progId="Equation.3">
                  <p:embed/>
                </p:oleObj>
              </mc:Choice>
              <mc:Fallback>
                <p:oleObj name="Формула" r:id="rId2" imgW="990170" imgH="571252" progId="Equation.3">
                  <p:embed/>
                  <p:pic>
                    <p:nvPicPr>
                      <p:cNvPr id="18436" name="Object 5">
                        <a:extLst>
                          <a:ext uri="{FF2B5EF4-FFF2-40B4-BE49-F238E27FC236}">
                            <a16:creationId xmlns:a16="http://schemas.microsoft.com/office/drawing/2014/main" id="{E383C658-8EEC-4BEB-9154-024B311D58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5563" y="768351"/>
                        <a:ext cx="2357438" cy="134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437" name="Text Box 7">
            <a:extLst>
              <a:ext uri="{FF2B5EF4-FFF2-40B4-BE49-F238E27FC236}">
                <a16:creationId xmlns:a16="http://schemas.microsoft.com/office/drawing/2014/main" id="{E16859D0-56D5-46B6-B0D3-A57CB8FA3EF1}"/>
              </a:ext>
            </a:extLst>
          </p:cNvPr>
          <p:cNvSpPr txBox="1">
            <a:spLocks noChangeArrowheads="1"/>
          </p:cNvSpPr>
          <p:nvPr/>
        </p:nvSpPr>
        <p:spPr bwMode="auto">
          <a:xfrm>
            <a:off x="4330700" y="2276475"/>
            <a:ext cx="6337300" cy="201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ru-RU" altLang="ru-RU" sz="1800"/>
              <a:t>–  активное сопротивление цепи. Активное сопротивление всегда </a:t>
            </a:r>
            <a:r>
              <a:rPr lang="ru-RU" altLang="ru-RU" sz="1800" b="1" i="1" u="sng"/>
              <a:t>приводит</a:t>
            </a:r>
            <a:r>
              <a:rPr lang="ru-RU" altLang="ru-RU" sz="1800"/>
              <a:t> к выделению тепла Джоуля-Ленца.</a:t>
            </a:r>
          </a:p>
          <a:p>
            <a:pPr eaLnBrk="1" hangingPunct="1">
              <a:spcBef>
                <a:spcPct val="0"/>
              </a:spcBef>
              <a:buFontTx/>
              <a:buNone/>
            </a:pPr>
            <a:endParaRPr lang="ru-RU" altLang="ru-RU" sz="1800"/>
          </a:p>
          <a:p>
            <a:pPr eaLnBrk="1" hangingPunct="1">
              <a:spcBef>
                <a:spcPct val="0"/>
              </a:spcBef>
              <a:buFontTx/>
              <a:buNone/>
            </a:pPr>
            <a:endParaRPr lang="en-US" altLang="ru-RU" sz="1800"/>
          </a:p>
          <a:p>
            <a:pPr eaLnBrk="1" hangingPunct="1">
              <a:spcBef>
                <a:spcPct val="0"/>
              </a:spcBef>
              <a:buFontTx/>
              <a:buNone/>
            </a:pPr>
            <a:r>
              <a:rPr lang="ru-RU" altLang="ru-RU" sz="1800"/>
              <a:t>– реактивное сопротивление цепи. Наличие реактивного сопротивления </a:t>
            </a:r>
            <a:r>
              <a:rPr lang="ru-RU" altLang="ru-RU" sz="1800" b="1" i="1" u="sng"/>
              <a:t>не сопровождается</a:t>
            </a:r>
            <a:r>
              <a:rPr lang="ru-RU" altLang="ru-RU" sz="1800"/>
              <a:t> выделением тепла. </a:t>
            </a:r>
          </a:p>
        </p:txBody>
      </p:sp>
      <p:graphicFrame>
        <p:nvGraphicFramePr>
          <p:cNvPr id="18438" name="Object 8">
            <a:extLst>
              <a:ext uri="{FF2B5EF4-FFF2-40B4-BE49-F238E27FC236}">
                <a16:creationId xmlns:a16="http://schemas.microsoft.com/office/drawing/2014/main" id="{0D1C2862-0219-4EC7-ACA7-F3562E3934E6}"/>
              </a:ext>
            </a:extLst>
          </p:cNvPr>
          <p:cNvGraphicFramePr>
            <a:graphicFrameLocks noChangeAspect="1"/>
          </p:cNvGraphicFramePr>
          <p:nvPr/>
        </p:nvGraphicFramePr>
        <p:xfrm>
          <a:off x="2135189" y="1989138"/>
          <a:ext cx="1944687" cy="1066800"/>
        </p:xfrm>
        <a:graphic>
          <a:graphicData uri="http://schemas.openxmlformats.org/presentationml/2006/ole">
            <mc:AlternateContent xmlns:mc="http://schemas.openxmlformats.org/markup-compatibility/2006">
              <mc:Choice xmlns:v="urn:schemas-microsoft-com:vml" Requires="v">
                <p:oleObj name="Формула" r:id="rId4" imgW="787400" imgH="431800" progId="Equation.3">
                  <p:embed/>
                </p:oleObj>
              </mc:Choice>
              <mc:Fallback>
                <p:oleObj name="Формула" r:id="rId4" imgW="787400" imgH="431800" progId="Equation.3">
                  <p:embed/>
                  <p:pic>
                    <p:nvPicPr>
                      <p:cNvPr id="18438" name="Object 8">
                        <a:extLst>
                          <a:ext uri="{FF2B5EF4-FFF2-40B4-BE49-F238E27FC236}">
                            <a16:creationId xmlns:a16="http://schemas.microsoft.com/office/drawing/2014/main" id="{0D1C2862-0219-4EC7-ACA7-F3562E3934E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35189" y="1989138"/>
                        <a:ext cx="1944687" cy="1066800"/>
                      </a:xfrm>
                      <a:prstGeom prst="rect">
                        <a:avLst/>
                      </a:prstGeom>
                      <a:solidFill>
                        <a:srgbClr val="CCFFFF"/>
                      </a:solidFill>
                      <a:ln w="9525">
                        <a:solidFill>
                          <a:srgbClr val="FF00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39" name="Object 9">
            <a:extLst>
              <a:ext uri="{FF2B5EF4-FFF2-40B4-BE49-F238E27FC236}">
                <a16:creationId xmlns:a16="http://schemas.microsoft.com/office/drawing/2014/main" id="{9B080D11-36EC-410A-B3C0-7CBE1FC42894}"/>
              </a:ext>
            </a:extLst>
          </p:cNvPr>
          <p:cNvGraphicFramePr>
            <a:graphicFrameLocks noChangeAspect="1"/>
          </p:cNvGraphicFramePr>
          <p:nvPr/>
        </p:nvGraphicFramePr>
        <p:xfrm>
          <a:off x="1847850" y="3429001"/>
          <a:ext cx="2376488" cy="900113"/>
        </p:xfrm>
        <a:graphic>
          <a:graphicData uri="http://schemas.openxmlformats.org/presentationml/2006/ole">
            <mc:AlternateContent xmlns:mc="http://schemas.openxmlformats.org/markup-compatibility/2006">
              <mc:Choice xmlns:v="urn:schemas-microsoft-com:vml" Requires="v">
                <p:oleObj name="Формула" r:id="rId6" imgW="1206500" imgH="457200" progId="Equation.3">
                  <p:embed/>
                </p:oleObj>
              </mc:Choice>
              <mc:Fallback>
                <p:oleObj name="Формула" r:id="rId6" imgW="1206500" imgH="457200" progId="Equation.3">
                  <p:embed/>
                  <p:pic>
                    <p:nvPicPr>
                      <p:cNvPr id="18439" name="Object 9">
                        <a:extLst>
                          <a:ext uri="{FF2B5EF4-FFF2-40B4-BE49-F238E27FC236}">
                            <a16:creationId xmlns:a16="http://schemas.microsoft.com/office/drawing/2014/main" id="{9B080D11-36EC-410A-B3C0-7CBE1FC4289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47850" y="3429001"/>
                        <a:ext cx="2376488" cy="900113"/>
                      </a:xfrm>
                      <a:prstGeom prst="rect">
                        <a:avLst/>
                      </a:prstGeom>
                      <a:solidFill>
                        <a:srgbClr val="CCFFFF"/>
                      </a:solidFill>
                      <a:ln w="9525">
                        <a:solidFill>
                          <a:srgbClr val="FF00FF"/>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40" name="Text Box 10">
            <a:extLst>
              <a:ext uri="{FF2B5EF4-FFF2-40B4-BE49-F238E27FC236}">
                <a16:creationId xmlns:a16="http://schemas.microsoft.com/office/drawing/2014/main" id="{1BD345FF-8A3B-4C8A-A186-A44A0A414530}"/>
              </a:ext>
            </a:extLst>
          </p:cNvPr>
          <p:cNvSpPr txBox="1">
            <a:spLocks noChangeArrowheads="1"/>
          </p:cNvSpPr>
          <p:nvPr/>
        </p:nvSpPr>
        <p:spPr bwMode="auto">
          <a:xfrm>
            <a:off x="1703388" y="4652963"/>
            <a:ext cx="8424862"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600">
                <a:latin typeface="Times New Roman" panose="02020603050405020304" pitchFamily="18" charset="0"/>
              </a:rPr>
              <a:t>Для наших рассуждений безразлично, в каком месте цепи сосредоточены емкость, индуктивность и сопротивление. Их можно рассматривать как суммарные для всей цепи. Т.е. можно заменить реальный генератор воображаемым, для которого внутреннее сопротивление </a:t>
            </a:r>
            <a:r>
              <a:rPr lang="en-US" altLang="ru-RU" sz="1600">
                <a:latin typeface="Times New Roman" panose="02020603050405020304" pitchFamily="18" charset="0"/>
              </a:rPr>
              <a:t>r</a:t>
            </a:r>
            <a:r>
              <a:rPr lang="ru-RU" altLang="ru-RU" sz="1600">
                <a:latin typeface="Times New Roman" panose="02020603050405020304" pitchFamily="18" charset="0"/>
              </a:rPr>
              <a:t> = 0. Тогда </a:t>
            </a:r>
            <a:r>
              <a:rPr lang="en-US" altLang="ru-RU" sz="1600">
                <a:latin typeface="Times New Roman" panose="02020603050405020304" pitchFamily="18" charset="0"/>
              </a:rPr>
              <a:t>U</a:t>
            </a:r>
            <a:r>
              <a:rPr lang="ru-RU" altLang="ru-RU" sz="1600">
                <a:latin typeface="Times New Roman" panose="02020603050405020304" pitchFamily="18" charset="0"/>
              </a:rPr>
              <a:t> =        –  ЭДС генератора. Для замкнутой цепи переменного тока </a:t>
            </a:r>
          </a:p>
        </p:txBody>
      </p:sp>
      <p:pic>
        <p:nvPicPr>
          <p:cNvPr id="18441" name="Picture 11">
            <a:extLst>
              <a:ext uri="{FF2B5EF4-FFF2-40B4-BE49-F238E27FC236}">
                <a16:creationId xmlns:a16="http://schemas.microsoft.com/office/drawing/2014/main" id="{96A9C4E5-1487-4BE6-A5F0-FE0F47EC30D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08663" y="5373689"/>
            <a:ext cx="647700"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42" name="Picture 14">
            <a:extLst>
              <a:ext uri="{FF2B5EF4-FFF2-40B4-BE49-F238E27FC236}">
                <a16:creationId xmlns:a16="http://schemas.microsoft.com/office/drawing/2014/main" id="{97E5D4A2-583B-4EE2-B5D9-11F51231451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32400" y="5876926"/>
            <a:ext cx="1766888" cy="66357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sp>
        <p:nvSpPr>
          <p:cNvPr id="11" name="Прямоугольник 10">
            <a:extLst>
              <a:ext uri="{FF2B5EF4-FFF2-40B4-BE49-F238E27FC236}">
                <a16:creationId xmlns:a16="http://schemas.microsoft.com/office/drawing/2014/main" id="{B07C6D8F-788A-46A2-9EA1-CAD46CDCB72F}"/>
              </a:ext>
            </a:extLst>
          </p:cNvPr>
          <p:cNvSpPr/>
          <p:nvPr/>
        </p:nvSpPr>
        <p:spPr>
          <a:xfrm>
            <a:off x="655297" y="99979"/>
            <a:ext cx="1479892" cy="369332"/>
          </a:xfrm>
          <a:prstGeom prst="rect">
            <a:avLst/>
          </a:prstGeom>
        </p:spPr>
        <p:txBody>
          <a:bodyPr wrap="none">
            <a:spAutoFit/>
          </a:bodyPr>
          <a:lstStyle/>
          <a:p>
            <a:pPr>
              <a:defRPr/>
            </a:pPr>
            <a:r>
              <a:rPr lang="ru-RU" dirty="0">
                <a:solidFill>
                  <a:schemeClr val="bg1"/>
                </a:solidFill>
              </a:rPr>
              <a:t>Кафедра ТЭЦ</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WordArt 8">
            <a:extLst>
              <a:ext uri="{FF2B5EF4-FFF2-40B4-BE49-F238E27FC236}">
                <a16:creationId xmlns:a16="http://schemas.microsoft.com/office/drawing/2014/main" id="{C06F751B-F0B4-4A3B-AC0D-F16A3C21B16A}"/>
              </a:ext>
            </a:extLst>
          </p:cNvPr>
          <p:cNvSpPr>
            <a:spLocks noChangeArrowheads="1" noChangeShapeType="1" noTextEdit="1"/>
          </p:cNvSpPr>
          <p:nvPr/>
        </p:nvSpPr>
        <p:spPr bwMode="auto">
          <a:xfrm>
            <a:off x="3575050" y="2349500"/>
            <a:ext cx="6408738" cy="1150938"/>
          </a:xfrm>
          <a:prstGeom prst="rect">
            <a:avLst/>
          </a:prstGeom>
        </p:spPr>
        <p:txBody>
          <a:bodyPr wrap="none" fromWordArt="1">
            <a:prstTxWarp prst="textPlain">
              <a:avLst>
                <a:gd name="adj" fmla="val 50000"/>
              </a:avLst>
            </a:prstTxWarp>
          </a:bodyPr>
          <a:lstStyle/>
          <a:p>
            <a:pPr algn="ctr"/>
            <a:r>
              <a:rPr lang="ru-RU" sz="3600" b="1" kern="10">
                <a:ln w="9525">
                  <a:solidFill>
                    <a:srgbClr val="00CCFF"/>
                  </a:solidFill>
                  <a:round/>
                  <a:headEnd/>
                  <a:tailEnd/>
                </a:ln>
                <a:latin typeface="Times New Roman" panose="02020603050405020304" pitchFamily="18" charset="0"/>
                <a:cs typeface="Times New Roman" panose="02020603050405020304" pitchFamily="18" charset="0"/>
              </a:rPr>
              <a:t>работа и мощность тока</a:t>
            </a:r>
          </a:p>
        </p:txBody>
      </p:sp>
      <p:sp>
        <p:nvSpPr>
          <p:cNvPr id="3" name="Прямоугольник 2">
            <a:extLst>
              <a:ext uri="{FF2B5EF4-FFF2-40B4-BE49-F238E27FC236}">
                <a16:creationId xmlns:a16="http://schemas.microsoft.com/office/drawing/2014/main" id="{3EDF61ED-5CBC-4B88-A14B-7271EFF6989A}"/>
              </a:ext>
            </a:extLst>
          </p:cNvPr>
          <p:cNvSpPr/>
          <p:nvPr/>
        </p:nvSpPr>
        <p:spPr>
          <a:xfrm>
            <a:off x="1291399" y="94079"/>
            <a:ext cx="1479892" cy="369332"/>
          </a:xfrm>
          <a:prstGeom prst="rect">
            <a:avLst/>
          </a:prstGeom>
        </p:spPr>
        <p:txBody>
          <a:bodyPr wrap="none">
            <a:spAutoFit/>
          </a:bodyPr>
          <a:lstStyle/>
          <a:p>
            <a:pPr>
              <a:defRPr/>
            </a:pPr>
            <a:r>
              <a:rPr lang="ru-RU" dirty="0">
                <a:solidFill>
                  <a:schemeClr val="bg1"/>
                </a:solidFill>
              </a:rPr>
              <a:t>Кафедра ТЭЦ</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4">
            <a:extLst>
              <a:ext uri="{FF2B5EF4-FFF2-40B4-BE49-F238E27FC236}">
                <a16:creationId xmlns:a16="http://schemas.microsoft.com/office/drawing/2014/main" id="{2B7E9B39-1E4A-4AC8-9566-6A9C26D1CC62}"/>
              </a:ext>
            </a:extLst>
          </p:cNvPr>
          <p:cNvSpPr txBox="1">
            <a:spLocks noChangeArrowheads="1"/>
          </p:cNvSpPr>
          <p:nvPr/>
        </p:nvSpPr>
        <p:spPr bwMode="auto">
          <a:xfrm>
            <a:off x="2531270" y="484190"/>
            <a:ext cx="8281987"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800" dirty="0"/>
              <a:t>Рассмотрим чему равна работа, совершаемая в цепи при протекании в ней переменного тока. </a:t>
            </a:r>
            <a:br>
              <a:rPr lang="ru-RU" altLang="ru-RU" sz="1800" dirty="0"/>
            </a:br>
            <a:r>
              <a:rPr lang="ru-RU" altLang="ru-RU" sz="1800" dirty="0"/>
              <a:t>Пусть в цепи имеется только активное сопротивление. В этом случае вся работа тока превращается в тепло. </a:t>
            </a:r>
          </a:p>
        </p:txBody>
      </p:sp>
      <p:pic>
        <p:nvPicPr>
          <p:cNvPr id="20483" name="Picture 5">
            <a:extLst>
              <a:ext uri="{FF2B5EF4-FFF2-40B4-BE49-F238E27FC236}">
                <a16:creationId xmlns:a16="http://schemas.microsoft.com/office/drawing/2014/main" id="{BCE64FE3-68F3-4DB1-8821-07B05D6448F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47850" y="1412876"/>
            <a:ext cx="2089150" cy="157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4" name="Text Box 6">
            <a:extLst>
              <a:ext uri="{FF2B5EF4-FFF2-40B4-BE49-F238E27FC236}">
                <a16:creationId xmlns:a16="http://schemas.microsoft.com/office/drawing/2014/main" id="{53E9EFAC-9B32-437C-B582-847B34AD39DA}"/>
              </a:ext>
            </a:extLst>
          </p:cNvPr>
          <p:cNvSpPr txBox="1">
            <a:spLocks noChangeArrowheads="1"/>
          </p:cNvSpPr>
          <p:nvPr/>
        </p:nvSpPr>
        <p:spPr bwMode="auto">
          <a:xfrm>
            <a:off x="4295776" y="1557339"/>
            <a:ext cx="1800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ru-RU" sz="2000" b="1">
                <a:solidFill>
                  <a:schemeClr val="accent2"/>
                </a:solidFill>
              </a:rPr>
              <a:t>U</a:t>
            </a:r>
            <a:r>
              <a:rPr lang="ru-RU" altLang="ru-RU" sz="2000" b="1">
                <a:solidFill>
                  <a:schemeClr val="accent2"/>
                </a:solidFill>
              </a:rPr>
              <a:t>= </a:t>
            </a:r>
            <a:r>
              <a:rPr lang="en-US" altLang="ru-RU" sz="2000" b="1">
                <a:solidFill>
                  <a:schemeClr val="accent2"/>
                </a:solidFill>
              </a:rPr>
              <a:t>U</a:t>
            </a:r>
            <a:r>
              <a:rPr lang="ru-RU" altLang="ru-RU" sz="2000" b="1" baseline="-25000">
                <a:solidFill>
                  <a:schemeClr val="accent2"/>
                </a:solidFill>
              </a:rPr>
              <a:t>0</a:t>
            </a:r>
            <a:r>
              <a:rPr lang="ru-RU" altLang="ru-RU" sz="2000" b="1">
                <a:solidFill>
                  <a:schemeClr val="accent2"/>
                </a:solidFill>
              </a:rPr>
              <a:t>·</a:t>
            </a:r>
            <a:r>
              <a:rPr lang="pl-PL" altLang="ru-RU" sz="2000" b="1">
                <a:solidFill>
                  <a:schemeClr val="accent2"/>
                </a:solidFill>
              </a:rPr>
              <a:t>sin</a:t>
            </a:r>
            <a:r>
              <a:rPr lang="en-US" altLang="ru-RU" sz="2000" b="1">
                <a:solidFill>
                  <a:schemeClr val="accent2"/>
                </a:solidFill>
              </a:rPr>
              <a:t>ω</a:t>
            </a:r>
            <a:r>
              <a:rPr lang="pl-PL" altLang="ru-RU" sz="2000" b="1">
                <a:solidFill>
                  <a:schemeClr val="accent2"/>
                </a:solidFill>
              </a:rPr>
              <a:t>t</a:t>
            </a:r>
            <a:r>
              <a:rPr lang="ru-RU" altLang="ru-RU" sz="2000" b="1">
                <a:solidFill>
                  <a:schemeClr val="accent2"/>
                </a:solidFill>
              </a:rPr>
              <a:t> </a:t>
            </a:r>
          </a:p>
        </p:txBody>
      </p:sp>
      <p:sp>
        <p:nvSpPr>
          <p:cNvPr id="20485" name="Text Box 7">
            <a:extLst>
              <a:ext uri="{FF2B5EF4-FFF2-40B4-BE49-F238E27FC236}">
                <a16:creationId xmlns:a16="http://schemas.microsoft.com/office/drawing/2014/main" id="{B2F19DD2-1B6B-4200-A32F-5996C3EFD91C}"/>
              </a:ext>
            </a:extLst>
          </p:cNvPr>
          <p:cNvSpPr txBox="1">
            <a:spLocks noChangeArrowheads="1"/>
          </p:cNvSpPr>
          <p:nvPr/>
        </p:nvSpPr>
        <p:spPr bwMode="auto">
          <a:xfrm>
            <a:off x="6672264" y="1557339"/>
            <a:ext cx="21605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de-DE" altLang="ru-RU" sz="2000" b="1">
                <a:solidFill>
                  <a:srgbClr val="FF0000"/>
                </a:solidFill>
              </a:rPr>
              <a:t>I</a:t>
            </a:r>
            <a:r>
              <a:rPr lang="ru-RU" altLang="ru-RU" sz="2000" b="1">
                <a:solidFill>
                  <a:srgbClr val="FF0000"/>
                </a:solidFill>
              </a:rPr>
              <a:t> = </a:t>
            </a:r>
            <a:r>
              <a:rPr lang="de-DE" altLang="ru-RU" sz="2000" b="1">
                <a:solidFill>
                  <a:srgbClr val="FF0000"/>
                </a:solidFill>
              </a:rPr>
              <a:t>I</a:t>
            </a:r>
            <a:r>
              <a:rPr lang="ru-RU" altLang="ru-RU" sz="2000" b="1" baseline="-25000">
                <a:solidFill>
                  <a:srgbClr val="FF0000"/>
                </a:solidFill>
              </a:rPr>
              <a:t>0</a:t>
            </a:r>
            <a:r>
              <a:rPr lang="ru-RU" altLang="ru-RU" sz="2000" b="1">
                <a:solidFill>
                  <a:srgbClr val="FF0000"/>
                </a:solidFill>
              </a:rPr>
              <a:t>·</a:t>
            </a:r>
            <a:r>
              <a:rPr lang="pl-PL" altLang="ru-RU" sz="2000" b="1">
                <a:solidFill>
                  <a:srgbClr val="FF0000"/>
                </a:solidFill>
              </a:rPr>
              <a:t>sin</a:t>
            </a:r>
            <a:r>
              <a:rPr lang="en-US" altLang="ru-RU" sz="2000" b="1">
                <a:solidFill>
                  <a:srgbClr val="FF0000"/>
                </a:solidFill>
              </a:rPr>
              <a:t>ω</a:t>
            </a:r>
            <a:r>
              <a:rPr lang="pl-PL" altLang="ru-RU" sz="2000" b="1">
                <a:solidFill>
                  <a:srgbClr val="FF0000"/>
                </a:solidFill>
              </a:rPr>
              <a:t>t</a:t>
            </a:r>
            <a:r>
              <a:rPr lang="ru-RU" altLang="ru-RU" sz="2000" b="1">
                <a:solidFill>
                  <a:srgbClr val="FF0000"/>
                </a:solidFill>
              </a:rPr>
              <a:t> </a:t>
            </a:r>
          </a:p>
        </p:txBody>
      </p:sp>
      <p:sp>
        <p:nvSpPr>
          <p:cNvPr id="20486" name="Text Box 8">
            <a:extLst>
              <a:ext uri="{FF2B5EF4-FFF2-40B4-BE49-F238E27FC236}">
                <a16:creationId xmlns:a16="http://schemas.microsoft.com/office/drawing/2014/main" id="{A2DBD9F9-4271-4CA9-9A57-CDB6AB4B2600}"/>
              </a:ext>
            </a:extLst>
          </p:cNvPr>
          <p:cNvSpPr txBox="1">
            <a:spLocks noChangeArrowheads="1"/>
          </p:cNvSpPr>
          <p:nvPr/>
        </p:nvSpPr>
        <p:spPr bwMode="auto">
          <a:xfrm>
            <a:off x="4224338" y="2133601"/>
            <a:ext cx="597535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800"/>
              <a:t>В течение малого промежутка времени переменный ток можно рассматривать как ток постоянный, и поэтому мгновенная мощность переменного тока равна: </a:t>
            </a:r>
          </a:p>
        </p:txBody>
      </p:sp>
      <p:sp>
        <p:nvSpPr>
          <p:cNvPr id="20487" name="Text Box 9">
            <a:extLst>
              <a:ext uri="{FF2B5EF4-FFF2-40B4-BE49-F238E27FC236}">
                <a16:creationId xmlns:a16="http://schemas.microsoft.com/office/drawing/2014/main" id="{D22C0248-3F4B-43F9-9DBF-F08AFEC04D3A}"/>
              </a:ext>
            </a:extLst>
          </p:cNvPr>
          <p:cNvSpPr txBox="1">
            <a:spLocks noChangeArrowheads="1"/>
          </p:cNvSpPr>
          <p:nvPr/>
        </p:nvSpPr>
        <p:spPr bwMode="auto">
          <a:xfrm>
            <a:off x="5448300" y="3213101"/>
            <a:ext cx="3455988" cy="466725"/>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ru-RU" sz="2400" b="1">
                <a:solidFill>
                  <a:srgbClr val="FF0000"/>
                </a:solidFill>
              </a:rPr>
              <a:t>P</a:t>
            </a:r>
            <a:r>
              <a:rPr lang="en-US" altLang="ru-RU" sz="2400" b="1" baseline="-25000">
                <a:solidFill>
                  <a:srgbClr val="FF0000"/>
                </a:solidFill>
              </a:rPr>
              <a:t>t</a:t>
            </a:r>
            <a:r>
              <a:rPr lang="ru-RU" altLang="ru-RU" sz="2400" b="1">
                <a:solidFill>
                  <a:srgbClr val="FF0000"/>
                </a:solidFill>
              </a:rPr>
              <a:t> = </a:t>
            </a:r>
            <a:r>
              <a:rPr lang="de-DE" altLang="ru-RU" sz="2400" b="1">
                <a:solidFill>
                  <a:srgbClr val="FF0000"/>
                </a:solidFill>
              </a:rPr>
              <a:t>I</a:t>
            </a:r>
            <a:r>
              <a:rPr lang="ru-RU" altLang="ru-RU" sz="2400" b="1">
                <a:solidFill>
                  <a:srgbClr val="FF0000"/>
                </a:solidFill>
              </a:rPr>
              <a:t>·</a:t>
            </a:r>
            <a:r>
              <a:rPr lang="en-US" altLang="ru-RU" sz="2400" b="1">
                <a:solidFill>
                  <a:srgbClr val="FF0000"/>
                </a:solidFill>
              </a:rPr>
              <a:t>U</a:t>
            </a:r>
            <a:r>
              <a:rPr lang="ru-RU" altLang="ru-RU" sz="2400" b="1">
                <a:solidFill>
                  <a:srgbClr val="FF0000"/>
                </a:solidFill>
              </a:rPr>
              <a:t> = </a:t>
            </a:r>
            <a:r>
              <a:rPr lang="de-DE" altLang="ru-RU" sz="2400" b="1">
                <a:solidFill>
                  <a:srgbClr val="FF0000"/>
                </a:solidFill>
              </a:rPr>
              <a:t>I</a:t>
            </a:r>
            <a:r>
              <a:rPr lang="ru-RU" altLang="ru-RU" sz="2400" b="1" baseline="-25000">
                <a:solidFill>
                  <a:srgbClr val="FF0000"/>
                </a:solidFill>
              </a:rPr>
              <a:t>0</a:t>
            </a:r>
            <a:r>
              <a:rPr lang="ru-RU" altLang="ru-RU" sz="2400" b="1">
                <a:solidFill>
                  <a:srgbClr val="FF0000"/>
                </a:solidFill>
              </a:rPr>
              <a:t>·</a:t>
            </a:r>
            <a:r>
              <a:rPr lang="en-US" altLang="ru-RU" sz="2400" b="1">
                <a:solidFill>
                  <a:srgbClr val="FF0000"/>
                </a:solidFill>
              </a:rPr>
              <a:t>U</a:t>
            </a:r>
            <a:r>
              <a:rPr lang="ru-RU" altLang="ru-RU" sz="2400" b="1" baseline="-25000">
                <a:solidFill>
                  <a:srgbClr val="FF0000"/>
                </a:solidFill>
              </a:rPr>
              <a:t>0</a:t>
            </a:r>
            <a:r>
              <a:rPr lang="ru-RU" altLang="ru-RU" sz="2400" b="1">
                <a:solidFill>
                  <a:srgbClr val="FF0000"/>
                </a:solidFill>
              </a:rPr>
              <a:t>·</a:t>
            </a:r>
            <a:r>
              <a:rPr lang="pl-PL" altLang="ru-RU" sz="2400" b="1">
                <a:solidFill>
                  <a:srgbClr val="FF0000"/>
                </a:solidFill>
              </a:rPr>
              <a:t>sin</a:t>
            </a:r>
            <a:r>
              <a:rPr lang="ru-RU" altLang="ru-RU" sz="2400" b="1" baseline="30000">
                <a:solidFill>
                  <a:srgbClr val="FF0000"/>
                </a:solidFill>
              </a:rPr>
              <a:t>2</a:t>
            </a:r>
            <a:r>
              <a:rPr lang="en-US" altLang="ru-RU" sz="2400" b="1">
                <a:solidFill>
                  <a:srgbClr val="FF0000"/>
                </a:solidFill>
              </a:rPr>
              <a:t>ω</a:t>
            </a:r>
            <a:r>
              <a:rPr lang="pl-PL" altLang="ru-RU" sz="2400" b="1">
                <a:solidFill>
                  <a:srgbClr val="FF0000"/>
                </a:solidFill>
              </a:rPr>
              <a:t>t</a:t>
            </a:r>
            <a:r>
              <a:rPr lang="ru-RU" altLang="ru-RU" sz="2400" b="1">
                <a:solidFill>
                  <a:srgbClr val="FF0000"/>
                </a:solidFill>
              </a:rPr>
              <a:t> </a:t>
            </a:r>
          </a:p>
        </p:txBody>
      </p:sp>
      <p:sp>
        <p:nvSpPr>
          <p:cNvPr id="20488" name="Text Box 10">
            <a:extLst>
              <a:ext uri="{FF2B5EF4-FFF2-40B4-BE49-F238E27FC236}">
                <a16:creationId xmlns:a16="http://schemas.microsoft.com/office/drawing/2014/main" id="{E40B4025-B1F1-4D50-9CDC-80EC5028EDC1}"/>
              </a:ext>
            </a:extLst>
          </p:cNvPr>
          <p:cNvSpPr txBox="1">
            <a:spLocks noChangeArrowheads="1"/>
          </p:cNvSpPr>
          <p:nvPr/>
        </p:nvSpPr>
        <p:spPr bwMode="auto">
          <a:xfrm>
            <a:off x="1774825" y="4005264"/>
            <a:ext cx="8642350"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800" dirty="0"/>
              <a:t>Обычно нужно знать не мгновенное значение мощности, а ее среднее значение за большой период времени. Для этого достаточно усреднить значение мощности за один период. </a:t>
            </a:r>
          </a:p>
        </p:txBody>
      </p:sp>
      <p:sp>
        <p:nvSpPr>
          <p:cNvPr id="20489" name="Text Box 11">
            <a:extLst>
              <a:ext uri="{FF2B5EF4-FFF2-40B4-BE49-F238E27FC236}">
                <a16:creationId xmlns:a16="http://schemas.microsoft.com/office/drawing/2014/main" id="{6A131FC7-6BE6-4838-92C3-CDD95E719203}"/>
              </a:ext>
            </a:extLst>
          </p:cNvPr>
          <p:cNvSpPr txBox="1">
            <a:spLocks noChangeArrowheads="1"/>
          </p:cNvSpPr>
          <p:nvPr/>
        </p:nvSpPr>
        <p:spPr bwMode="auto">
          <a:xfrm>
            <a:off x="1520825" y="5300663"/>
            <a:ext cx="2305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800"/>
              <a:t>За малое время </a:t>
            </a:r>
            <a:r>
              <a:rPr lang="en-US" altLang="ru-RU" sz="1800"/>
              <a:t>d</a:t>
            </a:r>
            <a:r>
              <a:rPr lang="en-US" altLang="ru-RU" sz="1800" i="1"/>
              <a:t>t</a:t>
            </a:r>
            <a:r>
              <a:rPr lang="ru-RU" altLang="ru-RU" sz="1800" i="1"/>
              <a:t>: </a:t>
            </a:r>
            <a:r>
              <a:rPr lang="en-US" altLang="ru-RU" sz="1800"/>
              <a:t> </a:t>
            </a:r>
            <a:endParaRPr lang="ru-RU" altLang="ru-RU" sz="1800"/>
          </a:p>
        </p:txBody>
      </p:sp>
      <p:sp>
        <p:nvSpPr>
          <p:cNvPr id="20490" name="Text Box 12">
            <a:extLst>
              <a:ext uri="{FF2B5EF4-FFF2-40B4-BE49-F238E27FC236}">
                <a16:creationId xmlns:a16="http://schemas.microsoft.com/office/drawing/2014/main" id="{F8E65FC6-E355-4B97-A0A5-45ABE1E9EF14}"/>
              </a:ext>
            </a:extLst>
          </p:cNvPr>
          <p:cNvSpPr txBox="1">
            <a:spLocks noChangeArrowheads="1"/>
          </p:cNvSpPr>
          <p:nvPr/>
        </p:nvSpPr>
        <p:spPr bwMode="auto">
          <a:xfrm>
            <a:off x="4872039" y="5013326"/>
            <a:ext cx="30241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ru-RU" sz="1800"/>
              <a:t>P</a:t>
            </a:r>
            <a:r>
              <a:rPr lang="en-US" altLang="ru-RU" sz="1800" baseline="-25000"/>
              <a:t>t</a:t>
            </a:r>
            <a:r>
              <a:rPr lang="en-US" altLang="ru-RU" sz="1800"/>
              <a:t>dt</a:t>
            </a:r>
            <a:r>
              <a:rPr lang="ru-RU" altLang="ru-RU" sz="1800"/>
              <a:t> = </a:t>
            </a:r>
            <a:r>
              <a:rPr lang="de-DE" altLang="ru-RU" sz="1800"/>
              <a:t>I</a:t>
            </a:r>
            <a:r>
              <a:rPr lang="ru-RU" altLang="ru-RU" sz="1800" baseline="-25000"/>
              <a:t>0</a:t>
            </a:r>
            <a:r>
              <a:rPr lang="ru-RU" altLang="ru-RU" sz="1800"/>
              <a:t>·</a:t>
            </a:r>
            <a:r>
              <a:rPr lang="en-US" altLang="ru-RU" sz="1800"/>
              <a:t>U</a:t>
            </a:r>
            <a:r>
              <a:rPr lang="ru-RU" altLang="ru-RU" sz="1800" baseline="-25000"/>
              <a:t>0</a:t>
            </a:r>
            <a:r>
              <a:rPr lang="ru-RU" altLang="ru-RU" sz="1800"/>
              <a:t>·</a:t>
            </a:r>
            <a:r>
              <a:rPr lang="pl-PL" altLang="ru-RU" sz="1800"/>
              <a:t>sin</a:t>
            </a:r>
            <a:r>
              <a:rPr lang="ru-RU" altLang="ru-RU" sz="1800" baseline="30000"/>
              <a:t>2</a:t>
            </a:r>
            <a:r>
              <a:rPr lang="en-US" altLang="ru-RU" sz="1800"/>
              <a:t>ω</a:t>
            </a:r>
            <a:r>
              <a:rPr lang="pl-PL" altLang="ru-RU" sz="1800"/>
              <a:t>t</a:t>
            </a:r>
            <a:r>
              <a:rPr lang="ru-RU" altLang="ru-RU" sz="1800"/>
              <a:t>·</a:t>
            </a:r>
            <a:r>
              <a:rPr lang="en-US" altLang="ru-RU" sz="1800"/>
              <a:t>dt</a:t>
            </a:r>
            <a:r>
              <a:rPr lang="ru-RU" altLang="ru-RU" sz="1800"/>
              <a:t> </a:t>
            </a:r>
          </a:p>
        </p:txBody>
      </p:sp>
      <p:sp>
        <p:nvSpPr>
          <p:cNvPr id="20491" name="Text Box 13">
            <a:extLst>
              <a:ext uri="{FF2B5EF4-FFF2-40B4-BE49-F238E27FC236}">
                <a16:creationId xmlns:a16="http://schemas.microsoft.com/office/drawing/2014/main" id="{2D187581-9A4A-4B52-A2C7-4461335908EB}"/>
              </a:ext>
            </a:extLst>
          </p:cNvPr>
          <p:cNvSpPr txBox="1">
            <a:spLocks noChangeArrowheads="1"/>
          </p:cNvSpPr>
          <p:nvPr/>
        </p:nvSpPr>
        <p:spPr bwMode="auto">
          <a:xfrm>
            <a:off x="1512887" y="5805488"/>
            <a:ext cx="25923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800"/>
              <a:t>за время полного периода колебаний Т </a:t>
            </a:r>
          </a:p>
        </p:txBody>
      </p:sp>
      <p:sp>
        <p:nvSpPr>
          <p:cNvPr id="20492" name="Text Box 14">
            <a:extLst>
              <a:ext uri="{FF2B5EF4-FFF2-40B4-BE49-F238E27FC236}">
                <a16:creationId xmlns:a16="http://schemas.microsoft.com/office/drawing/2014/main" id="{FB224B88-D51A-4D8C-A9E5-24523F8A6E67}"/>
              </a:ext>
            </a:extLst>
          </p:cNvPr>
          <p:cNvSpPr txBox="1">
            <a:spLocks noChangeArrowheads="1"/>
          </p:cNvSpPr>
          <p:nvPr/>
        </p:nvSpPr>
        <p:spPr bwMode="auto">
          <a:xfrm>
            <a:off x="3935413" y="5445125"/>
            <a:ext cx="12239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800"/>
              <a:t>А</a:t>
            </a:r>
            <a:r>
              <a:rPr lang="ru-RU" altLang="ru-RU" sz="1800" baseline="-25000"/>
              <a:t>т</a:t>
            </a:r>
            <a:r>
              <a:rPr lang="ru-RU" altLang="ru-RU" sz="1800"/>
              <a:t> = </a:t>
            </a:r>
            <a:r>
              <a:rPr lang="de-DE" altLang="ru-RU" sz="1800"/>
              <a:t>I</a:t>
            </a:r>
            <a:r>
              <a:rPr lang="ru-RU" altLang="ru-RU" sz="1800" baseline="-25000"/>
              <a:t>0</a:t>
            </a:r>
            <a:r>
              <a:rPr lang="ru-RU" altLang="ru-RU" sz="1800"/>
              <a:t>·</a:t>
            </a:r>
            <a:r>
              <a:rPr lang="en-US" altLang="ru-RU" sz="1800"/>
              <a:t>U</a:t>
            </a:r>
            <a:r>
              <a:rPr lang="ru-RU" altLang="ru-RU" sz="1800" baseline="-25000"/>
              <a:t>0</a:t>
            </a:r>
            <a:r>
              <a:rPr lang="ru-RU" altLang="ru-RU" sz="1800"/>
              <a:t> </a:t>
            </a:r>
          </a:p>
        </p:txBody>
      </p:sp>
      <p:sp>
        <p:nvSpPr>
          <p:cNvPr id="20493" name="Text Box 15">
            <a:extLst>
              <a:ext uri="{FF2B5EF4-FFF2-40B4-BE49-F238E27FC236}">
                <a16:creationId xmlns:a16="http://schemas.microsoft.com/office/drawing/2014/main" id="{1C8164CF-122D-429B-BF4B-45077BB0B0F7}"/>
              </a:ext>
            </a:extLst>
          </p:cNvPr>
          <p:cNvSpPr txBox="1">
            <a:spLocks noChangeArrowheads="1"/>
          </p:cNvSpPr>
          <p:nvPr/>
        </p:nvSpPr>
        <p:spPr bwMode="auto">
          <a:xfrm>
            <a:off x="1847850" y="4868863"/>
            <a:ext cx="36718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800" i="1" u="sng"/>
              <a:t>Работа переменного тока </a:t>
            </a:r>
          </a:p>
        </p:txBody>
      </p:sp>
      <p:sp>
        <p:nvSpPr>
          <p:cNvPr id="20494" name="Rectangle 17">
            <a:extLst>
              <a:ext uri="{FF2B5EF4-FFF2-40B4-BE49-F238E27FC236}">
                <a16:creationId xmlns:a16="http://schemas.microsoft.com/office/drawing/2014/main" id="{CA0873BD-492B-43F5-8767-39F186ABE497}"/>
              </a:ext>
            </a:extLst>
          </p:cNvPr>
          <p:cNvSpPr>
            <a:spLocks noChangeArrowheads="1"/>
          </p:cNvSpPr>
          <p:nvPr/>
        </p:nvSpPr>
        <p:spPr bwMode="auto">
          <a:xfrm>
            <a:off x="1524001" y="3001447"/>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ru-RU" altLang="ru-RU" sz="1800"/>
          </a:p>
        </p:txBody>
      </p:sp>
      <p:graphicFrame>
        <p:nvGraphicFramePr>
          <p:cNvPr id="20495" name="Object 16">
            <a:extLst>
              <a:ext uri="{FF2B5EF4-FFF2-40B4-BE49-F238E27FC236}">
                <a16:creationId xmlns:a16="http://schemas.microsoft.com/office/drawing/2014/main" id="{36D6471F-4B54-4118-84FF-B014B40BA555}"/>
              </a:ext>
            </a:extLst>
          </p:cNvPr>
          <p:cNvGraphicFramePr>
            <a:graphicFrameLocks noChangeAspect="1"/>
          </p:cNvGraphicFramePr>
          <p:nvPr/>
        </p:nvGraphicFramePr>
        <p:xfrm>
          <a:off x="3854450" y="5876925"/>
          <a:ext cx="6813550" cy="757238"/>
        </p:xfrm>
        <a:graphic>
          <a:graphicData uri="http://schemas.openxmlformats.org/presentationml/2006/ole">
            <mc:AlternateContent xmlns:mc="http://schemas.openxmlformats.org/markup-compatibility/2006">
              <mc:Choice xmlns:v="urn:schemas-microsoft-com:vml" Requires="v">
                <p:oleObj name="Формула" r:id="rId3" imgW="4381500" imgH="482600" progId="Equation.3">
                  <p:embed/>
                </p:oleObj>
              </mc:Choice>
              <mc:Fallback>
                <p:oleObj name="Формула" r:id="rId3" imgW="4381500" imgH="482600" progId="Equation.3">
                  <p:embed/>
                  <p:pic>
                    <p:nvPicPr>
                      <p:cNvPr id="20495" name="Object 16">
                        <a:extLst>
                          <a:ext uri="{FF2B5EF4-FFF2-40B4-BE49-F238E27FC236}">
                            <a16:creationId xmlns:a16="http://schemas.microsoft.com/office/drawing/2014/main" id="{36D6471F-4B54-4118-84FF-B014B40BA5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4450" y="5876925"/>
                        <a:ext cx="6813550" cy="75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496" name="AutoShape 19">
            <a:extLst>
              <a:ext uri="{FF2B5EF4-FFF2-40B4-BE49-F238E27FC236}">
                <a16:creationId xmlns:a16="http://schemas.microsoft.com/office/drawing/2014/main" id="{337C8A9C-577E-4053-8319-8FE94EC3A9EF}"/>
              </a:ext>
            </a:extLst>
          </p:cNvPr>
          <p:cNvSpPr>
            <a:spLocks noChangeArrowheads="1"/>
          </p:cNvSpPr>
          <p:nvPr/>
        </p:nvSpPr>
        <p:spPr bwMode="auto">
          <a:xfrm>
            <a:off x="7608888" y="5013326"/>
            <a:ext cx="2735262" cy="360363"/>
          </a:xfrm>
          <a:prstGeom prst="wedgeRoundRectCallout">
            <a:avLst>
              <a:gd name="adj1" fmla="val -74259"/>
              <a:gd name="adj2" fmla="val 209912"/>
              <a:gd name="adj3" fmla="val 16667"/>
            </a:avLst>
          </a:prstGeom>
          <a:solidFill>
            <a:schemeClr val="accent1"/>
          </a:solidFill>
          <a:ln w="9525">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endParaRPr lang="ru-RU" altLang="ru-RU" sz="1800"/>
          </a:p>
        </p:txBody>
      </p:sp>
      <p:graphicFrame>
        <p:nvGraphicFramePr>
          <p:cNvPr id="20497" name="Object 20">
            <a:extLst>
              <a:ext uri="{FF2B5EF4-FFF2-40B4-BE49-F238E27FC236}">
                <a16:creationId xmlns:a16="http://schemas.microsoft.com/office/drawing/2014/main" id="{048BA922-7943-4C98-97D7-5D2C2C6C8D2C}"/>
              </a:ext>
            </a:extLst>
          </p:cNvPr>
          <p:cNvGraphicFramePr>
            <a:graphicFrameLocks noChangeAspect="1"/>
          </p:cNvGraphicFramePr>
          <p:nvPr>
            <p:extLst>
              <p:ext uri="{D42A27DB-BD31-4B8C-83A1-F6EECF244321}">
                <p14:modId xmlns:p14="http://schemas.microsoft.com/office/powerpoint/2010/main" val="2730440246"/>
              </p:ext>
            </p:extLst>
          </p:nvPr>
        </p:nvGraphicFramePr>
        <p:xfrm>
          <a:off x="8112125" y="5084763"/>
          <a:ext cx="1943100" cy="317500"/>
        </p:xfrm>
        <a:graphic>
          <a:graphicData uri="http://schemas.openxmlformats.org/presentationml/2006/ole">
            <mc:AlternateContent xmlns:mc="http://schemas.openxmlformats.org/markup-compatibility/2006">
              <mc:Choice xmlns:v="urn:schemas-microsoft-com:vml" Requires="v">
                <p:oleObj name="Equation" r:id="rId5" imgW="1244600" imgH="203200" progId="Equation.DSMT4">
                  <p:embed/>
                </p:oleObj>
              </mc:Choice>
              <mc:Fallback>
                <p:oleObj name="Equation" r:id="rId5" imgW="1244600" imgH="203200" progId="Equation.DSMT4">
                  <p:embed/>
                  <p:pic>
                    <p:nvPicPr>
                      <p:cNvPr id="20497" name="Object 20">
                        <a:extLst>
                          <a:ext uri="{FF2B5EF4-FFF2-40B4-BE49-F238E27FC236}">
                            <a16:creationId xmlns:a16="http://schemas.microsoft.com/office/drawing/2014/main" id="{048BA922-7943-4C98-97D7-5D2C2C6C8D2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12125" y="5084763"/>
                        <a:ext cx="1943100"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 name="Прямоугольник 17">
            <a:extLst>
              <a:ext uri="{FF2B5EF4-FFF2-40B4-BE49-F238E27FC236}">
                <a16:creationId xmlns:a16="http://schemas.microsoft.com/office/drawing/2014/main" id="{B38F899B-74EA-4FCF-A88C-F625DAD24B5D}"/>
              </a:ext>
            </a:extLst>
          </p:cNvPr>
          <p:cNvSpPr/>
          <p:nvPr/>
        </p:nvSpPr>
        <p:spPr>
          <a:xfrm>
            <a:off x="1291399" y="94079"/>
            <a:ext cx="1479892" cy="369332"/>
          </a:xfrm>
          <a:prstGeom prst="rect">
            <a:avLst/>
          </a:prstGeom>
        </p:spPr>
        <p:txBody>
          <a:bodyPr wrap="none">
            <a:spAutoFit/>
          </a:bodyPr>
          <a:lstStyle/>
          <a:p>
            <a:pPr>
              <a:defRPr/>
            </a:pPr>
            <a:r>
              <a:rPr lang="ru-RU" dirty="0">
                <a:solidFill>
                  <a:schemeClr val="bg1"/>
                </a:solidFill>
              </a:rPr>
              <a:t>Кафедра ТЭЦ</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4">
            <a:extLst>
              <a:ext uri="{FF2B5EF4-FFF2-40B4-BE49-F238E27FC236}">
                <a16:creationId xmlns:a16="http://schemas.microsoft.com/office/drawing/2014/main" id="{A32D5517-6F14-414A-94AE-7D7F51B753A6}"/>
              </a:ext>
            </a:extLst>
          </p:cNvPr>
          <p:cNvSpPr txBox="1">
            <a:spLocks noChangeArrowheads="1"/>
          </p:cNvSpPr>
          <p:nvPr/>
        </p:nvSpPr>
        <p:spPr bwMode="auto">
          <a:xfrm>
            <a:off x="3359150" y="500857"/>
            <a:ext cx="59055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800" dirty="0"/>
              <a:t>Тогда для средней мощности за период получаем: </a:t>
            </a:r>
          </a:p>
        </p:txBody>
      </p:sp>
      <p:sp>
        <p:nvSpPr>
          <p:cNvPr id="21507" name="Text Box 5">
            <a:extLst>
              <a:ext uri="{FF2B5EF4-FFF2-40B4-BE49-F238E27FC236}">
                <a16:creationId xmlns:a16="http://schemas.microsoft.com/office/drawing/2014/main" id="{D4E2AC38-1EEF-45F7-9915-EC0474071BAC}"/>
              </a:ext>
            </a:extLst>
          </p:cNvPr>
          <p:cNvSpPr txBox="1">
            <a:spLocks noChangeArrowheads="1"/>
          </p:cNvSpPr>
          <p:nvPr/>
        </p:nvSpPr>
        <p:spPr bwMode="auto">
          <a:xfrm>
            <a:off x="4440239" y="765176"/>
            <a:ext cx="21605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ru-RU" sz="1800"/>
              <a:t>P</a:t>
            </a:r>
            <a:r>
              <a:rPr lang="ru-RU" altLang="ru-RU" sz="1800"/>
              <a:t> = А</a:t>
            </a:r>
            <a:r>
              <a:rPr lang="ru-RU" altLang="ru-RU" sz="1800" baseline="-25000"/>
              <a:t>т</a:t>
            </a:r>
            <a:r>
              <a:rPr lang="ru-RU" altLang="ru-RU" sz="1800"/>
              <a:t>/Т = </a:t>
            </a:r>
            <a:r>
              <a:rPr lang="de-DE" altLang="ru-RU" sz="1800"/>
              <a:t>I</a:t>
            </a:r>
            <a:r>
              <a:rPr lang="ru-RU" altLang="ru-RU" sz="1800" baseline="-25000"/>
              <a:t>0</a:t>
            </a:r>
            <a:r>
              <a:rPr lang="ru-RU" altLang="ru-RU" sz="1800"/>
              <a:t>·</a:t>
            </a:r>
            <a:r>
              <a:rPr lang="en-US" altLang="ru-RU" sz="1800"/>
              <a:t>U</a:t>
            </a:r>
            <a:r>
              <a:rPr lang="ru-RU" altLang="ru-RU" sz="1800" baseline="-25000"/>
              <a:t>0</a:t>
            </a:r>
            <a:r>
              <a:rPr lang="ru-RU" altLang="ru-RU" sz="1800"/>
              <a:t>/2. </a:t>
            </a:r>
          </a:p>
        </p:txBody>
      </p:sp>
      <p:sp>
        <p:nvSpPr>
          <p:cNvPr id="21508" name="Text Box 6">
            <a:extLst>
              <a:ext uri="{FF2B5EF4-FFF2-40B4-BE49-F238E27FC236}">
                <a16:creationId xmlns:a16="http://schemas.microsoft.com/office/drawing/2014/main" id="{B0B2E310-ACCC-4F8A-8B8F-663217CA0745}"/>
              </a:ext>
            </a:extLst>
          </p:cNvPr>
          <p:cNvSpPr txBox="1">
            <a:spLocks noChangeArrowheads="1"/>
          </p:cNvSpPr>
          <p:nvPr/>
        </p:nvSpPr>
        <p:spPr bwMode="auto">
          <a:xfrm>
            <a:off x="1992313" y="1341438"/>
            <a:ext cx="1295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pl-PL" altLang="ru-RU" sz="1800"/>
              <a:t>U</a:t>
            </a:r>
            <a:r>
              <a:rPr lang="ru-RU" altLang="ru-RU" sz="1800" baseline="-25000"/>
              <a:t>0</a:t>
            </a:r>
            <a:r>
              <a:rPr lang="ru-RU" altLang="ru-RU" sz="1800"/>
              <a:t> = </a:t>
            </a:r>
            <a:r>
              <a:rPr lang="pl-PL" altLang="ru-RU" sz="1800"/>
              <a:t>I</a:t>
            </a:r>
            <a:r>
              <a:rPr lang="ru-RU" altLang="ru-RU" sz="1800" baseline="-25000"/>
              <a:t>0</a:t>
            </a:r>
            <a:r>
              <a:rPr lang="ru-RU" altLang="ru-RU" sz="1800"/>
              <a:t>·</a:t>
            </a:r>
            <a:r>
              <a:rPr lang="pl-PL" altLang="ru-RU" sz="1800"/>
              <a:t>R</a:t>
            </a:r>
            <a:r>
              <a:rPr lang="ru-RU" altLang="ru-RU" sz="1800"/>
              <a:t> </a:t>
            </a:r>
          </a:p>
        </p:txBody>
      </p:sp>
      <p:sp>
        <p:nvSpPr>
          <p:cNvPr id="21509" name="AutoShape 7">
            <a:extLst>
              <a:ext uri="{FF2B5EF4-FFF2-40B4-BE49-F238E27FC236}">
                <a16:creationId xmlns:a16="http://schemas.microsoft.com/office/drawing/2014/main" id="{55E60F94-AD96-4C9A-A492-BE53FA40E47A}"/>
              </a:ext>
            </a:extLst>
          </p:cNvPr>
          <p:cNvSpPr>
            <a:spLocks noChangeArrowheads="1"/>
          </p:cNvSpPr>
          <p:nvPr/>
        </p:nvSpPr>
        <p:spPr bwMode="auto">
          <a:xfrm>
            <a:off x="3287714" y="1484313"/>
            <a:ext cx="1152525" cy="144462"/>
          </a:xfrm>
          <a:prstGeom prst="rightArrow">
            <a:avLst>
              <a:gd name="adj1" fmla="val 50000"/>
              <a:gd name="adj2" fmla="val 199451"/>
            </a:avLst>
          </a:prstGeom>
          <a:solidFill>
            <a:srgbClr val="FF0000"/>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ru-RU" altLang="ru-RU" sz="1800"/>
          </a:p>
        </p:txBody>
      </p:sp>
      <p:graphicFrame>
        <p:nvGraphicFramePr>
          <p:cNvPr id="21510" name="Object 9">
            <a:extLst>
              <a:ext uri="{FF2B5EF4-FFF2-40B4-BE49-F238E27FC236}">
                <a16:creationId xmlns:a16="http://schemas.microsoft.com/office/drawing/2014/main" id="{AFD8BD72-D4B8-4BAE-875A-E0FA57AF5E1D}"/>
              </a:ext>
            </a:extLst>
          </p:cNvPr>
          <p:cNvGraphicFramePr>
            <a:graphicFrameLocks noChangeAspect="1"/>
          </p:cNvGraphicFramePr>
          <p:nvPr/>
        </p:nvGraphicFramePr>
        <p:xfrm>
          <a:off x="4656139" y="1268414"/>
          <a:ext cx="3527425" cy="784225"/>
        </p:xfrm>
        <a:graphic>
          <a:graphicData uri="http://schemas.openxmlformats.org/presentationml/2006/ole">
            <mc:AlternateContent xmlns:mc="http://schemas.openxmlformats.org/markup-compatibility/2006">
              <mc:Choice xmlns:v="urn:schemas-microsoft-com:vml" Requires="v">
                <p:oleObj name="Формула" r:id="rId2" imgW="1943100" imgH="431800" progId="Equation.3">
                  <p:embed/>
                </p:oleObj>
              </mc:Choice>
              <mc:Fallback>
                <p:oleObj name="Формула" r:id="rId2" imgW="1943100" imgH="431800" progId="Equation.3">
                  <p:embed/>
                  <p:pic>
                    <p:nvPicPr>
                      <p:cNvPr id="21510" name="Object 9">
                        <a:extLst>
                          <a:ext uri="{FF2B5EF4-FFF2-40B4-BE49-F238E27FC236}">
                            <a16:creationId xmlns:a16="http://schemas.microsoft.com/office/drawing/2014/main" id="{AFD8BD72-D4B8-4BAE-875A-E0FA57AF5E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6139" y="1268414"/>
                        <a:ext cx="3527425" cy="784225"/>
                      </a:xfrm>
                      <a:prstGeom prst="rect">
                        <a:avLst/>
                      </a:prstGeom>
                      <a:noFill/>
                      <a:ln w="57150" cmpd="thinThick">
                        <a:solidFill>
                          <a:srgbClr val="80008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11" name="Text Box 10">
            <a:extLst>
              <a:ext uri="{FF2B5EF4-FFF2-40B4-BE49-F238E27FC236}">
                <a16:creationId xmlns:a16="http://schemas.microsoft.com/office/drawing/2014/main" id="{019F5730-93B6-412D-9EA0-87DBE23CCED0}"/>
              </a:ext>
            </a:extLst>
          </p:cNvPr>
          <p:cNvSpPr txBox="1">
            <a:spLocks noChangeArrowheads="1"/>
          </p:cNvSpPr>
          <p:nvPr/>
        </p:nvSpPr>
        <p:spPr bwMode="auto">
          <a:xfrm>
            <a:off x="1703388" y="2133601"/>
            <a:ext cx="85328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800"/>
              <a:t>т.е. это в 2 раза меньше, чем мощность, выделяющаяся на  постоянном токе </a:t>
            </a:r>
          </a:p>
        </p:txBody>
      </p:sp>
      <p:sp>
        <p:nvSpPr>
          <p:cNvPr id="5131" name="Text Box 11">
            <a:extLst>
              <a:ext uri="{FF2B5EF4-FFF2-40B4-BE49-F238E27FC236}">
                <a16:creationId xmlns:a16="http://schemas.microsoft.com/office/drawing/2014/main" id="{044FAF1C-2AA6-404B-9BED-1B8462545101}"/>
              </a:ext>
            </a:extLst>
          </p:cNvPr>
          <p:cNvSpPr txBox="1">
            <a:spLocks noChangeArrowheads="1"/>
          </p:cNvSpPr>
          <p:nvPr/>
        </p:nvSpPr>
        <p:spPr bwMode="auto">
          <a:xfrm>
            <a:off x="1919289" y="2924175"/>
            <a:ext cx="8353425" cy="915988"/>
          </a:xfrm>
          <a:prstGeom prst="rect">
            <a:avLst/>
          </a:prstGeom>
          <a:noFill/>
          <a:ln w="9525">
            <a:noFill/>
            <a:miter lim="800000"/>
            <a:headEnd/>
            <a:tailEnd/>
          </a:ln>
          <a:effectLst/>
        </p:spPr>
        <p:txBody>
          <a:bodyPr>
            <a:spAutoFit/>
          </a:bodyPr>
          <a:lstStyle/>
          <a:p>
            <a:pPr eaLnBrk="1" hangingPunct="1">
              <a:spcBef>
                <a:spcPct val="50000"/>
              </a:spcBef>
              <a:defRPr/>
            </a:pPr>
            <a:r>
              <a:rPr lang="ru-RU">
                <a:latin typeface="Arial" charset="0"/>
                <a:cs typeface="Arial" charset="0"/>
              </a:rPr>
              <a:t>Обозначим через </a:t>
            </a:r>
            <a:r>
              <a:rPr lang="pl-PL" b="1">
                <a:solidFill>
                  <a:srgbClr val="FF0000"/>
                </a:solidFill>
                <a:effectLst>
                  <a:outerShdw blurRad="38100" dist="38100" dir="2700000" algn="tl">
                    <a:srgbClr val="C0C0C0"/>
                  </a:outerShdw>
                </a:effectLst>
                <a:latin typeface="Arial" charset="0"/>
                <a:cs typeface="Arial" charset="0"/>
              </a:rPr>
              <a:t>I</a:t>
            </a:r>
            <a:r>
              <a:rPr lang="ru-RU" b="1" baseline="-25000">
                <a:solidFill>
                  <a:srgbClr val="FF0000"/>
                </a:solidFill>
                <a:effectLst>
                  <a:outerShdw blurRad="38100" dist="38100" dir="2700000" algn="tl">
                    <a:srgbClr val="C0C0C0"/>
                  </a:outerShdw>
                </a:effectLst>
                <a:latin typeface="Arial" charset="0"/>
                <a:cs typeface="Arial" charset="0"/>
              </a:rPr>
              <a:t>Э</a:t>
            </a:r>
            <a:r>
              <a:rPr lang="ru-RU" b="1">
                <a:solidFill>
                  <a:srgbClr val="FF0000"/>
                </a:solidFill>
                <a:effectLst>
                  <a:outerShdw blurRad="38100" dist="38100" dir="2700000" algn="tl">
                    <a:srgbClr val="C0C0C0"/>
                  </a:outerShdw>
                </a:effectLst>
                <a:latin typeface="Arial" charset="0"/>
                <a:cs typeface="Arial" charset="0"/>
              </a:rPr>
              <a:t>·</a:t>
            </a:r>
            <a:r>
              <a:rPr lang="ru-RU">
                <a:latin typeface="Arial" charset="0"/>
                <a:cs typeface="Arial" charset="0"/>
              </a:rPr>
              <a:t>и</a:t>
            </a:r>
            <a:r>
              <a:rPr lang="ru-RU" b="1">
                <a:solidFill>
                  <a:srgbClr val="FF0000"/>
                </a:solidFill>
                <a:effectLst>
                  <a:outerShdw blurRad="38100" dist="38100" dir="2700000" algn="tl">
                    <a:srgbClr val="C0C0C0"/>
                  </a:outerShdw>
                </a:effectLst>
                <a:latin typeface="Arial" charset="0"/>
                <a:cs typeface="Arial" charset="0"/>
              </a:rPr>
              <a:t> </a:t>
            </a:r>
            <a:r>
              <a:rPr lang="pl-PL" b="1">
                <a:solidFill>
                  <a:srgbClr val="FF0000"/>
                </a:solidFill>
                <a:effectLst>
                  <a:outerShdw blurRad="38100" dist="38100" dir="2700000" algn="tl">
                    <a:srgbClr val="C0C0C0"/>
                  </a:outerShdw>
                </a:effectLst>
                <a:latin typeface="Arial" charset="0"/>
                <a:cs typeface="Arial" charset="0"/>
              </a:rPr>
              <a:t>U</a:t>
            </a:r>
            <a:r>
              <a:rPr lang="ru-RU" b="1" baseline="-25000">
                <a:solidFill>
                  <a:srgbClr val="FF0000"/>
                </a:solidFill>
                <a:effectLst>
                  <a:outerShdw blurRad="38100" dist="38100" dir="2700000" algn="tl">
                    <a:srgbClr val="C0C0C0"/>
                  </a:outerShdw>
                </a:effectLst>
                <a:latin typeface="Arial" charset="0"/>
                <a:cs typeface="Arial" charset="0"/>
              </a:rPr>
              <a:t>Э</a:t>
            </a:r>
            <a:r>
              <a:rPr lang="ru-RU">
                <a:latin typeface="Arial" charset="0"/>
                <a:cs typeface="Arial" charset="0"/>
              </a:rPr>
              <a:t> силу и напряжение постоянного тока, который выделяет в сопротивление </a:t>
            </a:r>
            <a:r>
              <a:rPr lang="pl-PL">
                <a:latin typeface="Arial" charset="0"/>
                <a:cs typeface="Arial" charset="0"/>
              </a:rPr>
              <a:t>R</a:t>
            </a:r>
            <a:r>
              <a:rPr lang="ru-RU">
                <a:latin typeface="Arial" charset="0"/>
                <a:cs typeface="Arial" charset="0"/>
              </a:rPr>
              <a:t> такое же количество тепла, что и данный переменный ток. </a:t>
            </a:r>
          </a:p>
        </p:txBody>
      </p:sp>
      <p:sp>
        <p:nvSpPr>
          <p:cNvPr id="21513" name="Text Box 12">
            <a:extLst>
              <a:ext uri="{FF2B5EF4-FFF2-40B4-BE49-F238E27FC236}">
                <a16:creationId xmlns:a16="http://schemas.microsoft.com/office/drawing/2014/main" id="{B3D5BA60-B69D-4575-B791-A3CE7D791CD0}"/>
              </a:ext>
            </a:extLst>
          </p:cNvPr>
          <p:cNvSpPr txBox="1">
            <a:spLocks noChangeArrowheads="1"/>
          </p:cNvSpPr>
          <p:nvPr/>
        </p:nvSpPr>
        <p:spPr bwMode="auto">
          <a:xfrm>
            <a:off x="4727575" y="3789363"/>
            <a:ext cx="3168650" cy="400110"/>
          </a:xfrm>
          <a:prstGeom prst="rect">
            <a:avLst/>
          </a:prstGeom>
          <a:noFill/>
          <a:ln w="57150" cmpd="thinThick">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2000" b="1">
                <a:solidFill>
                  <a:schemeClr val="accent2"/>
                </a:solidFill>
              </a:rPr>
              <a:t>Р = </a:t>
            </a:r>
            <a:r>
              <a:rPr lang="pl-PL" altLang="ru-RU" sz="2000" b="1">
                <a:solidFill>
                  <a:schemeClr val="accent2"/>
                </a:solidFill>
              </a:rPr>
              <a:t>I</a:t>
            </a:r>
            <a:r>
              <a:rPr lang="ru-RU" altLang="ru-RU" sz="2000" b="1" baseline="-25000">
                <a:solidFill>
                  <a:schemeClr val="accent2"/>
                </a:solidFill>
              </a:rPr>
              <a:t>Э</a:t>
            </a:r>
            <a:r>
              <a:rPr lang="ru-RU" altLang="ru-RU" sz="2000" b="1">
                <a:solidFill>
                  <a:schemeClr val="accent2"/>
                </a:solidFill>
              </a:rPr>
              <a:t>·</a:t>
            </a:r>
            <a:r>
              <a:rPr lang="pl-PL" altLang="ru-RU" sz="2000" b="1">
                <a:solidFill>
                  <a:schemeClr val="accent2"/>
                </a:solidFill>
              </a:rPr>
              <a:t>U</a:t>
            </a:r>
            <a:r>
              <a:rPr lang="ru-RU" altLang="ru-RU" sz="2000" b="1" baseline="-25000">
                <a:solidFill>
                  <a:schemeClr val="accent2"/>
                </a:solidFill>
              </a:rPr>
              <a:t>Э</a:t>
            </a:r>
            <a:r>
              <a:rPr lang="ru-RU" altLang="ru-RU" sz="2000" b="1">
                <a:solidFill>
                  <a:schemeClr val="accent2"/>
                </a:solidFill>
              </a:rPr>
              <a:t> = </a:t>
            </a:r>
            <a:r>
              <a:rPr lang="pl-PL" altLang="ru-RU" sz="2000" b="1">
                <a:solidFill>
                  <a:schemeClr val="accent2"/>
                </a:solidFill>
              </a:rPr>
              <a:t>R</a:t>
            </a:r>
            <a:r>
              <a:rPr lang="ru-RU" altLang="ru-RU" sz="2000" b="1">
                <a:solidFill>
                  <a:schemeClr val="accent2"/>
                </a:solidFill>
              </a:rPr>
              <a:t>·</a:t>
            </a:r>
            <a:r>
              <a:rPr lang="pl-PL" altLang="ru-RU" sz="2000" b="1">
                <a:solidFill>
                  <a:schemeClr val="accent2"/>
                </a:solidFill>
              </a:rPr>
              <a:t>I</a:t>
            </a:r>
            <a:r>
              <a:rPr lang="ru-RU" altLang="ru-RU" sz="2000" b="1" baseline="-25000">
                <a:solidFill>
                  <a:schemeClr val="accent2"/>
                </a:solidFill>
              </a:rPr>
              <a:t>Э</a:t>
            </a:r>
            <a:r>
              <a:rPr lang="ru-RU" altLang="ru-RU" sz="2000" b="1" baseline="30000">
                <a:solidFill>
                  <a:schemeClr val="accent2"/>
                </a:solidFill>
              </a:rPr>
              <a:t>2</a:t>
            </a:r>
            <a:r>
              <a:rPr lang="ru-RU" altLang="ru-RU" sz="2000" b="1">
                <a:solidFill>
                  <a:schemeClr val="accent2"/>
                </a:solidFill>
              </a:rPr>
              <a:t> = </a:t>
            </a:r>
            <a:r>
              <a:rPr lang="pl-PL" altLang="ru-RU" sz="2000" b="1">
                <a:solidFill>
                  <a:schemeClr val="accent2"/>
                </a:solidFill>
              </a:rPr>
              <a:t>U</a:t>
            </a:r>
            <a:r>
              <a:rPr lang="ru-RU" altLang="ru-RU" sz="2000" b="1" baseline="-25000">
                <a:solidFill>
                  <a:schemeClr val="accent2"/>
                </a:solidFill>
              </a:rPr>
              <a:t>Э</a:t>
            </a:r>
            <a:r>
              <a:rPr lang="ru-RU" altLang="ru-RU" sz="2000" b="1" baseline="30000">
                <a:solidFill>
                  <a:schemeClr val="accent2"/>
                </a:solidFill>
              </a:rPr>
              <a:t>2</a:t>
            </a:r>
            <a:r>
              <a:rPr lang="ru-RU" altLang="ru-RU" sz="2000" b="1">
                <a:solidFill>
                  <a:schemeClr val="accent2"/>
                </a:solidFill>
              </a:rPr>
              <a:t>/</a:t>
            </a:r>
            <a:r>
              <a:rPr lang="pl-PL" altLang="ru-RU" sz="2000" b="1">
                <a:solidFill>
                  <a:schemeClr val="accent2"/>
                </a:solidFill>
              </a:rPr>
              <a:t>R</a:t>
            </a:r>
            <a:r>
              <a:rPr lang="ru-RU" altLang="ru-RU" sz="2000" b="1">
                <a:solidFill>
                  <a:schemeClr val="accent2"/>
                </a:solidFill>
              </a:rPr>
              <a:t> </a:t>
            </a:r>
          </a:p>
        </p:txBody>
      </p:sp>
      <p:sp>
        <p:nvSpPr>
          <p:cNvPr id="21514" name="Text Box 13">
            <a:extLst>
              <a:ext uri="{FF2B5EF4-FFF2-40B4-BE49-F238E27FC236}">
                <a16:creationId xmlns:a16="http://schemas.microsoft.com/office/drawing/2014/main" id="{91C55DDA-FCE5-45C5-9427-926780DBDC13}"/>
              </a:ext>
            </a:extLst>
          </p:cNvPr>
          <p:cNvSpPr txBox="1">
            <a:spLocks noChangeArrowheads="1"/>
          </p:cNvSpPr>
          <p:nvPr/>
        </p:nvSpPr>
        <p:spPr bwMode="auto">
          <a:xfrm>
            <a:off x="3071813" y="3860801"/>
            <a:ext cx="10795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800"/>
              <a:t>тогда: </a:t>
            </a:r>
          </a:p>
        </p:txBody>
      </p:sp>
      <p:graphicFrame>
        <p:nvGraphicFramePr>
          <p:cNvPr id="5135" name="Object 15">
            <a:extLst>
              <a:ext uri="{FF2B5EF4-FFF2-40B4-BE49-F238E27FC236}">
                <a16:creationId xmlns:a16="http://schemas.microsoft.com/office/drawing/2014/main" id="{7404F4AF-37BE-4CA1-9130-7E9828986295}"/>
              </a:ext>
            </a:extLst>
          </p:cNvPr>
          <p:cNvGraphicFramePr>
            <a:graphicFrameLocks noChangeAspect="1"/>
          </p:cNvGraphicFramePr>
          <p:nvPr/>
        </p:nvGraphicFramePr>
        <p:xfrm>
          <a:off x="1703389" y="4652964"/>
          <a:ext cx="1152525" cy="884237"/>
        </p:xfrm>
        <a:graphic>
          <a:graphicData uri="http://schemas.openxmlformats.org/presentationml/2006/ole">
            <mc:AlternateContent xmlns:mc="http://schemas.openxmlformats.org/markup-compatibility/2006">
              <mc:Choice xmlns:v="urn:schemas-microsoft-com:vml" Requires="v">
                <p:oleObj name="Формула" r:id="rId4" imgW="533349" imgH="409643" progId="Equation.3">
                  <p:embed/>
                </p:oleObj>
              </mc:Choice>
              <mc:Fallback>
                <p:oleObj name="Формула" r:id="rId4" imgW="533349" imgH="409643" progId="Equation.3">
                  <p:embed/>
                  <p:pic>
                    <p:nvPicPr>
                      <p:cNvPr id="5135" name="Object 15">
                        <a:extLst>
                          <a:ext uri="{FF2B5EF4-FFF2-40B4-BE49-F238E27FC236}">
                            <a16:creationId xmlns:a16="http://schemas.microsoft.com/office/drawing/2014/main" id="{7404F4AF-37BE-4CA1-9130-7E982898629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03389" y="4652964"/>
                        <a:ext cx="1152525" cy="884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36" name="Object 16">
            <a:extLst>
              <a:ext uri="{FF2B5EF4-FFF2-40B4-BE49-F238E27FC236}">
                <a16:creationId xmlns:a16="http://schemas.microsoft.com/office/drawing/2014/main" id="{77019823-C4CD-400F-9617-BED803D9206D}"/>
              </a:ext>
            </a:extLst>
          </p:cNvPr>
          <p:cNvGraphicFramePr>
            <a:graphicFrameLocks noChangeAspect="1"/>
          </p:cNvGraphicFramePr>
          <p:nvPr/>
        </p:nvGraphicFramePr>
        <p:xfrm>
          <a:off x="5880100" y="4724400"/>
          <a:ext cx="1231900" cy="884238"/>
        </p:xfrm>
        <a:graphic>
          <a:graphicData uri="http://schemas.openxmlformats.org/presentationml/2006/ole">
            <mc:AlternateContent xmlns:mc="http://schemas.openxmlformats.org/markup-compatibility/2006">
              <mc:Choice xmlns:v="urn:schemas-microsoft-com:vml" Requires="v">
                <p:oleObj name="Формула" r:id="rId6" imgW="571576" imgH="409643" progId="Equation.3">
                  <p:embed/>
                </p:oleObj>
              </mc:Choice>
              <mc:Fallback>
                <p:oleObj name="Формула" r:id="rId6" imgW="571576" imgH="409643" progId="Equation.3">
                  <p:embed/>
                  <p:pic>
                    <p:nvPicPr>
                      <p:cNvPr id="5136" name="Object 16">
                        <a:extLst>
                          <a:ext uri="{FF2B5EF4-FFF2-40B4-BE49-F238E27FC236}">
                            <a16:creationId xmlns:a16="http://schemas.microsoft.com/office/drawing/2014/main" id="{77019823-C4CD-400F-9617-BED803D9206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80100" y="4724400"/>
                        <a:ext cx="1231900" cy="884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37" name="Text Box 17">
            <a:extLst>
              <a:ext uri="{FF2B5EF4-FFF2-40B4-BE49-F238E27FC236}">
                <a16:creationId xmlns:a16="http://schemas.microsoft.com/office/drawing/2014/main" id="{4A73A683-E583-4E7A-BE04-810365B397BF}"/>
              </a:ext>
            </a:extLst>
          </p:cNvPr>
          <p:cNvSpPr txBox="1">
            <a:spLocks noChangeArrowheads="1"/>
          </p:cNvSpPr>
          <p:nvPr/>
        </p:nvSpPr>
        <p:spPr bwMode="auto">
          <a:xfrm>
            <a:off x="7140576" y="4797425"/>
            <a:ext cx="35274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ru-RU" altLang="ru-RU" sz="1800"/>
              <a:t> –эффективное напряжение переменного тока</a:t>
            </a:r>
          </a:p>
        </p:txBody>
      </p:sp>
      <p:sp>
        <p:nvSpPr>
          <p:cNvPr id="5139" name="Text Box 19">
            <a:extLst>
              <a:ext uri="{FF2B5EF4-FFF2-40B4-BE49-F238E27FC236}">
                <a16:creationId xmlns:a16="http://schemas.microsoft.com/office/drawing/2014/main" id="{D1EE7593-263D-46D9-8210-BFAEDF226739}"/>
              </a:ext>
            </a:extLst>
          </p:cNvPr>
          <p:cNvSpPr txBox="1">
            <a:spLocks noChangeArrowheads="1"/>
          </p:cNvSpPr>
          <p:nvPr/>
        </p:nvSpPr>
        <p:spPr bwMode="auto">
          <a:xfrm>
            <a:off x="2927350" y="4868863"/>
            <a:ext cx="27368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800"/>
              <a:t>–эффективная сила переменного тока</a:t>
            </a:r>
          </a:p>
        </p:txBody>
      </p:sp>
      <p:sp>
        <p:nvSpPr>
          <p:cNvPr id="5140" name="Text Box 20">
            <a:extLst>
              <a:ext uri="{FF2B5EF4-FFF2-40B4-BE49-F238E27FC236}">
                <a16:creationId xmlns:a16="http://schemas.microsoft.com/office/drawing/2014/main" id="{ECB217CE-8073-422D-A9D1-DF4C5F8837D6}"/>
              </a:ext>
            </a:extLst>
          </p:cNvPr>
          <p:cNvSpPr txBox="1">
            <a:spLocks noChangeArrowheads="1"/>
          </p:cNvSpPr>
          <p:nvPr/>
        </p:nvSpPr>
        <p:spPr bwMode="auto">
          <a:xfrm>
            <a:off x="1919288" y="5949951"/>
            <a:ext cx="8496300" cy="646331"/>
          </a:xfrm>
          <a:prstGeom prst="rect">
            <a:avLst/>
          </a:prstGeom>
          <a:noFill/>
          <a:ln w="38100" cmpd="dbl">
            <a:solidFill>
              <a:srgbClr val="80008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800"/>
              <a:t>это значения </a:t>
            </a:r>
            <a:r>
              <a:rPr lang="pl-PL" altLang="ru-RU" sz="1800"/>
              <a:t>I</a:t>
            </a:r>
            <a:r>
              <a:rPr lang="ru-RU" altLang="ru-RU" sz="1800"/>
              <a:t> и </a:t>
            </a:r>
            <a:r>
              <a:rPr lang="pl-PL" altLang="ru-RU" sz="1800"/>
              <a:t>U </a:t>
            </a:r>
            <a:r>
              <a:rPr lang="ru-RU" altLang="ru-RU" sz="1800"/>
              <a:t>такого постоянного тока, который выделяет в сопротивление </a:t>
            </a:r>
            <a:r>
              <a:rPr lang="pl-PL" altLang="ru-RU" sz="1800"/>
              <a:t>R </a:t>
            </a:r>
            <a:r>
              <a:rPr lang="ru-RU" altLang="ru-RU" sz="1800"/>
              <a:t>такое же количество тепла, что и данный переменный ток. </a:t>
            </a:r>
          </a:p>
        </p:txBody>
      </p:sp>
      <p:sp>
        <p:nvSpPr>
          <p:cNvPr id="16" name="Прямоугольник 15">
            <a:extLst>
              <a:ext uri="{FF2B5EF4-FFF2-40B4-BE49-F238E27FC236}">
                <a16:creationId xmlns:a16="http://schemas.microsoft.com/office/drawing/2014/main" id="{7B1F90F3-8D48-44E2-9179-AA4941B349ED}"/>
              </a:ext>
            </a:extLst>
          </p:cNvPr>
          <p:cNvSpPr/>
          <p:nvPr/>
        </p:nvSpPr>
        <p:spPr>
          <a:xfrm>
            <a:off x="1291399" y="94079"/>
            <a:ext cx="1479892" cy="369332"/>
          </a:xfrm>
          <a:prstGeom prst="rect">
            <a:avLst/>
          </a:prstGeom>
        </p:spPr>
        <p:txBody>
          <a:bodyPr wrap="none">
            <a:spAutoFit/>
          </a:bodyPr>
          <a:lstStyle/>
          <a:p>
            <a:pPr>
              <a:defRPr/>
            </a:pPr>
            <a:r>
              <a:rPr lang="ru-RU" dirty="0">
                <a:solidFill>
                  <a:schemeClr val="bg1"/>
                </a:solidFill>
              </a:rPr>
              <a:t>Кафедра ТЭЦ</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5135"/>
                                        </p:tgtEl>
                                        <p:attrNameLst>
                                          <p:attrName>style.visibility</p:attrName>
                                        </p:attrNameLst>
                                      </p:cBhvr>
                                      <p:to>
                                        <p:strVal val="visible"/>
                                      </p:to>
                                    </p:set>
                                    <p:animEffect transition="in" filter="diamond(in)">
                                      <p:cBhvr>
                                        <p:cTn id="7" dur="2000"/>
                                        <p:tgtEl>
                                          <p:spTgt spid="5135"/>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5139"/>
                                        </p:tgtEl>
                                        <p:attrNameLst>
                                          <p:attrName>style.visibility</p:attrName>
                                        </p:attrNameLst>
                                      </p:cBhvr>
                                      <p:to>
                                        <p:strVal val="visible"/>
                                      </p:to>
                                    </p:set>
                                    <p:animEffect transition="in" filter="diamond(in)">
                                      <p:cBhvr>
                                        <p:cTn id="10" dur="2000"/>
                                        <p:tgtEl>
                                          <p:spTgt spid="5139"/>
                                        </p:tgtEl>
                                      </p:cBhvr>
                                    </p:animEffect>
                                  </p:childTnLst>
                                </p:cTn>
                              </p:par>
                              <p:par>
                                <p:cTn id="11" presetID="8" presetClass="entr" presetSubtype="16" fill="hold" nodeType="withEffect">
                                  <p:stCondLst>
                                    <p:cond delay="0"/>
                                  </p:stCondLst>
                                  <p:childTnLst>
                                    <p:set>
                                      <p:cBhvr>
                                        <p:cTn id="12" dur="1" fill="hold">
                                          <p:stCondLst>
                                            <p:cond delay="0"/>
                                          </p:stCondLst>
                                        </p:cTn>
                                        <p:tgtEl>
                                          <p:spTgt spid="5136"/>
                                        </p:tgtEl>
                                        <p:attrNameLst>
                                          <p:attrName>style.visibility</p:attrName>
                                        </p:attrNameLst>
                                      </p:cBhvr>
                                      <p:to>
                                        <p:strVal val="visible"/>
                                      </p:to>
                                    </p:set>
                                    <p:animEffect transition="in" filter="diamond(in)">
                                      <p:cBhvr>
                                        <p:cTn id="13" dur="2000"/>
                                        <p:tgtEl>
                                          <p:spTgt spid="5136"/>
                                        </p:tgtEl>
                                      </p:cBhvr>
                                    </p:animEffect>
                                  </p:childTnLst>
                                </p:cTn>
                              </p:par>
                              <p:par>
                                <p:cTn id="14" presetID="8" presetClass="entr" presetSubtype="16" fill="hold" grpId="0" nodeType="withEffect">
                                  <p:stCondLst>
                                    <p:cond delay="0"/>
                                  </p:stCondLst>
                                  <p:childTnLst>
                                    <p:set>
                                      <p:cBhvr>
                                        <p:cTn id="15" dur="1" fill="hold">
                                          <p:stCondLst>
                                            <p:cond delay="0"/>
                                          </p:stCondLst>
                                        </p:cTn>
                                        <p:tgtEl>
                                          <p:spTgt spid="5137"/>
                                        </p:tgtEl>
                                        <p:attrNameLst>
                                          <p:attrName>style.visibility</p:attrName>
                                        </p:attrNameLst>
                                      </p:cBhvr>
                                      <p:to>
                                        <p:strVal val="visible"/>
                                      </p:to>
                                    </p:set>
                                    <p:animEffect transition="in" filter="diamond(in)">
                                      <p:cBhvr>
                                        <p:cTn id="16" dur="2000"/>
                                        <p:tgtEl>
                                          <p:spTgt spid="513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 presetClass="entr" presetSubtype="10" fill="hold" grpId="0" nodeType="clickEffect">
                                  <p:stCondLst>
                                    <p:cond delay="0"/>
                                  </p:stCondLst>
                                  <p:childTnLst>
                                    <p:set>
                                      <p:cBhvr>
                                        <p:cTn id="20" dur="1" fill="hold">
                                          <p:stCondLst>
                                            <p:cond delay="0"/>
                                          </p:stCondLst>
                                        </p:cTn>
                                        <p:tgtEl>
                                          <p:spTgt spid="5140"/>
                                        </p:tgtEl>
                                        <p:attrNameLst>
                                          <p:attrName>style.visibility</p:attrName>
                                        </p:attrNameLst>
                                      </p:cBhvr>
                                      <p:to>
                                        <p:strVal val="visible"/>
                                      </p:to>
                                    </p:set>
                                    <p:animEffect transition="in" filter="checkerboard(across)">
                                      <p:cBhvr>
                                        <p:cTn id="21" dur="500"/>
                                        <p:tgtEl>
                                          <p:spTgt spid="51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7" grpId="0"/>
      <p:bldP spid="5139" grpId="0"/>
      <p:bldP spid="514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4">
            <a:extLst>
              <a:ext uri="{FF2B5EF4-FFF2-40B4-BE49-F238E27FC236}">
                <a16:creationId xmlns:a16="http://schemas.microsoft.com/office/drawing/2014/main" id="{5DC41DE9-9A12-4B75-8B29-1997FD62189A}"/>
              </a:ext>
            </a:extLst>
          </p:cNvPr>
          <p:cNvSpPr txBox="1">
            <a:spLocks noChangeArrowheads="1"/>
          </p:cNvSpPr>
          <p:nvPr/>
        </p:nvSpPr>
        <p:spPr bwMode="auto">
          <a:xfrm>
            <a:off x="2271714" y="735013"/>
            <a:ext cx="79200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800" dirty="0"/>
              <a:t>Все приборы показывают эффективные значения переменного тока.</a:t>
            </a:r>
          </a:p>
        </p:txBody>
      </p:sp>
      <p:grpSp>
        <p:nvGrpSpPr>
          <p:cNvPr id="22531" name="Group 18">
            <a:extLst>
              <a:ext uri="{FF2B5EF4-FFF2-40B4-BE49-F238E27FC236}">
                <a16:creationId xmlns:a16="http://schemas.microsoft.com/office/drawing/2014/main" id="{1D250C89-896E-4F17-A5CB-FCF04664194E}"/>
              </a:ext>
            </a:extLst>
          </p:cNvPr>
          <p:cNvGrpSpPr>
            <a:grpSpLocks/>
          </p:cNvGrpSpPr>
          <p:nvPr/>
        </p:nvGrpSpPr>
        <p:grpSpPr bwMode="auto">
          <a:xfrm>
            <a:off x="1703389" y="1412875"/>
            <a:ext cx="7488237" cy="4032250"/>
            <a:chOff x="113" y="890"/>
            <a:chExt cx="4717" cy="2540"/>
          </a:xfrm>
        </p:grpSpPr>
        <p:sp>
          <p:nvSpPr>
            <p:cNvPr id="22533" name="Line 6">
              <a:extLst>
                <a:ext uri="{FF2B5EF4-FFF2-40B4-BE49-F238E27FC236}">
                  <a16:creationId xmlns:a16="http://schemas.microsoft.com/office/drawing/2014/main" id="{3DEF0877-98BE-4A65-B5E1-D342F05EA0C5}"/>
                </a:ext>
              </a:extLst>
            </p:cNvPr>
            <p:cNvSpPr>
              <a:spLocks noChangeShapeType="1"/>
            </p:cNvSpPr>
            <p:nvPr/>
          </p:nvSpPr>
          <p:spPr bwMode="auto">
            <a:xfrm flipV="1">
              <a:off x="884" y="1026"/>
              <a:ext cx="0" cy="240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ru-RU"/>
            </a:p>
          </p:txBody>
        </p:sp>
        <p:sp>
          <p:nvSpPr>
            <p:cNvPr id="22534" name="Line 7">
              <a:extLst>
                <a:ext uri="{FF2B5EF4-FFF2-40B4-BE49-F238E27FC236}">
                  <a16:creationId xmlns:a16="http://schemas.microsoft.com/office/drawing/2014/main" id="{13F6FECF-319D-4C4D-9867-B278A7A9E478}"/>
                </a:ext>
              </a:extLst>
            </p:cNvPr>
            <p:cNvSpPr>
              <a:spLocks noChangeShapeType="1"/>
            </p:cNvSpPr>
            <p:nvPr/>
          </p:nvSpPr>
          <p:spPr bwMode="auto">
            <a:xfrm>
              <a:off x="884" y="2296"/>
              <a:ext cx="372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ru-RU"/>
            </a:p>
          </p:txBody>
        </p:sp>
        <p:sp>
          <p:nvSpPr>
            <p:cNvPr id="22535" name="Freeform 8">
              <a:extLst>
                <a:ext uri="{FF2B5EF4-FFF2-40B4-BE49-F238E27FC236}">
                  <a16:creationId xmlns:a16="http://schemas.microsoft.com/office/drawing/2014/main" id="{374D2656-04F8-4D50-97F6-359A53B356F0}"/>
                </a:ext>
              </a:extLst>
            </p:cNvPr>
            <p:cNvSpPr>
              <a:spLocks/>
            </p:cNvSpPr>
            <p:nvPr/>
          </p:nvSpPr>
          <p:spPr bwMode="auto">
            <a:xfrm>
              <a:off x="884" y="1434"/>
              <a:ext cx="1180" cy="867"/>
            </a:xfrm>
            <a:custGeom>
              <a:avLst/>
              <a:gdLst>
                <a:gd name="T0" fmla="*/ 0 w 1180"/>
                <a:gd name="T1" fmla="*/ 867 h 867"/>
                <a:gd name="T2" fmla="*/ 317 w 1180"/>
                <a:gd name="T3" fmla="*/ 233 h 867"/>
                <a:gd name="T4" fmla="*/ 622 w 1180"/>
                <a:gd name="T5" fmla="*/ 11 h 867"/>
                <a:gd name="T6" fmla="*/ 935 w 1180"/>
                <a:gd name="T7" fmla="*/ 299 h 867"/>
                <a:gd name="T8" fmla="*/ 1180 w 1180"/>
                <a:gd name="T9" fmla="*/ 867 h 867"/>
                <a:gd name="T10" fmla="*/ 0 60000 65536"/>
                <a:gd name="T11" fmla="*/ 0 60000 65536"/>
                <a:gd name="T12" fmla="*/ 0 60000 65536"/>
                <a:gd name="T13" fmla="*/ 0 60000 65536"/>
                <a:gd name="T14" fmla="*/ 0 60000 65536"/>
                <a:gd name="T15" fmla="*/ 0 w 1180"/>
                <a:gd name="T16" fmla="*/ 0 h 867"/>
                <a:gd name="T17" fmla="*/ 1180 w 1180"/>
                <a:gd name="T18" fmla="*/ 867 h 867"/>
              </a:gdLst>
              <a:ahLst/>
              <a:cxnLst>
                <a:cxn ang="T10">
                  <a:pos x="T0" y="T1"/>
                </a:cxn>
                <a:cxn ang="T11">
                  <a:pos x="T2" y="T3"/>
                </a:cxn>
                <a:cxn ang="T12">
                  <a:pos x="T4" y="T5"/>
                </a:cxn>
                <a:cxn ang="T13">
                  <a:pos x="T6" y="T7"/>
                </a:cxn>
                <a:cxn ang="T14">
                  <a:pos x="T8" y="T9"/>
                </a:cxn>
              </a:cxnLst>
              <a:rect l="T15" t="T16" r="T17" b="T18"/>
              <a:pathLst>
                <a:path w="1180" h="867">
                  <a:moveTo>
                    <a:pt x="0" y="867"/>
                  </a:moveTo>
                  <a:cubicBezTo>
                    <a:pt x="53" y="761"/>
                    <a:pt x="213" y="376"/>
                    <a:pt x="317" y="233"/>
                  </a:cubicBezTo>
                  <a:cubicBezTo>
                    <a:pt x="421" y="90"/>
                    <a:pt x="519" y="0"/>
                    <a:pt x="622" y="11"/>
                  </a:cubicBezTo>
                  <a:cubicBezTo>
                    <a:pt x="725" y="22"/>
                    <a:pt x="842" y="156"/>
                    <a:pt x="935" y="299"/>
                  </a:cubicBezTo>
                  <a:cubicBezTo>
                    <a:pt x="1028" y="442"/>
                    <a:pt x="1139" y="772"/>
                    <a:pt x="1180" y="867"/>
                  </a:cubicBezTo>
                </a:path>
              </a:pathLst>
            </a:custGeom>
            <a:noFill/>
            <a:ln w="317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ru-RU"/>
            </a:p>
          </p:txBody>
        </p:sp>
        <p:sp>
          <p:nvSpPr>
            <p:cNvPr id="22536" name="Freeform 9">
              <a:extLst>
                <a:ext uri="{FF2B5EF4-FFF2-40B4-BE49-F238E27FC236}">
                  <a16:creationId xmlns:a16="http://schemas.microsoft.com/office/drawing/2014/main" id="{8A015479-0831-4973-B346-A181755D8C61}"/>
                </a:ext>
              </a:extLst>
            </p:cNvPr>
            <p:cNvSpPr>
              <a:spLocks/>
            </p:cNvSpPr>
            <p:nvPr/>
          </p:nvSpPr>
          <p:spPr bwMode="auto">
            <a:xfrm flipV="1">
              <a:off x="2064" y="2296"/>
              <a:ext cx="1180" cy="867"/>
            </a:xfrm>
            <a:custGeom>
              <a:avLst/>
              <a:gdLst>
                <a:gd name="T0" fmla="*/ 0 w 1180"/>
                <a:gd name="T1" fmla="*/ 867 h 867"/>
                <a:gd name="T2" fmla="*/ 317 w 1180"/>
                <a:gd name="T3" fmla="*/ 233 h 867"/>
                <a:gd name="T4" fmla="*/ 622 w 1180"/>
                <a:gd name="T5" fmla="*/ 11 h 867"/>
                <a:gd name="T6" fmla="*/ 935 w 1180"/>
                <a:gd name="T7" fmla="*/ 299 h 867"/>
                <a:gd name="T8" fmla="*/ 1180 w 1180"/>
                <a:gd name="T9" fmla="*/ 867 h 867"/>
                <a:gd name="T10" fmla="*/ 0 60000 65536"/>
                <a:gd name="T11" fmla="*/ 0 60000 65536"/>
                <a:gd name="T12" fmla="*/ 0 60000 65536"/>
                <a:gd name="T13" fmla="*/ 0 60000 65536"/>
                <a:gd name="T14" fmla="*/ 0 60000 65536"/>
                <a:gd name="T15" fmla="*/ 0 w 1180"/>
                <a:gd name="T16" fmla="*/ 0 h 867"/>
                <a:gd name="T17" fmla="*/ 1180 w 1180"/>
                <a:gd name="T18" fmla="*/ 867 h 867"/>
              </a:gdLst>
              <a:ahLst/>
              <a:cxnLst>
                <a:cxn ang="T10">
                  <a:pos x="T0" y="T1"/>
                </a:cxn>
                <a:cxn ang="T11">
                  <a:pos x="T2" y="T3"/>
                </a:cxn>
                <a:cxn ang="T12">
                  <a:pos x="T4" y="T5"/>
                </a:cxn>
                <a:cxn ang="T13">
                  <a:pos x="T6" y="T7"/>
                </a:cxn>
                <a:cxn ang="T14">
                  <a:pos x="T8" y="T9"/>
                </a:cxn>
              </a:cxnLst>
              <a:rect l="T15" t="T16" r="T17" b="T18"/>
              <a:pathLst>
                <a:path w="1180" h="867">
                  <a:moveTo>
                    <a:pt x="0" y="867"/>
                  </a:moveTo>
                  <a:cubicBezTo>
                    <a:pt x="53" y="761"/>
                    <a:pt x="213" y="376"/>
                    <a:pt x="317" y="233"/>
                  </a:cubicBezTo>
                  <a:cubicBezTo>
                    <a:pt x="421" y="90"/>
                    <a:pt x="519" y="0"/>
                    <a:pt x="622" y="11"/>
                  </a:cubicBezTo>
                  <a:cubicBezTo>
                    <a:pt x="725" y="22"/>
                    <a:pt x="842" y="156"/>
                    <a:pt x="935" y="299"/>
                  </a:cubicBezTo>
                  <a:cubicBezTo>
                    <a:pt x="1028" y="442"/>
                    <a:pt x="1139" y="772"/>
                    <a:pt x="1180" y="867"/>
                  </a:cubicBezTo>
                </a:path>
              </a:pathLst>
            </a:custGeom>
            <a:noFill/>
            <a:ln w="317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ru-RU"/>
            </a:p>
          </p:txBody>
        </p:sp>
        <p:sp>
          <p:nvSpPr>
            <p:cNvPr id="22537" name="Freeform 10">
              <a:extLst>
                <a:ext uri="{FF2B5EF4-FFF2-40B4-BE49-F238E27FC236}">
                  <a16:creationId xmlns:a16="http://schemas.microsoft.com/office/drawing/2014/main" id="{B44BF940-90C5-49CB-9DB2-992327B35505}"/>
                </a:ext>
              </a:extLst>
            </p:cNvPr>
            <p:cNvSpPr>
              <a:spLocks/>
            </p:cNvSpPr>
            <p:nvPr/>
          </p:nvSpPr>
          <p:spPr bwMode="auto">
            <a:xfrm>
              <a:off x="3243" y="1434"/>
              <a:ext cx="1180" cy="867"/>
            </a:xfrm>
            <a:custGeom>
              <a:avLst/>
              <a:gdLst>
                <a:gd name="T0" fmla="*/ 0 w 1180"/>
                <a:gd name="T1" fmla="*/ 867 h 867"/>
                <a:gd name="T2" fmla="*/ 317 w 1180"/>
                <a:gd name="T3" fmla="*/ 233 h 867"/>
                <a:gd name="T4" fmla="*/ 622 w 1180"/>
                <a:gd name="T5" fmla="*/ 11 h 867"/>
                <a:gd name="T6" fmla="*/ 935 w 1180"/>
                <a:gd name="T7" fmla="*/ 299 h 867"/>
                <a:gd name="T8" fmla="*/ 1180 w 1180"/>
                <a:gd name="T9" fmla="*/ 867 h 867"/>
                <a:gd name="T10" fmla="*/ 0 60000 65536"/>
                <a:gd name="T11" fmla="*/ 0 60000 65536"/>
                <a:gd name="T12" fmla="*/ 0 60000 65536"/>
                <a:gd name="T13" fmla="*/ 0 60000 65536"/>
                <a:gd name="T14" fmla="*/ 0 60000 65536"/>
                <a:gd name="T15" fmla="*/ 0 w 1180"/>
                <a:gd name="T16" fmla="*/ 0 h 867"/>
                <a:gd name="T17" fmla="*/ 1180 w 1180"/>
                <a:gd name="T18" fmla="*/ 867 h 867"/>
              </a:gdLst>
              <a:ahLst/>
              <a:cxnLst>
                <a:cxn ang="T10">
                  <a:pos x="T0" y="T1"/>
                </a:cxn>
                <a:cxn ang="T11">
                  <a:pos x="T2" y="T3"/>
                </a:cxn>
                <a:cxn ang="T12">
                  <a:pos x="T4" y="T5"/>
                </a:cxn>
                <a:cxn ang="T13">
                  <a:pos x="T6" y="T7"/>
                </a:cxn>
                <a:cxn ang="T14">
                  <a:pos x="T8" y="T9"/>
                </a:cxn>
              </a:cxnLst>
              <a:rect l="T15" t="T16" r="T17" b="T18"/>
              <a:pathLst>
                <a:path w="1180" h="867">
                  <a:moveTo>
                    <a:pt x="0" y="867"/>
                  </a:moveTo>
                  <a:cubicBezTo>
                    <a:pt x="53" y="761"/>
                    <a:pt x="213" y="376"/>
                    <a:pt x="317" y="233"/>
                  </a:cubicBezTo>
                  <a:cubicBezTo>
                    <a:pt x="421" y="90"/>
                    <a:pt x="519" y="0"/>
                    <a:pt x="622" y="11"/>
                  </a:cubicBezTo>
                  <a:cubicBezTo>
                    <a:pt x="725" y="22"/>
                    <a:pt x="842" y="156"/>
                    <a:pt x="935" y="299"/>
                  </a:cubicBezTo>
                  <a:cubicBezTo>
                    <a:pt x="1028" y="442"/>
                    <a:pt x="1139" y="772"/>
                    <a:pt x="1180" y="867"/>
                  </a:cubicBezTo>
                </a:path>
              </a:pathLst>
            </a:custGeom>
            <a:noFill/>
            <a:ln w="317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ru-RU"/>
            </a:p>
          </p:txBody>
        </p:sp>
        <p:sp>
          <p:nvSpPr>
            <p:cNvPr id="22538" name="Text Box 11">
              <a:extLst>
                <a:ext uri="{FF2B5EF4-FFF2-40B4-BE49-F238E27FC236}">
                  <a16:creationId xmlns:a16="http://schemas.microsoft.com/office/drawing/2014/main" id="{E52A02AD-25AB-422E-84BA-50725F753BC0}"/>
                </a:ext>
              </a:extLst>
            </p:cNvPr>
            <p:cNvSpPr txBox="1">
              <a:spLocks noChangeArrowheads="1"/>
            </p:cNvSpPr>
            <p:nvPr/>
          </p:nvSpPr>
          <p:spPr bwMode="auto">
            <a:xfrm>
              <a:off x="612" y="890"/>
              <a:ext cx="31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ru-RU" sz="2400" b="1">
                  <a:latin typeface="Times New Roman" panose="02020603050405020304" pitchFamily="18" charset="0"/>
                </a:rPr>
                <a:t>I</a:t>
              </a:r>
              <a:endParaRPr lang="ru-RU" altLang="ru-RU" sz="2400" b="1">
                <a:latin typeface="Times New Roman" panose="02020603050405020304" pitchFamily="18" charset="0"/>
              </a:endParaRPr>
            </a:p>
          </p:txBody>
        </p:sp>
        <p:sp>
          <p:nvSpPr>
            <p:cNvPr id="22539" name="Text Box 12">
              <a:extLst>
                <a:ext uri="{FF2B5EF4-FFF2-40B4-BE49-F238E27FC236}">
                  <a16:creationId xmlns:a16="http://schemas.microsoft.com/office/drawing/2014/main" id="{F16AD8CC-FD47-4087-8243-62C2F79D0B58}"/>
                </a:ext>
              </a:extLst>
            </p:cNvPr>
            <p:cNvSpPr txBox="1">
              <a:spLocks noChangeArrowheads="1"/>
            </p:cNvSpPr>
            <p:nvPr/>
          </p:nvSpPr>
          <p:spPr bwMode="auto">
            <a:xfrm>
              <a:off x="4513" y="2341"/>
              <a:ext cx="31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ru-RU" sz="2400" b="1">
                  <a:latin typeface="Times New Roman" panose="02020603050405020304" pitchFamily="18" charset="0"/>
                </a:rPr>
                <a:t>t</a:t>
              </a:r>
              <a:endParaRPr lang="ru-RU" altLang="ru-RU" sz="2400" b="1">
                <a:latin typeface="Times New Roman" panose="02020603050405020304" pitchFamily="18" charset="0"/>
              </a:endParaRPr>
            </a:p>
          </p:txBody>
        </p:sp>
        <p:sp>
          <p:nvSpPr>
            <p:cNvPr id="22540" name="Line 13">
              <a:extLst>
                <a:ext uri="{FF2B5EF4-FFF2-40B4-BE49-F238E27FC236}">
                  <a16:creationId xmlns:a16="http://schemas.microsoft.com/office/drawing/2014/main" id="{7FFAB696-405C-473F-8525-8C9282E305F0}"/>
                </a:ext>
              </a:extLst>
            </p:cNvPr>
            <p:cNvSpPr>
              <a:spLocks noChangeShapeType="1"/>
            </p:cNvSpPr>
            <p:nvPr/>
          </p:nvSpPr>
          <p:spPr bwMode="auto">
            <a:xfrm>
              <a:off x="884" y="1434"/>
              <a:ext cx="590" cy="0"/>
            </a:xfrm>
            <a:prstGeom prst="line">
              <a:avLst/>
            </a:prstGeom>
            <a:noFill/>
            <a:ln w="127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ru-RU"/>
            </a:p>
          </p:txBody>
        </p:sp>
        <p:sp>
          <p:nvSpPr>
            <p:cNvPr id="22541" name="Text Box 14">
              <a:extLst>
                <a:ext uri="{FF2B5EF4-FFF2-40B4-BE49-F238E27FC236}">
                  <a16:creationId xmlns:a16="http://schemas.microsoft.com/office/drawing/2014/main" id="{6018C50E-9D69-40B9-AF5F-57EFE76C91F8}"/>
                </a:ext>
              </a:extLst>
            </p:cNvPr>
            <p:cNvSpPr txBox="1">
              <a:spLocks noChangeArrowheads="1"/>
            </p:cNvSpPr>
            <p:nvPr/>
          </p:nvSpPr>
          <p:spPr bwMode="auto">
            <a:xfrm>
              <a:off x="612" y="1253"/>
              <a:ext cx="31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ru-RU" sz="2400">
                  <a:solidFill>
                    <a:srgbClr val="FF0000"/>
                  </a:solidFill>
                  <a:latin typeface="Times New Roman" panose="02020603050405020304" pitchFamily="18" charset="0"/>
                </a:rPr>
                <a:t>I</a:t>
              </a:r>
              <a:r>
                <a:rPr lang="en-US" altLang="ru-RU" sz="2400" baseline="-25000">
                  <a:solidFill>
                    <a:srgbClr val="FF0000"/>
                  </a:solidFill>
                  <a:latin typeface="Times New Roman" panose="02020603050405020304" pitchFamily="18" charset="0"/>
                </a:rPr>
                <a:t>0</a:t>
              </a:r>
              <a:endParaRPr lang="ru-RU" altLang="ru-RU" sz="2400" baseline="-25000">
                <a:solidFill>
                  <a:srgbClr val="FF0000"/>
                </a:solidFill>
                <a:latin typeface="Times New Roman" panose="02020603050405020304" pitchFamily="18" charset="0"/>
              </a:endParaRPr>
            </a:p>
          </p:txBody>
        </p:sp>
        <p:sp>
          <p:nvSpPr>
            <p:cNvPr id="22542" name="Line 15">
              <a:extLst>
                <a:ext uri="{FF2B5EF4-FFF2-40B4-BE49-F238E27FC236}">
                  <a16:creationId xmlns:a16="http://schemas.microsoft.com/office/drawing/2014/main" id="{1769E941-3380-473F-B009-2B4498BDD43E}"/>
                </a:ext>
              </a:extLst>
            </p:cNvPr>
            <p:cNvSpPr>
              <a:spLocks noChangeShapeType="1"/>
            </p:cNvSpPr>
            <p:nvPr/>
          </p:nvSpPr>
          <p:spPr bwMode="auto">
            <a:xfrm>
              <a:off x="884" y="1706"/>
              <a:ext cx="3856" cy="0"/>
            </a:xfrm>
            <a:prstGeom prst="line">
              <a:avLst/>
            </a:prstGeom>
            <a:noFill/>
            <a:ln w="19050">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ru-RU"/>
            </a:p>
          </p:txBody>
        </p:sp>
        <p:graphicFrame>
          <p:nvGraphicFramePr>
            <p:cNvPr id="22543" name="Object 17">
              <a:extLst>
                <a:ext uri="{FF2B5EF4-FFF2-40B4-BE49-F238E27FC236}">
                  <a16:creationId xmlns:a16="http://schemas.microsoft.com/office/drawing/2014/main" id="{FC8BE397-55F5-451D-A8DE-6FA765A7186A}"/>
                </a:ext>
              </a:extLst>
            </p:cNvPr>
            <p:cNvGraphicFramePr>
              <a:graphicFrameLocks noChangeAspect="1"/>
            </p:cNvGraphicFramePr>
            <p:nvPr/>
          </p:nvGraphicFramePr>
          <p:xfrm>
            <a:off x="113" y="1570"/>
            <a:ext cx="716" cy="549"/>
          </p:xfrm>
          <a:graphic>
            <a:graphicData uri="http://schemas.openxmlformats.org/presentationml/2006/ole">
              <mc:AlternateContent xmlns:mc="http://schemas.openxmlformats.org/markup-compatibility/2006">
                <mc:Choice xmlns:v="urn:schemas-microsoft-com:vml" Requires="v">
                  <p:oleObj name="Формула" r:id="rId2" imgW="533349" imgH="409643" progId="Equation.3">
                    <p:embed/>
                  </p:oleObj>
                </mc:Choice>
                <mc:Fallback>
                  <p:oleObj name="Формула" r:id="rId2" imgW="533349" imgH="409643" progId="Equation.3">
                    <p:embed/>
                    <p:pic>
                      <p:nvPicPr>
                        <p:cNvPr id="22543" name="Object 17">
                          <a:extLst>
                            <a:ext uri="{FF2B5EF4-FFF2-40B4-BE49-F238E27FC236}">
                              <a16:creationId xmlns:a16="http://schemas.microsoft.com/office/drawing/2014/main" id="{FC8BE397-55F5-451D-A8DE-6FA765A718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 y="1570"/>
                          <a:ext cx="716" cy="5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2532" name="Text Box 19">
            <a:extLst>
              <a:ext uri="{FF2B5EF4-FFF2-40B4-BE49-F238E27FC236}">
                <a16:creationId xmlns:a16="http://schemas.microsoft.com/office/drawing/2014/main" id="{9097859D-1146-410C-ACE5-A85046AAE42A}"/>
              </a:ext>
            </a:extLst>
          </p:cNvPr>
          <p:cNvSpPr txBox="1">
            <a:spLocks noChangeArrowheads="1"/>
          </p:cNvSpPr>
          <p:nvPr/>
        </p:nvSpPr>
        <p:spPr bwMode="auto">
          <a:xfrm>
            <a:off x="2063751" y="5805488"/>
            <a:ext cx="842486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800"/>
              <a:t>переменный ток (и переменное напряжение) характеризуются </a:t>
            </a:r>
            <a:r>
              <a:rPr lang="ru-RU" altLang="ru-RU" sz="1800" b="1">
                <a:solidFill>
                  <a:srgbClr val="FF0000"/>
                </a:solidFill>
              </a:rPr>
              <a:t>тремя </a:t>
            </a:r>
            <a:r>
              <a:rPr lang="ru-RU" altLang="ru-RU" sz="1800"/>
              <a:t>значениями: </a:t>
            </a:r>
            <a:r>
              <a:rPr lang="ru-RU" altLang="ru-RU" sz="1800" i="1"/>
              <a:t>мгновенное, амплитудное</a:t>
            </a:r>
            <a:r>
              <a:rPr lang="en-US" altLang="ru-RU" sz="1800" i="1"/>
              <a:t> (</a:t>
            </a:r>
            <a:r>
              <a:rPr lang="en-US" altLang="ru-RU" sz="1800" b="1" i="1">
                <a:solidFill>
                  <a:srgbClr val="FF0000"/>
                </a:solidFill>
                <a:latin typeface="Times New Roman" panose="02020603050405020304" pitchFamily="18" charset="0"/>
              </a:rPr>
              <a:t>I</a:t>
            </a:r>
            <a:r>
              <a:rPr lang="en-US" altLang="ru-RU" sz="1800" b="1" i="1" baseline="-25000">
                <a:solidFill>
                  <a:srgbClr val="FF0000"/>
                </a:solidFill>
                <a:latin typeface="Times New Roman" panose="02020603050405020304" pitchFamily="18" charset="0"/>
              </a:rPr>
              <a:t>0</a:t>
            </a:r>
            <a:r>
              <a:rPr lang="en-US" altLang="ru-RU" sz="1800" b="1" i="1" baseline="-25000">
                <a:latin typeface="Times New Roman" panose="02020603050405020304" pitchFamily="18" charset="0"/>
              </a:rPr>
              <a:t> </a:t>
            </a:r>
            <a:r>
              <a:rPr lang="en-US" altLang="ru-RU" sz="1800" i="1"/>
              <a:t>)</a:t>
            </a:r>
            <a:r>
              <a:rPr lang="ru-RU" altLang="ru-RU" sz="1800" i="1"/>
              <a:t> и эффективное</a:t>
            </a:r>
            <a:r>
              <a:rPr lang="en-US" altLang="ru-RU" sz="1800" i="1"/>
              <a:t> (</a:t>
            </a:r>
            <a:r>
              <a:rPr lang="en-US" altLang="ru-RU" sz="1800" b="1" i="1">
                <a:solidFill>
                  <a:srgbClr val="FF0000"/>
                </a:solidFill>
              </a:rPr>
              <a:t>I</a:t>
            </a:r>
            <a:r>
              <a:rPr lang="ru-RU" altLang="ru-RU" sz="1800" b="1" i="1" baseline="-25000">
                <a:solidFill>
                  <a:srgbClr val="FF0000"/>
                </a:solidFill>
              </a:rPr>
              <a:t>Э</a:t>
            </a:r>
            <a:r>
              <a:rPr lang="en-US" altLang="ru-RU" sz="1800" b="1" i="1"/>
              <a:t> </a:t>
            </a:r>
            <a:r>
              <a:rPr lang="en-US" altLang="ru-RU" sz="1800" i="1"/>
              <a:t>)</a:t>
            </a:r>
            <a:r>
              <a:rPr lang="ru-RU" altLang="ru-RU" sz="1800"/>
              <a:t> . </a:t>
            </a:r>
          </a:p>
        </p:txBody>
      </p:sp>
      <p:sp>
        <p:nvSpPr>
          <p:cNvPr id="16" name="Прямоугольник 15">
            <a:extLst>
              <a:ext uri="{FF2B5EF4-FFF2-40B4-BE49-F238E27FC236}">
                <a16:creationId xmlns:a16="http://schemas.microsoft.com/office/drawing/2014/main" id="{3D277CCC-6038-418B-B289-E057C10966FF}"/>
              </a:ext>
            </a:extLst>
          </p:cNvPr>
          <p:cNvSpPr/>
          <p:nvPr/>
        </p:nvSpPr>
        <p:spPr>
          <a:xfrm>
            <a:off x="1291399" y="94079"/>
            <a:ext cx="1479892" cy="369332"/>
          </a:xfrm>
          <a:prstGeom prst="rect">
            <a:avLst/>
          </a:prstGeom>
        </p:spPr>
        <p:txBody>
          <a:bodyPr wrap="none">
            <a:spAutoFit/>
          </a:bodyPr>
          <a:lstStyle/>
          <a:p>
            <a:pPr>
              <a:defRPr/>
            </a:pPr>
            <a:r>
              <a:rPr lang="ru-RU" dirty="0">
                <a:solidFill>
                  <a:schemeClr val="bg1"/>
                </a:solidFill>
              </a:rPr>
              <a:t>Кафедра ТЭЦ</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4">
            <a:extLst>
              <a:ext uri="{FF2B5EF4-FFF2-40B4-BE49-F238E27FC236}">
                <a16:creationId xmlns:a16="http://schemas.microsoft.com/office/drawing/2014/main" id="{CBD9E63F-CB58-4879-B446-42BE30C6098E}"/>
              </a:ext>
            </a:extLst>
          </p:cNvPr>
          <p:cNvSpPr txBox="1">
            <a:spLocks noChangeArrowheads="1"/>
          </p:cNvSpPr>
          <p:nvPr/>
        </p:nvSpPr>
        <p:spPr bwMode="auto">
          <a:xfrm>
            <a:off x="3125788" y="525463"/>
            <a:ext cx="864076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800" dirty="0"/>
              <a:t>Рассмотрим теперь случай, когда цепь содержит не только активные, но и реактивные сопротивления – индуктивность и емкость </a:t>
            </a:r>
          </a:p>
        </p:txBody>
      </p:sp>
      <p:pic>
        <p:nvPicPr>
          <p:cNvPr id="23555" name="Picture 5">
            <a:extLst>
              <a:ext uri="{FF2B5EF4-FFF2-40B4-BE49-F238E27FC236}">
                <a16:creationId xmlns:a16="http://schemas.microsoft.com/office/drawing/2014/main" id="{FB50C7E7-53D6-4A14-9475-95084665376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74826" y="981076"/>
            <a:ext cx="2449513" cy="203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6" name="Text Box 6">
            <a:extLst>
              <a:ext uri="{FF2B5EF4-FFF2-40B4-BE49-F238E27FC236}">
                <a16:creationId xmlns:a16="http://schemas.microsoft.com/office/drawing/2014/main" id="{AA822AD9-5A4D-4A2E-8A57-E643327FCE4D}"/>
              </a:ext>
            </a:extLst>
          </p:cNvPr>
          <p:cNvSpPr txBox="1">
            <a:spLocks noChangeArrowheads="1"/>
          </p:cNvSpPr>
          <p:nvPr/>
        </p:nvSpPr>
        <p:spPr bwMode="auto">
          <a:xfrm>
            <a:off x="4151314" y="1125538"/>
            <a:ext cx="15843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ru-RU" sz="1800" b="1">
                <a:solidFill>
                  <a:schemeClr val="accent2"/>
                </a:solidFill>
              </a:rPr>
              <a:t>U</a:t>
            </a:r>
            <a:r>
              <a:rPr lang="ru-RU" altLang="ru-RU" sz="1800" b="1">
                <a:solidFill>
                  <a:schemeClr val="accent2"/>
                </a:solidFill>
              </a:rPr>
              <a:t>= </a:t>
            </a:r>
            <a:r>
              <a:rPr lang="en-US" altLang="ru-RU" sz="1800" b="1">
                <a:solidFill>
                  <a:schemeClr val="accent2"/>
                </a:solidFill>
              </a:rPr>
              <a:t>U</a:t>
            </a:r>
            <a:r>
              <a:rPr lang="ru-RU" altLang="ru-RU" sz="1800" b="1" baseline="-25000">
                <a:solidFill>
                  <a:schemeClr val="accent2"/>
                </a:solidFill>
              </a:rPr>
              <a:t>0</a:t>
            </a:r>
            <a:r>
              <a:rPr lang="ru-RU" altLang="ru-RU" sz="1800" b="1">
                <a:solidFill>
                  <a:schemeClr val="accent2"/>
                </a:solidFill>
              </a:rPr>
              <a:t>·</a:t>
            </a:r>
            <a:r>
              <a:rPr lang="pl-PL" altLang="ru-RU" sz="1800" b="1">
                <a:solidFill>
                  <a:schemeClr val="accent2"/>
                </a:solidFill>
              </a:rPr>
              <a:t>cos</a:t>
            </a:r>
            <a:r>
              <a:rPr lang="en-US" altLang="ru-RU" sz="1800" b="1">
                <a:solidFill>
                  <a:schemeClr val="accent2"/>
                </a:solidFill>
              </a:rPr>
              <a:t>ω</a:t>
            </a:r>
            <a:r>
              <a:rPr lang="pl-PL" altLang="ru-RU" sz="1800" b="1">
                <a:solidFill>
                  <a:schemeClr val="accent2"/>
                </a:solidFill>
              </a:rPr>
              <a:t>t</a:t>
            </a:r>
            <a:r>
              <a:rPr lang="ru-RU" altLang="ru-RU" sz="1800" b="1">
                <a:solidFill>
                  <a:schemeClr val="accent2"/>
                </a:solidFill>
              </a:rPr>
              <a:t> </a:t>
            </a:r>
          </a:p>
        </p:txBody>
      </p:sp>
      <p:sp>
        <p:nvSpPr>
          <p:cNvPr id="23557" name="Text Box 7">
            <a:extLst>
              <a:ext uri="{FF2B5EF4-FFF2-40B4-BE49-F238E27FC236}">
                <a16:creationId xmlns:a16="http://schemas.microsoft.com/office/drawing/2014/main" id="{348DF0FB-44D3-44AC-AE7A-2B3A30EAF0CC}"/>
              </a:ext>
            </a:extLst>
          </p:cNvPr>
          <p:cNvSpPr txBox="1">
            <a:spLocks noChangeArrowheads="1"/>
          </p:cNvSpPr>
          <p:nvPr/>
        </p:nvSpPr>
        <p:spPr bwMode="auto">
          <a:xfrm>
            <a:off x="4151314" y="1700213"/>
            <a:ext cx="20161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de-DE" altLang="ru-RU" sz="1800" b="1">
                <a:solidFill>
                  <a:srgbClr val="FF0000"/>
                </a:solidFill>
              </a:rPr>
              <a:t>I</a:t>
            </a:r>
            <a:r>
              <a:rPr lang="ru-RU" altLang="ru-RU" sz="1800" b="1">
                <a:solidFill>
                  <a:srgbClr val="FF0000"/>
                </a:solidFill>
              </a:rPr>
              <a:t> = </a:t>
            </a:r>
            <a:r>
              <a:rPr lang="de-DE" altLang="ru-RU" sz="1800" b="1">
                <a:solidFill>
                  <a:srgbClr val="FF0000"/>
                </a:solidFill>
              </a:rPr>
              <a:t>I</a:t>
            </a:r>
            <a:r>
              <a:rPr lang="ru-RU" altLang="ru-RU" sz="1800" b="1" baseline="-25000">
                <a:solidFill>
                  <a:srgbClr val="FF0000"/>
                </a:solidFill>
              </a:rPr>
              <a:t>0</a:t>
            </a:r>
            <a:r>
              <a:rPr lang="ru-RU" altLang="ru-RU" sz="1800" b="1">
                <a:solidFill>
                  <a:srgbClr val="FF0000"/>
                </a:solidFill>
              </a:rPr>
              <a:t>·</a:t>
            </a:r>
            <a:r>
              <a:rPr lang="pl-PL" altLang="ru-RU" sz="1800" b="1">
                <a:solidFill>
                  <a:srgbClr val="FF0000"/>
                </a:solidFill>
              </a:rPr>
              <a:t>cos</a:t>
            </a:r>
            <a:r>
              <a:rPr lang="ru-RU" altLang="ru-RU" sz="1800" b="1">
                <a:solidFill>
                  <a:srgbClr val="FF0000"/>
                </a:solidFill>
              </a:rPr>
              <a:t>(</a:t>
            </a:r>
            <a:r>
              <a:rPr lang="en-US" altLang="ru-RU" sz="1800" b="1">
                <a:solidFill>
                  <a:srgbClr val="FF0000"/>
                </a:solidFill>
              </a:rPr>
              <a:t>ω</a:t>
            </a:r>
            <a:r>
              <a:rPr lang="pl-PL" altLang="ru-RU" sz="1800" b="1">
                <a:solidFill>
                  <a:srgbClr val="FF0000"/>
                </a:solidFill>
              </a:rPr>
              <a:t>t</a:t>
            </a:r>
            <a:r>
              <a:rPr lang="ru-RU" altLang="ru-RU" sz="1800" b="1">
                <a:solidFill>
                  <a:srgbClr val="FF0000"/>
                </a:solidFill>
              </a:rPr>
              <a:t>-φ) </a:t>
            </a:r>
          </a:p>
        </p:txBody>
      </p:sp>
      <p:sp>
        <p:nvSpPr>
          <p:cNvPr id="23558" name="Text Box 8">
            <a:extLst>
              <a:ext uri="{FF2B5EF4-FFF2-40B4-BE49-F238E27FC236}">
                <a16:creationId xmlns:a16="http://schemas.microsoft.com/office/drawing/2014/main" id="{194035C6-E376-4F60-918F-69EC74648E66}"/>
              </a:ext>
            </a:extLst>
          </p:cNvPr>
          <p:cNvSpPr txBox="1">
            <a:spLocks noChangeArrowheads="1"/>
          </p:cNvSpPr>
          <p:nvPr/>
        </p:nvSpPr>
        <p:spPr bwMode="auto">
          <a:xfrm>
            <a:off x="6383339" y="1557338"/>
            <a:ext cx="410368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800"/>
              <a:t>φ &gt; 0 при индуктивной нагрузке, </a:t>
            </a:r>
            <a:br>
              <a:rPr lang="ru-RU" altLang="ru-RU" sz="1800"/>
            </a:br>
            <a:r>
              <a:rPr lang="ru-RU" altLang="ru-RU" sz="1800"/>
              <a:t>φ &lt; 0 при емкостной нагрузке. </a:t>
            </a:r>
          </a:p>
        </p:txBody>
      </p:sp>
      <p:sp>
        <p:nvSpPr>
          <p:cNvPr id="23559" name="Text Box 9">
            <a:extLst>
              <a:ext uri="{FF2B5EF4-FFF2-40B4-BE49-F238E27FC236}">
                <a16:creationId xmlns:a16="http://schemas.microsoft.com/office/drawing/2014/main" id="{9E89DEC4-1D2D-47DB-8828-275F7A27239F}"/>
              </a:ext>
            </a:extLst>
          </p:cNvPr>
          <p:cNvSpPr txBox="1">
            <a:spLocks noChangeArrowheads="1"/>
          </p:cNvSpPr>
          <p:nvPr/>
        </p:nvSpPr>
        <p:spPr bwMode="auto">
          <a:xfrm>
            <a:off x="3898900" y="2492375"/>
            <a:ext cx="67691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800"/>
              <a:t>Мгновенное значение мощности равно произведению мгновенных значений напряжения </a:t>
            </a:r>
            <a:r>
              <a:rPr lang="en-US" altLang="ru-RU" sz="1800"/>
              <a:t>U</a:t>
            </a:r>
            <a:r>
              <a:rPr lang="ru-RU" altLang="ru-RU" sz="1800"/>
              <a:t> и тока </a:t>
            </a:r>
            <a:r>
              <a:rPr lang="de-DE" altLang="ru-RU" sz="1800"/>
              <a:t>I</a:t>
            </a:r>
            <a:r>
              <a:rPr lang="ru-RU" altLang="ru-RU" sz="1800"/>
              <a:t>. </a:t>
            </a:r>
          </a:p>
        </p:txBody>
      </p:sp>
      <p:sp>
        <p:nvSpPr>
          <p:cNvPr id="23560" name="Text Box 10">
            <a:extLst>
              <a:ext uri="{FF2B5EF4-FFF2-40B4-BE49-F238E27FC236}">
                <a16:creationId xmlns:a16="http://schemas.microsoft.com/office/drawing/2014/main" id="{0E34790A-E06C-46B5-8021-3B3C54E163FF}"/>
              </a:ext>
            </a:extLst>
          </p:cNvPr>
          <p:cNvSpPr txBox="1">
            <a:spLocks noChangeArrowheads="1"/>
          </p:cNvSpPr>
          <p:nvPr/>
        </p:nvSpPr>
        <p:spPr bwMode="auto">
          <a:xfrm>
            <a:off x="4224338" y="3429001"/>
            <a:ext cx="424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800"/>
              <a:t>Р</a:t>
            </a:r>
            <a:r>
              <a:rPr lang="pl-PL" altLang="ru-RU" sz="1800"/>
              <a:t>(t) = U(t)·I(t) = U</a:t>
            </a:r>
            <a:r>
              <a:rPr lang="pl-PL" altLang="ru-RU" sz="1800" baseline="-25000"/>
              <a:t>0</a:t>
            </a:r>
            <a:r>
              <a:rPr lang="pl-PL" altLang="ru-RU" sz="1800"/>
              <a:t>·cos</a:t>
            </a:r>
            <a:r>
              <a:rPr lang="en-US" altLang="ru-RU" sz="1800"/>
              <a:t>ω</a:t>
            </a:r>
            <a:r>
              <a:rPr lang="pl-PL" altLang="ru-RU" sz="1800"/>
              <a:t>t· I</a:t>
            </a:r>
            <a:r>
              <a:rPr lang="pl-PL" altLang="ru-RU" sz="1800" baseline="-25000"/>
              <a:t>0</a:t>
            </a:r>
            <a:r>
              <a:rPr lang="pl-PL" altLang="ru-RU" sz="1800"/>
              <a:t>·cos(</a:t>
            </a:r>
            <a:r>
              <a:rPr lang="en-US" altLang="ru-RU" sz="1800"/>
              <a:t>ω</a:t>
            </a:r>
            <a:r>
              <a:rPr lang="pl-PL" altLang="ru-RU" sz="1800"/>
              <a:t>t-</a:t>
            </a:r>
            <a:r>
              <a:rPr lang="ru-RU" altLang="ru-RU" sz="1800"/>
              <a:t>φ</a:t>
            </a:r>
            <a:r>
              <a:rPr lang="pl-PL" altLang="ru-RU" sz="1800"/>
              <a:t>)</a:t>
            </a:r>
            <a:r>
              <a:rPr lang="ru-RU" altLang="ru-RU" sz="1800"/>
              <a:t> </a:t>
            </a:r>
          </a:p>
        </p:txBody>
      </p:sp>
      <p:sp>
        <p:nvSpPr>
          <p:cNvPr id="23561" name="Text Box 12">
            <a:extLst>
              <a:ext uri="{FF2B5EF4-FFF2-40B4-BE49-F238E27FC236}">
                <a16:creationId xmlns:a16="http://schemas.microsoft.com/office/drawing/2014/main" id="{0DD4CA59-8131-480E-B6B7-FC117BE6349D}"/>
              </a:ext>
            </a:extLst>
          </p:cNvPr>
          <p:cNvSpPr txBox="1">
            <a:spLocks noChangeArrowheads="1"/>
          </p:cNvSpPr>
          <p:nvPr/>
        </p:nvSpPr>
        <p:spPr bwMode="auto">
          <a:xfrm>
            <a:off x="2711450" y="5805489"/>
            <a:ext cx="6769100" cy="461665"/>
          </a:xfrm>
          <a:prstGeom prst="rect">
            <a:avLst/>
          </a:prstGeom>
          <a:noFill/>
          <a:ln w="38100" cmpd="dbl">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2400" b="1"/>
              <a:t>Р</a:t>
            </a:r>
            <a:r>
              <a:rPr lang="pl-PL" altLang="ru-RU" sz="2400" b="1"/>
              <a:t>(t) = 1/2U</a:t>
            </a:r>
            <a:r>
              <a:rPr lang="pl-PL" altLang="ru-RU" sz="2400" b="1" baseline="-25000"/>
              <a:t>0</a:t>
            </a:r>
            <a:r>
              <a:rPr lang="pl-PL" altLang="ru-RU" sz="2400" b="1"/>
              <a:t>·I</a:t>
            </a:r>
            <a:r>
              <a:rPr lang="pl-PL" altLang="ru-RU" sz="2400" b="1" baseline="-25000"/>
              <a:t>0</a:t>
            </a:r>
            <a:r>
              <a:rPr lang="pl-PL" altLang="ru-RU" sz="2400" b="1"/>
              <a:t>·cos</a:t>
            </a:r>
            <a:r>
              <a:rPr lang="ru-RU" altLang="ru-RU" sz="2400" b="1"/>
              <a:t>φ</a:t>
            </a:r>
            <a:r>
              <a:rPr lang="pl-PL" altLang="ru-RU" sz="2400" b="1"/>
              <a:t> +1/2 U</a:t>
            </a:r>
            <a:r>
              <a:rPr lang="pl-PL" altLang="ru-RU" sz="2400" b="1" baseline="-25000"/>
              <a:t>0</a:t>
            </a:r>
            <a:r>
              <a:rPr lang="pl-PL" altLang="ru-RU" sz="2400" b="1"/>
              <a:t>·I</a:t>
            </a:r>
            <a:r>
              <a:rPr lang="pl-PL" altLang="ru-RU" sz="2400" b="1" baseline="-25000"/>
              <a:t>0</a:t>
            </a:r>
            <a:r>
              <a:rPr lang="pl-PL" altLang="ru-RU" sz="2400" b="1"/>
              <a:t>·cos(2</a:t>
            </a:r>
            <a:r>
              <a:rPr lang="en-US" altLang="ru-RU" sz="2400" b="1"/>
              <a:t>ω</a:t>
            </a:r>
            <a:r>
              <a:rPr lang="pl-PL" altLang="ru-RU" sz="2400" b="1"/>
              <a:t>t-</a:t>
            </a:r>
            <a:r>
              <a:rPr lang="ru-RU" altLang="ru-RU" sz="2400" b="1"/>
              <a:t>φ</a:t>
            </a:r>
            <a:r>
              <a:rPr lang="pl-PL" altLang="ru-RU" sz="2400" b="1"/>
              <a:t>)</a:t>
            </a:r>
            <a:r>
              <a:rPr lang="ru-RU" altLang="ru-RU" sz="2400" b="1"/>
              <a:t> </a:t>
            </a:r>
          </a:p>
        </p:txBody>
      </p:sp>
      <p:sp>
        <p:nvSpPr>
          <p:cNvPr id="23562" name="AutoShape 13">
            <a:extLst>
              <a:ext uri="{FF2B5EF4-FFF2-40B4-BE49-F238E27FC236}">
                <a16:creationId xmlns:a16="http://schemas.microsoft.com/office/drawing/2014/main" id="{B552596D-AA4F-4C3B-983D-2536CCB0E914}"/>
              </a:ext>
            </a:extLst>
          </p:cNvPr>
          <p:cNvSpPr>
            <a:spLocks noChangeArrowheads="1"/>
          </p:cNvSpPr>
          <p:nvPr/>
        </p:nvSpPr>
        <p:spPr bwMode="auto">
          <a:xfrm>
            <a:off x="2279651" y="4292601"/>
            <a:ext cx="6480175" cy="576263"/>
          </a:xfrm>
          <a:prstGeom prst="wedgeEllipseCallout">
            <a:avLst>
              <a:gd name="adj1" fmla="val 21338"/>
              <a:gd name="adj2" fmla="val -131819"/>
            </a:avLst>
          </a:prstGeom>
          <a:solidFill>
            <a:schemeClr val="accent1"/>
          </a:solidFill>
          <a:ln w="9525">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endParaRPr lang="ru-RU" altLang="ru-RU" sz="1800"/>
          </a:p>
        </p:txBody>
      </p:sp>
      <p:sp>
        <p:nvSpPr>
          <p:cNvPr id="23563" name="Text Box 14">
            <a:extLst>
              <a:ext uri="{FF2B5EF4-FFF2-40B4-BE49-F238E27FC236}">
                <a16:creationId xmlns:a16="http://schemas.microsoft.com/office/drawing/2014/main" id="{59EC1638-1F9A-4E94-BDD3-74998A42F000}"/>
              </a:ext>
            </a:extLst>
          </p:cNvPr>
          <p:cNvSpPr txBox="1">
            <a:spLocks noChangeArrowheads="1"/>
          </p:cNvSpPr>
          <p:nvPr/>
        </p:nvSpPr>
        <p:spPr bwMode="auto">
          <a:xfrm>
            <a:off x="3000375" y="4365626"/>
            <a:ext cx="424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ru-RU" sz="1800" dirty="0">
                <a:solidFill>
                  <a:schemeClr val="bg1"/>
                </a:solidFill>
              </a:rPr>
              <a:t>cosα</a:t>
            </a:r>
            <a:r>
              <a:rPr lang="ru-RU" altLang="ru-RU" sz="1800" dirty="0">
                <a:solidFill>
                  <a:schemeClr val="bg1"/>
                </a:solidFill>
              </a:rPr>
              <a:t>·</a:t>
            </a:r>
            <a:r>
              <a:rPr lang="en-US" altLang="ru-RU" sz="1800" dirty="0">
                <a:solidFill>
                  <a:schemeClr val="bg1"/>
                </a:solidFill>
              </a:rPr>
              <a:t>cosβ</a:t>
            </a:r>
            <a:r>
              <a:rPr lang="ru-RU" altLang="ru-RU" sz="1800" dirty="0">
                <a:solidFill>
                  <a:schemeClr val="bg1"/>
                </a:solidFill>
              </a:rPr>
              <a:t> = 1/2 </a:t>
            </a:r>
            <a:r>
              <a:rPr lang="en-US" altLang="ru-RU" sz="1800" dirty="0">
                <a:solidFill>
                  <a:schemeClr val="bg1"/>
                </a:solidFill>
              </a:rPr>
              <a:t>cos</a:t>
            </a:r>
            <a:r>
              <a:rPr lang="ru-RU" altLang="ru-RU" sz="1800" dirty="0">
                <a:solidFill>
                  <a:schemeClr val="bg1"/>
                </a:solidFill>
              </a:rPr>
              <a:t>(</a:t>
            </a:r>
            <a:r>
              <a:rPr lang="en-US" altLang="ru-RU" sz="1800" dirty="0">
                <a:solidFill>
                  <a:schemeClr val="bg1"/>
                </a:solidFill>
              </a:rPr>
              <a:t>α</a:t>
            </a:r>
            <a:r>
              <a:rPr lang="ru-RU" altLang="ru-RU" sz="1800" dirty="0">
                <a:solidFill>
                  <a:schemeClr val="bg1"/>
                </a:solidFill>
              </a:rPr>
              <a:t>-</a:t>
            </a:r>
            <a:r>
              <a:rPr lang="en-US" altLang="ru-RU" sz="1800" dirty="0">
                <a:solidFill>
                  <a:schemeClr val="bg1"/>
                </a:solidFill>
              </a:rPr>
              <a:t>β</a:t>
            </a:r>
            <a:r>
              <a:rPr lang="ru-RU" altLang="ru-RU" sz="1800" dirty="0">
                <a:solidFill>
                  <a:schemeClr val="bg1"/>
                </a:solidFill>
              </a:rPr>
              <a:t>) +1/2 </a:t>
            </a:r>
            <a:r>
              <a:rPr lang="en-US" altLang="ru-RU" sz="1800" dirty="0">
                <a:solidFill>
                  <a:schemeClr val="bg1"/>
                </a:solidFill>
              </a:rPr>
              <a:t>cos</a:t>
            </a:r>
            <a:r>
              <a:rPr lang="ru-RU" altLang="ru-RU" sz="1800" dirty="0">
                <a:solidFill>
                  <a:schemeClr val="bg1"/>
                </a:solidFill>
              </a:rPr>
              <a:t>(</a:t>
            </a:r>
            <a:r>
              <a:rPr lang="en-US" altLang="ru-RU" sz="1800" dirty="0">
                <a:solidFill>
                  <a:schemeClr val="bg1"/>
                </a:solidFill>
              </a:rPr>
              <a:t>α</a:t>
            </a:r>
            <a:r>
              <a:rPr lang="ru-RU" altLang="ru-RU" sz="1800" dirty="0">
                <a:solidFill>
                  <a:schemeClr val="bg1"/>
                </a:solidFill>
              </a:rPr>
              <a:t>+</a:t>
            </a:r>
            <a:r>
              <a:rPr lang="en-US" altLang="ru-RU" sz="1800" dirty="0">
                <a:solidFill>
                  <a:schemeClr val="bg1"/>
                </a:solidFill>
              </a:rPr>
              <a:t>β)</a:t>
            </a:r>
            <a:r>
              <a:rPr lang="ru-RU" altLang="ru-RU" sz="1800" dirty="0">
                <a:solidFill>
                  <a:schemeClr val="bg1"/>
                </a:solidFill>
              </a:rPr>
              <a:t> </a:t>
            </a:r>
          </a:p>
        </p:txBody>
      </p:sp>
      <p:sp>
        <p:nvSpPr>
          <p:cNvPr id="23564" name="AutoShape 16">
            <a:extLst>
              <a:ext uri="{FF2B5EF4-FFF2-40B4-BE49-F238E27FC236}">
                <a16:creationId xmlns:a16="http://schemas.microsoft.com/office/drawing/2014/main" id="{4B441290-FCB8-471B-BD0A-12D7E45E5865}"/>
              </a:ext>
            </a:extLst>
          </p:cNvPr>
          <p:cNvSpPr>
            <a:spLocks noChangeArrowheads="1"/>
          </p:cNvSpPr>
          <p:nvPr/>
        </p:nvSpPr>
        <p:spPr bwMode="auto">
          <a:xfrm>
            <a:off x="5375276" y="4941888"/>
            <a:ext cx="358775" cy="792162"/>
          </a:xfrm>
          <a:prstGeom prst="downArrow">
            <a:avLst>
              <a:gd name="adj1" fmla="val 50000"/>
              <a:gd name="adj2" fmla="val 55199"/>
            </a:avLst>
          </a:prstGeom>
          <a:solidFill>
            <a:srgbClr val="FF99CC"/>
          </a:solidFill>
          <a:ln w="9525">
            <a:solidFill>
              <a:srgbClr val="FF0000"/>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ru-RU" altLang="ru-RU" sz="1800"/>
          </a:p>
        </p:txBody>
      </p:sp>
      <p:sp>
        <p:nvSpPr>
          <p:cNvPr id="13" name="Прямоугольник 12">
            <a:extLst>
              <a:ext uri="{FF2B5EF4-FFF2-40B4-BE49-F238E27FC236}">
                <a16:creationId xmlns:a16="http://schemas.microsoft.com/office/drawing/2014/main" id="{EC998B4F-945E-4F17-A22B-36F15DDB89AB}"/>
              </a:ext>
            </a:extLst>
          </p:cNvPr>
          <p:cNvSpPr/>
          <p:nvPr/>
        </p:nvSpPr>
        <p:spPr>
          <a:xfrm>
            <a:off x="1291399" y="94079"/>
            <a:ext cx="1479892" cy="369332"/>
          </a:xfrm>
          <a:prstGeom prst="rect">
            <a:avLst/>
          </a:prstGeom>
        </p:spPr>
        <p:txBody>
          <a:bodyPr wrap="none">
            <a:spAutoFit/>
          </a:bodyPr>
          <a:lstStyle/>
          <a:p>
            <a:pPr>
              <a:defRPr/>
            </a:pPr>
            <a:r>
              <a:rPr lang="ru-RU" dirty="0">
                <a:solidFill>
                  <a:schemeClr val="bg1"/>
                </a:solidFill>
              </a:rPr>
              <a:t>Кафедра ТЭЦ</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4">
            <a:extLst>
              <a:ext uri="{FF2B5EF4-FFF2-40B4-BE49-F238E27FC236}">
                <a16:creationId xmlns:a16="http://schemas.microsoft.com/office/drawing/2014/main" id="{C472F8A5-C062-4125-81CD-49575FBB12D5}"/>
              </a:ext>
            </a:extLst>
          </p:cNvPr>
          <p:cNvSpPr txBox="1">
            <a:spLocks noChangeArrowheads="1"/>
          </p:cNvSpPr>
          <p:nvPr/>
        </p:nvSpPr>
        <p:spPr bwMode="auto">
          <a:xfrm>
            <a:off x="2359364" y="539749"/>
            <a:ext cx="8208962"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800" dirty="0"/>
              <a:t>Практический интерес представляет среднее по времени значение мощности. Так как процесс периодический берем среднее значение за период. При этом среднее значение </a:t>
            </a:r>
            <a:r>
              <a:rPr lang="en-US" altLang="ru-RU" sz="1800" dirty="0"/>
              <a:t>   </a:t>
            </a:r>
            <a:endParaRPr lang="ru-RU" altLang="ru-RU" sz="1800" dirty="0"/>
          </a:p>
        </p:txBody>
      </p:sp>
      <p:sp>
        <p:nvSpPr>
          <p:cNvPr id="24579" name="Text Box 5">
            <a:extLst>
              <a:ext uri="{FF2B5EF4-FFF2-40B4-BE49-F238E27FC236}">
                <a16:creationId xmlns:a16="http://schemas.microsoft.com/office/drawing/2014/main" id="{900B9317-B22F-4CFC-A92B-500CD89D99BB}"/>
              </a:ext>
            </a:extLst>
          </p:cNvPr>
          <p:cNvSpPr txBox="1">
            <a:spLocks noChangeArrowheads="1"/>
          </p:cNvSpPr>
          <p:nvPr/>
        </p:nvSpPr>
        <p:spPr bwMode="auto">
          <a:xfrm>
            <a:off x="6743700" y="1196976"/>
            <a:ext cx="1873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pl-PL" altLang="ru-RU" sz="1800"/>
              <a:t>cos</a:t>
            </a:r>
            <a:r>
              <a:rPr lang="ru-RU" altLang="ru-RU" sz="1800"/>
              <a:t>(2</a:t>
            </a:r>
            <a:r>
              <a:rPr lang="en-US" altLang="ru-RU" sz="1800"/>
              <a:t>ω</a:t>
            </a:r>
            <a:r>
              <a:rPr lang="pl-PL" altLang="ru-RU" sz="1800"/>
              <a:t>t</a:t>
            </a:r>
            <a:r>
              <a:rPr lang="ru-RU" altLang="ru-RU" sz="1800"/>
              <a:t>-φ) = 0 </a:t>
            </a:r>
          </a:p>
        </p:txBody>
      </p:sp>
      <p:sp>
        <p:nvSpPr>
          <p:cNvPr id="24580" name="Text Box 6">
            <a:extLst>
              <a:ext uri="{FF2B5EF4-FFF2-40B4-BE49-F238E27FC236}">
                <a16:creationId xmlns:a16="http://schemas.microsoft.com/office/drawing/2014/main" id="{705AF37C-AA1D-4097-93EB-6CB5D338F3C3}"/>
              </a:ext>
            </a:extLst>
          </p:cNvPr>
          <p:cNvSpPr txBox="1">
            <a:spLocks noChangeArrowheads="1"/>
          </p:cNvSpPr>
          <p:nvPr/>
        </p:nvSpPr>
        <p:spPr bwMode="auto">
          <a:xfrm>
            <a:off x="2927351" y="1844675"/>
            <a:ext cx="6264275" cy="523220"/>
          </a:xfrm>
          <a:prstGeom prst="rect">
            <a:avLst/>
          </a:prstGeom>
          <a:noFill/>
          <a:ln w="76200" cmpd="tri">
            <a:solidFill>
              <a:srgbClr val="3366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2800"/>
              <a:t>Р</a:t>
            </a:r>
            <a:r>
              <a:rPr lang="pl-PL" altLang="ru-RU" sz="2800"/>
              <a:t>(t) = 1/2U</a:t>
            </a:r>
            <a:r>
              <a:rPr lang="pl-PL" altLang="ru-RU" sz="2800" baseline="-25000"/>
              <a:t>0</a:t>
            </a:r>
            <a:r>
              <a:rPr lang="pl-PL" altLang="ru-RU" sz="2800"/>
              <a:t>·I</a:t>
            </a:r>
            <a:r>
              <a:rPr lang="pl-PL" altLang="ru-RU" sz="2800" baseline="-25000"/>
              <a:t>0</a:t>
            </a:r>
            <a:r>
              <a:rPr lang="pl-PL" altLang="ru-RU" sz="2800"/>
              <a:t>·cos</a:t>
            </a:r>
            <a:r>
              <a:rPr lang="ru-RU" altLang="ru-RU" sz="2800"/>
              <a:t>φ</a:t>
            </a:r>
            <a:r>
              <a:rPr lang="pl-PL" altLang="ru-RU" sz="2800"/>
              <a:t> = U</a:t>
            </a:r>
            <a:r>
              <a:rPr lang="ru-RU" altLang="ru-RU" sz="2800" baseline="-25000"/>
              <a:t>Э</a:t>
            </a:r>
            <a:r>
              <a:rPr lang="pl-PL" altLang="ru-RU" sz="2800"/>
              <a:t>·I</a:t>
            </a:r>
            <a:r>
              <a:rPr lang="ru-RU" altLang="ru-RU" sz="2800" baseline="-25000"/>
              <a:t>Э</a:t>
            </a:r>
            <a:r>
              <a:rPr lang="pl-PL" altLang="ru-RU" sz="2800"/>
              <a:t>·cos</a:t>
            </a:r>
            <a:r>
              <a:rPr lang="ru-RU" altLang="ru-RU" sz="2800"/>
              <a:t>φ </a:t>
            </a:r>
          </a:p>
        </p:txBody>
      </p:sp>
      <p:graphicFrame>
        <p:nvGraphicFramePr>
          <p:cNvPr id="24581" name="Object 9">
            <a:extLst>
              <a:ext uri="{FF2B5EF4-FFF2-40B4-BE49-F238E27FC236}">
                <a16:creationId xmlns:a16="http://schemas.microsoft.com/office/drawing/2014/main" id="{8224BE6D-37E4-41D7-A0BE-4FC5D847F773}"/>
              </a:ext>
            </a:extLst>
          </p:cNvPr>
          <p:cNvGraphicFramePr>
            <a:graphicFrameLocks noChangeAspect="1"/>
          </p:cNvGraphicFramePr>
          <p:nvPr/>
        </p:nvGraphicFramePr>
        <p:xfrm>
          <a:off x="3719514" y="2708275"/>
          <a:ext cx="4105275" cy="1212850"/>
        </p:xfrm>
        <a:graphic>
          <a:graphicData uri="http://schemas.openxmlformats.org/presentationml/2006/ole">
            <mc:AlternateContent xmlns:mc="http://schemas.openxmlformats.org/markup-compatibility/2006">
              <mc:Choice xmlns:v="urn:schemas-microsoft-com:vml" Requires="v">
                <p:oleObj name="Формула" r:id="rId2" imgW="1459866" imgH="431613" progId="Equation.3">
                  <p:embed/>
                </p:oleObj>
              </mc:Choice>
              <mc:Fallback>
                <p:oleObj name="Формула" r:id="rId2" imgW="1459866" imgH="431613" progId="Equation.3">
                  <p:embed/>
                  <p:pic>
                    <p:nvPicPr>
                      <p:cNvPr id="24581" name="Object 9">
                        <a:extLst>
                          <a:ext uri="{FF2B5EF4-FFF2-40B4-BE49-F238E27FC236}">
                            <a16:creationId xmlns:a16="http://schemas.microsoft.com/office/drawing/2014/main" id="{8224BE6D-37E4-41D7-A0BE-4FC5D847F7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9514" y="2708275"/>
                        <a:ext cx="4105275" cy="1212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4582" name="Group 13">
            <a:extLst>
              <a:ext uri="{FF2B5EF4-FFF2-40B4-BE49-F238E27FC236}">
                <a16:creationId xmlns:a16="http://schemas.microsoft.com/office/drawing/2014/main" id="{6984B6DF-1AD1-4ABE-9C2E-3D34569F4022}"/>
              </a:ext>
            </a:extLst>
          </p:cNvPr>
          <p:cNvGrpSpPr>
            <a:grpSpLocks/>
          </p:cNvGrpSpPr>
          <p:nvPr/>
        </p:nvGrpSpPr>
        <p:grpSpPr bwMode="auto">
          <a:xfrm>
            <a:off x="3575050" y="4699001"/>
            <a:ext cx="5257800" cy="1609725"/>
            <a:chOff x="1292" y="2960"/>
            <a:chExt cx="3312" cy="1014"/>
          </a:xfrm>
        </p:grpSpPr>
        <p:graphicFrame>
          <p:nvGraphicFramePr>
            <p:cNvPr id="24585" name="Object 10">
              <a:extLst>
                <a:ext uri="{FF2B5EF4-FFF2-40B4-BE49-F238E27FC236}">
                  <a16:creationId xmlns:a16="http://schemas.microsoft.com/office/drawing/2014/main" id="{B252B371-ACED-4E95-A64D-DA70CC16CEFF}"/>
                </a:ext>
              </a:extLst>
            </p:cNvPr>
            <p:cNvGraphicFramePr>
              <a:graphicFrameLocks noChangeAspect="1"/>
            </p:cNvGraphicFramePr>
            <p:nvPr/>
          </p:nvGraphicFramePr>
          <p:xfrm>
            <a:off x="1292" y="3022"/>
            <a:ext cx="3312" cy="782"/>
          </p:xfrm>
          <a:graphic>
            <a:graphicData uri="http://schemas.openxmlformats.org/presentationml/2006/ole">
              <mc:AlternateContent xmlns:mc="http://schemas.openxmlformats.org/markup-compatibility/2006">
                <mc:Choice xmlns:v="urn:schemas-microsoft-com:vml" Requires="v">
                  <p:oleObj name="Формула" r:id="rId4" imgW="1828800" imgH="431800" progId="Equation.3">
                    <p:embed/>
                  </p:oleObj>
                </mc:Choice>
                <mc:Fallback>
                  <p:oleObj name="Формула" r:id="rId4" imgW="1828800" imgH="431800" progId="Equation.3">
                    <p:embed/>
                    <p:pic>
                      <p:nvPicPr>
                        <p:cNvPr id="24585" name="Object 10">
                          <a:extLst>
                            <a:ext uri="{FF2B5EF4-FFF2-40B4-BE49-F238E27FC236}">
                              <a16:creationId xmlns:a16="http://schemas.microsoft.com/office/drawing/2014/main" id="{B252B371-ACED-4E95-A64D-DA70CC16CEF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2" y="3022"/>
                          <a:ext cx="3312" cy="7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586" name="Freeform 11">
              <a:extLst>
                <a:ext uri="{FF2B5EF4-FFF2-40B4-BE49-F238E27FC236}">
                  <a16:creationId xmlns:a16="http://schemas.microsoft.com/office/drawing/2014/main" id="{14B8A6EF-D3AE-4D53-AC56-86F53D210548}"/>
                </a:ext>
              </a:extLst>
            </p:cNvPr>
            <p:cNvSpPr>
              <a:spLocks/>
            </p:cNvSpPr>
            <p:nvPr/>
          </p:nvSpPr>
          <p:spPr bwMode="auto">
            <a:xfrm>
              <a:off x="1746" y="2960"/>
              <a:ext cx="1147" cy="1014"/>
            </a:xfrm>
            <a:custGeom>
              <a:avLst/>
              <a:gdLst>
                <a:gd name="T0" fmla="*/ 521 w 1147"/>
                <a:gd name="T1" fmla="*/ 597 h 1014"/>
                <a:gd name="T2" fmla="*/ 93 w 1147"/>
                <a:gd name="T3" fmla="*/ 490 h 1014"/>
                <a:gd name="T4" fmla="*/ 27 w 1147"/>
                <a:gd name="T5" fmla="*/ 62 h 1014"/>
                <a:gd name="T6" fmla="*/ 258 w 1147"/>
                <a:gd name="T7" fmla="*/ 120 h 1014"/>
                <a:gd name="T8" fmla="*/ 529 w 1147"/>
                <a:gd name="T9" fmla="*/ 482 h 1014"/>
                <a:gd name="T10" fmla="*/ 1048 w 1147"/>
                <a:gd name="T11" fmla="*/ 520 h 1014"/>
                <a:gd name="T12" fmla="*/ 1122 w 1147"/>
                <a:gd name="T13" fmla="*/ 799 h 1014"/>
                <a:gd name="T14" fmla="*/ 895 w 1147"/>
                <a:gd name="T15" fmla="*/ 980 h 1014"/>
                <a:gd name="T16" fmla="*/ 521 w 1147"/>
                <a:gd name="T17" fmla="*/ 597 h 10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47"/>
                <a:gd name="T28" fmla="*/ 0 h 1014"/>
                <a:gd name="T29" fmla="*/ 1147 w 1147"/>
                <a:gd name="T30" fmla="*/ 1014 h 101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47" h="1014">
                  <a:moveTo>
                    <a:pt x="521" y="597"/>
                  </a:moveTo>
                  <a:cubicBezTo>
                    <a:pt x="387" y="515"/>
                    <a:pt x="175" y="579"/>
                    <a:pt x="93" y="490"/>
                  </a:cubicBezTo>
                  <a:cubicBezTo>
                    <a:pt x="11" y="401"/>
                    <a:pt x="0" y="124"/>
                    <a:pt x="27" y="62"/>
                  </a:cubicBezTo>
                  <a:cubicBezTo>
                    <a:pt x="54" y="0"/>
                    <a:pt x="174" y="50"/>
                    <a:pt x="258" y="120"/>
                  </a:cubicBezTo>
                  <a:cubicBezTo>
                    <a:pt x="342" y="190"/>
                    <a:pt x="397" y="415"/>
                    <a:pt x="529" y="482"/>
                  </a:cubicBezTo>
                  <a:cubicBezTo>
                    <a:pt x="661" y="549"/>
                    <a:pt x="949" y="467"/>
                    <a:pt x="1048" y="520"/>
                  </a:cubicBezTo>
                  <a:cubicBezTo>
                    <a:pt x="1147" y="573"/>
                    <a:pt x="1147" y="722"/>
                    <a:pt x="1122" y="799"/>
                  </a:cubicBezTo>
                  <a:cubicBezTo>
                    <a:pt x="1097" y="876"/>
                    <a:pt x="995" y="1014"/>
                    <a:pt x="895" y="980"/>
                  </a:cubicBezTo>
                  <a:cubicBezTo>
                    <a:pt x="795" y="946"/>
                    <a:pt x="655" y="679"/>
                    <a:pt x="521" y="597"/>
                  </a:cubicBezTo>
                  <a:close/>
                </a:path>
              </a:pathLst>
            </a:cu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ru-RU"/>
            </a:p>
          </p:txBody>
        </p:sp>
      </p:grpSp>
      <p:sp>
        <p:nvSpPr>
          <p:cNvPr id="24583" name="AutoShape 15">
            <a:extLst>
              <a:ext uri="{FF2B5EF4-FFF2-40B4-BE49-F238E27FC236}">
                <a16:creationId xmlns:a16="http://schemas.microsoft.com/office/drawing/2014/main" id="{2909EE11-E664-4340-8415-5EFEF5332DD4}"/>
              </a:ext>
            </a:extLst>
          </p:cNvPr>
          <p:cNvSpPr>
            <a:spLocks noChangeArrowheads="1"/>
          </p:cNvSpPr>
          <p:nvPr/>
        </p:nvSpPr>
        <p:spPr bwMode="auto">
          <a:xfrm>
            <a:off x="7319963" y="4221164"/>
            <a:ext cx="2843212" cy="719137"/>
          </a:xfrm>
          <a:prstGeom prst="wedgeRoundRectCallout">
            <a:avLst>
              <a:gd name="adj1" fmla="val -162282"/>
              <a:gd name="adj2" fmla="val -138741"/>
              <a:gd name="adj3" fmla="val 16667"/>
            </a:avLst>
          </a:prstGeom>
          <a:solidFill>
            <a:schemeClr val="accent1"/>
          </a:solidFill>
          <a:ln w="9525">
            <a:solidFill>
              <a:schemeClr val="tx1"/>
            </a:solidFill>
            <a:miter lim="800000"/>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endParaRPr lang="ru-RU" altLang="ru-RU" sz="1800"/>
          </a:p>
        </p:txBody>
      </p:sp>
      <p:sp>
        <p:nvSpPr>
          <p:cNvPr id="24584" name="Text Box 16">
            <a:extLst>
              <a:ext uri="{FF2B5EF4-FFF2-40B4-BE49-F238E27FC236}">
                <a16:creationId xmlns:a16="http://schemas.microsoft.com/office/drawing/2014/main" id="{AA7ED944-F389-4C07-A4CC-DE11ACD2DFBE}"/>
              </a:ext>
            </a:extLst>
          </p:cNvPr>
          <p:cNvSpPr txBox="1">
            <a:spLocks noChangeArrowheads="1"/>
          </p:cNvSpPr>
          <p:nvPr/>
        </p:nvSpPr>
        <p:spPr bwMode="auto">
          <a:xfrm>
            <a:off x="7464426" y="4221163"/>
            <a:ext cx="237331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800" dirty="0">
                <a:solidFill>
                  <a:schemeClr val="bg1"/>
                </a:solidFill>
              </a:rPr>
              <a:t>–</a:t>
            </a:r>
            <a:r>
              <a:rPr lang="ru-RU" altLang="ru-RU" sz="1800" b="1" i="1" dirty="0">
                <a:solidFill>
                  <a:schemeClr val="bg1"/>
                </a:solidFill>
              </a:rPr>
              <a:t>коэффициент мощности</a:t>
            </a:r>
            <a:r>
              <a:rPr lang="ru-RU" altLang="ru-RU" sz="1800" dirty="0">
                <a:solidFill>
                  <a:schemeClr val="bg1"/>
                </a:solidFill>
              </a:rPr>
              <a:t>. </a:t>
            </a:r>
          </a:p>
        </p:txBody>
      </p:sp>
      <p:sp>
        <p:nvSpPr>
          <p:cNvPr id="11" name="Прямоугольник 10">
            <a:extLst>
              <a:ext uri="{FF2B5EF4-FFF2-40B4-BE49-F238E27FC236}">
                <a16:creationId xmlns:a16="http://schemas.microsoft.com/office/drawing/2014/main" id="{E9B9602B-6D7C-4113-9A8D-40BE24A77092}"/>
              </a:ext>
            </a:extLst>
          </p:cNvPr>
          <p:cNvSpPr/>
          <p:nvPr/>
        </p:nvSpPr>
        <p:spPr>
          <a:xfrm>
            <a:off x="1291399" y="94079"/>
            <a:ext cx="1479892" cy="369332"/>
          </a:xfrm>
          <a:prstGeom prst="rect">
            <a:avLst/>
          </a:prstGeom>
        </p:spPr>
        <p:txBody>
          <a:bodyPr wrap="none">
            <a:spAutoFit/>
          </a:bodyPr>
          <a:lstStyle/>
          <a:p>
            <a:pPr>
              <a:defRPr/>
            </a:pPr>
            <a:r>
              <a:rPr lang="ru-RU" dirty="0">
                <a:solidFill>
                  <a:schemeClr val="bg1"/>
                </a:solidFill>
              </a:rPr>
              <a:t>Кафедра ТЭЦ</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602" name="Object 4">
            <a:extLst>
              <a:ext uri="{FF2B5EF4-FFF2-40B4-BE49-F238E27FC236}">
                <a16:creationId xmlns:a16="http://schemas.microsoft.com/office/drawing/2014/main" id="{8E943D1B-B48D-472D-8E24-C26281F148B3}"/>
              </a:ext>
            </a:extLst>
          </p:cNvPr>
          <p:cNvGraphicFramePr>
            <a:graphicFrameLocks noChangeAspect="1"/>
          </p:cNvGraphicFramePr>
          <p:nvPr/>
        </p:nvGraphicFramePr>
        <p:xfrm>
          <a:off x="6888163" y="1125539"/>
          <a:ext cx="2520950" cy="993775"/>
        </p:xfrm>
        <a:graphic>
          <a:graphicData uri="http://schemas.openxmlformats.org/presentationml/2006/ole">
            <mc:AlternateContent xmlns:mc="http://schemas.openxmlformats.org/markup-compatibility/2006">
              <mc:Choice xmlns:v="urn:schemas-microsoft-com:vml" Requires="v">
                <p:oleObj name="Формула" r:id="rId2" imgW="1002865" imgH="393529" progId="Equation.3">
                  <p:embed/>
                </p:oleObj>
              </mc:Choice>
              <mc:Fallback>
                <p:oleObj name="Формула" r:id="rId2" imgW="1002865" imgH="393529" progId="Equation.3">
                  <p:embed/>
                  <p:pic>
                    <p:nvPicPr>
                      <p:cNvPr id="25602" name="Object 4">
                        <a:extLst>
                          <a:ext uri="{FF2B5EF4-FFF2-40B4-BE49-F238E27FC236}">
                            <a16:creationId xmlns:a16="http://schemas.microsoft.com/office/drawing/2014/main" id="{8E943D1B-B48D-472D-8E24-C26281F148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8163" y="1125539"/>
                        <a:ext cx="2520950" cy="993775"/>
                      </a:xfrm>
                      <a:prstGeom prst="rect">
                        <a:avLst/>
                      </a:prstGeom>
                      <a:noFill/>
                      <a:ln w="38100" cmpd="dbl">
                        <a:solidFill>
                          <a:srgbClr val="80008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03" name="Text Box 5">
            <a:extLst>
              <a:ext uri="{FF2B5EF4-FFF2-40B4-BE49-F238E27FC236}">
                <a16:creationId xmlns:a16="http://schemas.microsoft.com/office/drawing/2014/main" id="{CC07D685-953B-4DCC-B56F-9C5139A0DD52}"/>
              </a:ext>
            </a:extLst>
          </p:cNvPr>
          <p:cNvSpPr txBox="1">
            <a:spLocks noChangeArrowheads="1"/>
          </p:cNvSpPr>
          <p:nvPr/>
        </p:nvSpPr>
        <p:spPr bwMode="auto">
          <a:xfrm>
            <a:off x="1352275" y="614363"/>
            <a:ext cx="453548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800" dirty="0"/>
              <a:t>Закон Ома для  однородного участка цепи ( не содержащего источников тока)</a:t>
            </a:r>
          </a:p>
        </p:txBody>
      </p:sp>
      <p:graphicFrame>
        <p:nvGraphicFramePr>
          <p:cNvPr id="25604" name="Object 6">
            <a:extLst>
              <a:ext uri="{FF2B5EF4-FFF2-40B4-BE49-F238E27FC236}">
                <a16:creationId xmlns:a16="http://schemas.microsoft.com/office/drawing/2014/main" id="{019B2A1B-9758-4529-9E82-B17F1EA6B18D}"/>
              </a:ext>
            </a:extLst>
          </p:cNvPr>
          <p:cNvGraphicFramePr>
            <a:graphicFrameLocks noChangeAspect="1"/>
          </p:cNvGraphicFramePr>
          <p:nvPr/>
        </p:nvGraphicFramePr>
        <p:xfrm>
          <a:off x="7535863" y="2565400"/>
          <a:ext cx="1420812" cy="668338"/>
        </p:xfrm>
        <a:graphic>
          <a:graphicData uri="http://schemas.openxmlformats.org/presentationml/2006/ole">
            <mc:AlternateContent xmlns:mc="http://schemas.openxmlformats.org/markup-compatibility/2006">
              <mc:Choice xmlns:v="urn:schemas-microsoft-com:vml" Requires="v">
                <p:oleObj name="Формула" r:id="rId4" imgW="431613" imgH="203112" progId="Equation.3">
                  <p:embed/>
                </p:oleObj>
              </mc:Choice>
              <mc:Fallback>
                <p:oleObj name="Формула" r:id="rId4" imgW="431613" imgH="203112" progId="Equation.3">
                  <p:embed/>
                  <p:pic>
                    <p:nvPicPr>
                      <p:cNvPr id="25604" name="Object 6">
                        <a:extLst>
                          <a:ext uri="{FF2B5EF4-FFF2-40B4-BE49-F238E27FC236}">
                            <a16:creationId xmlns:a16="http://schemas.microsoft.com/office/drawing/2014/main" id="{019B2A1B-9758-4529-9E82-B17F1EA6B18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35863" y="2565400"/>
                        <a:ext cx="1420812" cy="668338"/>
                      </a:xfrm>
                      <a:prstGeom prst="rect">
                        <a:avLst/>
                      </a:prstGeom>
                      <a:noFill/>
                      <a:ln w="76200" cmpd="tri">
                        <a:solidFill>
                          <a:srgbClr val="0000FF"/>
                        </a:solidFill>
                        <a:miter lim="800000"/>
                        <a:headEnd/>
                        <a:tailEnd/>
                      </a:ln>
                      <a:effectLst/>
                      <a:extLst>
                        <a:ext uri="{909E8E84-426E-40DD-AFC4-6F175D3DCCD1}">
                          <a14:hiddenFill xmlns:a14="http://schemas.microsoft.com/office/drawing/2010/main">
                            <a:solidFill>
                              <a:srgbClr val="FFFF99">
                                <a:alpha val="27058"/>
                              </a:srgbClr>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05" name="Text Box 7">
            <a:extLst>
              <a:ext uri="{FF2B5EF4-FFF2-40B4-BE49-F238E27FC236}">
                <a16:creationId xmlns:a16="http://schemas.microsoft.com/office/drawing/2014/main" id="{75187D7B-C8E2-40E3-B401-FE7B135FE28F}"/>
              </a:ext>
            </a:extLst>
          </p:cNvPr>
          <p:cNvSpPr txBox="1">
            <a:spLocks noChangeArrowheads="1"/>
          </p:cNvSpPr>
          <p:nvPr/>
        </p:nvSpPr>
        <p:spPr bwMode="auto">
          <a:xfrm>
            <a:off x="6024563" y="2133600"/>
            <a:ext cx="3529012"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800" i="1">
                <a:solidFill>
                  <a:srgbClr val="FF0066"/>
                </a:solidFill>
              </a:rPr>
              <a:t>2.</a:t>
            </a:r>
            <a:r>
              <a:rPr lang="ru-RU" altLang="ru-RU" sz="1800" i="1"/>
              <a:t> В </a:t>
            </a:r>
            <a:r>
              <a:rPr lang="ru-RU" altLang="ru-RU" sz="1800" i="1" u="sng"/>
              <a:t>дифференциальной форме</a:t>
            </a:r>
            <a:r>
              <a:rPr lang="ru-RU" altLang="ru-RU" sz="1800" i="1"/>
              <a:t>:</a:t>
            </a:r>
          </a:p>
        </p:txBody>
      </p:sp>
      <p:sp>
        <p:nvSpPr>
          <p:cNvPr id="25606" name="Text Box 8">
            <a:extLst>
              <a:ext uri="{FF2B5EF4-FFF2-40B4-BE49-F238E27FC236}">
                <a16:creationId xmlns:a16="http://schemas.microsoft.com/office/drawing/2014/main" id="{5A944B03-9BB0-4422-83E9-72AA65EF4504}"/>
              </a:ext>
            </a:extLst>
          </p:cNvPr>
          <p:cNvSpPr txBox="1">
            <a:spLocks noChangeArrowheads="1"/>
          </p:cNvSpPr>
          <p:nvPr/>
        </p:nvSpPr>
        <p:spPr bwMode="auto">
          <a:xfrm>
            <a:off x="5951538" y="765176"/>
            <a:ext cx="4248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800">
                <a:solidFill>
                  <a:srgbClr val="FF0066"/>
                </a:solidFill>
              </a:rPr>
              <a:t>1.</a:t>
            </a:r>
            <a:r>
              <a:rPr lang="ru-RU" altLang="ru-RU" sz="1800"/>
              <a:t> В </a:t>
            </a:r>
            <a:r>
              <a:rPr lang="ru-RU" altLang="ru-RU" sz="1800" i="1" u="sng"/>
              <a:t>интегральной форме:</a:t>
            </a:r>
          </a:p>
        </p:txBody>
      </p:sp>
      <p:pic>
        <p:nvPicPr>
          <p:cNvPr id="25607" name="Picture 9">
            <a:extLst>
              <a:ext uri="{FF2B5EF4-FFF2-40B4-BE49-F238E27FC236}">
                <a16:creationId xmlns:a16="http://schemas.microsoft.com/office/drawing/2014/main" id="{F93C6A84-3B30-48E4-8340-61949845B56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35639" y="3789363"/>
            <a:ext cx="4681537" cy="125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8" name="Text Box 10">
            <a:extLst>
              <a:ext uri="{FF2B5EF4-FFF2-40B4-BE49-F238E27FC236}">
                <a16:creationId xmlns:a16="http://schemas.microsoft.com/office/drawing/2014/main" id="{A583B23D-4080-4A99-97E2-971619BE6E3B}"/>
              </a:ext>
            </a:extLst>
          </p:cNvPr>
          <p:cNvSpPr txBox="1">
            <a:spLocks noChangeArrowheads="1"/>
          </p:cNvSpPr>
          <p:nvPr/>
        </p:nvSpPr>
        <p:spPr bwMode="auto">
          <a:xfrm>
            <a:off x="5662614" y="3213100"/>
            <a:ext cx="500538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800">
                <a:solidFill>
                  <a:srgbClr val="FF0066"/>
                </a:solidFill>
              </a:rPr>
              <a:t>3.</a:t>
            </a:r>
            <a:r>
              <a:rPr lang="ru-RU" altLang="ru-RU" sz="1800"/>
              <a:t> Закон Ома для  неоднородного участка цепи (содержащего источник тока)</a:t>
            </a:r>
          </a:p>
        </p:txBody>
      </p:sp>
      <p:sp>
        <p:nvSpPr>
          <p:cNvPr id="25609" name="Text Box 11">
            <a:extLst>
              <a:ext uri="{FF2B5EF4-FFF2-40B4-BE49-F238E27FC236}">
                <a16:creationId xmlns:a16="http://schemas.microsoft.com/office/drawing/2014/main" id="{CA4A3A9E-78EC-4D4C-8978-7139F81B034D}"/>
              </a:ext>
            </a:extLst>
          </p:cNvPr>
          <p:cNvSpPr txBox="1">
            <a:spLocks noChangeArrowheads="1"/>
          </p:cNvSpPr>
          <p:nvPr/>
        </p:nvSpPr>
        <p:spPr bwMode="auto">
          <a:xfrm>
            <a:off x="5735639" y="5013326"/>
            <a:ext cx="50053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1800">
                <a:solidFill>
                  <a:srgbClr val="FF0066"/>
                </a:solidFill>
              </a:rPr>
              <a:t>4.</a:t>
            </a:r>
            <a:r>
              <a:rPr lang="ru-RU" altLang="ru-RU" sz="1800"/>
              <a:t> Закон Ома для  переменного тока</a:t>
            </a:r>
          </a:p>
        </p:txBody>
      </p:sp>
      <p:graphicFrame>
        <p:nvGraphicFramePr>
          <p:cNvPr id="25610" name="Object 12">
            <a:extLst>
              <a:ext uri="{FF2B5EF4-FFF2-40B4-BE49-F238E27FC236}">
                <a16:creationId xmlns:a16="http://schemas.microsoft.com/office/drawing/2014/main" id="{13E551FA-4595-412C-9A74-DA47A82E98EB}"/>
              </a:ext>
            </a:extLst>
          </p:cNvPr>
          <p:cNvGraphicFramePr>
            <a:graphicFrameLocks noChangeAspect="1"/>
          </p:cNvGraphicFramePr>
          <p:nvPr/>
        </p:nvGraphicFramePr>
        <p:xfrm>
          <a:off x="4151314" y="5445126"/>
          <a:ext cx="6264275" cy="1274763"/>
        </p:xfrm>
        <a:graphic>
          <a:graphicData uri="http://schemas.openxmlformats.org/presentationml/2006/ole">
            <mc:AlternateContent xmlns:mc="http://schemas.openxmlformats.org/markup-compatibility/2006">
              <mc:Choice xmlns:v="urn:schemas-microsoft-com:vml" Requires="v">
                <p:oleObj name="Формула" r:id="rId7" imgW="2197100" imgH="444500" progId="Equation.3">
                  <p:embed/>
                </p:oleObj>
              </mc:Choice>
              <mc:Fallback>
                <p:oleObj name="Формула" r:id="rId7" imgW="2197100" imgH="444500" progId="Equation.3">
                  <p:embed/>
                  <p:pic>
                    <p:nvPicPr>
                      <p:cNvPr id="25610" name="Object 12">
                        <a:extLst>
                          <a:ext uri="{FF2B5EF4-FFF2-40B4-BE49-F238E27FC236}">
                            <a16:creationId xmlns:a16="http://schemas.microsoft.com/office/drawing/2014/main" id="{13E551FA-4595-412C-9A74-DA47A82E98E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51314" y="5445126"/>
                        <a:ext cx="6264275" cy="1274763"/>
                      </a:xfrm>
                      <a:prstGeom prst="rect">
                        <a:avLst/>
                      </a:prstGeom>
                      <a:solidFill>
                        <a:srgbClr val="FFFF99"/>
                      </a:solidFill>
                      <a:ln w="57150" cmpd="thinThick">
                        <a:solidFill>
                          <a:srgbClr val="800080"/>
                        </a:solidFill>
                        <a:miter lim="800000"/>
                        <a:headEnd/>
                        <a:tailEnd/>
                      </a:ln>
                    </p:spPr>
                  </p:pic>
                </p:oleObj>
              </mc:Fallback>
            </mc:AlternateContent>
          </a:graphicData>
        </a:graphic>
      </p:graphicFrame>
      <p:sp>
        <p:nvSpPr>
          <p:cNvPr id="25611" name="Text Box 13">
            <a:extLst>
              <a:ext uri="{FF2B5EF4-FFF2-40B4-BE49-F238E27FC236}">
                <a16:creationId xmlns:a16="http://schemas.microsoft.com/office/drawing/2014/main" id="{89BD5FF3-1C09-4514-92E3-730A3523A4CA}"/>
              </a:ext>
            </a:extLst>
          </p:cNvPr>
          <p:cNvSpPr txBox="1">
            <a:spLocks noChangeArrowheads="1"/>
          </p:cNvSpPr>
          <p:nvPr/>
        </p:nvSpPr>
        <p:spPr bwMode="auto">
          <a:xfrm>
            <a:off x="1703389" y="2205039"/>
            <a:ext cx="3673475"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ru-RU" altLang="ru-RU" sz="3600" b="1">
                <a:solidFill>
                  <a:srgbClr val="FF0066"/>
                </a:solidFill>
              </a:rPr>
              <a:t>4 формы </a:t>
            </a:r>
            <a:br>
              <a:rPr lang="ru-RU" altLang="ru-RU" sz="3600" b="1">
                <a:solidFill>
                  <a:srgbClr val="FF0066"/>
                </a:solidFill>
              </a:rPr>
            </a:br>
            <a:r>
              <a:rPr lang="ru-RU" altLang="ru-RU" sz="3600" b="1">
                <a:solidFill>
                  <a:srgbClr val="FF0066"/>
                </a:solidFill>
              </a:rPr>
              <a:t>закона Ома</a:t>
            </a:r>
          </a:p>
        </p:txBody>
      </p:sp>
      <p:sp>
        <p:nvSpPr>
          <p:cNvPr id="12" name="Прямоугольник 11">
            <a:extLst>
              <a:ext uri="{FF2B5EF4-FFF2-40B4-BE49-F238E27FC236}">
                <a16:creationId xmlns:a16="http://schemas.microsoft.com/office/drawing/2014/main" id="{6B286510-DA33-4F15-843C-3B0E98E088A4}"/>
              </a:ext>
            </a:extLst>
          </p:cNvPr>
          <p:cNvSpPr/>
          <p:nvPr/>
        </p:nvSpPr>
        <p:spPr>
          <a:xfrm>
            <a:off x="1291399" y="94079"/>
            <a:ext cx="1479892" cy="369332"/>
          </a:xfrm>
          <a:prstGeom prst="rect">
            <a:avLst/>
          </a:prstGeom>
        </p:spPr>
        <p:txBody>
          <a:bodyPr wrap="none">
            <a:spAutoFit/>
          </a:bodyPr>
          <a:lstStyle/>
          <a:p>
            <a:pPr>
              <a:defRPr/>
            </a:pPr>
            <a:r>
              <a:rPr lang="ru-RU" dirty="0">
                <a:solidFill>
                  <a:schemeClr val="bg1"/>
                </a:solidFill>
              </a:rPr>
              <a:t>Кафедра ТЭЦ</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Номер слайда 5">
            <a:extLst>
              <a:ext uri="{FF2B5EF4-FFF2-40B4-BE49-F238E27FC236}">
                <a16:creationId xmlns:a16="http://schemas.microsoft.com/office/drawing/2014/main" id="{D144471F-9AAE-4127-8C74-DC8446991F27}"/>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1BB0E105-57BA-493B-B12B-D3384B58C4A3}" type="slidenum">
              <a:rPr lang="ru-RU" altLang="ru-RU" sz="1200">
                <a:latin typeface="Arial Black" panose="020B0A04020102020204" pitchFamily="34" charset="0"/>
              </a:rPr>
              <a:pPr>
                <a:spcBef>
                  <a:spcPct val="0"/>
                </a:spcBef>
                <a:buClrTx/>
                <a:buSzTx/>
                <a:buFontTx/>
                <a:buNone/>
              </a:pPr>
              <a:t>30</a:t>
            </a:fld>
            <a:endParaRPr lang="ru-RU" altLang="ru-RU" sz="1200">
              <a:latin typeface="Arial Black" panose="020B0A04020102020204" pitchFamily="34" charset="0"/>
            </a:endParaRPr>
          </a:p>
        </p:txBody>
      </p:sp>
      <p:graphicFrame>
        <p:nvGraphicFramePr>
          <p:cNvPr id="2117" name="Object 69">
            <a:extLst>
              <a:ext uri="{FF2B5EF4-FFF2-40B4-BE49-F238E27FC236}">
                <a16:creationId xmlns:a16="http://schemas.microsoft.com/office/drawing/2014/main" id="{8776E0F3-FC11-44B8-8C0F-32770770BF46}"/>
              </a:ext>
            </a:extLst>
          </p:cNvPr>
          <p:cNvGraphicFramePr>
            <a:graphicFrameLocks noGrp="1" noChangeAspect="1"/>
          </p:cNvGraphicFramePr>
          <p:nvPr>
            <p:ph sz="half" idx="1"/>
          </p:nvPr>
        </p:nvGraphicFramePr>
        <p:xfrm>
          <a:off x="3395663" y="1773239"/>
          <a:ext cx="4716462" cy="803275"/>
        </p:xfrm>
        <a:graphic>
          <a:graphicData uri="http://schemas.openxmlformats.org/presentationml/2006/ole">
            <mc:AlternateContent xmlns:mc="http://schemas.openxmlformats.org/markup-compatibility/2006">
              <mc:Choice xmlns:v="urn:schemas-microsoft-com:vml" Requires="v">
                <p:oleObj name="Формула" r:id="rId3" imgW="2768600" imgH="469900" progId="Equation.3">
                  <p:embed/>
                </p:oleObj>
              </mc:Choice>
              <mc:Fallback>
                <p:oleObj name="Формула" r:id="rId3" imgW="2768600" imgH="469900" progId="Equation.3">
                  <p:embed/>
                  <p:pic>
                    <p:nvPicPr>
                      <p:cNvPr id="2117" name="Object 69">
                        <a:extLst>
                          <a:ext uri="{FF2B5EF4-FFF2-40B4-BE49-F238E27FC236}">
                            <a16:creationId xmlns:a16="http://schemas.microsoft.com/office/drawing/2014/main" id="{8776E0F3-FC11-44B8-8C0F-32770770BF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95663" y="1773239"/>
                        <a:ext cx="4716462" cy="803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8196" name="Rectangle 66">
            <a:extLst>
              <a:ext uri="{FF2B5EF4-FFF2-40B4-BE49-F238E27FC236}">
                <a16:creationId xmlns:a16="http://schemas.microsoft.com/office/drawing/2014/main" id="{F4C12FAC-EE4B-49B3-86C9-750901EB0C5E}"/>
              </a:ext>
            </a:extLst>
          </p:cNvPr>
          <p:cNvSpPr>
            <a:spLocks noChangeArrowheads="1"/>
          </p:cNvSpPr>
          <p:nvPr/>
        </p:nvSpPr>
        <p:spPr bwMode="auto">
          <a:xfrm>
            <a:off x="3638550" y="725488"/>
            <a:ext cx="49149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ru-RU" sz="1800" i="1">
                <a:solidFill>
                  <a:srgbClr val="663300"/>
                </a:solidFill>
                <a:latin typeface="Times New Roman" panose="02020603050405020304" pitchFamily="18" charset="0"/>
              </a:rPr>
              <a:t>Средние и действующие значения величин </a:t>
            </a:r>
          </a:p>
        </p:txBody>
      </p:sp>
      <p:sp>
        <p:nvSpPr>
          <p:cNvPr id="2116" name="Rectangle 68">
            <a:extLst>
              <a:ext uri="{FF2B5EF4-FFF2-40B4-BE49-F238E27FC236}">
                <a16:creationId xmlns:a16="http://schemas.microsoft.com/office/drawing/2014/main" id="{CE17AF0D-0203-4C79-8DE7-03CBE6C4AB19}"/>
              </a:ext>
            </a:extLst>
          </p:cNvPr>
          <p:cNvSpPr>
            <a:spLocks noChangeArrowheads="1"/>
          </p:cNvSpPr>
          <p:nvPr/>
        </p:nvSpPr>
        <p:spPr bwMode="auto">
          <a:xfrm>
            <a:off x="2027239" y="1047751"/>
            <a:ext cx="7921625"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ru-RU" sz="2000" i="1" dirty="0">
                <a:solidFill>
                  <a:srgbClr val="C00000"/>
                </a:solidFill>
                <a:latin typeface="Times New Roman" panose="02020603050405020304" pitchFamily="18" charset="0"/>
              </a:rPr>
              <a:t>Среднее значение </a:t>
            </a:r>
            <a:r>
              <a:rPr lang="ru-RU" altLang="ru-RU" sz="2000" dirty="0">
                <a:solidFill>
                  <a:srgbClr val="003399"/>
                </a:solidFill>
                <a:latin typeface="Times New Roman" panose="02020603050405020304" pitchFamily="18" charset="0"/>
              </a:rPr>
              <a:t>переменной величины за период </a:t>
            </a:r>
            <a:r>
              <a:rPr lang="ru-RU" altLang="ru-RU" sz="2000" i="1" dirty="0">
                <a:solidFill>
                  <a:srgbClr val="003399"/>
                </a:solidFill>
                <a:latin typeface="Times New Roman" panose="02020603050405020304" pitchFamily="18" charset="0"/>
              </a:rPr>
              <a:t>Т</a:t>
            </a:r>
            <a:r>
              <a:rPr lang="en-US" altLang="ru-RU" sz="2000" i="1" dirty="0">
                <a:solidFill>
                  <a:srgbClr val="003399"/>
                </a:solidFill>
                <a:latin typeface="Times New Roman" panose="02020603050405020304" pitchFamily="18" charset="0"/>
              </a:rPr>
              <a:t> </a:t>
            </a:r>
            <a:r>
              <a:rPr lang="en-US" altLang="ru-RU" sz="2000" dirty="0">
                <a:solidFill>
                  <a:srgbClr val="003399"/>
                </a:solidFill>
                <a:latin typeface="Times New Roman" panose="02020603050405020304" pitchFamily="18" charset="0"/>
              </a:rPr>
              <a:t> </a:t>
            </a:r>
            <a:r>
              <a:rPr lang="ru-RU" altLang="ru-RU" sz="2000" dirty="0">
                <a:solidFill>
                  <a:srgbClr val="003399"/>
                </a:solidFill>
                <a:latin typeface="Times New Roman" panose="02020603050405020304" pitchFamily="18" charset="0"/>
              </a:rPr>
              <a:t>равно нулю. Поэтому среднее значение вычисляют за половину периода: </a:t>
            </a:r>
          </a:p>
        </p:txBody>
      </p:sp>
      <p:graphicFrame>
        <p:nvGraphicFramePr>
          <p:cNvPr id="2119" name="Object 71">
            <a:extLst>
              <a:ext uri="{FF2B5EF4-FFF2-40B4-BE49-F238E27FC236}">
                <a16:creationId xmlns:a16="http://schemas.microsoft.com/office/drawing/2014/main" id="{AF7DA08F-E2FD-456E-B1A3-BB9CC5F15386}"/>
              </a:ext>
            </a:extLst>
          </p:cNvPr>
          <p:cNvGraphicFramePr>
            <a:graphicFrameLocks noChangeAspect="1"/>
          </p:cNvGraphicFramePr>
          <p:nvPr/>
        </p:nvGraphicFramePr>
        <p:xfrm>
          <a:off x="4872039" y="3176589"/>
          <a:ext cx="1235075" cy="841375"/>
        </p:xfrm>
        <a:graphic>
          <a:graphicData uri="http://schemas.openxmlformats.org/presentationml/2006/ole">
            <mc:AlternateContent xmlns:mc="http://schemas.openxmlformats.org/markup-compatibility/2006">
              <mc:Choice xmlns:v="urn:schemas-microsoft-com:vml" Requires="v">
                <p:oleObj name="Формула" r:id="rId5" imgW="698500" imgH="469900" progId="Equation.3">
                  <p:embed/>
                </p:oleObj>
              </mc:Choice>
              <mc:Fallback>
                <p:oleObj name="Формула" r:id="rId5" imgW="698500" imgH="469900" progId="Equation.3">
                  <p:embed/>
                  <p:pic>
                    <p:nvPicPr>
                      <p:cNvPr id="2119" name="Object 71">
                        <a:extLst>
                          <a:ext uri="{FF2B5EF4-FFF2-40B4-BE49-F238E27FC236}">
                            <a16:creationId xmlns:a16="http://schemas.microsoft.com/office/drawing/2014/main" id="{AF7DA08F-E2FD-456E-B1A3-BB9CC5F1538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72039" y="3176589"/>
                        <a:ext cx="1235075" cy="84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23" name="Rectangle 75">
            <a:extLst>
              <a:ext uri="{FF2B5EF4-FFF2-40B4-BE49-F238E27FC236}">
                <a16:creationId xmlns:a16="http://schemas.microsoft.com/office/drawing/2014/main" id="{A70FC2CB-7068-4751-8A93-9C3A497FB717}"/>
              </a:ext>
            </a:extLst>
          </p:cNvPr>
          <p:cNvSpPr>
            <a:spLocks noChangeArrowheads="1"/>
          </p:cNvSpPr>
          <p:nvPr/>
        </p:nvSpPr>
        <p:spPr bwMode="auto">
          <a:xfrm>
            <a:off x="1595438" y="2716213"/>
            <a:ext cx="9402762"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ru-RU" sz="2000" i="1">
                <a:solidFill>
                  <a:srgbClr val="FF3300"/>
                </a:solidFill>
                <a:latin typeface="Times New Roman" panose="02020603050405020304" pitchFamily="18" charset="0"/>
              </a:rPr>
              <a:t>Среднее значение</a:t>
            </a:r>
            <a:r>
              <a:rPr lang="ru-RU" altLang="ru-RU" sz="2000" i="1">
                <a:solidFill>
                  <a:srgbClr val="003399"/>
                </a:solidFill>
                <a:latin typeface="Times New Roman" panose="02020603050405020304" pitchFamily="18" charset="0"/>
              </a:rPr>
              <a:t> </a:t>
            </a:r>
            <a:r>
              <a:rPr lang="ru-RU" altLang="ru-RU" sz="2000">
                <a:solidFill>
                  <a:srgbClr val="003399"/>
                </a:solidFill>
                <a:latin typeface="Times New Roman" panose="02020603050405020304" pitchFamily="18" charset="0"/>
              </a:rPr>
              <a:t>для мощности за период времени </a:t>
            </a:r>
            <a:r>
              <a:rPr lang="ru-RU" altLang="ru-RU" sz="2000" i="1">
                <a:solidFill>
                  <a:srgbClr val="003399"/>
                </a:solidFill>
                <a:latin typeface="Times New Roman" panose="02020603050405020304" pitchFamily="18" charset="0"/>
              </a:rPr>
              <a:t>Т</a:t>
            </a:r>
            <a:r>
              <a:rPr lang="en-US" altLang="ru-RU" sz="2000" i="1">
                <a:solidFill>
                  <a:srgbClr val="003399"/>
                </a:solidFill>
                <a:latin typeface="Times New Roman" panose="02020603050405020304" pitchFamily="18" charset="0"/>
              </a:rPr>
              <a:t> </a:t>
            </a:r>
            <a:r>
              <a:rPr lang="en-US" altLang="ru-RU" sz="2000">
                <a:solidFill>
                  <a:srgbClr val="003399"/>
                </a:solidFill>
                <a:latin typeface="Times New Roman" panose="02020603050405020304" pitchFamily="18" charset="0"/>
              </a:rPr>
              <a:t> </a:t>
            </a:r>
            <a:r>
              <a:rPr lang="ru-RU" altLang="ru-RU" sz="2000">
                <a:solidFill>
                  <a:srgbClr val="003399"/>
                </a:solidFill>
                <a:latin typeface="Times New Roman" panose="02020603050405020304" pitchFamily="18" charset="0"/>
              </a:rPr>
              <a:t>можно вычислить формулой: </a:t>
            </a:r>
          </a:p>
        </p:txBody>
      </p:sp>
      <p:sp>
        <p:nvSpPr>
          <p:cNvPr id="2124" name="Rectangle 76">
            <a:extLst>
              <a:ext uri="{FF2B5EF4-FFF2-40B4-BE49-F238E27FC236}">
                <a16:creationId xmlns:a16="http://schemas.microsoft.com/office/drawing/2014/main" id="{C3758918-2112-46A7-B1C6-03108DBD3A62}"/>
              </a:ext>
            </a:extLst>
          </p:cNvPr>
          <p:cNvSpPr>
            <a:spLocks noChangeArrowheads="1"/>
          </p:cNvSpPr>
          <p:nvPr/>
        </p:nvSpPr>
        <p:spPr bwMode="auto">
          <a:xfrm>
            <a:off x="2027239" y="3870325"/>
            <a:ext cx="8497887"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defTabSz="452438">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defTabSz="452438">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defTabSz="452438">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defTabSz="452438">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defTabSz="452438">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defTabSz="4524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defTabSz="4524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defTabSz="4524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defTabSz="452438"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ru-RU" sz="1600">
                <a:solidFill>
                  <a:srgbClr val="003399"/>
                </a:solidFill>
                <a:latin typeface="Times New Roman" panose="02020603050405020304" pitchFamily="18" charset="0"/>
              </a:rPr>
              <a:t>	</a:t>
            </a:r>
            <a:r>
              <a:rPr lang="ru-RU" altLang="ru-RU" sz="2400">
                <a:solidFill>
                  <a:srgbClr val="003399"/>
                </a:solidFill>
                <a:latin typeface="Times New Roman" panose="02020603050405020304" pitchFamily="18" charset="0"/>
              </a:rPr>
              <a:t>Для оценки периодически изменяющегося величин (напряжение, ЭДС и ток) используется и понятие </a:t>
            </a:r>
            <a:r>
              <a:rPr lang="ru-RU" altLang="ru-RU" sz="2400">
                <a:solidFill>
                  <a:srgbClr val="FF3300"/>
                </a:solidFill>
                <a:latin typeface="Times New Roman" panose="02020603050405020304" pitchFamily="18" charset="0"/>
              </a:rPr>
              <a:t>«</a:t>
            </a:r>
            <a:r>
              <a:rPr lang="ru-RU" altLang="ru-RU" sz="2400" i="1">
                <a:solidFill>
                  <a:srgbClr val="C00000"/>
                </a:solidFill>
                <a:latin typeface="Times New Roman" panose="02020603050405020304" pitchFamily="18" charset="0"/>
              </a:rPr>
              <a:t>действующее значение</a:t>
            </a:r>
            <a:r>
              <a:rPr lang="ru-RU" altLang="ru-RU" sz="2400">
                <a:solidFill>
                  <a:srgbClr val="FF3300"/>
                </a:solidFill>
                <a:latin typeface="Times New Roman" panose="02020603050405020304" pitchFamily="18" charset="0"/>
              </a:rPr>
              <a:t>».</a:t>
            </a:r>
            <a:r>
              <a:rPr lang="ru-RU" altLang="ru-RU" sz="2400">
                <a:solidFill>
                  <a:srgbClr val="003399"/>
                </a:solidFill>
                <a:latin typeface="Times New Roman" panose="02020603050405020304" pitchFamily="18" charset="0"/>
              </a:rPr>
              <a:t> </a:t>
            </a:r>
          </a:p>
        </p:txBody>
      </p:sp>
      <p:sp>
        <p:nvSpPr>
          <p:cNvPr id="8201" name="Rectangle 77">
            <a:extLst>
              <a:ext uri="{FF2B5EF4-FFF2-40B4-BE49-F238E27FC236}">
                <a16:creationId xmlns:a16="http://schemas.microsoft.com/office/drawing/2014/main" id="{2D70C2A1-2F0D-4C32-A8B2-C9D48AE6ABD7}"/>
              </a:ext>
            </a:extLst>
          </p:cNvPr>
          <p:cNvSpPr>
            <a:spLocks noChangeArrowheads="1"/>
          </p:cNvSpPr>
          <p:nvPr/>
        </p:nvSpPr>
        <p:spPr bwMode="auto">
          <a:xfrm>
            <a:off x="3871913" y="403225"/>
            <a:ext cx="392447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ru-RU" sz="2000" i="1">
                <a:solidFill>
                  <a:srgbClr val="0000CC"/>
                </a:solidFill>
                <a:latin typeface="Times New Roman" panose="02020603050405020304" pitchFamily="18" charset="0"/>
              </a:rPr>
              <a:t>Однофазный синусоидальный ток</a:t>
            </a:r>
          </a:p>
        </p:txBody>
      </p:sp>
      <p:sp>
        <p:nvSpPr>
          <p:cNvPr id="2126" name="Rectangle 78">
            <a:extLst>
              <a:ext uri="{FF2B5EF4-FFF2-40B4-BE49-F238E27FC236}">
                <a16:creationId xmlns:a16="http://schemas.microsoft.com/office/drawing/2014/main" id="{879B917B-E288-475D-8762-95C98D742B56}"/>
              </a:ext>
            </a:extLst>
          </p:cNvPr>
          <p:cNvSpPr>
            <a:spLocks noChangeArrowheads="1"/>
          </p:cNvSpPr>
          <p:nvPr/>
        </p:nvSpPr>
        <p:spPr bwMode="auto">
          <a:xfrm>
            <a:off x="2100263" y="5026025"/>
            <a:ext cx="8424862" cy="156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ru-RU" sz="2400" i="1">
                <a:solidFill>
                  <a:srgbClr val="C00000"/>
                </a:solidFill>
                <a:latin typeface="Times New Roman" panose="02020603050405020304" pitchFamily="18" charset="0"/>
              </a:rPr>
              <a:t>Действующим значением </a:t>
            </a:r>
            <a:r>
              <a:rPr lang="ru-RU" altLang="ru-RU" sz="2400">
                <a:solidFill>
                  <a:srgbClr val="003399"/>
                </a:solidFill>
                <a:latin typeface="Times New Roman" panose="02020603050405020304" pitchFamily="18" charset="0"/>
              </a:rPr>
              <a:t>переменного периодического сигнала (</a:t>
            </a:r>
            <a:r>
              <a:rPr lang="en-US" altLang="ru-RU" sz="2400" i="1">
                <a:solidFill>
                  <a:srgbClr val="C00000"/>
                </a:solidFill>
                <a:latin typeface="Times New Roman" panose="02020603050405020304" pitchFamily="18" charset="0"/>
              </a:rPr>
              <a:t>i</a:t>
            </a:r>
            <a:r>
              <a:rPr lang="en-US" altLang="ru-RU" sz="2400">
                <a:solidFill>
                  <a:srgbClr val="C00000"/>
                </a:solidFill>
                <a:latin typeface="Times New Roman" panose="02020603050405020304" pitchFamily="18" charset="0"/>
              </a:rPr>
              <a:t>(</a:t>
            </a:r>
            <a:r>
              <a:rPr lang="en-US" altLang="ru-RU" sz="2400" i="1">
                <a:solidFill>
                  <a:srgbClr val="C00000"/>
                </a:solidFill>
                <a:latin typeface="Times New Roman" panose="02020603050405020304" pitchFamily="18" charset="0"/>
              </a:rPr>
              <a:t>t</a:t>
            </a:r>
            <a:r>
              <a:rPr lang="en-US" altLang="ru-RU" sz="2400">
                <a:solidFill>
                  <a:srgbClr val="C00000"/>
                </a:solidFill>
                <a:latin typeface="Times New Roman" panose="02020603050405020304" pitchFamily="18" charset="0"/>
              </a:rPr>
              <a:t>)</a:t>
            </a:r>
            <a:r>
              <a:rPr lang="ru-RU" altLang="ru-RU" sz="2400">
                <a:solidFill>
                  <a:srgbClr val="003399"/>
                </a:solidFill>
                <a:latin typeface="Times New Roman" panose="02020603050405020304" pitchFamily="18" charset="0"/>
              </a:rPr>
              <a:t>) называется значение такого постоянного сигнала (</a:t>
            </a:r>
            <a:r>
              <a:rPr lang="en-US" altLang="ru-RU" sz="2400" i="1">
                <a:solidFill>
                  <a:srgbClr val="C00000"/>
                </a:solidFill>
                <a:latin typeface="Times New Roman" panose="02020603050405020304" pitchFamily="18" charset="0"/>
              </a:rPr>
              <a:t>I</a:t>
            </a:r>
            <a:r>
              <a:rPr lang="ru-RU" altLang="ru-RU" sz="2400">
                <a:solidFill>
                  <a:srgbClr val="003399"/>
                </a:solidFill>
                <a:latin typeface="Times New Roman" panose="02020603050405020304" pitchFamily="18" charset="0"/>
              </a:rPr>
              <a:t>), который за один период совершает ту же работу, что и рассматриваемый переменный. </a:t>
            </a:r>
          </a:p>
        </p:txBody>
      </p:sp>
      <p:sp>
        <p:nvSpPr>
          <p:cNvPr id="11" name="Прямоугольник 10">
            <a:extLst>
              <a:ext uri="{FF2B5EF4-FFF2-40B4-BE49-F238E27FC236}">
                <a16:creationId xmlns:a16="http://schemas.microsoft.com/office/drawing/2014/main" id="{F77A6535-A069-487C-8AB2-AA4157BF77AF}"/>
              </a:ext>
            </a:extLst>
          </p:cNvPr>
          <p:cNvSpPr/>
          <p:nvPr/>
        </p:nvSpPr>
        <p:spPr>
          <a:xfrm>
            <a:off x="1291399" y="94079"/>
            <a:ext cx="1479892" cy="369332"/>
          </a:xfrm>
          <a:prstGeom prst="rect">
            <a:avLst/>
          </a:prstGeom>
        </p:spPr>
        <p:txBody>
          <a:bodyPr wrap="none">
            <a:spAutoFit/>
          </a:bodyPr>
          <a:lstStyle/>
          <a:p>
            <a:pPr>
              <a:defRPr/>
            </a:pPr>
            <a:r>
              <a:rPr lang="ru-RU" dirty="0">
                <a:solidFill>
                  <a:schemeClr val="bg1"/>
                </a:solidFill>
              </a:rPr>
              <a:t>Кафедра ТЭЦ</a:t>
            </a:r>
          </a:p>
        </p:txBody>
      </p:sp>
    </p:spTree>
    <p:extLst>
      <p:ext uri="{BB962C8B-B14F-4D97-AF65-F5344CB8AC3E}">
        <p14:creationId xmlns:p14="http://schemas.microsoft.com/office/powerpoint/2010/main" val="33059886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1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4" fill="hold" nodeType="clickEffect">
                                  <p:stCondLst>
                                    <p:cond delay="0"/>
                                  </p:stCondLst>
                                  <p:childTnLst>
                                    <p:set>
                                      <p:cBhvr>
                                        <p:cTn id="10" dur="1" fill="hold">
                                          <p:stCondLst>
                                            <p:cond delay="0"/>
                                          </p:stCondLst>
                                        </p:cTn>
                                        <p:tgtEl>
                                          <p:spTgt spid="2117"/>
                                        </p:tgtEl>
                                        <p:attrNameLst>
                                          <p:attrName>style.visibility</p:attrName>
                                        </p:attrNameLst>
                                      </p:cBhvr>
                                      <p:to>
                                        <p:strVal val="visible"/>
                                      </p:to>
                                    </p:set>
                                    <p:anim calcmode="lin" valueType="num">
                                      <p:cBhvr additive="base">
                                        <p:cTn id="11" dur="500" fill="hold"/>
                                        <p:tgtEl>
                                          <p:spTgt spid="2117"/>
                                        </p:tgtEl>
                                        <p:attrNameLst>
                                          <p:attrName>ppt_x</p:attrName>
                                        </p:attrNameLst>
                                      </p:cBhvr>
                                      <p:tavLst>
                                        <p:tav tm="0">
                                          <p:val>
                                            <p:strVal val="#ppt_x"/>
                                          </p:val>
                                        </p:tav>
                                        <p:tav tm="100000">
                                          <p:val>
                                            <p:strVal val="#ppt_x"/>
                                          </p:val>
                                        </p:tav>
                                      </p:tavLst>
                                    </p:anim>
                                    <p:anim calcmode="lin" valueType="num">
                                      <p:cBhvr additive="base">
                                        <p:cTn id="12" dur="500" fill="hold"/>
                                        <p:tgtEl>
                                          <p:spTgt spid="2117"/>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2123"/>
                                        </p:tgtEl>
                                        <p:attrNameLst>
                                          <p:attrName>style.visibility</p:attrName>
                                        </p:attrNameLst>
                                      </p:cBhvr>
                                      <p:to>
                                        <p:strVal val="visible"/>
                                      </p:to>
                                    </p:set>
                                    <p:animEffect transition="in" filter="box(in)">
                                      <p:cBhvr>
                                        <p:cTn id="17" dur="500"/>
                                        <p:tgtEl>
                                          <p:spTgt spid="2123"/>
                                        </p:tgtEl>
                                      </p:cBhvr>
                                    </p:animEffect>
                                  </p:childTnLst>
                                </p:cTn>
                              </p:par>
                              <p:par>
                                <p:cTn id="18" presetID="4" presetClass="entr" presetSubtype="16" fill="hold" nodeType="withEffect">
                                  <p:stCondLst>
                                    <p:cond delay="0"/>
                                  </p:stCondLst>
                                  <p:childTnLst>
                                    <p:set>
                                      <p:cBhvr>
                                        <p:cTn id="19" dur="1" fill="hold">
                                          <p:stCondLst>
                                            <p:cond delay="0"/>
                                          </p:stCondLst>
                                        </p:cTn>
                                        <p:tgtEl>
                                          <p:spTgt spid="2119"/>
                                        </p:tgtEl>
                                        <p:attrNameLst>
                                          <p:attrName>style.visibility</p:attrName>
                                        </p:attrNameLst>
                                      </p:cBhvr>
                                      <p:to>
                                        <p:strVal val="visible"/>
                                      </p:to>
                                    </p:set>
                                    <p:animEffect transition="in" filter="box(in)">
                                      <p:cBhvr>
                                        <p:cTn id="20" dur="500"/>
                                        <p:tgtEl>
                                          <p:spTgt spid="2119"/>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124">
                                            <p:txEl>
                                              <p:pRg st="0" end="0"/>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1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6" grpId="0"/>
      <p:bldP spid="2123" grpId="0"/>
      <p:bldP spid="2124" grpId="0" build="allAtOnce"/>
      <p:bldP spid="212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Номер слайда 4">
            <a:extLst>
              <a:ext uri="{FF2B5EF4-FFF2-40B4-BE49-F238E27FC236}">
                <a16:creationId xmlns:a16="http://schemas.microsoft.com/office/drawing/2014/main" id="{44D672EB-E279-44B6-B365-1FFECE0D9D87}"/>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1082A3B0-8F58-46F6-8FCA-DAF17A6A4FCE}" type="slidenum">
              <a:rPr lang="ru-RU" altLang="ru-RU" sz="1200">
                <a:latin typeface="Arial Black" panose="020B0A04020102020204" pitchFamily="34" charset="0"/>
              </a:rPr>
              <a:pPr>
                <a:spcBef>
                  <a:spcPct val="0"/>
                </a:spcBef>
                <a:buClrTx/>
                <a:buSzTx/>
                <a:buFontTx/>
                <a:buNone/>
              </a:pPr>
              <a:t>31</a:t>
            </a:fld>
            <a:endParaRPr lang="ru-RU" altLang="ru-RU" sz="1200">
              <a:latin typeface="Arial Black" panose="020B0A04020102020204" pitchFamily="34" charset="0"/>
            </a:endParaRPr>
          </a:p>
        </p:txBody>
      </p:sp>
      <p:sp>
        <p:nvSpPr>
          <p:cNvPr id="30723" name="Rectangle 3">
            <a:extLst>
              <a:ext uri="{FF2B5EF4-FFF2-40B4-BE49-F238E27FC236}">
                <a16:creationId xmlns:a16="http://schemas.microsoft.com/office/drawing/2014/main" id="{2591E2DF-D75F-4DD4-AB14-E4B98952BFE7}"/>
              </a:ext>
            </a:extLst>
          </p:cNvPr>
          <p:cNvSpPr>
            <a:spLocks noGrp="1" noChangeArrowheads="1"/>
          </p:cNvSpPr>
          <p:nvPr>
            <p:ph type="body" idx="1"/>
          </p:nvPr>
        </p:nvSpPr>
        <p:spPr>
          <a:xfrm>
            <a:off x="1992313" y="512763"/>
            <a:ext cx="8229600" cy="431800"/>
          </a:xfrm>
        </p:spPr>
        <p:txBody>
          <a:bodyPr/>
          <a:lstStyle/>
          <a:p>
            <a:pPr algn="ctr" eaLnBrk="1" hangingPunct="1">
              <a:lnSpc>
                <a:spcPct val="90000"/>
              </a:lnSpc>
              <a:spcBef>
                <a:spcPct val="0"/>
              </a:spcBef>
              <a:buClrTx/>
              <a:buSzTx/>
              <a:buFontTx/>
              <a:buNone/>
            </a:pPr>
            <a:r>
              <a:rPr lang="ru-RU" altLang="ru-RU" sz="2000">
                <a:solidFill>
                  <a:srgbClr val="C00000"/>
                </a:solidFill>
                <a:latin typeface="Times New Roman" panose="02020603050405020304" pitchFamily="18" charset="0"/>
                <a:cs typeface="Times New Roman" panose="02020603050405020304" pitchFamily="18" charset="0"/>
              </a:rPr>
              <a:t>Действующее значение переменной</a:t>
            </a:r>
            <a:r>
              <a:rPr lang="en-US" altLang="ru-RU" sz="2000">
                <a:solidFill>
                  <a:srgbClr val="C00000"/>
                </a:solidFill>
                <a:latin typeface="Times New Roman" panose="02020603050405020304" pitchFamily="18" charset="0"/>
                <a:cs typeface="Times New Roman" panose="02020603050405020304" pitchFamily="18" charset="0"/>
              </a:rPr>
              <a:t> </a:t>
            </a:r>
            <a:r>
              <a:rPr lang="ru-RU" altLang="ru-RU" sz="2000">
                <a:solidFill>
                  <a:srgbClr val="C00000"/>
                </a:solidFill>
                <a:latin typeface="Times New Roman" panose="02020603050405020304" pitchFamily="18" charset="0"/>
                <a:cs typeface="Times New Roman" panose="02020603050405020304" pitchFamily="18" charset="0"/>
              </a:rPr>
              <a:t>величины</a:t>
            </a:r>
          </a:p>
        </p:txBody>
      </p:sp>
      <p:sp>
        <p:nvSpPr>
          <p:cNvPr id="10244" name="Rectangle 8">
            <a:extLst>
              <a:ext uri="{FF2B5EF4-FFF2-40B4-BE49-F238E27FC236}">
                <a16:creationId xmlns:a16="http://schemas.microsoft.com/office/drawing/2014/main" id="{7D478841-E998-4B28-8AE2-F8D82627D9CE}"/>
              </a:ext>
            </a:extLst>
          </p:cNvPr>
          <p:cNvSpPr>
            <a:spLocks noChangeArrowheads="1"/>
          </p:cNvSpPr>
          <p:nvPr/>
        </p:nvSpPr>
        <p:spPr bwMode="auto">
          <a:xfrm>
            <a:off x="1524001" y="2950877"/>
            <a:ext cx="1847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ru-RU" altLang="ru-RU">
              <a:solidFill>
                <a:srgbClr val="003399"/>
              </a:solidFill>
              <a:latin typeface="Times New Roman" panose="02020603050405020304" pitchFamily="18" charset="0"/>
            </a:endParaRPr>
          </a:p>
        </p:txBody>
      </p:sp>
      <p:sp>
        <p:nvSpPr>
          <p:cNvPr id="10245" name="Rectangle 43">
            <a:extLst>
              <a:ext uri="{FF2B5EF4-FFF2-40B4-BE49-F238E27FC236}">
                <a16:creationId xmlns:a16="http://schemas.microsoft.com/office/drawing/2014/main" id="{6575D461-E4A1-47EE-8E4F-777F5F50C237}"/>
              </a:ext>
            </a:extLst>
          </p:cNvPr>
          <p:cNvSpPr>
            <a:spLocks noChangeArrowheads="1"/>
          </p:cNvSpPr>
          <p:nvPr/>
        </p:nvSpPr>
        <p:spPr bwMode="auto">
          <a:xfrm>
            <a:off x="1524001" y="2950877"/>
            <a:ext cx="1847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ru-RU" altLang="ru-RU">
              <a:solidFill>
                <a:srgbClr val="003399"/>
              </a:solidFill>
              <a:latin typeface="Times New Roman" panose="02020603050405020304" pitchFamily="18" charset="0"/>
            </a:endParaRPr>
          </a:p>
        </p:txBody>
      </p:sp>
      <p:sp>
        <p:nvSpPr>
          <p:cNvPr id="10246" name="Rectangle 45">
            <a:extLst>
              <a:ext uri="{FF2B5EF4-FFF2-40B4-BE49-F238E27FC236}">
                <a16:creationId xmlns:a16="http://schemas.microsoft.com/office/drawing/2014/main" id="{E96A5A7A-1288-4BFB-A785-6FFD36987FF6}"/>
              </a:ext>
            </a:extLst>
          </p:cNvPr>
          <p:cNvSpPr>
            <a:spLocks noChangeArrowheads="1"/>
          </p:cNvSpPr>
          <p:nvPr/>
        </p:nvSpPr>
        <p:spPr bwMode="auto">
          <a:xfrm>
            <a:off x="1524001" y="2950877"/>
            <a:ext cx="1847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ru-RU" altLang="ru-RU">
              <a:solidFill>
                <a:srgbClr val="003399"/>
              </a:solidFill>
              <a:latin typeface="Times New Roman" panose="02020603050405020304" pitchFamily="18" charset="0"/>
            </a:endParaRPr>
          </a:p>
        </p:txBody>
      </p:sp>
      <p:sp>
        <p:nvSpPr>
          <p:cNvPr id="10247" name="Rectangle 54">
            <a:extLst>
              <a:ext uri="{FF2B5EF4-FFF2-40B4-BE49-F238E27FC236}">
                <a16:creationId xmlns:a16="http://schemas.microsoft.com/office/drawing/2014/main" id="{A446145F-1D86-46C4-B262-E98CBFCB92D3}"/>
              </a:ext>
            </a:extLst>
          </p:cNvPr>
          <p:cNvSpPr>
            <a:spLocks noChangeArrowheads="1"/>
          </p:cNvSpPr>
          <p:nvPr/>
        </p:nvSpPr>
        <p:spPr bwMode="auto">
          <a:xfrm>
            <a:off x="1524001" y="2927064"/>
            <a:ext cx="1847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ru-RU" altLang="ru-RU">
              <a:solidFill>
                <a:srgbClr val="003399"/>
              </a:solidFill>
              <a:latin typeface="Times New Roman" panose="02020603050405020304" pitchFamily="18" charset="0"/>
            </a:endParaRPr>
          </a:p>
        </p:txBody>
      </p:sp>
      <p:graphicFrame>
        <p:nvGraphicFramePr>
          <p:cNvPr id="10248" name="Object 53">
            <a:extLst>
              <a:ext uri="{FF2B5EF4-FFF2-40B4-BE49-F238E27FC236}">
                <a16:creationId xmlns:a16="http://schemas.microsoft.com/office/drawing/2014/main" id="{17F45345-A796-4068-AE2B-34B93585BFD7}"/>
              </a:ext>
            </a:extLst>
          </p:cNvPr>
          <p:cNvGraphicFramePr>
            <a:graphicFrameLocks noChangeAspect="1"/>
          </p:cNvGraphicFramePr>
          <p:nvPr/>
        </p:nvGraphicFramePr>
        <p:xfrm>
          <a:off x="3359151" y="3965576"/>
          <a:ext cx="1298575" cy="868363"/>
        </p:xfrm>
        <a:graphic>
          <a:graphicData uri="http://schemas.openxmlformats.org/presentationml/2006/ole">
            <mc:AlternateContent xmlns:mc="http://schemas.openxmlformats.org/markup-compatibility/2006">
              <mc:Choice xmlns:v="urn:schemas-microsoft-com:vml" Requires="v">
                <p:oleObj name="Формула" r:id="rId2" imgW="583947" imgH="393529" progId="Equation.3">
                  <p:embed/>
                </p:oleObj>
              </mc:Choice>
              <mc:Fallback>
                <p:oleObj name="Формула" r:id="rId2" imgW="583947" imgH="393529" progId="Equation.3">
                  <p:embed/>
                  <p:pic>
                    <p:nvPicPr>
                      <p:cNvPr id="10248" name="Object 53">
                        <a:extLst>
                          <a:ext uri="{FF2B5EF4-FFF2-40B4-BE49-F238E27FC236}">
                            <a16:creationId xmlns:a16="http://schemas.microsoft.com/office/drawing/2014/main" id="{17F45345-A796-4068-AE2B-34B93585BF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9151" y="3965576"/>
                        <a:ext cx="1298575" cy="86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250" name="Object 55">
            <a:extLst>
              <a:ext uri="{FF2B5EF4-FFF2-40B4-BE49-F238E27FC236}">
                <a16:creationId xmlns:a16="http://schemas.microsoft.com/office/drawing/2014/main" id="{9C965D91-8B8E-49B3-A40A-12075C7BFB9D}"/>
              </a:ext>
            </a:extLst>
          </p:cNvPr>
          <p:cNvGraphicFramePr>
            <a:graphicFrameLocks noChangeAspect="1"/>
          </p:cNvGraphicFramePr>
          <p:nvPr/>
        </p:nvGraphicFramePr>
        <p:xfrm>
          <a:off x="6491289" y="3951289"/>
          <a:ext cx="1330325" cy="954087"/>
        </p:xfrm>
        <a:graphic>
          <a:graphicData uri="http://schemas.openxmlformats.org/presentationml/2006/ole">
            <mc:AlternateContent xmlns:mc="http://schemas.openxmlformats.org/markup-compatibility/2006">
              <mc:Choice xmlns:v="urn:schemas-microsoft-com:vml" Requires="v">
                <p:oleObj name="Формула" r:id="rId4" imgW="660113" imgH="469696" progId="Equation.3">
                  <p:embed/>
                </p:oleObj>
              </mc:Choice>
              <mc:Fallback>
                <p:oleObj name="Формула" r:id="rId4" imgW="660113" imgH="469696" progId="Equation.3">
                  <p:embed/>
                  <p:pic>
                    <p:nvPicPr>
                      <p:cNvPr id="10250" name="Object 55">
                        <a:extLst>
                          <a:ext uri="{FF2B5EF4-FFF2-40B4-BE49-F238E27FC236}">
                            <a16:creationId xmlns:a16="http://schemas.microsoft.com/office/drawing/2014/main" id="{9C965D91-8B8E-49B3-A40A-12075C7BFB9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91289" y="3951289"/>
                        <a:ext cx="1330325"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51" name="Rectangle 57">
            <a:extLst>
              <a:ext uri="{FF2B5EF4-FFF2-40B4-BE49-F238E27FC236}">
                <a16:creationId xmlns:a16="http://schemas.microsoft.com/office/drawing/2014/main" id="{9E1E9D8A-E93F-4DCB-963D-E98338C71F8B}"/>
              </a:ext>
            </a:extLst>
          </p:cNvPr>
          <p:cNvSpPr>
            <a:spLocks noChangeArrowheads="1"/>
          </p:cNvSpPr>
          <p:nvPr/>
        </p:nvSpPr>
        <p:spPr bwMode="auto">
          <a:xfrm>
            <a:off x="1955801" y="2852738"/>
            <a:ext cx="8569325" cy="755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lnSpc>
                <a:spcPct val="90000"/>
              </a:lnSpc>
              <a:spcBef>
                <a:spcPct val="0"/>
              </a:spcBef>
              <a:buClrTx/>
              <a:buSzTx/>
              <a:buFontTx/>
              <a:buNone/>
            </a:pPr>
            <a:r>
              <a:rPr lang="ru-RU" altLang="ru-RU" sz="2400">
                <a:solidFill>
                  <a:srgbClr val="0000CC"/>
                </a:solidFill>
                <a:latin typeface="Times New Roman" panose="02020603050405020304" pitchFamily="18" charset="0"/>
                <a:cs typeface="Times New Roman" panose="02020603050405020304" pitchFamily="18" charset="0"/>
              </a:rPr>
              <a:t>Работу, совершаемую при приложении напряжения на резистор с сопротивлением </a:t>
            </a:r>
            <a:r>
              <a:rPr lang="en-US" altLang="ru-RU" sz="2400" i="1">
                <a:solidFill>
                  <a:srgbClr val="C00000"/>
                </a:solidFill>
                <a:latin typeface="Times New Roman" panose="02020603050405020304" pitchFamily="18" charset="0"/>
                <a:cs typeface="Times New Roman" panose="02020603050405020304" pitchFamily="18" charset="0"/>
              </a:rPr>
              <a:t>r</a:t>
            </a:r>
            <a:r>
              <a:rPr lang="ru-RU" altLang="ru-RU" sz="2400">
                <a:solidFill>
                  <a:srgbClr val="C00000"/>
                </a:solidFill>
                <a:latin typeface="Times New Roman" panose="02020603050405020304" pitchFamily="18" charset="0"/>
                <a:cs typeface="Times New Roman" panose="02020603050405020304" pitchFamily="18" charset="0"/>
              </a:rPr>
              <a:t> </a:t>
            </a:r>
            <a:r>
              <a:rPr lang="ru-RU" altLang="ru-RU" sz="2400">
                <a:solidFill>
                  <a:srgbClr val="003399"/>
                </a:solidFill>
                <a:latin typeface="Times New Roman" panose="02020603050405020304" pitchFamily="18" charset="0"/>
                <a:cs typeface="Times New Roman" panose="02020603050405020304" pitchFamily="18" charset="0"/>
              </a:rPr>
              <a:t>находим</a:t>
            </a:r>
            <a:r>
              <a:rPr lang="en-US" altLang="ru-RU" sz="2400">
                <a:solidFill>
                  <a:srgbClr val="0000CC"/>
                </a:solidFill>
                <a:latin typeface="Times New Roman" panose="02020603050405020304" pitchFamily="18" charset="0"/>
                <a:cs typeface="Times New Roman" panose="02020603050405020304" pitchFamily="18" charset="0"/>
              </a:rPr>
              <a:t> </a:t>
            </a:r>
            <a:r>
              <a:rPr lang="ru-RU" altLang="ru-RU" sz="2400">
                <a:solidFill>
                  <a:srgbClr val="0000CC"/>
                </a:solidFill>
                <a:latin typeface="Times New Roman" panose="02020603050405020304" pitchFamily="18" charset="0"/>
                <a:cs typeface="Times New Roman" panose="02020603050405020304" pitchFamily="18" charset="0"/>
              </a:rPr>
              <a:t>по закону </a:t>
            </a:r>
            <a:r>
              <a:rPr lang="ru-RU" altLang="ru-RU" sz="2400">
                <a:solidFill>
                  <a:srgbClr val="C00000"/>
                </a:solidFill>
                <a:latin typeface="Times New Roman" panose="02020603050405020304" pitchFamily="18" charset="0"/>
                <a:cs typeface="Times New Roman" panose="02020603050405020304" pitchFamily="18" charset="0"/>
              </a:rPr>
              <a:t>Джоуля-Ленца.</a:t>
            </a:r>
          </a:p>
        </p:txBody>
      </p:sp>
      <p:sp>
        <p:nvSpPr>
          <p:cNvPr id="10252" name="Rectangle 58">
            <a:extLst>
              <a:ext uri="{FF2B5EF4-FFF2-40B4-BE49-F238E27FC236}">
                <a16:creationId xmlns:a16="http://schemas.microsoft.com/office/drawing/2014/main" id="{BB445FD1-CBE2-4CD1-8B56-859BCA446947}"/>
              </a:ext>
            </a:extLst>
          </p:cNvPr>
          <p:cNvSpPr>
            <a:spLocks noChangeArrowheads="1"/>
          </p:cNvSpPr>
          <p:nvPr/>
        </p:nvSpPr>
        <p:spPr bwMode="auto">
          <a:xfrm>
            <a:off x="2819400" y="3681413"/>
            <a:ext cx="2592388"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lnSpc>
                <a:spcPct val="90000"/>
              </a:lnSpc>
              <a:spcBef>
                <a:spcPct val="0"/>
              </a:spcBef>
              <a:buClrTx/>
              <a:buSzTx/>
              <a:buFontTx/>
              <a:buNone/>
            </a:pPr>
            <a:r>
              <a:rPr lang="ru-RU" altLang="ru-RU" sz="1600">
                <a:solidFill>
                  <a:srgbClr val="003399"/>
                </a:solidFill>
              </a:rPr>
              <a:t>Постоянное напряжение </a:t>
            </a:r>
          </a:p>
        </p:txBody>
      </p:sp>
      <p:sp>
        <p:nvSpPr>
          <p:cNvPr id="10253" name="Rectangle 59">
            <a:extLst>
              <a:ext uri="{FF2B5EF4-FFF2-40B4-BE49-F238E27FC236}">
                <a16:creationId xmlns:a16="http://schemas.microsoft.com/office/drawing/2014/main" id="{7C3AE7BF-9738-4FF4-B998-07E36A371585}"/>
              </a:ext>
            </a:extLst>
          </p:cNvPr>
          <p:cNvSpPr>
            <a:spLocks noChangeArrowheads="1"/>
          </p:cNvSpPr>
          <p:nvPr/>
        </p:nvSpPr>
        <p:spPr bwMode="auto">
          <a:xfrm>
            <a:off x="5988050" y="3644900"/>
            <a:ext cx="2592388"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lnSpc>
                <a:spcPct val="90000"/>
              </a:lnSpc>
              <a:spcBef>
                <a:spcPct val="0"/>
              </a:spcBef>
              <a:buClrTx/>
              <a:buSzTx/>
              <a:buFontTx/>
              <a:buNone/>
            </a:pPr>
            <a:r>
              <a:rPr lang="ru-RU" altLang="ru-RU" sz="1600">
                <a:solidFill>
                  <a:srgbClr val="663300"/>
                </a:solidFill>
              </a:rPr>
              <a:t>Переменное напряжение </a:t>
            </a:r>
          </a:p>
        </p:txBody>
      </p:sp>
      <p:graphicFrame>
        <p:nvGraphicFramePr>
          <p:cNvPr id="10255" name="Object 60">
            <a:extLst>
              <a:ext uri="{FF2B5EF4-FFF2-40B4-BE49-F238E27FC236}">
                <a16:creationId xmlns:a16="http://schemas.microsoft.com/office/drawing/2014/main" id="{6CD1E064-1C36-4165-A8A4-1D23927BE092}"/>
              </a:ext>
            </a:extLst>
          </p:cNvPr>
          <p:cNvGraphicFramePr>
            <a:graphicFrameLocks noChangeAspect="1"/>
          </p:cNvGraphicFramePr>
          <p:nvPr/>
        </p:nvGraphicFramePr>
        <p:xfrm>
          <a:off x="2208213" y="5697539"/>
          <a:ext cx="5708650" cy="915987"/>
        </p:xfrm>
        <a:graphic>
          <a:graphicData uri="http://schemas.openxmlformats.org/presentationml/2006/ole">
            <mc:AlternateContent xmlns:mc="http://schemas.openxmlformats.org/markup-compatibility/2006">
              <mc:Choice xmlns:v="urn:schemas-microsoft-com:vml" Requires="v">
                <p:oleObj name="Формула" r:id="rId6" imgW="3263900" imgH="520700" progId="Equation.3">
                  <p:embed/>
                </p:oleObj>
              </mc:Choice>
              <mc:Fallback>
                <p:oleObj name="Формула" r:id="rId6" imgW="3263900" imgH="520700" progId="Equation.3">
                  <p:embed/>
                  <p:pic>
                    <p:nvPicPr>
                      <p:cNvPr id="10255" name="Object 60">
                        <a:extLst>
                          <a:ext uri="{FF2B5EF4-FFF2-40B4-BE49-F238E27FC236}">
                            <a16:creationId xmlns:a16="http://schemas.microsoft.com/office/drawing/2014/main" id="{6CD1E064-1C36-4165-A8A4-1D23927BE09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08213" y="5697539"/>
                        <a:ext cx="5708650" cy="915987"/>
                      </a:xfrm>
                      <a:prstGeom prst="rect">
                        <a:avLst/>
                      </a:prstGeom>
                      <a:solidFill>
                        <a:srgbClr val="CCFFFF"/>
                      </a:solidFill>
                      <a:ln w="12700">
                        <a:solidFill>
                          <a:srgbClr val="800000"/>
                        </a:solidFill>
                        <a:miter lim="800000"/>
                        <a:headEnd/>
                        <a:tailEnd/>
                      </a:ln>
                    </p:spPr>
                  </p:pic>
                </p:oleObj>
              </mc:Fallback>
            </mc:AlternateContent>
          </a:graphicData>
        </a:graphic>
      </p:graphicFrame>
      <p:sp>
        <p:nvSpPr>
          <p:cNvPr id="10254" name="Rectangle 63">
            <a:extLst>
              <a:ext uri="{FF2B5EF4-FFF2-40B4-BE49-F238E27FC236}">
                <a16:creationId xmlns:a16="http://schemas.microsoft.com/office/drawing/2014/main" id="{D0D91E8D-1F0D-451D-BE63-A52D8FD3C787}"/>
              </a:ext>
            </a:extLst>
          </p:cNvPr>
          <p:cNvSpPr>
            <a:spLocks noChangeArrowheads="1"/>
          </p:cNvSpPr>
          <p:nvPr/>
        </p:nvSpPr>
        <p:spPr bwMode="auto">
          <a:xfrm>
            <a:off x="1524001" y="3028664"/>
            <a:ext cx="1847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ru-RU" altLang="ru-RU">
              <a:solidFill>
                <a:srgbClr val="003399"/>
              </a:solidFill>
              <a:latin typeface="Times New Roman" panose="02020603050405020304" pitchFamily="18" charset="0"/>
            </a:endParaRPr>
          </a:p>
        </p:txBody>
      </p:sp>
      <p:graphicFrame>
        <p:nvGraphicFramePr>
          <p:cNvPr id="10257" name="Object 62">
            <a:extLst>
              <a:ext uri="{FF2B5EF4-FFF2-40B4-BE49-F238E27FC236}">
                <a16:creationId xmlns:a16="http://schemas.microsoft.com/office/drawing/2014/main" id="{FDD22689-17C7-4C50-80A3-F03DA504C49F}"/>
              </a:ext>
            </a:extLst>
          </p:cNvPr>
          <p:cNvGraphicFramePr>
            <a:graphicFrameLocks noChangeAspect="1"/>
          </p:cNvGraphicFramePr>
          <p:nvPr/>
        </p:nvGraphicFramePr>
        <p:xfrm>
          <a:off x="5808663" y="4868864"/>
          <a:ext cx="1403350" cy="350837"/>
        </p:xfrm>
        <a:graphic>
          <a:graphicData uri="http://schemas.openxmlformats.org/presentationml/2006/ole">
            <mc:AlternateContent xmlns:mc="http://schemas.openxmlformats.org/markup-compatibility/2006">
              <mc:Choice xmlns:v="urn:schemas-microsoft-com:vml" Requires="v">
                <p:oleObj name="Формула" r:id="rId8" imgW="875920" imgH="215806" progId="Equation.3">
                  <p:embed/>
                </p:oleObj>
              </mc:Choice>
              <mc:Fallback>
                <p:oleObj name="Формула" r:id="rId8" imgW="875920" imgH="215806" progId="Equation.3">
                  <p:embed/>
                  <p:pic>
                    <p:nvPicPr>
                      <p:cNvPr id="10257" name="Object 62">
                        <a:extLst>
                          <a:ext uri="{FF2B5EF4-FFF2-40B4-BE49-F238E27FC236}">
                            <a16:creationId xmlns:a16="http://schemas.microsoft.com/office/drawing/2014/main" id="{FDD22689-17C7-4C50-80A3-F03DA504C49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808663" y="4868864"/>
                        <a:ext cx="1403350" cy="350837"/>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56" name="Rectangle 65">
            <a:extLst>
              <a:ext uri="{FF2B5EF4-FFF2-40B4-BE49-F238E27FC236}">
                <a16:creationId xmlns:a16="http://schemas.microsoft.com/office/drawing/2014/main" id="{51C0A4FB-5DB3-402F-A6B3-6EABB6CA2641}"/>
              </a:ext>
            </a:extLst>
          </p:cNvPr>
          <p:cNvSpPr>
            <a:spLocks noChangeArrowheads="1"/>
          </p:cNvSpPr>
          <p:nvPr/>
        </p:nvSpPr>
        <p:spPr bwMode="auto">
          <a:xfrm>
            <a:off x="1524001" y="2927064"/>
            <a:ext cx="1847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ru-RU" altLang="ru-RU">
              <a:solidFill>
                <a:srgbClr val="003399"/>
              </a:solidFill>
              <a:latin typeface="Times New Roman" panose="02020603050405020304" pitchFamily="18" charset="0"/>
            </a:endParaRPr>
          </a:p>
        </p:txBody>
      </p:sp>
      <p:graphicFrame>
        <p:nvGraphicFramePr>
          <p:cNvPr id="10259" name="Object 64">
            <a:extLst>
              <a:ext uri="{FF2B5EF4-FFF2-40B4-BE49-F238E27FC236}">
                <a16:creationId xmlns:a16="http://schemas.microsoft.com/office/drawing/2014/main" id="{78B0CFF5-C746-403E-98B6-92602F07FF3E}"/>
              </a:ext>
            </a:extLst>
          </p:cNvPr>
          <p:cNvGraphicFramePr>
            <a:graphicFrameLocks noChangeAspect="1"/>
          </p:cNvGraphicFramePr>
          <p:nvPr/>
        </p:nvGraphicFramePr>
        <p:xfrm>
          <a:off x="8472488" y="5192714"/>
          <a:ext cx="1009650" cy="617537"/>
        </p:xfrm>
        <a:graphic>
          <a:graphicData uri="http://schemas.openxmlformats.org/presentationml/2006/ole">
            <mc:AlternateContent xmlns:mc="http://schemas.openxmlformats.org/markup-compatibility/2006">
              <mc:Choice xmlns:v="urn:schemas-microsoft-com:vml" Requires="v">
                <p:oleObj name="Формула" r:id="rId10" imgW="685800" imgH="419100" progId="Equation.3">
                  <p:embed/>
                </p:oleObj>
              </mc:Choice>
              <mc:Fallback>
                <p:oleObj name="Формула" r:id="rId10" imgW="685800" imgH="419100" progId="Equation.3">
                  <p:embed/>
                  <p:pic>
                    <p:nvPicPr>
                      <p:cNvPr id="10259" name="Object 64">
                        <a:extLst>
                          <a:ext uri="{FF2B5EF4-FFF2-40B4-BE49-F238E27FC236}">
                            <a16:creationId xmlns:a16="http://schemas.microsoft.com/office/drawing/2014/main" id="{78B0CFF5-C746-403E-98B6-92602F07FF3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472488" y="5192714"/>
                        <a:ext cx="1009650" cy="617537"/>
                      </a:xfrm>
                      <a:prstGeom prst="rect">
                        <a:avLst/>
                      </a:prstGeom>
                      <a:solidFill>
                        <a:srgbClr val="CCFFFF"/>
                      </a:solidFill>
                      <a:ln w="15875">
                        <a:solidFill>
                          <a:srgbClr val="FF0000"/>
                        </a:solidFill>
                        <a:miter lim="800000"/>
                        <a:headEnd/>
                        <a:tailEnd/>
                      </a:ln>
                    </p:spPr>
                  </p:pic>
                </p:oleObj>
              </mc:Fallback>
            </mc:AlternateContent>
          </a:graphicData>
        </a:graphic>
      </p:graphicFrame>
      <p:sp>
        <p:nvSpPr>
          <p:cNvPr id="10258" name="Rectangle 70">
            <a:extLst>
              <a:ext uri="{FF2B5EF4-FFF2-40B4-BE49-F238E27FC236}">
                <a16:creationId xmlns:a16="http://schemas.microsoft.com/office/drawing/2014/main" id="{4363DA68-F91C-46E2-A046-B5395C231726}"/>
              </a:ext>
            </a:extLst>
          </p:cNvPr>
          <p:cNvSpPr>
            <a:spLocks noChangeArrowheads="1"/>
          </p:cNvSpPr>
          <p:nvPr/>
        </p:nvSpPr>
        <p:spPr bwMode="auto">
          <a:xfrm>
            <a:off x="1524001" y="2927064"/>
            <a:ext cx="1847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ru-RU" altLang="ru-RU">
              <a:solidFill>
                <a:srgbClr val="003399"/>
              </a:solidFill>
              <a:latin typeface="Times New Roman" panose="02020603050405020304" pitchFamily="18" charset="0"/>
            </a:endParaRPr>
          </a:p>
        </p:txBody>
      </p:sp>
      <p:graphicFrame>
        <p:nvGraphicFramePr>
          <p:cNvPr id="3" name="Object 69">
            <a:extLst>
              <a:ext uri="{FF2B5EF4-FFF2-40B4-BE49-F238E27FC236}">
                <a16:creationId xmlns:a16="http://schemas.microsoft.com/office/drawing/2014/main" id="{A0B57FD7-A23C-4D91-B0CC-D26A4D8652F6}"/>
              </a:ext>
            </a:extLst>
          </p:cNvPr>
          <p:cNvGraphicFramePr>
            <a:graphicFrameLocks noChangeAspect="1"/>
          </p:cNvGraphicFramePr>
          <p:nvPr/>
        </p:nvGraphicFramePr>
        <p:xfrm>
          <a:off x="8472488" y="5949950"/>
          <a:ext cx="1187450" cy="660400"/>
        </p:xfrm>
        <a:graphic>
          <a:graphicData uri="http://schemas.openxmlformats.org/presentationml/2006/ole">
            <mc:AlternateContent xmlns:mc="http://schemas.openxmlformats.org/markup-compatibility/2006">
              <mc:Choice xmlns:v="urn:schemas-microsoft-com:vml" Requires="v">
                <p:oleObj name="Формула" r:id="rId12" imgW="749300" imgH="419100" progId="Equation.3">
                  <p:embed/>
                </p:oleObj>
              </mc:Choice>
              <mc:Fallback>
                <p:oleObj name="Формула" r:id="rId12" imgW="749300" imgH="419100" progId="Equation.3">
                  <p:embed/>
                  <p:pic>
                    <p:nvPicPr>
                      <p:cNvPr id="3" name="Object 69">
                        <a:extLst>
                          <a:ext uri="{FF2B5EF4-FFF2-40B4-BE49-F238E27FC236}">
                            <a16:creationId xmlns:a16="http://schemas.microsoft.com/office/drawing/2014/main" id="{A0B57FD7-A23C-4D91-B0CC-D26A4D8652F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472488" y="5949950"/>
                        <a:ext cx="1187450" cy="660400"/>
                      </a:xfrm>
                      <a:prstGeom prst="rect">
                        <a:avLst/>
                      </a:prstGeom>
                      <a:solidFill>
                        <a:srgbClr val="CCFFFF"/>
                      </a:solidFill>
                      <a:ln w="12700">
                        <a:solidFill>
                          <a:srgbClr val="800000"/>
                        </a:solidFill>
                        <a:miter lim="800000"/>
                        <a:headEnd/>
                        <a:tailEnd/>
                      </a:ln>
                    </p:spPr>
                  </p:pic>
                </p:oleObj>
              </mc:Fallback>
            </mc:AlternateContent>
          </a:graphicData>
        </a:graphic>
      </p:graphicFrame>
      <p:graphicFrame>
        <p:nvGraphicFramePr>
          <p:cNvPr id="2" name="Таблица 1">
            <a:extLst>
              <a:ext uri="{FF2B5EF4-FFF2-40B4-BE49-F238E27FC236}">
                <a16:creationId xmlns:a16="http://schemas.microsoft.com/office/drawing/2014/main" id="{33C587CD-B32E-470A-B94E-29882BEA1F09}"/>
              </a:ext>
            </a:extLst>
          </p:cNvPr>
          <p:cNvGraphicFramePr>
            <a:graphicFrameLocks noGrp="1"/>
          </p:cNvGraphicFramePr>
          <p:nvPr/>
        </p:nvGraphicFramePr>
        <p:xfrm>
          <a:off x="2063751" y="944563"/>
          <a:ext cx="8064501" cy="1833562"/>
        </p:xfrm>
        <a:graphic>
          <a:graphicData uri="http://schemas.openxmlformats.org/drawingml/2006/table">
            <a:tbl>
              <a:tblPr firstRow="1" bandRow="1">
                <a:tableStyleId>{5C22544A-7EE6-4342-B048-85BDC9FD1C3A}</a:tableStyleId>
              </a:tblPr>
              <a:tblGrid>
                <a:gridCol w="2688167">
                  <a:extLst>
                    <a:ext uri="{9D8B030D-6E8A-4147-A177-3AD203B41FA5}">
                      <a16:colId xmlns:a16="http://schemas.microsoft.com/office/drawing/2014/main" val="20000"/>
                    </a:ext>
                  </a:extLst>
                </a:gridCol>
                <a:gridCol w="2688167">
                  <a:extLst>
                    <a:ext uri="{9D8B030D-6E8A-4147-A177-3AD203B41FA5}">
                      <a16:colId xmlns:a16="http://schemas.microsoft.com/office/drawing/2014/main" val="20001"/>
                    </a:ext>
                  </a:extLst>
                </a:gridCol>
                <a:gridCol w="2688167">
                  <a:extLst>
                    <a:ext uri="{9D8B030D-6E8A-4147-A177-3AD203B41FA5}">
                      <a16:colId xmlns:a16="http://schemas.microsoft.com/office/drawing/2014/main" val="20002"/>
                    </a:ext>
                  </a:extLst>
                </a:gridCol>
              </a:tblGrid>
              <a:tr h="620182">
                <a:tc>
                  <a:txBody>
                    <a:bodyPr/>
                    <a:lstStyle/>
                    <a:p>
                      <a:pPr algn="ctr"/>
                      <a:r>
                        <a:rPr lang="ru-RU" sz="1800" b="0" dirty="0">
                          <a:solidFill>
                            <a:srgbClr val="C00000"/>
                          </a:solidFill>
                          <a:latin typeface="Times New Roman" panose="02020603050405020304" pitchFamily="18" charset="0"/>
                          <a:cs typeface="Times New Roman" panose="02020603050405020304" pitchFamily="18" charset="0"/>
                        </a:rPr>
                        <a:t>Величина</a:t>
                      </a:r>
                    </a:p>
                  </a:txBody>
                  <a:tcPr marL="91436" marR="91436" marT="45702" marB="45702">
                    <a:solidFill>
                      <a:schemeClr val="accent2">
                        <a:lumMod val="20000"/>
                        <a:lumOff val="80000"/>
                      </a:schemeClr>
                    </a:solidFill>
                  </a:tcPr>
                </a:tc>
                <a:tc>
                  <a:txBody>
                    <a:bodyPr/>
                    <a:lstStyle/>
                    <a:p>
                      <a:r>
                        <a:rPr lang="ru-RU" sz="1800" b="0" dirty="0">
                          <a:solidFill>
                            <a:srgbClr val="C00000"/>
                          </a:solidFill>
                          <a:latin typeface="Times New Roman" panose="02020603050405020304" pitchFamily="18" charset="0"/>
                          <a:cs typeface="Times New Roman" panose="02020603050405020304" pitchFamily="18" charset="0"/>
                        </a:rPr>
                        <a:t>Мгновенное значение</a:t>
                      </a:r>
                    </a:p>
                  </a:txBody>
                  <a:tcPr marL="91436" marR="91436" marT="45702" marB="45702">
                    <a:solidFill>
                      <a:srgbClr val="FFFFC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800" b="0" dirty="0">
                          <a:solidFill>
                            <a:srgbClr val="C00000"/>
                          </a:solidFill>
                          <a:latin typeface="Times New Roman" panose="02020603050405020304" pitchFamily="18" charset="0"/>
                          <a:cs typeface="Times New Roman" panose="02020603050405020304" pitchFamily="18" charset="0"/>
                        </a:rPr>
                        <a:t>Действующее значение</a:t>
                      </a:r>
                      <a:endParaRPr lang="ru-RU" sz="1800" dirty="0"/>
                    </a:p>
                  </a:txBody>
                  <a:tcPr marL="91436" marR="91436" marT="45702" marB="45702">
                    <a:solidFill>
                      <a:srgbClr val="CCFFCC"/>
                    </a:solidFill>
                  </a:tcPr>
                </a:tc>
                <a:extLst>
                  <a:ext uri="{0D108BD9-81ED-4DB2-BD59-A6C34878D82A}">
                    <a16:rowId xmlns:a16="http://schemas.microsoft.com/office/drawing/2014/main" val="10000"/>
                  </a:ext>
                </a:extLst>
              </a:tr>
              <a:tr h="481932">
                <a:tc>
                  <a:txBody>
                    <a:bodyPr/>
                    <a:lstStyle/>
                    <a:p>
                      <a:r>
                        <a:rPr lang="ru-RU" sz="1800" dirty="0"/>
                        <a:t>Напряжение</a:t>
                      </a:r>
                    </a:p>
                  </a:txBody>
                  <a:tcPr marL="91436" marR="91436" marT="45702" marB="45702">
                    <a:solidFill>
                      <a:schemeClr val="accent2">
                        <a:lumMod val="20000"/>
                        <a:lumOff val="80000"/>
                      </a:schemeClr>
                    </a:solidFill>
                  </a:tcPr>
                </a:tc>
                <a:tc>
                  <a:txBody>
                    <a:bodyPr/>
                    <a:lstStyle/>
                    <a:p>
                      <a:pPr algn="ctr"/>
                      <a:r>
                        <a:rPr lang="en-US" sz="1800" i="1" dirty="0">
                          <a:latin typeface="Times New Roman" panose="02020603050405020304" pitchFamily="18" charset="0"/>
                          <a:cs typeface="Times New Roman" panose="02020603050405020304" pitchFamily="18" charset="0"/>
                        </a:rPr>
                        <a:t>u</a:t>
                      </a:r>
                      <a:r>
                        <a:rPr lang="en-US" sz="1800" dirty="0">
                          <a:latin typeface="Times New Roman" panose="02020603050405020304" pitchFamily="18" charset="0"/>
                          <a:cs typeface="Times New Roman" panose="02020603050405020304" pitchFamily="18" charset="0"/>
                        </a:rPr>
                        <a:t>(</a:t>
                      </a:r>
                      <a:r>
                        <a:rPr lang="en-US" sz="1800" i="1" dirty="0">
                          <a:latin typeface="Times New Roman" panose="02020603050405020304" pitchFamily="18" charset="0"/>
                          <a:cs typeface="Times New Roman" panose="02020603050405020304" pitchFamily="18" charset="0"/>
                        </a:rPr>
                        <a:t>t</a:t>
                      </a:r>
                      <a:r>
                        <a:rPr lang="en-US" sz="1800" dirty="0">
                          <a:latin typeface="Times New Roman" panose="02020603050405020304" pitchFamily="18" charset="0"/>
                          <a:cs typeface="Times New Roman" panose="02020603050405020304" pitchFamily="18" charset="0"/>
                        </a:rPr>
                        <a:t>)=</a:t>
                      </a:r>
                      <a:r>
                        <a:rPr lang="en-US" sz="1800" i="1" dirty="0" err="1">
                          <a:latin typeface="Times New Roman" panose="02020603050405020304" pitchFamily="18" charset="0"/>
                          <a:cs typeface="Times New Roman" panose="02020603050405020304" pitchFamily="18" charset="0"/>
                        </a:rPr>
                        <a:t>U</a:t>
                      </a:r>
                      <a:r>
                        <a:rPr lang="en-US" sz="1800" baseline="-25000" dirty="0" err="1">
                          <a:latin typeface="Times New Roman" panose="02020603050405020304" pitchFamily="18" charset="0"/>
                          <a:cs typeface="Times New Roman" panose="02020603050405020304" pitchFamily="18" charset="0"/>
                        </a:rPr>
                        <a:t>m</a:t>
                      </a:r>
                      <a:r>
                        <a:rPr lang="en-US" sz="1800" dirty="0" err="1">
                          <a:latin typeface="Times New Roman" panose="02020603050405020304" pitchFamily="18" charset="0"/>
                          <a:cs typeface="Times New Roman" panose="02020603050405020304" pitchFamily="18" charset="0"/>
                        </a:rPr>
                        <a:t>sin</a:t>
                      </a:r>
                      <a:r>
                        <a:rPr lang="en-US" sz="1800" dirty="0"/>
                        <a:t>(</a:t>
                      </a:r>
                      <a:r>
                        <a:rPr lang="en-US" sz="1800" i="1" dirty="0">
                          <a:sym typeface="Symbol" panose="05050102010706020507" pitchFamily="18" charset="2"/>
                        </a:rPr>
                        <a:t>t</a:t>
                      </a:r>
                      <a:r>
                        <a:rPr lang="en-US" sz="1800" dirty="0">
                          <a:sym typeface="Symbol" panose="05050102010706020507" pitchFamily="18" charset="2"/>
                        </a:rPr>
                        <a:t>+</a:t>
                      </a:r>
                      <a:r>
                        <a:rPr lang="en-US" sz="1800" i="1" dirty="0">
                          <a:sym typeface="Symbol" panose="05050102010706020507" pitchFamily="18" charset="2"/>
                        </a:rPr>
                        <a:t></a:t>
                      </a:r>
                      <a:r>
                        <a:rPr lang="en-US" sz="1800" baseline="-25000" dirty="0">
                          <a:sym typeface="Symbol" panose="05050102010706020507" pitchFamily="18" charset="2"/>
                        </a:rPr>
                        <a:t>u</a:t>
                      </a:r>
                      <a:r>
                        <a:rPr lang="en-US" sz="1800" dirty="0">
                          <a:sym typeface="Symbol" panose="05050102010706020507" pitchFamily="18" charset="2"/>
                        </a:rPr>
                        <a:t>)</a:t>
                      </a:r>
                      <a:endParaRPr lang="ru-RU" sz="1800" dirty="0"/>
                    </a:p>
                  </a:txBody>
                  <a:tcPr marL="91436" marR="91436" marT="45702" marB="45702">
                    <a:solidFill>
                      <a:srgbClr val="FFFFCC"/>
                    </a:solidFill>
                  </a:tcPr>
                </a:tc>
                <a:tc>
                  <a:txBody>
                    <a:bodyPr/>
                    <a:lstStyle/>
                    <a:p>
                      <a:pPr algn="ctr"/>
                      <a:r>
                        <a:rPr lang="en-US" sz="1800" i="1" dirty="0"/>
                        <a:t>U</a:t>
                      </a:r>
                      <a:endParaRPr lang="ru-RU" sz="1800" i="1" dirty="0"/>
                    </a:p>
                  </a:txBody>
                  <a:tcPr marL="91436" marR="91436" marT="45702" marB="45702">
                    <a:solidFill>
                      <a:srgbClr val="CCFFCC"/>
                    </a:solidFill>
                  </a:tcPr>
                </a:tc>
                <a:extLst>
                  <a:ext uri="{0D108BD9-81ED-4DB2-BD59-A6C34878D82A}">
                    <a16:rowId xmlns:a16="http://schemas.microsoft.com/office/drawing/2014/main" val="10001"/>
                  </a:ext>
                </a:extLst>
              </a:tr>
              <a:tr h="365724">
                <a:tc>
                  <a:txBody>
                    <a:bodyPr/>
                    <a:lstStyle/>
                    <a:p>
                      <a:r>
                        <a:rPr lang="ru-RU" sz="1800" dirty="0"/>
                        <a:t>Ток</a:t>
                      </a:r>
                    </a:p>
                  </a:txBody>
                  <a:tcPr marL="91436" marR="91436" marT="45702" marB="45702">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i="1" dirty="0" err="1">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a:t>
                      </a:r>
                      <a:r>
                        <a:rPr lang="en-US" sz="1800" i="1" dirty="0">
                          <a:latin typeface="Times New Roman" panose="02020603050405020304" pitchFamily="18" charset="0"/>
                          <a:cs typeface="Times New Roman" panose="02020603050405020304" pitchFamily="18" charset="0"/>
                        </a:rPr>
                        <a:t>t</a:t>
                      </a:r>
                      <a:r>
                        <a:rPr lang="en-US" sz="1800" dirty="0">
                          <a:latin typeface="Times New Roman" panose="02020603050405020304" pitchFamily="18" charset="0"/>
                          <a:cs typeface="Times New Roman" panose="02020603050405020304" pitchFamily="18" charset="0"/>
                        </a:rPr>
                        <a:t>)=</a:t>
                      </a:r>
                      <a:r>
                        <a:rPr lang="en-US" sz="1800" i="1" dirty="0" err="1">
                          <a:latin typeface="Times New Roman" panose="02020603050405020304" pitchFamily="18" charset="0"/>
                          <a:cs typeface="Times New Roman" panose="02020603050405020304" pitchFamily="18" charset="0"/>
                        </a:rPr>
                        <a:t>I</a:t>
                      </a:r>
                      <a:r>
                        <a:rPr lang="en-US" sz="1800" baseline="-25000" dirty="0" err="1">
                          <a:latin typeface="Times New Roman" panose="02020603050405020304" pitchFamily="18" charset="0"/>
                          <a:cs typeface="Times New Roman" panose="02020603050405020304" pitchFamily="18" charset="0"/>
                        </a:rPr>
                        <a:t>m</a:t>
                      </a:r>
                      <a:r>
                        <a:rPr lang="en-US" sz="1800" dirty="0" err="1">
                          <a:latin typeface="Times New Roman" panose="02020603050405020304" pitchFamily="18" charset="0"/>
                          <a:cs typeface="Times New Roman" panose="02020603050405020304" pitchFamily="18" charset="0"/>
                        </a:rPr>
                        <a:t>sin</a:t>
                      </a:r>
                      <a:r>
                        <a:rPr lang="en-US" sz="1800" dirty="0"/>
                        <a:t>(</a:t>
                      </a:r>
                      <a:r>
                        <a:rPr lang="en-US" sz="1800" i="1" dirty="0">
                          <a:sym typeface="Symbol" panose="05050102010706020507" pitchFamily="18" charset="2"/>
                        </a:rPr>
                        <a:t>t</a:t>
                      </a:r>
                      <a:r>
                        <a:rPr lang="en-US" sz="1800" dirty="0">
                          <a:sym typeface="Symbol" panose="05050102010706020507" pitchFamily="18" charset="2"/>
                        </a:rPr>
                        <a:t>+</a:t>
                      </a:r>
                      <a:r>
                        <a:rPr lang="en-US" sz="1800" i="1" dirty="0">
                          <a:sym typeface="Symbol" panose="05050102010706020507" pitchFamily="18" charset="2"/>
                        </a:rPr>
                        <a:t></a:t>
                      </a:r>
                      <a:r>
                        <a:rPr lang="en-US" sz="1800" i="1" baseline="-25000" dirty="0" err="1">
                          <a:sym typeface="Symbol" panose="05050102010706020507" pitchFamily="18" charset="2"/>
                        </a:rPr>
                        <a:t>i</a:t>
                      </a:r>
                      <a:r>
                        <a:rPr lang="en-US" sz="1800" dirty="0">
                          <a:sym typeface="Symbol" panose="05050102010706020507" pitchFamily="18" charset="2"/>
                        </a:rPr>
                        <a:t>)</a:t>
                      </a:r>
                      <a:endParaRPr lang="ru-RU" sz="1800" dirty="0"/>
                    </a:p>
                  </a:txBody>
                  <a:tcPr marL="91436" marR="91436" marT="45702" marB="45702">
                    <a:solidFill>
                      <a:srgbClr val="FFFFCC"/>
                    </a:solidFill>
                  </a:tcPr>
                </a:tc>
                <a:tc>
                  <a:txBody>
                    <a:bodyPr/>
                    <a:lstStyle/>
                    <a:p>
                      <a:pPr algn="ctr"/>
                      <a:r>
                        <a:rPr lang="en-US" sz="1800" i="1" dirty="0"/>
                        <a:t>I</a:t>
                      </a:r>
                      <a:endParaRPr lang="ru-RU" sz="1800" i="1" dirty="0"/>
                    </a:p>
                  </a:txBody>
                  <a:tcPr marL="91436" marR="91436" marT="45702" marB="45702">
                    <a:solidFill>
                      <a:srgbClr val="CCFFCC"/>
                    </a:solidFill>
                  </a:tcPr>
                </a:tc>
                <a:extLst>
                  <a:ext uri="{0D108BD9-81ED-4DB2-BD59-A6C34878D82A}">
                    <a16:rowId xmlns:a16="http://schemas.microsoft.com/office/drawing/2014/main" val="10002"/>
                  </a:ext>
                </a:extLst>
              </a:tr>
              <a:tr h="365724">
                <a:tc>
                  <a:txBody>
                    <a:bodyPr/>
                    <a:lstStyle/>
                    <a:p>
                      <a:r>
                        <a:rPr lang="ru-RU" sz="1800" dirty="0"/>
                        <a:t>ЭДС</a:t>
                      </a:r>
                    </a:p>
                  </a:txBody>
                  <a:tcPr marL="91436" marR="91436" marT="45702" marB="45702">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i="1" dirty="0">
                          <a:latin typeface="Times New Roman" panose="02020603050405020304" pitchFamily="18" charset="0"/>
                          <a:cs typeface="Times New Roman" panose="02020603050405020304" pitchFamily="18" charset="0"/>
                        </a:rPr>
                        <a:t>e</a:t>
                      </a:r>
                      <a:r>
                        <a:rPr lang="en-US" sz="1800" dirty="0">
                          <a:latin typeface="Times New Roman" panose="02020603050405020304" pitchFamily="18" charset="0"/>
                          <a:cs typeface="Times New Roman" panose="02020603050405020304" pitchFamily="18" charset="0"/>
                        </a:rPr>
                        <a:t>(</a:t>
                      </a:r>
                      <a:r>
                        <a:rPr lang="en-US" sz="1800" i="1" dirty="0">
                          <a:latin typeface="Times New Roman" panose="02020603050405020304" pitchFamily="18" charset="0"/>
                          <a:cs typeface="Times New Roman" panose="02020603050405020304" pitchFamily="18" charset="0"/>
                        </a:rPr>
                        <a:t>t</a:t>
                      </a:r>
                      <a:r>
                        <a:rPr lang="en-US" sz="1800" dirty="0">
                          <a:latin typeface="Times New Roman" panose="02020603050405020304" pitchFamily="18" charset="0"/>
                          <a:cs typeface="Times New Roman" panose="02020603050405020304" pitchFamily="18" charset="0"/>
                        </a:rPr>
                        <a:t>)=</a:t>
                      </a:r>
                      <a:r>
                        <a:rPr lang="en-US" sz="1800" i="1" dirty="0" err="1">
                          <a:latin typeface="Times New Roman" panose="02020603050405020304" pitchFamily="18" charset="0"/>
                          <a:cs typeface="Times New Roman" panose="02020603050405020304" pitchFamily="18" charset="0"/>
                        </a:rPr>
                        <a:t>E</a:t>
                      </a:r>
                      <a:r>
                        <a:rPr lang="en-US" sz="1800" baseline="-25000" dirty="0" err="1">
                          <a:latin typeface="Times New Roman" panose="02020603050405020304" pitchFamily="18" charset="0"/>
                          <a:cs typeface="Times New Roman" panose="02020603050405020304" pitchFamily="18" charset="0"/>
                        </a:rPr>
                        <a:t>m</a:t>
                      </a:r>
                      <a:r>
                        <a:rPr lang="en-US" sz="1800" dirty="0" err="1">
                          <a:latin typeface="Times New Roman" panose="02020603050405020304" pitchFamily="18" charset="0"/>
                          <a:cs typeface="Times New Roman" panose="02020603050405020304" pitchFamily="18" charset="0"/>
                        </a:rPr>
                        <a:t>sin</a:t>
                      </a:r>
                      <a:r>
                        <a:rPr lang="en-US" sz="1800" dirty="0"/>
                        <a:t>(</a:t>
                      </a:r>
                      <a:r>
                        <a:rPr lang="en-US" sz="1800" i="1" dirty="0">
                          <a:sym typeface="Symbol" panose="05050102010706020507" pitchFamily="18" charset="2"/>
                        </a:rPr>
                        <a:t>t</a:t>
                      </a:r>
                      <a:r>
                        <a:rPr lang="en-US" sz="1800" dirty="0">
                          <a:sym typeface="Symbol" panose="05050102010706020507" pitchFamily="18" charset="2"/>
                        </a:rPr>
                        <a:t>+</a:t>
                      </a:r>
                      <a:r>
                        <a:rPr lang="en-US" sz="1800" i="1" dirty="0">
                          <a:sym typeface="Symbol" panose="05050102010706020507" pitchFamily="18" charset="2"/>
                        </a:rPr>
                        <a:t></a:t>
                      </a:r>
                      <a:r>
                        <a:rPr lang="en-US" sz="1800" i="1" baseline="-25000" dirty="0">
                          <a:sym typeface="Symbol" panose="05050102010706020507" pitchFamily="18" charset="2"/>
                        </a:rPr>
                        <a:t>e</a:t>
                      </a:r>
                      <a:r>
                        <a:rPr lang="en-US" sz="1800" dirty="0">
                          <a:sym typeface="Symbol" panose="05050102010706020507" pitchFamily="18" charset="2"/>
                        </a:rPr>
                        <a:t>)</a:t>
                      </a:r>
                      <a:endParaRPr lang="ru-RU" sz="1800" dirty="0"/>
                    </a:p>
                  </a:txBody>
                  <a:tcPr marL="91436" marR="91436" marT="45702" marB="45702">
                    <a:solidFill>
                      <a:srgbClr val="FFFFCC"/>
                    </a:solidFill>
                  </a:tcPr>
                </a:tc>
                <a:tc>
                  <a:txBody>
                    <a:bodyPr/>
                    <a:lstStyle/>
                    <a:p>
                      <a:pPr algn="ctr"/>
                      <a:r>
                        <a:rPr lang="en-US" sz="1800" i="1" dirty="0"/>
                        <a:t>E</a:t>
                      </a:r>
                      <a:endParaRPr lang="ru-RU" sz="1800" i="1" dirty="0"/>
                    </a:p>
                  </a:txBody>
                  <a:tcPr marL="91436" marR="91436" marT="45702" marB="45702">
                    <a:solidFill>
                      <a:srgbClr val="CCFFCC"/>
                    </a:solidFill>
                  </a:tcPr>
                </a:tc>
                <a:extLst>
                  <a:ext uri="{0D108BD9-81ED-4DB2-BD59-A6C34878D82A}">
                    <a16:rowId xmlns:a16="http://schemas.microsoft.com/office/drawing/2014/main" val="10003"/>
                  </a:ext>
                </a:extLst>
              </a:tr>
            </a:tbl>
          </a:graphicData>
        </a:graphic>
      </p:graphicFrame>
      <p:sp>
        <p:nvSpPr>
          <p:cNvPr id="10284" name="Rectangle 58">
            <a:extLst>
              <a:ext uri="{FF2B5EF4-FFF2-40B4-BE49-F238E27FC236}">
                <a16:creationId xmlns:a16="http://schemas.microsoft.com/office/drawing/2014/main" id="{6A3587E0-0111-4308-AD1D-5A957A3BD8F3}"/>
              </a:ext>
            </a:extLst>
          </p:cNvPr>
          <p:cNvSpPr>
            <a:spLocks noChangeArrowheads="1"/>
          </p:cNvSpPr>
          <p:nvPr/>
        </p:nvSpPr>
        <p:spPr bwMode="auto">
          <a:xfrm>
            <a:off x="1666876" y="4905375"/>
            <a:ext cx="4068763"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lnSpc>
                <a:spcPct val="90000"/>
              </a:lnSpc>
              <a:spcBef>
                <a:spcPct val="0"/>
              </a:spcBef>
              <a:buClrTx/>
              <a:buSzTx/>
              <a:buFontTx/>
              <a:buNone/>
            </a:pPr>
            <a:r>
              <a:rPr lang="ru-RU" altLang="ru-RU" sz="1600">
                <a:solidFill>
                  <a:srgbClr val="008000"/>
                </a:solidFill>
                <a:latin typeface="Times New Roman" panose="02020603050405020304" pitchFamily="18" charset="0"/>
                <a:cs typeface="Times New Roman" panose="02020603050405020304" pitchFamily="18" charset="0"/>
              </a:rPr>
              <a:t>Если мгновенное  значение напряжения: </a:t>
            </a:r>
          </a:p>
        </p:txBody>
      </p:sp>
      <p:sp>
        <p:nvSpPr>
          <p:cNvPr id="10285" name="Rectangle 58">
            <a:extLst>
              <a:ext uri="{FF2B5EF4-FFF2-40B4-BE49-F238E27FC236}">
                <a16:creationId xmlns:a16="http://schemas.microsoft.com/office/drawing/2014/main" id="{68D31DCB-85AD-4625-A8FE-075D302E0129}"/>
              </a:ext>
            </a:extLst>
          </p:cNvPr>
          <p:cNvSpPr>
            <a:spLocks noChangeArrowheads="1"/>
          </p:cNvSpPr>
          <p:nvPr/>
        </p:nvSpPr>
        <p:spPr bwMode="auto">
          <a:xfrm>
            <a:off x="1631951" y="5337175"/>
            <a:ext cx="6119813"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lnSpc>
                <a:spcPct val="90000"/>
              </a:lnSpc>
              <a:spcBef>
                <a:spcPct val="0"/>
              </a:spcBef>
              <a:buClrTx/>
              <a:buSzTx/>
              <a:buFontTx/>
              <a:buNone/>
            </a:pPr>
            <a:r>
              <a:rPr lang="ru-RU" altLang="ru-RU" sz="1600">
                <a:solidFill>
                  <a:srgbClr val="008000"/>
                </a:solidFill>
                <a:latin typeface="Times New Roman" panose="02020603050405020304" pitchFamily="18" charset="0"/>
                <a:cs typeface="Times New Roman" panose="02020603050405020304" pitchFamily="18" charset="0"/>
              </a:rPr>
              <a:t>То постоянное напряжение </a:t>
            </a:r>
            <a:r>
              <a:rPr lang="en-US" altLang="ru-RU" sz="1600" i="1">
                <a:solidFill>
                  <a:srgbClr val="C00000"/>
                </a:solidFill>
                <a:latin typeface="Times New Roman" panose="02020603050405020304" pitchFamily="18" charset="0"/>
                <a:cs typeface="Times New Roman" panose="02020603050405020304" pitchFamily="18" charset="0"/>
              </a:rPr>
              <a:t>U</a:t>
            </a:r>
            <a:r>
              <a:rPr lang="ru-RU" altLang="ru-RU" sz="1600">
                <a:solidFill>
                  <a:srgbClr val="008000"/>
                </a:solidFill>
                <a:latin typeface="Times New Roman" panose="02020603050405020304" pitchFamily="18" charset="0"/>
                <a:cs typeface="Times New Roman" panose="02020603050405020304" pitchFamily="18" charset="0"/>
              </a:rPr>
              <a:t> вычислим из равенства</a:t>
            </a:r>
            <a:r>
              <a:rPr lang="en-US" altLang="ru-RU" sz="1600">
                <a:solidFill>
                  <a:srgbClr val="008000"/>
                </a:solidFill>
                <a:latin typeface="Times New Roman" panose="02020603050405020304" pitchFamily="18" charset="0"/>
                <a:cs typeface="Times New Roman" panose="02020603050405020304" pitchFamily="18" charset="0"/>
              </a:rPr>
              <a:t> </a:t>
            </a:r>
            <a:r>
              <a:rPr lang="ru-RU" altLang="ru-RU" sz="1600">
                <a:solidFill>
                  <a:srgbClr val="008000"/>
                </a:solidFill>
                <a:latin typeface="Times New Roman" panose="02020603050405020304" pitchFamily="18" charset="0"/>
                <a:cs typeface="Times New Roman" panose="02020603050405020304" pitchFamily="18" charset="0"/>
              </a:rPr>
              <a:t>работ</a:t>
            </a:r>
          </a:p>
        </p:txBody>
      </p:sp>
      <p:sp>
        <p:nvSpPr>
          <p:cNvPr id="23" name="Прямоугольник 22">
            <a:extLst>
              <a:ext uri="{FF2B5EF4-FFF2-40B4-BE49-F238E27FC236}">
                <a16:creationId xmlns:a16="http://schemas.microsoft.com/office/drawing/2014/main" id="{EF77085D-9E9B-4319-9701-A46F89967A4C}"/>
              </a:ext>
            </a:extLst>
          </p:cNvPr>
          <p:cNvSpPr/>
          <p:nvPr/>
        </p:nvSpPr>
        <p:spPr>
          <a:xfrm>
            <a:off x="1291399" y="94079"/>
            <a:ext cx="1479892" cy="369332"/>
          </a:xfrm>
          <a:prstGeom prst="rect">
            <a:avLst/>
          </a:prstGeom>
        </p:spPr>
        <p:txBody>
          <a:bodyPr wrap="none">
            <a:spAutoFit/>
          </a:bodyPr>
          <a:lstStyle/>
          <a:p>
            <a:pPr>
              <a:defRPr/>
            </a:pPr>
            <a:r>
              <a:rPr lang="ru-RU" dirty="0">
                <a:solidFill>
                  <a:schemeClr val="bg1"/>
                </a:solidFill>
              </a:rPr>
              <a:t>Кафедра ТЭЦ</a:t>
            </a:r>
          </a:p>
        </p:txBody>
      </p:sp>
    </p:spTree>
    <p:extLst>
      <p:ext uri="{BB962C8B-B14F-4D97-AF65-F5344CB8AC3E}">
        <p14:creationId xmlns:p14="http://schemas.microsoft.com/office/powerpoint/2010/main" val="9541385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0723">
                                            <p:txEl>
                                              <p:pRg st="0" end="0"/>
                                            </p:txEl>
                                          </p:spTgt>
                                        </p:tgtEl>
                                        <p:attrNameLst>
                                          <p:attrName>style.visibility</p:attrName>
                                        </p:attrNameLst>
                                      </p:cBhvr>
                                      <p:to>
                                        <p:strVal val="visible"/>
                                      </p:to>
                                    </p:set>
                                    <p:animEffect transition="in" filter="wipe(down)">
                                      <p:cBhvr>
                                        <p:cTn id="7" dur="500"/>
                                        <p:tgtEl>
                                          <p:spTgt spid="3072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0251"/>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10252"/>
                                        </p:tgtEl>
                                        <p:attrNameLst>
                                          <p:attrName>style.visibility</p:attrName>
                                        </p:attrNameLst>
                                      </p:cBhvr>
                                      <p:to>
                                        <p:strVal val="visible"/>
                                      </p:to>
                                    </p:set>
                                    <p:animEffect transition="in" filter="fade">
                                      <p:cBhvr>
                                        <p:cTn id="20" dur="1000"/>
                                        <p:tgtEl>
                                          <p:spTgt spid="10252"/>
                                        </p:tgtEl>
                                      </p:cBhvr>
                                    </p:animEffect>
                                    <p:anim calcmode="lin" valueType="num">
                                      <p:cBhvr>
                                        <p:cTn id="21" dur="1000" fill="hold"/>
                                        <p:tgtEl>
                                          <p:spTgt spid="10252"/>
                                        </p:tgtEl>
                                        <p:attrNameLst>
                                          <p:attrName>ppt_x</p:attrName>
                                        </p:attrNameLst>
                                      </p:cBhvr>
                                      <p:tavLst>
                                        <p:tav tm="0">
                                          <p:val>
                                            <p:strVal val="#ppt_x"/>
                                          </p:val>
                                        </p:tav>
                                        <p:tav tm="100000">
                                          <p:val>
                                            <p:strVal val="#ppt_x"/>
                                          </p:val>
                                        </p:tav>
                                      </p:tavLst>
                                    </p:anim>
                                    <p:anim calcmode="lin" valueType="num">
                                      <p:cBhvr>
                                        <p:cTn id="22" dur="1000" fill="hold"/>
                                        <p:tgtEl>
                                          <p:spTgt spid="10252"/>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0"/>
                                  </p:stCondLst>
                                  <p:childTnLst>
                                    <p:set>
                                      <p:cBhvr>
                                        <p:cTn id="24" dur="1" fill="hold">
                                          <p:stCondLst>
                                            <p:cond delay="0"/>
                                          </p:stCondLst>
                                        </p:cTn>
                                        <p:tgtEl>
                                          <p:spTgt spid="10248"/>
                                        </p:tgtEl>
                                        <p:attrNameLst>
                                          <p:attrName>style.visibility</p:attrName>
                                        </p:attrNameLst>
                                      </p:cBhvr>
                                      <p:to>
                                        <p:strVal val="visible"/>
                                      </p:to>
                                    </p:set>
                                    <p:animEffect transition="in" filter="fade">
                                      <p:cBhvr>
                                        <p:cTn id="25" dur="1000"/>
                                        <p:tgtEl>
                                          <p:spTgt spid="10248"/>
                                        </p:tgtEl>
                                      </p:cBhvr>
                                    </p:animEffect>
                                    <p:anim calcmode="lin" valueType="num">
                                      <p:cBhvr>
                                        <p:cTn id="26" dur="1000" fill="hold"/>
                                        <p:tgtEl>
                                          <p:spTgt spid="10248"/>
                                        </p:tgtEl>
                                        <p:attrNameLst>
                                          <p:attrName>ppt_x</p:attrName>
                                        </p:attrNameLst>
                                      </p:cBhvr>
                                      <p:tavLst>
                                        <p:tav tm="0">
                                          <p:val>
                                            <p:strVal val="#ppt_x"/>
                                          </p:val>
                                        </p:tav>
                                        <p:tav tm="100000">
                                          <p:val>
                                            <p:strVal val="#ppt_x"/>
                                          </p:val>
                                        </p:tav>
                                      </p:tavLst>
                                    </p:anim>
                                    <p:anim calcmode="lin" valueType="num">
                                      <p:cBhvr>
                                        <p:cTn id="27" dur="1000" fill="hold"/>
                                        <p:tgtEl>
                                          <p:spTgt spid="10248"/>
                                        </p:tgtEl>
                                        <p:attrNameLst>
                                          <p:attrName>ppt_y</p:attrName>
                                        </p:attrNameLst>
                                      </p:cBhvr>
                                      <p:tavLst>
                                        <p:tav tm="0">
                                          <p:val>
                                            <p:strVal val="#ppt_y+.1"/>
                                          </p:val>
                                        </p:tav>
                                        <p:tav tm="100000">
                                          <p:val>
                                            <p:strVal val="#ppt_y"/>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10253"/>
                                        </p:tgtEl>
                                        <p:attrNameLst>
                                          <p:attrName>style.visibility</p:attrName>
                                        </p:attrNameLst>
                                      </p:cBhvr>
                                      <p:to>
                                        <p:strVal val="visible"/>
                                      </p:to>
                                    </p:set>
                                    <p:animEffect transition="in" filter="fade">
                                      <p:cBhvr>
                                        <p:cTn id="32" dur="1000"/>
                                        <p:tgtEl>
                                          <p:spTgt spid="10253"/>
                                        </p:tgtEl>
                                      </p:cBhvr>
                                    </p:animEffect>
                                    <p:anim calcmode="lin" valueType="num">
                                      <p:cBhvr>
                                        <p:cTn id="33" dur="1000" fill="hold"/>
                                        <p:tgtEl>
                                          <p:spTgt spid="10253"/>
                                        </p:tgtEl>
                                        <p:attrNameLst>
                                          <p:attrName>ppt_x</p:attrName>
                                        </p:attrNameLst>
                                      </p:cBhvr>
                                      <p:tavLst>
                                        <p:tav tm="0">
                                          <p:val>
                                            <p:strVal val="#ppt_x"/>
                                          </p:val>
                                        </p:tav>
                                        <p:tav tm="100000">
                                          <p:val>
                                            <p:strVal val="#ppt_x"/>
                                          </p:val>
                                        </p:tav>
                                      </p:tavLst>
                                    </p:anim>
                                    <p:anim calcmode="lin" valueType="num">
                                      <p:cBhvr>
                                        <p:cTn id="34" dur="1000" fill="hold"/>
                                        <p:tgtEl>
                                          <p:spTgt spid="10253"/>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10250"/>
                                        </p:tgtEl>
                                        <p:attrNameLst>
                                          <p:attrName>style.visibility</p:attrName>
                                        </p:attrNameLst>
                                      </p:cBhvr>
                                      <p:to>
                                        <p:strVal val="visible"/>
                                      </p:to>
                                    </p:set>
                                    <p:animEffect transition="in" filter="fade">
                                      <p:cBhvr>
                                        <p:cTn id="37" dur="1000"/>
                                        <p:tgtEl>
                                          <p:spTgt spid="10250"/>
                                        </p:tgtEl>
                                      </p:cBhvr>
                                    </p:animEffect>
                                    <p:anim calcmode="lin" valueType="num">
                                      <p:cBhvr>
                                        <p:cTn id="38" dur="1000" fill="hold"/>
                                        <p:tgtEl>
                                          <p:spTgt spid="10250"/>
                                        </p:tgtEl>
                                        <p:attrNameLst>
                                          <p:attrName>ppt_x</p:attrName>
                                        </p:attrNameLst>
                                      </p:cBhvr>
                                      <p:tavLst>
                                        <p:tav tm="0">
                                          <p:val>
                                            <p:strVal val="#ppt_x"/>
                                          </p:val>
                                        </p:tav>
                                        <p:tav tm="100000">
                                          <p:val>
                                            <p:strVal val="#ppt_x"/>
                                          </p:val>
                                        </p:tav>
                                      </p:tavLst>
                                    </p:anim>
                                    <p:anim calcmode="lin" valueType="num">
                                      <p:cBhvr>
                                        <p:cTn id="39" dur="1000" fill="hold"/>
                                        <p:tgtEl>
                                          <p:spTgt spid="10250"/>
                                        </p:tgtEl>
                                        <p:attrNameLst>
                                          <p:attrName>ppt_y</p:attrName>
                                        </p:attrNameLst>
                                      </p:cBhvr>
                                      <p:tavLst>
                                        <p:tav tm="0">
                                          <p:val>
                                            <p:strVal val="#ppt_y+.1"/>
                                          </p:val>
                                        </p:tav>
                                        <p:tav tm="100000">
                                          <p:val>
                                            <p:strVal val="#ppt_y"/>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42" presetClass="entr" presetSubtype="0" fill="hold" grpId="0" nodeType="clickEffect">
                                  <p:stCondLst>
                                    <p:cond delay="0"/>
                                  </p:stCondLst>
                                  <p:childTnLst>
                                    <p:set>
                                      <p:cBhvr>
                                        <p:cTn id="43" dur="1" fill="hold">
                                          <p:stCondLst>
                                            <p:cond delay="0"/>
                                          </p:stCondLst>
                                        </p:cTn>
                                        <p:tgtEl>
                                          <p:spTgt spid="10284"/>
                                        </p:tgtEl>
                                        <p:attrNameLst>
                                          <p:attrName>style.visibility</p:attrName>
                                        </p:attrNameLst>
                                      </p:cBhvr>
                                      <p:to>
                                        <p:strVal val="visible"/>
                                      </p:to>
                                    </p:set>
                                    <p:animEffect transition="in" filter="fade">
                                      <p:cBhvr>
                                        <p:cTn id="44" dur="1000"/>
                                        <p:tgtEl>
                                          <p:spTgt spid="10284"/>
                                        </p:tgtEl>
                                      </p:cBhvr>
                                    </p:animEffect>
                                    <p:anim calcmode="lin" valueType="num">
                                      <p:cBhvr>
                                        <p:cTn id="45" dur="1000" fill="hold"/>
                                        <p:tgtEl>
                                          <p:spTgt spid="10284"/>
                                        </p:tgtEl>
                                        <p:attrNameLst>
                                          <p:attrName>ppt_x</p:attrName>
                                        </p:attrNameLst>
                                      </p:cBhvr>
                                      <p:tavLst>
                                        <p:tav tm="0">
                                          <p:val>
                                            <p:strVal val="#ppt_x"/>
                                          </p:val>
                                        </p:tav>
                                        <p:tav tm="100000">
                                          <p:val>
                                            <p:strVal val="#ppt_x"/>
                                          </p:val>
                                        </p:tav>
                                      </p:tavLst>
                                    </p:anim>
                                    <p:anim calcmode="lin" valueType="num">
                                      <p:cBhvr>
                                        <p:cTn id="46" dur="1000" fill="hold"/>
                                        <p:tgtEl>
                                          <p:spTgt spid="10284"/>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10257"/>
                                        </p:tgtEl>
                                        <p:attrNameLst>
                                          <p:attrName>style.visibility</p:attrName>
                                        </p:attrNameLst>
                                      </p:cBhvr>
                                      <p:to>
                                        <p:strVal val="visible"/>
                                      </p:to>
                                    </p:set>
                                    <p:animEffect transition="in" filter="fade">
                                      <p:cBhvr>
                                        <p:cTn id="49" dur="1000"/>
                                        <p:tgtEl>
                                          <p:spTgt spid="10257"/>
                                        </p:tgtEl>
                                      </p:cBhvr>
                                    </p:animEffect>
                                    <p:anim calcmode="lin" valueType="num">
                                      <p:cBhvr>
                                        <p:cTn id="50" dur="1000" fill="hold"/>
                                        <p:tgtEl>
                                          <p:spTgt spid="10257"/>
                                        </p:tgtEl>
                                        <p:attrNameLst>
                                          <p:attrName>ppt_x</p:attrName>
                                        </p:attrNameLst>
                                      </p:cBhvr>
                                      <p:tavLst>
                                        <p:tav tm="0">
                                          <p:val>
                                            <p:strVal val="#ppt_x"/>
                                          </p:val>
                                        </p:tav>
                                        <p:tav tm="100000">
                                          <p:val>
                                            <p:strVal val="#ppt_x"/>
                                          </p:val>
                                        </p:tav>
                                      </p:tavLst>
                                    </p:anim>
                                    <p:anim calcmode="lin" valueType="num">
                                      <p:cBhvr>
                                        <p:cTn id="51" dur="1000" fill="hold"/>
                                        <p:tgtEl>
                                          <p:spTgt spid="10257"/>
                                        </p:tgtEl>
                                        <p:attrNameLst>
                                          <p:attrName>ppt_y</p:attrName>
                                        </p:attrNameLst>
                                      </p:cBhvr>
                                      <p:tavLst>
                                        <p:tav tm="0">
                                          <p:val>
                                            <p:strVal val="#ppt_y+.1"/>
                                          </p:val>
                                        </p:tav>
                                        <p:tav tm="100000">
                                          <p:val>
                                            <p:strVal val="#ppt_y"/>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16" presetClass="entr" presetSubtype="21" fill="hold" grpId="0" nodeType="clickEffect">
                                  <p:stCondLst>
                                    <p:cond delay="0"/>
                                  </p:stCondLst>
                                  <p:childTnLst>
                                    <p:set>
                                      <p:cBhvr>
                                        <p:cTn id="55" dur="1" fill="hold">
                                          <p:stCondLst>
                                            <p:cond delay="0"/>
                                          </p:stCondLst>
                                        </p:cTn>
                                        <p:tgtEl>
                                          <p:spTgt spid="10285"/>
                                        </p:tgtEl>
                                        <p:attrNameLst>
                                          <p:attrName>style.visibility</p:attrName>
                                        </p:attrNameLst>
                                      </p:cBhvr>
                                      <p:to>
                                        <p:strVal val="visible"/>
                                      </p:to>
                                    </p:set>
                                    <p:animEffect transition="in" filter="barn(inVertical)">
                                      <p:cBhvr>
                                        <p:cTn id="56" dur="500"/>
                                        <p:tgtEl>
                                          <p:spTgt spid="10285"/>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42" presetClass="entr" presetSubtype="0" fill="hold" nodeType="clickEffect">
                                  <p:stCondLst>
                                    <p:cond delay="0"/>
                                  </p:stCondLst>
                                  <p:childTnLst>
                                    <p:set>
                                      <p:cBhvr>
                                        <p:cTn id="60" dur="1" fill="hold">
                                          <p:stCondLst>
                                            <p:cond delay="0"/>
                                          </p:stCondLst>
                                        </p:cTn>
                                        <p:tgtEl>
                                          <p:spTgt spid="10255"/>
                                        </p:tgtEl>
                                        <p:attrNameLst>
                                          <p:attrName>style.visibility</p:attrName>
                                        </p:attrNameLst>
                                      </p:cBhvr>
                                      <p:to>
                                        <p:strVal val="visible"/>
                                      </p:to>
                                    </p:set>
                                    <p:animEffect transition="in" filter="fade">
                                      <p:cBhvr>
                                        <p:cTn id="61" dur="1000"/>
                                        <p:tgtEl>
                                          <p:spTgt spid="10255"/>
                                        </p:tgtEl>
                                      </p:cBhvr>
                                    </p:animEffect>
                                    <p:anim calcmode="lin" valueType="num">
                                      <p:cBhvr>
                                        <p:cTn id="62" dur="1000" fill="hold"/>
                                        <p:tgtEl>
                                          <p:spTgt spid="10255"/>
                                        </p:tgtEl>
                                        <p:attrNameLst>
                                          <p:attrName>ppt_x</p:attrName>
                                        </p:attrNameLst>
                                      </p:cBhvr>
                                      <p:tavLst>
                                        <p:tav tm="0">
                                          <p:val>
                                            <p:strVal val="#ppt_x"/>
                                          </p:val>
                                        </p:tav>
                                        <p:tav tm="100000">
                                          <p:val>
                                            <p:strVal val="#ppt_x"/>
                                          </p:val>
                                        </p:tav>
                                      </p:tavLst>
                                    </p:anim>
                                    <p:anim calcmode="lin" valueType="num">
                                      <p:cBhvr>
                                        <p:cTn id="63" dur="1000" fill="hold"/>
                                        <p:tgtEl>
                                          <p:spTgt spid="10255"/>
                                        </p:tgtEl>
                                        <p:attrNameLst>
                                          <p:attrName>ppt_y</p:attrName>
                                        </p:attrNameLst>
                                      </p:cBhvr>
                                      <p:tavLst>
                                        <p:tav tm="0">
                                          <p:val>
                                            <p:strVal val="#ppt_y+.1"/>
                                          </p:val>
                                        </p:tav>
                                        <p:tav tm="100000">
                                          <p:val>
                                            <p:strVal val="#ppt_y"/>
                                          </p:val>
                                        </p:tav>
                                      </p:tavLst>
                                    </p:anim>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4" fill="hold" nodeType="clickEffect">
                                  <p:stCondLst>
                                    <p:cond delay="0"/>
                                  </p:stCondLst>
                                  <p:childTnLst>
                                    <p:set>
                                      <p:cBhvr>
                                        <p:cTn id="67" dur="1" fill="hold">
                                          <p:stCondLst>
                                            <p:cond delay="0"/>
                                          </p:stCondLst>
                                        </p:cTn>
                                        <p:tgtEl>
                                          <p:spTgt spid="10259"/>
                                        </p:tgtEl>
                                        <p:attrNameLst>
                                          <p:attrName>style.visibility</p:attrName>
                                        </p:attrNameLst>
                                      </p:cBhvr>
                                      <p:to>
                                        <p:strVal val="visible"/>
                                      </p:to>
                                    </p:set>
                                    <p:animEffect transition="in" filter="wipe(down)">
                                      <p:cBhvr>
                                        <p:cTn id="68" dur="500"/>
                                        <p:tgtEl>
                                          <p:spTgt spid="102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build="p"/>
      <p:bldP spid="10251" grpId="0"/>
      <p:bldP spid="10252" grpId="0"/>
      <p:bldP spid="10253" grpId="0"/>
      <p:bldP spid="10284" grpId="0"/>
      <p:bldP spid="10285" grpId="0"/>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id="{F5999ADA-C99A-4783-9E09-06557418A91F}"/>
              </a:ext>
            </a:extLst>
          </p:cNvPr>
          <p:cNvSpPr>
            <a:spLocks noChangeArrowheads="1"/>
          </p:cNvSpPr>
          <p:nvPr/>
        </p:nvSpPr>
        <p:spPr bwMode="auto">
          <a:xfrm>
            <a:off x="3900488" y="1989139"/>
            <a:ext cx="2303462" cy="395287"/>
          </a:xfrm>
          <a:prstGeom prst="rect">
            <a:avLst/>
          </a:prstGeom>
          <a:solidFill>
            <a:srgbClr val="FFFFCC"/>
          </a:solidFill>
          <a:ln w="15875" algn="ctr">
            <a:solidFill>
              <a:srgbClr val="C00000"/>
            </a:solidFill>
            <a:round/>
            <a:headEnd/>
            <a:tailE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ru-RU" altLang="ru-RU">
              <a:solidFill>
                <a:srgbClr val="003399"/>
              </a:solidFill>
              <a:latin typeface="Times New Roman" panose="02020603050405020304" pitchFamily="18" charset="0"/>
            </a:endParaRPr>
          </a:p>
        </p:txBody>
      </p:sp>
      <p:sp>
        <p:nvSpPr>
          <p:cNvPr id="11267" name="Номер слайда 5">
            <a:extLst>
              <a:ext uri="{FF2B5EF4-FFF2-40B4-BE49-F238E27FC236}">
                <a16:creationId xmlns:a16="http://schemas.microsoft.com/office/drawing/2014/main" id="{496F042A-9303-4BF2-BE5A-678AA224601F}"/>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CCF8BBC9-96B2-4393-A9AC-F4A33A1EBDF6}" type="slidenum">
              <a:rPr lang="ru-RU" altLang="ru-RU" sz="1200">
                <a:latin typeface="Arial Black" panose="020B0A04020102020204" pitchFamily="34" charset="0"/>
              </a:rPr>
              <a:pPr>
                <a:spcBef>
                  <a:spcPct val="0"/>
                </a:spcBef>
                <a:buClrTx/>
                <a:buSzTx/>
                <a:buFontTx/>
                <a:buNone/>
              </a:pPr>
              <a:t>32</a:t>
            </a:fld>
            <a:endParaRPr lang="ru-RU" altLang="ru-RU" sz="1200">
              <a:latin typeface="Arial Black" panose="020B0A04020102020204" pitchFamily="34" charset="0"/>
            </a:endParaRPr>
          </a:p>
        </p:txBody>
      </p:sp>
      <p:sp>
        <p:nvSpPr>
          <p:cNvPr id="27655" name="Rectangle 7">
            <a:extLst>
              <a:ext uri="{FF2B5EF4-FFF2-40B4-BE49-F238E27FC236}">
                <a16:creationId xmlns:a16="http://schemas.microsoft.com/office/drawing/2014/main" id="{0C31F362-97DD-4A48-BD02-5DADBF9927CD}"/>
              </a:ext>
            </a:extLst>
          </p:cNvPr>
          <p:cNvSpPr>
            <a:spLocks noChangeArrowheads="1"/>
          </p:cNvSpPr>
          <p:nvPr/>
        </p:nvSpPr>
        <p:spPr bwMode="auto">
          <a:xfrm>
            <a:off x="1919289" y="512763"/>
            <a:ext cx="835342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ru-RU" altLang="ru-RU" sz="1800" i="1">
                <a:solidFill>
                  <a:srgbClr val="C00000"/>
                </a:solidFill>
                <a:latin typeface="Times New Roman" panose="02020603050405020304" pitchFamily="18" charset="0"/>
                <a:cs typeface="Times New Roman" panose="02020603050405020304" pitchFamily="18" charset="0"/>
              </a:rPr>
              <a:t>Мощность в сети переменного тока</a:t>
            </a:r>
            <a:endParaRPr lang="ru-RU" altLang="ru-RU" sz="1800">
              <a:solidFill>
                <a:srgbClr val="C00000"/>
              </a:solidFill>
              <a:latin typeface="Times New Roman" panose="02020603050405020304" pitchFamily="18" charset="0"/>
              <a:cs typeface="Times New Roman" panose="02020603050405020304" pitchFamily="18" charset="0"/>
            </a:endParaRPr>
          </a:p>
        </p:txBody>
      </p:sp>
      <p:sp>
        <p:nvSpPr>
          <p:cNvPr id="11269" name="Rectangle 12">
            <a:extLst>
              <a:ext uri="{FF2B5EF4-FFF2-40B4-BE49-F238E27FC236}">
                <a16:creationId xmlns:a16="http://schemas.microsoft.com/office/drawing/2014/main" id="{884F9336-0528-4610-B2FB-4C139A4ED64D}"/>
              </a:ext>
            </a:extLst>
          </p:cNvPr>
          <p:cNvSpPr>
            <a:spLocks noChangeArrowheads="1"/>
          </p:cNvSpPr>
          <p:nvPr/>
        </p:nvSpPr>
        <p:spPr bwMode="auto">
          <a:xfrm>
            <a:off x="1524001" y="2927064"/>
            <a:ext cx="1847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ru-RU" altLang="ru-RU">
              <a:solidFill>
                <a:srgbClr val="003399"/>
              </a:solidFill>
              <a:latin typeface="Times New Roman" panose="02020603050405020304" pitchFamily="18" charset="0"/>
            </a:endParaRPr>
          </a:p>
        </p:txBody>
      </p:sp>
      <p:sp>
        <p:nvSpPr>
          <p:cNvPr id="11270" name="Rectangle 14">
            <a:extLst>
              <a:ext uri="{FF2B5EF4-FFF2-40B4-BE49-F238E27FC236}">
                <a16:creationId xmlns:a16="http://schemas.microsoft.com/office/drawing/2014/main" id="{15C8B51D-25D8-49B8-B9DE-0BF2F9360F67}"/>
              </a:ext>
            </a:extLst>
          </p:cNvPr>
          <p:cNvSpPr>
            <a:spLocks noChangeArrowheads="1"/>
          </p:cNvSpPr>
          <p:nvPr/>
        </p:nvSpPr>
        <p:spPr bwMode="auto">
          <a:xfrm>
            <a:off x="1524001" y="2957227"/>
            <a:ext cx="1847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ru-RU" altLang="ru-RU">
              <a:solidFill>
                <a:srgbClr val="003399"/>
              </a:solidFill>
              <a:latin typeface="Times New Roman" panose="02020603050405020304" pitchFamily="18" charset="0"/>
            </a:endParaRPr>
          </a:p>
        </p:txBody>
      </p:sp>
      <p:sp>
        <p:nvSpPr>
          <p:cNvPr id="27668" name="Rectangle 20">
            <a:extLst>
              <a:ext uri="{FF2B5EF4-FFF2-40B4-BE49-F238E27FC236}">
                <a16:creationId xmlns:a16="http://schemas.microsoft.com/office/drawing/2014/main" id="{6AEFB6C2-8E95-4F1A-8430-D6E9E4F69F16}"/>
              </a:ext>
            </a:extLst>
          </p:cNvPr>
          <p:cNvSpPr>
            <a:spLocks noChangeArrowheads="1"/>
          </p:cNvSpPr>
          <p:nvPr/>
        </p:nvSpPr>
        <p:spPr bwMode="auto">
          <a:xfrm>
            <a:off x="4619626" y="2960688"/>
            <a:ext cx="60483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ru-RU" sz="1600">
                <a:solidFill>
                  <a:srgbClr val="0000CC"/>
                </a:solidFill>
                <a:latin typeface="Times New Roman" panose="02020603050405020304" pitchFamily="18" charset="0"/>
              </a:rPr>
              <a:t>Мощность отбирается от сети и совершает полезную работу</a:t>
            </a:r>
          </a:p>
        </p:txBody>
      </p:sp>
      <p:sp>
        <p:nvSpPr>
          <p:cNvPr id="11272" name="Rectangle 23">
            <a:extLst>
              <a:ext uri="{FF2B5EF4-FFF2-40B4-BE49-F238E27FC236}">
                <a16:creationId xmlns:a16="http://schemas.microsoft.com/office/drawing/2014/main" id="{6A1F9111-0DC4-4994-A03E-3287884CC2D0}"/>
              </a:ext>
            </a:extLst>
          </p:cNvPr>
          <p:cNvSpPr>
            <a:spLocks noChangeArrowheads="1"/>
          </p:cNvSpPr>
          <p:nvPr/>
        </p:nvSpPr>
        <p:spPr bwMode="auto">
          <a:xfrm>
            <a:off x="1524001" y="2055527"/>
            <a:ext cx="1847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ru-RU" altLang="ru-RU">
              <a:solidFill>
                <a:srgbClr val="003399"/>
              </a:solidFill>
              <a:latin typeface="Times New Roman" panose="02020603050405020304" pitchFamily="18" charset="0"/>
            </a:endParaRPr>
          </a:p>
        </p:txBody>
      </p:sp>
      <p:graphicFrame>
        <p:nvGraphicFramePr>
          <p:cNvPr id="27672" name="Object 24">
            <a:extLst>
              <a:ext uri="{FF2B5EF4-FFF2-40B4-BE49-F238E27FC236}">
                <a16:creationId xmlns:a16="http://schemas.microsoft.com/office/drawing/2014/main" id="{F1726634-2B55-4DA0-A7E0-AE8BF7E46433}"/>
              </a:ext>
            </a:extLst>
          </p:cNvPr>
          <p:cNvGraphicFramePr>
            <a:graphicFrameLocks noGrp="1" noChangeAspect="1"/>
          </p:cNvGraphicFramePr>
          <p:nvPr>
            <p:ph sz="half" idx="1"/>
          </p:nvPr>
        </p:nvGraphicFramePr>
        <p:xfrm>
          <a:off x="1830388" y="2960689"/>
          <a:ext cx="2692400" cy="371475"/>
        </p:xfrm>
        <a:graphic>
          <a:graphicData uri="http://schemas.openxmlformats.org/presentationml/2006/ole">
            <mc:AlternateContent xmlns:mc="http://schemas.openxmlformats.org/markup-compatibility/2006">
              <mc:Choice xmlns:v="urn:schemas-microsoft-com:vml" Requires="v">
                <p:oleObj name="Формула" r:id="rId2" imgW="1384300" imgH="190500" progId="Equation.3">
                  <p:embed/>
                </p:oleObj>
              </mc:Choice>
              <mc:Fallback>
                <p:oleObj name="Формула" r:id="rId2" imgW="1384300" imgH="190500" progId="Equation.3">
                  <p:embed/>
                  <p:pic>
                    <p:nvPicPr>
                      <p:cNvPr id="27672" name="Object 24">
                        <a:extLst>
                          <a:ext uri="{FF2B5EF4-FFF2-40B4-BE49-F238E27FC236}">
                            <a16:creationId xmlns:a16="http://schemas.microsoft.com/office/drawing/2014/main" id="{F1726634-2B55-4DA0-A7E0-AE8BF7E464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0388" y="2960689"/>
                        <a:ext cx="2692400" cy="371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1274" name="Rectangle 27">
            <a:extLst>
              <a:ext uri="{FF2B5EF4-FFF2-40B4-BE49-F238E27FC236}">
                <a16:creationId xmlns:a16="http://schemas.microsoft.com/office/drawing/2014/main" id="{DEF1DBA7-0433-4C19-985D-82A7B442A818}"/>
              </a:ext>
            </a:extLst>
          </p:cNvPr>
          <p:cNvSpPr>
            <a:spLocks noChangeArrowheads="1"/>
          </p:cNvSpPr>
          <p:nvPr/>
        </p:nvSpPr>
        <p:spPr bwMode="auto">
          <a:xfrm>
            <a:off x="1524001" y="3041364"/>
            <a:ext cx="1847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ru-RU" altLang="ru-RU">
              <a:solidFill>
                <a:srgbClr val="003399"/>
              </a:solidFill>
              <a:latin typeface="Times New Roman" panose="02020603050405020304" pitchFamily="18" charset="0"/>
            </a:endParaRPr>
          </a:p>
        </p:txBody>
      </p:sp>
      <p:graphicFrame>
        <p:nvGraphicFramePr>
          <p:cNvPr id="27674" name="Object 26">
            <a:extLst>
              <a:ext uri="{FF2B5EF4-FFF2-40B4-BE49-F238E27FC236}">
                <a16:creationId xmlns:a16="http://schemas.microsoft.com/office/drawing/2014/main" id="{C281E630-5C13-4049-B359-D30595D8CF49}"/>
              </a:ext>
            </a:extLst>
          </p:cNvPr>
          <p:cNvGraphicFramePr>
            <a:graphicFrameLocks noChangeAspect="1"/>
          </p:cNvGraphicFramePr>
          <p:nvPr/>
        </p:nvGraphicFramePr>
        <p:xfrm>
          <a:off x="1811339" y="3471864"/>
          <a:ext cx="1584325" cy="371475"/>
        </p:xfrm>
        <a:graphic>
          <a:graphicData uri="http://schemas.openxmlformats.org/presentationml/2006/ole">
            <mc:AlternateContent xmlns:mc="http://schemas.openxmlformats.org/markup-compatibility/2006">
              <mc:Choice xmlns:v="urn:schemas-microsoft-com:vml" Requires="v">
                <p:oleObj name="Формула" r:id="rId4" imgW="812447" imgH="190417" progId="Equation.3">
                  <p:embed/>
                </p:oleObj>
              </mc:Choice>
              <mc:Fallback>
                <p:oleObj name="Формула" r:id="rId4" imgW="812447" imgH="190417" progId="Equation.3">
                  <p:embed/>
                  <p:pic>
                    <p:nvPicPr>
                      <p:cNvPr id="27674" name="Object 26">
                        <a:extLst>
                          <a:ext uri="{FF2B5EF4-FFF2-40B4-BE49-F238E27FC236}">
                            <a16:creationId xmlns:a16="http://schemas.microsoft.com/office/drawing/2014/main" id="{C281E630-5C13-4049-B359-D30595D8CF4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11339" y="3471864"/>
                        <a:ext cx="1584325"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676" name="Rectangle 28">
            <a:extLst>
              <a:ext uri="{FF2B5EF4-FFF2-40B4-BE49-F238E27FC236}">
                <a16:creationId xmlns:a16="http://schemas.microsoft.com/office/drawing/2014/main" id="{C500215C-DE66-4892-8080-20A9F7434499}"/>
              </a:ext>
            </a:extLst>
          </p:cNvPr>
          <p:cNvSpPr>
            <a:spLocks noChangeArrowheads="1"/>
          </p:cNvSpPr>
          <p:nvPr/>
        </p:nvSpPr>
        <p:spPr bwMode="auto">
          <a:xfrm>
            <a:off x="4656139" y="3392488"/>
            <a:ext cx="60483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ru-RU" sz="1600">
                <a:solidFill>
                  <a:srgbClr val="0000CC"/>
                </a:solidFill>
                <a:latin typeface="Times New Roman" panose="02020603050405020304" pitchFamily="18" charset="0"/>
              </a:rPr>
              <a:t>Активная мощность. Единица измерения - Вт </a:t>
            </a:r>
          </a:p>
        </p:txBody>
      </p:sp>
      <p:graphicFrame>
        <p:nvGraphicFramePr>
          <p:cNvPr id="27677" name="Object 29">
            <a:extLst>
              <a:ext uri="{FF2B5EF4-FFF2-40B4-BE49-F238E27FC236}">
                <a16:creationId xmlns:a16="http://schemas.microsoft.com/office/drawing/2014/main" id="{4F10CEB3-DFF5-4931-A124-226903D9DD1D}"/>
              </a:ext>
            </a:extLst>
          </p:cNvPr>
          <p:cNvGraphicFramePr>
            <a:graphicFrameLocks noGrp="1" noChangeAspect="1"/>
          </p:cNvGraphicFramePr>
          <p:nvPr>
            <p:ph sz="half" idx="2"/>
          </p:nvPr>
        </p:nvGraphicFramePr>
        <p:xfrm>
          <a:off x="1857376" y="3867151"/>
          <a:ext cx="1825625" cy="390525"/>
        </p:xfrm>
        <a:graphic>
          <a:graphicData uri="http://schemas.openxmlformats.org/presentationml/2006/ole">
            <mc:AlternateContent xmlns:mc="http://schemas.openxmlformats.org/markup-compatibility/2006">
              <mc:Choice xmlns:v="urn:schemas-microsoft-com:vml" Requires="v">
                <p:oleObj name="Формула" r:id="rId6" imgW="889000" imgH="190500" progId="Equation.3">
                  <p:embed/>
                </p:oleObj>
              </mc:Choice>
              <mc:Fallback>
                <p:oleObj name="Формула" r:id="rId6" imgW="889000" imgH="190500" progId="Equation.3">
                  <p:embed/>
                  <p:pic>
                    <p:nvPicPr>
                      <p:cNvPr id="27677" name="Object 29">
                        <a:extLst>
                          <a:ext uri="{FF2B5EF4-FFF2-40B4-BE49-F238E27FC236}">
                            <a16:creationId xmlns:a16="http://schemas.microsoft.com/office/drawing/2014/main" id="{4F10CEB3-DFF5-4931-A124-226903D9DD1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57376" y="3867151"/>
                        <a:ext cx="182562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680" name="Rectangle 32">
            <a:extLst>
              <a:ext uri="{FF2B5EF4-FFF2-40B4-BE49-F238E27FC236}">
                <a16:creationId xmlns:a16="http://schemas.microsoft.com/office/drawing/2014/main" id="{1CD6E691-5289-47A9-884B-9557E42DEADF}"/>
              </a:ext>
            </a:extLst>
          </p:cNvPr>
          <p:cNvSpPr>
            <a:spLocks noChangeArrowheads="1"/>
          </p:cNvSpPr>
          <p:nvPr/>
        </p:nvSpPr>
        <p:spPr bwMode="auto">
          <a:xfrm>
            <a:off x="4691064" y="3848100"/>
            <a:ext cx="60483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ru-RU" sz="1600">
                <a:solidFill>
                  <a:srgbClr val="0000CC"/>
                </a:solidFill>
                <a:latin typeface="Times New Roman" panose="02020603050405020304" pitchFamily="18" charset="0"/>
              </a:rPr>
              <a:t>Знакопеременная величина. </a:t>
            </a:r>
            <a:r>
              <a:rPr lang="ru-RU" altLang="ru-RU" sz="1600">
                <a:solidFill>
                  <a:srgbClr val="C00000"/>
                </a:solidFill>
                <a:latin typeface="Times New Roman" panose="02020603050405020304" pitchFamily="18" charset="0"/>
              </a:rPr>
              <a:t>Средняя значения за период =0!</a:t>
            </a:r>
          </a:p>
        </p:txBody>
      </p:sp>
      <p:sp>
        <p:nvSpPr>
          <p:cNvPr id="11279" name="Rectangle 34">
            <a:extLst>
              <a:ext uri="{FF2B5EF4-FFF2-40B4-BE49-F238E27FC236}">
                <a16:creationId xmlns:a16="http://schemas.microsoft.com/office/drawing/2014/main" id="{B14D1617-E07E-479C-9CE6-FAD45C17CFE1}"/>
              </a:ext>
            </a:extLst>
          </p:cNvPr>
          <p:cNvSpPr>
            <a:spLocks noChangeArrowheads="1"/>
          </p:cNvSpPr>
          <p:nvPr/>
        </p:nvSpPr>
        <p:spPr bwMode="auto">
          <a:xfrm>
            <a:off x="1524001" y="3036602"/>
            <a:ext cx="1847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ru-RU" altLang="ru-RU">
              <a:solidFill>
                <a:srgbClr val="003399"/>
              </a:solidFill>
              <a:latin typeface="Times New Roman" panose="02020603050405020304" pitchFamily="18" charset="0"/>
            </a:endParaRPr>
          </a:p>
        </p:txBody>
      </p:sp>
      <p:graphicFrame>
        <p:nvGraphicFramePr>
          <p:cNvPr id="27681" name="Object 33">
            <a:extLst>
              <a:ext uri="{FF2B5EF4-FFF2-40B4-BE49-F238E27FC236}">
                <a16:creationId xmlns:a16="http://schemas.microsoft.com/office/drawing/2014/main" id="{1877D34A-1DC3-46E2-8050-45F5C70473CA}"/>
              </a:ext>
            </a:extLst>
          </p:cNvPr>
          <p:cNvGraphicFramePr>
            <a:graphicFrameLocks noChangeAspect="1"/>
          </p:cNvGraphicFramePr>
          <p:nvPr/>
        </p:nvGraphicFramePr>
        <p:xfrm>
          <a:off x="1839913" y="4292600"/>
          <a:ext cx="1447800" cy="361950"/>
        </p:xfrm>
        <a:graphic>
          <a:graphicData uri="http://schemas.openxmlformats.org/presentationml/2006/ole">
            <mc:AlternateContent xmlns:mc="http://schemas.openxmlformats.org/markup-compatibility/2006">
              <mc:Choice xmlns:v="urn:schemas-microsoft-com:vml" Requires="v">
                <p:oleObj name="Формула" r:id="rId8" imgW="799753" imgH="203112" progId="Equation.3">
                  <p:embed/>
                </p:oleObj>
              </mc:Choice>
              <mc:Fallback>
                <p:oleObj name="Формула" r:id="rId8" imgW="799753" imgH="203112" progId="Equation.3">
                  <p:embed/>
                  <p:pic>
                    <p:nvPicPr>
                      <p:cNvPr id="27681" name="Object 33">
                        <a:extLst>
                          <a:ext uri="{FF2B5EF4-FFF2-40B4-BE49-F238E27FC236}">
                            <a16:creationId xmlns:a16="http://schemas.microsoft.com/office/drawing/2014/main" id="{1877D34A-1DC3-46E2-8050-45F5C70473C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39913" y="4292600"/>
                        <a:ext cx="1447800"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683" name="Rectangle 35">
            <a:extLst>
              <a:ext uri="{FF2B5EF4-FFF2-40B4-BE49-F238E27FC236}">
                <a16:creationId xmlns:a16="http://schemas.microsoft.com/office/drawing/2014/main" id="{EE3FF4D9-60FD-494F-B143-D6253F2BF5AB}"/>
              </a:ext>
            </a:extLst>
          </p:cNvPr>
          <p:cNvSpPr>
            <a:spLocks noChangeArrowheads="1"/>
          </p:cNvSpPr>
          <p:nvPr/>
        </p:nvSpPr>
        <p:spPr bwMode="auto">
          <a:xfrm>
            <a:off x="4764089" y="4221163"/>
            <a:ext cx="60483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ru-RU" sz="1600">
                <a:solidFill>
                  <a:srgbClr val="0000CC"/>
                </a:solidFill>
                <a:latin typeface="Times New Roman" panose="02020603050405020304" pitchFamily="18" charset="0"/>
              </a:rPr>
              <a:t>Реактивная мощность. Единица измерения - ВАр </a:t>
            </a:r>
          </a:p>
        </p:txBody>
      </p:sp>
      <p:sp>
        <p:nvSpPr>
          <p:cNvPr id="27684" name="Rectangle 36">
            <a:extLst>
              <a:ext uri="{FF2B5EF4-FFF2-40B4-BE49-F238E27FC236}">
                <a16:creationId xmlns:a16="http://schemas.microsoft.com/office/drawing/2014/main" id="{99B7A7EE-9D9F-4C5C-9AD3-D7DFF42F9C4B}"/>
              </a:ext>
            </a:extLst>
          </p:cNvPr>
          <p:cNvSpPr>
            <a:spLocks noChangeArrowheads="1"/>
          </p:cNvSpPr>
          <p:nvPr/>
        </p:nvSpPr>
        <p:spPr bwMode="auto">
          <a:xfrm>
            <a:off x="1955801" y="4706938"/>
            <a:ext cx="7993063" cy="615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ru-RU" altLang="ru-RU" sz="1600">
                <a:solidFill>
                  <a:srgbClr val="003399"/>
                </a:solidFill>
                <a:latin typeface="Times New Roman" panose="02020603050405020304" pitchFamily="18" charset="0"/>
              </a:rPr>
              <a:t>Наибольшее значение активной мощности, возможное при данных значениях напряжения и тока, называется </a:t>
            </a:r>
            <a:r>
              <a:rPr lang="ru-RU" altLang="ru-RU" sz="1800" i="1">
                <a:solidFill>
                  <a:srgbClr val="C00000"/>
                </a:solidFill>
                <a:latin typeface="Times New Roman" panose="02020603050405020304" pitchFamily="18" charset="0"/>
              </a:rPr>
              <a:t>полной</a:t>
            </a:r>
            <a:r>
              <a:rPr lang="ru-RU" altLang="ru-RU" sz="1600">
                <a:solidFill>
                  <a:srgbClr val="003399"/>
                </a:solidFill>
                <a:latin typeface="Times New Roman" panose="02020603050405020304" pitchFamily="18" charset="0"/>
              </a:rPr>
              <a:t> мощностью и обозначается </a:t>
            </a:r>
            <a:r>
              <a:rPr lang="en-US" altLang="ru-RU" sz="1600" i="1">
                <a:solidFill>
                  <a:srgbClr val="C00000"/>
                </a:solidFill>
                <a:latin typeface="Times New Roman" panose="02020603050405020304" pitchFamily="18" charset="0"/>
              </a:rPr>
              <a:t>S</a:t>
            </a:r>
            <a:r>
              <a:rPr lang="ru-RU" altLang="ru-RU" sz="1600">
                <a:solidFill>
                  <a:srgbClr val="003399"/>
                </a:solidFill>
                <a:latin typeface="Times New Roman" panose="02020603050405020304" pitchFamily="18" charset="0"/>
              </a:rPr>
              <a:t>:</a:t>
            </a:r>
          </a:p>
        </p:txBody>
      </p:sp>
      <p:sp>
        <p:nvSpPr>
          <p:cNvPr id="27685" name="Rectangle 37">
            <a:extLst>
              <a:ext uri="{FF2B5EF4-FFF2-40B4-BE49-F238E27FC236}">
                <a16:creationId xmlns:a16="http://schemas.microsoft.com/office/drawing/2014/main" id="{B555CDB3-B1AD-46B4-A893-26F15C5D7ACF}"/>
              </a:ext>
            </a:extLst>
          </p:cNvPr>
          <p:cNvSpPr>
            <a:spLocks noChangeArrowheads="1"/>
          </p:cNvSpPr>
          <p:nvPr/>
        </p:nvSpPr>
        <p:spPr bwMode="auto">
          <a:xfrm>
            <a:off x="4949826" y="5414964"/>
            <a:ext cx="181331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ru-RU" sz="2400" i="1">
                <a:solidFill>
                  <a:srgbClr val="FF3300"/>
                </a:solidFill>
                <a:latin typeface="Times New Roman" panose="02020603050405020304" pitchFamily="18" charset="0"/>
              </a:rPr>
              <a:t>S</a:t>
            </a:r>
            <a:r>
              <a:rPr lang="ru-RU" altLang="ru-RU" sz="2400" i="1">
                <a:solidFill>
                  <a:srgbClr val="FF3300"/>
                </a:solidFill>
                <a:latin typeface="Times New Roman" panose="02020603050405020304" pitchFamily="18" charset="0"/>
              </a:rPr>
              <a:t>=</a:t>
            </a:r>
            <a:r>
              <a:rPr lang="en-US" altLang="ru-RU" sz="2400" i="1">
                <a:solidFill>
                  <a:srgbClr val="FF3300"/>
                </a:solidFill>
                <a:latin typeface="Times New Roman" panose="02020603050405020304" pitchFamily="18" charset="0"/>
              </a:rPr>
              <a:t>UI</a:t>
            </a:r>
            <a:r>
              <a:rPr lang="ru-RU" altLang="ru-RU" sz="2400" i="1">
                <a:solidFill>
                  <a:srgbClr val="FF3300"/>
                </a:solidFill>
                <a:latin typeface="Times New Roman" panose="02020603050405020304" pitchFamily="18" charset="0"/>
              </a:rPr>
              <a:t>    </a:t>
            </a:r>
            <a:r>
              <a:rPr lang="en-US" altLang="ru-RU" sz="2400">
                <a:solidFill>
                  <a:srgbClr val="0000CC"/>
                </a:solidFill>
                <a:latin typeface="Times New Roman" panose="02020603050405020304" pitchFamily="18" charset="0"/>
              </a:rPr>
              <a:t>[</a:t>
            </a:r>
            <a:r>
              <a:rPr lang="ru-RU" altLang="ru-RU" sz="2400">
                <a:solidFill>
                  <a:srgbClr val="0000CC"/>
                </a:solidFill>
                <a:latin typeface="Times New Roman" panose="02020603050405020304" pitchFamily="18" charset="0"/>
              </a:rPr>
              <a:t>ВА</a:t>
            </a:r>
            <a:r>
              <a:rPr lang="en-US" altLang="ru-RU" sz="2400">
                <a:solidFill>
                  <a:srgbClr val="0000CC"/>
                </a:solidFill>
                <a:latin typeface="Times New Roman" panose="02020603050405020304" pitchFamily="18" charset="0"/>
              </a:rPr>
              <a:t>]</a:t>
            </a:r>
            <a:endParaRPr lang="ru-RU" altLang="ru-RU" sz="2400">
              <a:solidFill>
                <a:srgbClr val="0000CC"/>
              </a:solidFill>
              <a:latin typeface="Times New Roman" panose="02020603050405020304" pitchFamily="18" charset="0"/>
            </a:endParaRPr>
          </a:p>
        </p:txBody>
      </p:sp>
      <p:sp>
        <p:nvSpPr>
          <p:cNvPr id="11284" name="Rectangle 39">
            <a:extLst>
              <a:ext uri="{FF2B5EF4-FFF2-40B4-BE49-F238E27FC236}">
                <a16:creationId xmlns:a16="http://schemas.microsoft.com/office/drawing/2014/main" id="{A0D2D6A7-44CF-4D7B-906F-31B0A4490AAC}"/>
              </a:ext>
            </a:extLst>
          </p:cNvPr>
          <p:cNvSpPr>
            <a:spLocks noChangeArrowheads="1"/>
          </p:cNvSpPr>
          <p:nvPr/>
        </p:nvSpPr>
        <p:spPr bwMode="auto">
          <a:xfrm>
            <a:off x="1524001" y="2998502"/>
            <a:ext cx="1847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ru-RU" altLang="ru-RU">
              <a:solidFill>
                <a:srgbClr val="003399"/>
              </a:solidFill>
              <a:latin typeface="Times New Roman" panose="02020603050405020304" pitchFamily="18" charset="0"/>
            </a:endParaRPr>
          </a:p>
        </p:txBody>
      </p:sp>
      <p:graphicFrame>
        <p:nvGraphicFramePr>
          <p:cNvPr id="27686" name="Object 38">
            <a:extLst>
              <a:ext uri="{FF2B5EF4-FFF2-40B4-BE49-F238E27FC236}">
                <a16:creationId xmlns:a16="http://schemas.microsoft.com/office/drawing/2014/main" id="{5533C003-60BE-44FB-9159-A76A1EF521A8}"/>
              </a:ext>
            </a:extLst>
          </p:cNvPr>
          <p:cNvGraphicFramePr>
            <a:graphicFrameLocks noChangeAspect="1"/>
          </p:cNvGraphicFramePr>
          <p:nvPr/>
        </p:nvGraphicFramePr>
        <p:xfrm>
          <a:off x="4872038" y="5949950"/>
          <a:ext cx="2087562" cy="623888"/>
        </p:xfrm>
        <a:graphic>
          <a:graphicData uri="http://schemas.openxmlformats.org/presentationml/2006/ole">
            <mc:AlternateContent xmlns:mc="http://schemas.openxmlformats.org/markup-compatibility/2006">
              <mc:Choice xmlns:v="urn:schemas-microsoft-com:vml" Requires="v">
                <p:oleObj name="Формула" r:id="rId10" imgW="927100" imgH="279400" progId="Equation.3">
                  <p:embed/>
                </p:oleObj>
              </mc:Choice>
              <mc:Fallback>
                <p:oleObj name="Формула" r:id="rId10" imgW="927100" imgH="279400" progId="Equation.3">
                  <p:embed/>
                  <p:pic>
                    <p:nvPicPr>
                      <p:cNvPr id="27686" name="Object 38">
                        <a:extLst>
                          <a:ext uri="{FF2B5EF4-FFF2-40B4-BE49-F238E27FC236}">
                            <a16:creationId xmlns:a16="http://schemas.microsoft.com/office/drawing/2014/main" id="{5533C003-60BE-44FB-9159-A76A1EF521A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872038" y="5949950"/>
                        <a:ext cx="2087562" cy="62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 name="Прямоугольник 22">
            <a:extLst>
              <a:ext uri="{FF2B5EF4-FFF2-40B4-BE49-F238E27FC236}">
                <a16:creationId xmlns:a16="http://schemas.microsoft.com/office/drawing/2014/main" id="{5112D89D-2CB6-4609-B6EE-BB0D6A98FC6B}"/>
              </a:ext>
            </a:extLst>
          </p:cNvPr>
          <p:cNvSpPr>
            <a:spLocks noChangeArrowheads="1"/>
          </p:cNvSpPr>
          <p:nvPr/>
        </p:nvSpPr>
        <p:spPr bwMode="auto">
          <a:xfrm>
            <a:off x="6419851" y="1989139"/>
            <a:ext cx="1692275" cy="395287"/>
          </a:xfrm>
          <a:prstGeom prst="rect">
            <a:avLst/>
          </a:prstGeom>
          <a:solidFill>
            <a:srgbClr val="FFFFCC"/>
          </a:solidFill>
          <a:ln w="15875" algn="ctr">
            <a:solidFill>
              <a:srgbClr val="C00000"/>
            </a:solidFill>
            <a:round/>
            <a:headEnd/>
            <a:tailEnd/>
          </a:ln>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ru-RU" altLang="ru-RU">
              <a:solidFill>
                <a:srgbClr val="003399"/>
              </a:solidFill>
              <a:latin typeface="Times New Roman" panose="02020603050405020304" pitchFamily="18" charset="0"/>
            </a:endParaRPr>
          </a:p>
        </p:txBody>
      </p:sp>
      <p:graphicFrame>
        <p:nvGraphicFramePr>
          <p:cNvPr id="27670" name="Object 22">
            <a:extLst>
              <a:ext uri="{FF2B5EF4-FFF2-40B4-BE49-F238E27FC236}">
                <a16:creationId xmlns:a16="http://schemas.microsoft.com/office/drawing/2014/main" id="{32392F51-1CAC-4A0E-BFA9-4C84FB0A6A01}"/>
              </a:ext>
            </a:extLst>
          </p:cNvPr>
          <p:cNvGraphicFramePr>
            <a:graphicFrameLocks noChangeAspect="1"/>
          </p:cNvGraphicFramePr>
          <p:nvPr>
            <p:extLst>
              <p:ext uri="{D42A27DB-BD31-4B8C-83A1-F6EECF244321}">
                <p14:modId xmlns:p14="http://schemas.microsoft.com/office/powerpoint/2010/main" val="133904442"/>
              </p:ext>
            </p:extLst>
          </p:nvPr>
        </p:nvGraphicFramePr>
        <p:xfrm>
          <a:off x="2176862" y="1033463"/>
          <a:ext cx="7928733" cy="1554162"/>
        </p:xfrm>
        <a:graphic>
          <a:graphicData uri="http://schemas.openxmlformats.org/presentationml/2006/ole">
            <mc:AlternateContent xmlns:mc="http://schemas.openxmlformats.org/markup-compatibility/2006">
              <mc:Choice xmlns:v="urn:schemas-microsoft-com:vml" Requires="v">
                <p:oleObj name="Формула" r:id="rId12" imgW="3352800" imgH="977900" progId="Equation.3">
                  <p:embed/>
                </p:oleObj>
              </mc:Choice>
              <mc:Fallback>
                <p:oleObj name="Формула" r:id="rId12" imgW="3352800" imgH="977900" progId="Equation.3">
                  <p:embed/>
                  <p:pic>
                    <p:nvPicPr>
                      <p:cNvPr id="27670" name="Object 22">
                        <a:extLst>
                          <a:ext uri="{FF2B5EF4-FFF2-40B4-BE49-F238E27FC236}">
                            <a16:creationId xmlns:a16="http://schemas.microsoft.com/office/drawing/2014/main" id="{32392F51-1CAC-4A0E-BFA9-4C84FB0A6A0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176862" y="1033463"/>
                        <a:ext cx="7928733" cy="1554162"/>
                      </a:xfrm>
                      <a:prstGeom prst="rect">
                        <a:avLst/>
                      </a:prstGeom>
                      <a:noFill/>
                      <a:ln>
                        <a:noFill/>
                      </a:ln>
                    </p:spPr>
                  </p:pic>
                </p:oleObj>
              </mc:Fallback>
            </mc:AlternateContent>
          </a:graphicData>
        </a:graphic>
      </p:graphicFrame>
      <p:sp>
        <p:nvSpPr>
          <p:cNvPr id="24" name="Прямоугольник 23">
            <a:extLst>
              <a:ext uri="{FF2B5EF4-FFF2-40B4-BE49-F238E27FC236}">
                <a16:creationId xmlns:a16="http://schemas.microsoft.com/office/drawing/2014/main" id="{680E917E-876C-4B76-A9A0-6113F2BC12B0}"/>
              </a:ext>
            </a:extLst>
          </p:cNvPr>
          <p:cNvSpPr/>
          <p:nvPr/>
        </p:nvSpPr>
        <p:spPr>
          <a:xfrm>
            <a:off x="1291399" y="94079"/>
            <a:ext cx="1479892" cy="369332"/>
          </a:xfrm>
          <a:prstGeom prst="rect">
            <a:avLst/>
          </a:prstGeom>
        </p:spPr>
        <p:txBody>
          <a:bodyPr wrap="none">
            <a:spAutoFit/>
          </a:bodyPr>
          <a:lstStyle/>
          <a:p>
            <a:pPr>
              <a:defRPr/>
            </a:pPr>
            <a:r>
              <a:rPr lang="ru-RU" dirty="0">
                <a:solidFill>
                  <a:schemeClr val="bg1"/>
                </a:solidFill>
              </a:rPr>
              <a:t>Кафедра ТЭЦ</a:t>
            </a:r>
          </a:p>
        </p:txBody>
      </p:sp>
    </p:spTree>
    <p:extLst>
      <p:ext uri="{BB962C8B-B14F-4D97-AF65-F5344CB8AC3E}">
        <p14:creationId xmlns:p14="http://schemas.microsoft.com/office/powerpoint/2010/main" val="18878993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65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767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down)">
                                      <p:cBhvr>
                                        <p:cTn id="15" dur="500"/>
                                        <p:tgtEl>
                                          <p:spTgt spid="2"/>
                                        </p:tgtEl>
                                      </p:cBhvr>
                                    </p:animEffect>
                                  </p:childTnLst>
                                </p:cTn>
                              </p:par>
                              <p:par>
                                <p:cTn id="16" presetID="22" presetClass="entr" presetSubtype="4" fill="hold" nodeType="withEffect">
                                  <p:stCondLst>
                                    <p:cond delay="0"/>
                                  </p:stCondLst>
                                  <p:childTnLst>
                                    <p:set>
                                      <p:cBhvr>
                                        <p:cTn id="17" dur="1" fill="hold">
                                          <p:stCondLst>
                                            <p:cond delay="0"/>
                                          </p:stCondLst>
                                        </p:cTn>
                                        <p:tgtEl>
                                          <p:spTgt spid="27672"/>
                                        </p:tgtEl>
                                        <p:attrNameLst>
                                          <p:attrName>style.visibility</p:attrName>
                                        </p:attrNameLst>
                                      </p:cBhvr>
                                      <p:to>
                                        <p:strVal val="visible"/>
                                      </p:to>
                                    </p:set>
                                    <p:animEffect transition="in" filter="wipe(down)">
                                      <p:cBhvr>
                                        <p:cTn id="18" dur="500"/>
                                        <p:tgtEl>
                                          <p:spTgt spid="27672"/>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27668"/>
                                        </p:tgtEl>
                                        <p:attrNameLst>
                                          <p:attrName>style.visibility</p:attrName>
                                        </p:attrNameLst>
                                      </p:cBhvr>
                                      <p:to>
                                        <p:strVal val="visible"/>
                                      </p:to>
                                    </p:set>
                                    <p:animEffect transition="in" filter="wipe(down)">
                                      <p:cBhvr>
                                        <p:cTn id="21" dur="500"/>
                                        <p:tgtEl>
                                          <p:spTgt spid="2766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nodeType="clickEffect">
                                  <p:stCondLst>
                                    <p:cond delay="0"/>
                                  </p:stCondLst>
                                  <p:childTnLst>
                                    <p:set>
                                      <p:cBhvr>
                                        <p:cTn id="25" dur="1" fill="hold">
                                          <p:stCondLst>
                                            <p:cond delay="0"/>
                                          </p:stCondLst>
                                        </p:cTn>
                                        <p:tgtEl>
                                          <p:spTgt spid="2767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7676"/>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wipe(down)">
                                      <p:cBhvr>
                                        <p:cTn id="32" dur="500"/>
                                        <p:tgtEl>
                                          <p:spTgt spid="23"/>
                                        </p:tgtEl>
                                      </p:cBhvr>
                                    </p:animEffect>
                                  </p:childTnLst>
                                </p:cTn>
                              </p:par>
                              <p:par>
                                <p:cTn id="33" presetID="22" presetClass="entr" presetSubtype="4" fill="hold" nodeType="withEffect">
                                  <p:stCondLst>
                                    <p:cond delay="0"/>
                                  </p:stCondLst>
                                  <p:childTnLst>
                                    <p:set>
                                      <p:cBhvr>
                                        <p:cTn id="34" dur="1" fill="hold">
                                          <p:stCondLst>
                                            <p:cond delay="0"/>
                                          </p:stCondLst>
                                        </p:cTn>
                                        <p:tgtEl>
                                          <p:spTgt spid="27677"/>
                                        </p:tgtEl>
                                        <p:attrNameLst>
                                          <p:attrName>style.visibility</p:attrName>
                                        </p:attrNameLst>
                                      </p:cBhvr>
                                      <p:to>
                                        <p:strVal val="visible"/>
                                      </p:to>
                                    </p:set>
                                    <p:animEffect transition="in" filter="wipe(down)">
                                      <p:cBhvr>
                                        <p:cTn id="35" dur="500"/>
                                        <p:tgtEl>
                                          <p:spTgt spid="27677"/>
                                        </p:tgtEl>
                                      </p:cBhvr>
                                    </p:animEffect>
                                  </p:childTnLst>
                                </p:cTn>
                              </p:par>
                              <p:par>
                                <p:cTn id="36" presetID="22" presetClass="entr" presetSubtype="4" fill="hold" grpId="0" nodeType="withEffect">
                                  <p:stCondLst>
                                    <p:cond delay="0"/>
                                  </p:stCondLst>
                                  <p:childTnLst>
                                    <p:set>
                                      <p:cBhvr>
                                        <p:cTn id="37" dur="1" fill="hold">
                                          <p:stCondLst>
                                            <p:cond delay="0"/>
                                          </p:stCondLst>
                                        </p:cTn>
                                        <p:tgtEl>
                                          <p:spTgt spid="27680"/>
                                        </p:tgtEl>
                                        <p:attrNameLst>
                                          <p:attrName>style.visibility</p:attrName>
                                        </p:attrNameLst>
                                      </p:cBhvr>
                                      <p:to>
                                        <p:strVal val="visible"/>
                                      </p:to>
                                    </p:set>
                                    <p:animEffect transition="in" filter="wipe(down)">
                                      <p:cBhvr>
                                        <p:cTn id="38" dur="500"/>
                                        <p:tgtEl>
                                          <p:spTgt spid="27680"/>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2768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7683"/>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nodeType="clickEffect">
                                  <p:stCondLst>
                                    <p:cond delay="0"/>
                                  </p:stCondLst>
                                  <p:childTnLst>
                                    <p:set>
                                      <p:cBhvr>
                                        <p:cTn id="48" dur="1" fill="hold">
                                          <p:stCondLst>
                                            <p:cond delay="0"/>
                                          </p:stCondLst>
                                        </p:cTn>
                                        <p:tgtEl>
                                          <p:spTgt spid="27684">
                                            <p:txEl>
                                              <p:pRg st="0" end="0"/>
                                            </p:txEl>
                                          </p:spTgt>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27685"/>
                                        </p:tgtEl>
                                        <p:attrNameLst>
                                          <p:attrName>style.visibility</p:attrName>
                                        </p:attrNameLst>
                                      </p:cBhvr>
                                      <p:to>
                                        <p:strVal val="visible"/>
                                      </p:to>
                                    </p:set>
                                    <p:anim calcmode="lin" valueType="num">
                                      <p:cBhvr additive="base">
                                        <p:cTn id="53" dur="500" fill="hold"/>
                                        <p:tgtEl>
                                          <p:spTgt spid="27685"/>
                                        </p:tgtEl>
                                        <p:attrNameLst>
                                          <p:attrName>ppt_x</p:attrName>
                                        </p:attrNameLst>
                                      </p:cBhvr>
                                      <p:tavLst>
                                        <p:tav tm="0">
                                          <p:val>
                                            <p:strVal val="#ppt_x"/>
                                          </p:val>
                                        </p:tav>
                                        <p:tav tm="100000">
                                          <p:val>
                                            <p:strVal val="#ppt_x"/>
                                          </p:val>
                                        </p:tav>
                                      </p:tavLst>
                                    </p:anim>
                                    <p:anim calcmode="lin" valueType="num">
                                      <p:cBhvr additive="base">
                                        <p:cTn id="54" dur="500" fill="hold"/>
                                        <p:tgtEl>
                                          <p:spTgt spid="27685"/>
                                        </p:tgtEl>
                                        <p:attrNameLst>
                                          <p:attrName>ppt_y</p:attrName>
                                        </p:attrNameLst>
                                      </p:cBhvr>
                                      <p:tavLst>
                                        <p:tav tm="0">
                                          <p:val>
                                            <p:strVal val="1+#ppt_h/2"/>
                                          </p:val>
                                        </p:tav>
                                        <p:tav tm="100000">
                                          <p:val>
                                            <p:strVal val="#ppt_y"/>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2" presetClass="entr" presetSubtype="4" fill="hold" nodeType="clickEffect">
                                  <p:stCondLst>
                                    <p:cond delay="0"/>
                                  </p:stCondLst>
                                  <p:childTnLst>
                                    <p:set>
                                      <p:cBhvr>
                                        <p:cTn id="58" dur="1" fill="hold">
                                          <p:stCondLst>
                                            <p:cond delay="0"/>
                                          </p:stCondLst>
                                        </p:cTn>
                                        <p:tgtEl>
                                          <p:spTgt spid="27686"/>
                                        </p:tgtEl>
                                        <p:attrNameLst>
                                          <p:attrName>style.visibility</p:attrName>
                                        </p:attrNameLst>
                                      </p:cBhvr>
                                      <p:to>
                                        <p:strVal val="visible"/>
                                      </p:to>
                                    </p:set>
                                    <p:anim calcmode="lin" valueType="num">
                                      <p:cBhvr additive="base">
                                        <p:cTn id="59" dur="500" fill="hold"/>
                                        <p:tgtEl>
                                          <p:spTgt spid="27686"/>
                                        </p:tgtEl>
                                        <p:attrNameLst>
                                          <p:attrName>ppt_x</p:attrName>
                                        </p:attrNameLst>
                                      </p:cBhvr>
                                      <p:tavLst>
                                        <p:tav tm="0">
                                          <p:val>
                                            <p:strVal val="#ppt_x"/>
                                          </p:val>
                                        </p:tav>
                                        <p:tav tm="100000">
                                          <p:val>
                                            <p:strVal val="#ppt_x"/>
                                          </p:val>
                                        </p:tav>
                                      </p:tavLst>
                                    </p:anim>
                                    <p:anim calcmode="lin" valueType="num">
                                      <p:cBhvr additive="base">
                                        <p:cTn id="60" dur="500" fill="hold"/>
                                        <p:tgtEl>
                                          <p:spTgt spid="2768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7655" grpId="0"/>
      <p:bldP spid="27668" grpId="0"/>
      <p:bldP spid="27676" grpId="0"/>
      <p:bldP spid="27680" grpId="0"/>
      <p:bldP spid="27683" grpId="0"/>
      <p:bldP spid="27685" grpId="0"/>
      <p:bldP spid="23" grpId="0" animBg="1"/>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Номер слайда 3">
            <a:extLst>
              <a:ext uri="{FF2B5EF4-FFF2-40B4-BE49-F238E27FC236}">
                <a16:creationId xmlns:a16="http://schemas.microsoft.com/office/drawing/2014/main" id="{074E3D6B-07D1-4B74-A18F-43128E6C13D8}"/>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37CE0776-007E-45F3-B322-CED9D272697D}" type="slidenum">
              <a:rPr lang="ru-RU" altLang="ru-RU" sz="1200">
                <a:latin typeface="Arial Black" panose="020B0A04020102020204" pitchFamily="34" charset="0"/>
              </a:rPr>
              <a:pPr>
                <a:spcBef>
                  <a:spcPct val="0"/>
                </a:spcBef>
                <a:buClrTx/>
                <a:buSzTx/>
                <a:buFontTx/>
                <a:buNone/>
              </a:pPr>
              <a:t>33</a:t>
            </a:fld>
            <a:endParaRPr lang="ru-RU" altLang="ru-RU" sz="1200">
              <a:latin typeface="Arial Black" panose="020B0A04020102020204" pitchFamily="34" charset="0"/>
            </a:endParaRPr>
          </a:p>
        </p:txBody>
      </p:sp>
      <p:sp>
        <p:nvSpPr>
          <p:cNvPr id="32786" name="Rectangle 18">
            <a:extLst>
              <a:ext uri="{FF2B5EF4-FFF2-40B4-BE49-F238E27FC236}">
                <a16:creationId xmlns:a16="http://schemas.microsoft.com/office/drawing/2014/main" id="{B6AC47B3-431C-4F48-AFF3-218FAF285755}"/>
              </a:ext>
            </a:extLst>
          </p:cNvPr>
          <p:cNvSpPr>
            <a:spLocks noChangeArrowheads="1"/>
          </p:cNvSpPr>
          <p:nvPr/>
        </p:nvSpPr>
        <p:spPr bwMode="auto">
          <a:xfrm>
            <a:off x="2686050" y="487696"/>
            <a:ext cx="81375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ru-RU" altLang="ru-RU" sz="1800" dirty="0">
                <a:solidFill>
                  <a:srgbClr val="C00000"/>
                </a:solidFill>
                <a:latin typeface="Times New Roman" panose="02020603050405020304" pitchFamily="18" charset="0"/>
              </a:rPr>
              <a:t>Соотношение действующих значений напряжения и тока и сдвиг по фазе в цепи синусоидального переменного тока </a:t>
            </a:r>
          </a:p>
        </p:txBody>
      </p:sp>
      <p:pic>
        <p:nvPicPr>
          <p:cNvPr id="32794" name="Picture 26" descr="Рис_2_1">
            <a:extLst>
              <a:ext uri="{FF2B5EF4-FFF2-40B4-BE49-F238E27FC236}">
                <a16:creationId xmlns:a16="http://schemas.microsoft.com/office/drawing/2014/main" id="{8A17E0E4-7649-479B-9B68-24DC839573D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94581" y="853789"/>
            <a:ext cx="3635375"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3" name="Rectangle 28">
            <a:extLst>
              <a:ext uri="{FF2B5EF4-FFF2-40B4-BE49-F238E27FC236}">
                <a16:creationId xmlns:a16="http://schemas.microsoft.com/office/drawing/2014/main" id="{A4A6507B-5A18-4055-9D30-41ED29932FE6}"/>
              </a:ext>
            </a:extLst>
          </p:cNvPr>
          <p:cNvSpPr>
            <a:spLocks noChangeArrowheads="1"/>
          </p:cNvSpPr>
          <p:nvPr/>
        </p:nvSpPr>
        <p:spPr bwMode="auto">
          <a:xfrm>
            <a:off x="1524001" y="3027077"/>
            <a:ext cx="1847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ru-RU" altLang="ru-RU">
              <a:solidFill>
                <a:srgbClr val="003399"/>
              </a:solidFill>
              <a:latin typeface="Times New Roman" panose="02020603050405020304" pitchFamily="18" charset="0"/>
            </a:endParaRPr>
          </a:p>
        </p:txBody>
      </p:sp>
      <p:graphicFrame>
        <p:nvGraphicFramePr>
          <p:cNvPr id="32795" name="Object 27">
            <a:extLst>
              <a:ext uri="{FF2B5EF4-FFF2-40B4-BE49-F238E27FC236}">
                <a16:creationId xmlns:a16="http://schemas.microsoft.com/office/drawing/2014/main" id="{F3E7F96F-106E-4D08-B748-25A8DA8AC62D}"/>
              </a:ext>
            </a:extLst>
          </p:cNvPr>
          <p:cNvGraphicFramePr>
            <a:graphicFrameLocks noChangeAspect="1"/>
          </p:cNvGraphicFramePr>
          <p:nvPr/>
        </p:nvGraphicFramePr>
        <p:xfrm>
          <a:off x="7391401" y="1773238"/>
          <a:ext cx="1431925" cy="412750"/>
        </p:xfrm>
        <a:graphic>
          <a:graphicData uri="http://schemas.openxmlformats.org/presentationml/2006/ole">
            <mc:AlternateContent xmlns:mc="http://schemas.openxmlformats.org/markup-compatibility/2006">
              <mc:Choice xmlns:v="urn:schemas-microsoft-com:vml" Requires="v">
                <p:oleObj name="Формула" r:id="rId3" imgW="850531" imgH="241195" progId="Equation.3">
                  <p:embed/>
                </p:oleObj>
              </mc:Choice>
              <mc:Fallback>
                <p:oleObj name="Формула" r:id="rId3" imgW="850531" imgH="241195" progId="Equation.3">
                  <p:embed/>
                  <p:pic>
                    <p:nvPicPr>
                      <p:cNvPr id="32795" name="Object 27">
                        <a:extLst>
                          <a:ext uri="{FF2B5EF4-FFF2-40B4-BE49-F238E27FC236}">
                            <a16:creationId xmlns:a16="http://schemas.microsoft.com/office/drawing/2014/main" id="{F3E7F96F-106E-4D08-B748-25A8DA8AC6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91401" y="1773238"/>
                        <a:ext cx="1431925"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295" name="Rectangle 30">
            <a:extLst>
              <a:ext uri="{FF2B5EF4-FFF2-40B4-BE49-F238E27FC236}">
                <a16:creationId xmlns:a16="http://schemas.microsoft.com/office/drawing/2014/main" id="{E16D99AF-BFA9-4857-9ECA-A9B8F12F3186}"/>
              </a:ext>
            </a:extLst>
          </p:cNvPr>
          <p:cNvSpPr>
            <a:spLocks noChangeArrowheads="1"/>
          </p:cNvSpPr>
          <p:nvPr/>
        </p:nvSpPr>
        <p:spPr bwMode="auto">
          <a:xfrm>
            <a:off x="1524001" y="3028664"/>
            <a:ext cx="1847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ru-RU" altLang="ru-RU">
              <a:solidFill>
                <a:srgbClr val="003399"/>
              </a:solidFill>
              <a:latin typeface="Times New Roman" panose="02020603050405020304" pitchFamily="18" charset="0"/>
            </a:endParaRPr>
          </a:p>
        </p:txBody>
      </p:sp>
      <p:graphicFrame>
        <p:nvGraphicFramePr>
          <p:cNvPr id="32797" name="Object 29">
            <a:extLst>
              <a:ext uri="{FF2B5EF4-FFF2-40B4-BE49-F238E27FC236}">
                <a16:creationId xmlns:a16="http://schemas.microsoft.com/office/drawing/2014/main" id="{099973B4-5B21-450B-8530-A32BDACD2997}"/>
              </a:ext>
            </a:extLst>
          </p:cNvPr>
          <p:cNvGraphicFramePr>
            <a:graphicFrameLocks noChangeAspect="1"/>
          </p:cNvGraphicFramePr>
          <p:nvPr/>
        </p:nvGraphicFramePr>
        <p:xfrm>
          <a:off x="7443789" y="2205038"/>
          <a:ext cx="2128837" cy="387350"/>
        </p:xfrm>
        <a:graphic>
          <a:graphicData uri="http://schemas.openxmlformats.org/presentationml/2006/ole">
            <mc:AlternateContent xmlns:mc="http://schemas.openxmlformats.org/markup-compatibility/2006">
              <mc:Choice xmlns:v="urn:schemas-microsoft-com:vml" Requires="v">
                <p:oleObj name="Формула" r:id="rId5" imgW="1308100" imgH="241300" progId="Equation.3">
                  <p:embed/>
                </p:oleObj>
              </mc:Choice>
              <mc:Fallback>
                <p:oleObj name="Формула" r:id="rId5" imgW="1308100" imgH="241300" progId="Equation.3">
                  <p:embed/>
                  <p:pic>
                    <p:nvPicPr>
                      <p:cNvPr id="32797" name="Object 29">
                        <a:extLst>
                          <a:ext uri="{FF2B5EF4-FFF2-40B4-BE49-F238E27FC236}">
                            <a16:creationId xmlns:a16="http://schemas.microsoft.com/office/drawing/2014/main" id="{099973B4-5B21-450B-8530-A32BDACD299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43789" y="2205038"/>
                        <a:ext cx="2128837"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799" name="Object 31">
            <a:extLst>
              <a:ext uri="{FF2B5EF4-FFF2-40B4-BE49-F238E27FC236}">
                <a16:creationId xmlns:a16="http://schemas.microsoft.com/office/drawing/2014/main" id="{3F089EB5-5866-4C7E-856D-73456CFBBB4A}"/>
              </a:ext>
            </a:extLst>
          </p:cNvPr>
          <p:cNvGraphicFramePr>
            <a:graphicFrameLocks noGrp="1" noChangeAspect="1"/>
          </p:cNvGraphicFramePr>
          <p:nvPr>
            <p:ph/>
          </p:nvPr>
        </p:nvGraphicFramePr>
        <p:xfrm>
          <a:off x="1847850" y="2852738"/>
          <a:ext cx="8135938" cy="627062"/>
        </p:xfrm>
        <a:graphic>
          <a:graphicData uri="http://schemas.openxmlformats.org/presentationml/2006/ole">
            <mc:AlternateContent xmlns:mc="http://schemas.openxmlformats.org/markup-compatibility/2006">
              <mc:Choice xmlns:v="urn:schemas-microsoft-com:vml" Requires="v">
                <p:oleObj name="Формула" r:id="rId7" imgW="5930900" imgH="457200" progId="Equation.3">
                  <p:embed/>
                </p:oleObj>
              </mc:Choice>
              <mc:Fallback>
                <p:oleObj name="Формула" r:id="rId7" imgW="5930900" imgH="457200" progId="Equation.3">
                  <p:embed/>
                  <p:pic>
                    <p:nvPicPr>
                      <p:cNvPr id="32799" name="Object 31">
                        <a:extLst>
                          <a:ext uri="{FF2B5EF4-FFF2-40B4-BE49-F238E27FC236}">
                            <a16:creationId xmlns:a16="http://schemas.microsoft.com/office/drawing/2014/main" id="{3F089EB5-5866-4C7E-856D-73456CFBBB4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47850" y="2852738"/>
                        <a:ext cx="8135938" cy="627062"/>
                      </a:xfrm>
                      <a:prstGeom prst="rect">
                        <a:avLst/>
                      </a:prstGeom>
                      <a:solidFill>
                        <a:srgbClr val="CCFFCC"/>
                      </a:solidFill>
                      <a:ln w="12700">
                        <a:solidFill>
                          <a:srgbClr val="800000"/>
                        </a:solidFill>
                        <a:miter lim="800000"/>
                        <a:headEnd/>
                        <a:tailEnd/>
                      </a:ln>
                    </p:spPr>
                  </p:pic>
                </p:oleObj>
              </mc:Fallback>
            </mc:AlternateContent>
          </a:graphicData>
        </a:graphic>
      </p:graphicFrame>
      <p:sp>
        <p:nvSpPr>
          <p:cNvPr id="32802" name="Rectangle 34">
            <a:extLst>
              <a:ext uri="{FF2B5EF4-FFF2-40B4-BE49-F238E27FC236}">
                <a16:creationId xmlns:a16="http://schemas.microsoft.com/office/drawing/2014/main" id="{61E72CBA-64AE-4B23-A115-B18F1D7C39CB}"/>
              </a:ext>
            </a:extLst>
          </p:cNvPr>
          <p:cNvSpPr>
            <a:spLocks noChangeArrowheads="1"/>
          </p:cNvSpPr>
          <p:nvPr/>
        </p:nvSpPr>
        <p:spPr bwMode="auto">
          <a:xfrm>
            <a:off x="1711325" y="4376739"/>
            <a:ext cx="19494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45085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ru-RU" sz="1600">
                <a:solidFill>
                  <a:srgbClr val="003399"/>
                </a:solidFill>
                <a:latin typeface="Times New Roman" panose="02020603050405020304" pitchFamily="18" charset="0"/>
                <a:cs typeface="Times New Roman" panose="02020603050405020304" pitchFamily="18" charset="0"/>
              </a:rPr>
              <a:t>Для резистора:</a:t>
            </a:r>
          </a:p>
        </p:txBody>
      </p:sp>
      <p:sp>
        <p:nvSpPr>
          <p:cNvPr id="12299" name="Rectangle 37">
            <a:extLst>
              <a:ext uri="{FF2B5EF4-FFF2-40B4-BE49-F238E27FC236}">
                <a16:creationId xmlns:a16="http://schemas.microsoft.com/office/drawing/2014/main" id="{B9BF96FD-994E-4270-A614-46CACD5526D1}"/>
              </a:ext>
            </a:extLst>
          </p:cNvPr>
          <p:cNvSpPr>
            <a:spLocks noChangeArrowheads="1"/>
          </p:cNvSpPr>
          <p:nvPr/>
        </p:nvSpPr>
        <p:spPr bwMode="auto">
          <a:xfrm>
            <a:off x="1524001" y="3017552"/>
            <a:ext cx="1847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ru-RU" altLang="ru-RU">
              <a:solidFill>
                <a:srgbClr val="003399"/>
              </a:solidFill>
              <a:latin typeface="Times New Roman" panose="02020603050405020304" pitchFamily="18" charset="0"/>
            </a:endParaRPr>
          </a:p>
        </p:txBody>
      </p:sp>
      <p:graphicFrame>
        <p:nvGraphicFramePr>
          <p:cNvPr id="32804" name="Object 36">
            <a:extLst>
              <a:ext uri="{FF2B5EF4-FFF2-40B4-BE49-F238E27FC236}">
                <a16:creationId xmlns:a16="http://schemas.microsoft.com/office/drawing/2014/main" id="{2A3D91F0-0239-45C5-A079-BC29FA66F45F}"/>
              </a:ext>
            </a:extLst>
          </p:cNvPr>
          <p:cNvGraphicFramePr>
            <a:graphicFrameLocks noChangeAspect="1"/>
          </p:cNvGraphicFramePr>
          <p:nvPr/>
        </p:nvGraphicFramePr>
        <p:xfrm>
          <a:off x="4079876" y="4400551"/>
          <a:ext cx="1692275" cy="396875"/>
        </p:xfrm>
        <a:graphic>
          <a:graphicData uri="http://schemas.openxmlformats.org/presentationml/2006/ole">
            <mc:AlternateContent xmlns:mc="http://schemas.openxmlformats.org/markup-compatibility/2006">
              <mc:Choice xmlns:v="urn:schemas-microsoft-com:vml" Requires="v">
                <p:oleObj name="Формула" r:id="rId9" imgW="1016000" imgH="241300" progId="Equation.3">
                  <p:embed/>
                </p:oleObj>
              </mc:Choice>
              <mc:Fallback>
                <p:oleObj name="Формула" r:id="rId9" imgW="1016000" imgH="241300" progId="Equation.3">
                  <p:embed/>
                  <p:pic>
                    <p:nvPicPr>
                      <p:cNvPr id="32804" name="Object 36">
                        <a:extLst>
                          <a:ext uri="{FF2B5EF4-FFF2-40B4-BE49-F238E27FC236}">
                            <a16:creationId xmlns:a16="http://schemas.microsoft.com/office/drawing/2014/main" id="{2A3D91F0-0239-45C5-A079-BC29FA66F45F}"/>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79876" y="4400551"/>
                        <a:ext cx="1692275" cy="396875"/>
                      </a:xfrm>
                      <a:prstGeom prst="rect">
                        <a:avLst/>
                      </a:prstGeom>
                      <a:solidFill>
                        <a:srgbClr val="FFFF99"/>
                      </a:solidFill>
                      <a:ln w="9525">
                        <a:solidFill>
                          <a:srgbClr val="800080"/>
                        </a:solidFill>
                        <a:miter lim="800000"/>
                        <a:headEnd/>
                        <a:tailEnd/>
                      </a:ln>
                    </p:spPr>
                  </p:pic>
                </p:oleObj>
              </mc:Fallback>
            </mc:AlternateContent>
          </a:graphicData>
        </a:graphic>
      </p:graphicFrame>
      <p:sp>
        <p:nvSpPr>
          <p:cNvPr id="12301" name="Rectangle 39">
            <a:extLst>
              <a:ext uri="{FF2B5EF4-FFF2-40B4-BE49-F238E27FC236}">
                <a16:creationId xmlns:a16="http://schemas.microsoft.com/office/drawing/2014/main" id="{3431F8A3-DA88-49E0-811C-C89DA386741C}"/>
              </a:ext>
            </a:extLst>
          </p:cNvPr>
          <p:cNvSpPr>
            <a:spLocks noChangeArrowheads="1"/>
          </p:cNvSpPr>
          <p:nvPr/>
        </p:nvSpPr>
        <p:spPr bwMode="auto">
          <a:xfrm>
            <a:off x="1524001" y="3027077"/>
            <a:ext cx="1847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ru-RU" altLang="ru-RU">
              <a:solidFill>
                <a:srgbClr val="003399"/>
              </a:solidFill>
              <a:latin typeface="Times New Roman" panose="02020603050405020304" pitchFamily="18" charset="0"/>
            </a:endParaRPr>
          </a:p>
        </p:txBody>
      </p:sp>
      <p:graphicFrame>
        <p:nvGraphicFramePr>
          <p:cNvPr id="32809" name="Object 41">
            <a:extLst>
              <a:ext uri="{FF2B5EF4-FFF2-40B4-BE49-F238E27FC236}">
                <a16:creationId xmlns:a16="http://schemas.microsoft.com/office/drawing/2014/main" id="{3BBF8F51-F197-4EC2-BFB1-F922DD635B79}"/>
              </a:ext>
            </a:extLst>
          </p:cNvPr>
          <p:cNvGraphicFramePr>
            <a:graphicFrameLocks noChangeAspect="1"/>
          </p:cNvGraphicFramePr>
          <p:nvPr/>
        </p:nvGraphicFramePr>
        <p:xfrm>
          <a:off x="4102100" y="4946651"/>
          <a:ext cx="3289300" cy="354013"/>
        </p:xfrm>
        <a:graphic>
          <a:graphicData uri="http://schemas.openxmlformats.org/presentationml/2006/ole">
            <mc:AlternateContent xmlns:mc="http://schemas.openxmlformats.org/markup-compatibility/2006">
              <mc:Choice xmlns:v="urn:schemas-microsoft-com:vml" Requires="v">
                <p:oleObj name="Формула" r:id="rId11" imgW="2209800" imgH="241300" progId="Equation.3">
                  <p:embed/>
                </p:oleObj>
              </mc:Choice>
              <mc:Fallback>
                <p:oleObj name="Формула" r:id="rId11" imgW="2209800" imgH="241300" progId="Equation.3">
                  <p:embed/>
                  <p:pic>
                    <p:nvPicPr>
                      <p:cNvPr id="32809" name="Object 41">
                        <a:extLst>
                          <a:ext uri="{FF2B5EF4-FFF2-40B4-BE49-F238E27FC236}">
                            <a16:creationId xmlns:a16="http://schemas.microsoft.com/office/drawing/2014/main" id="{3BBF8F51-F197-4EC2-BFB1-F922DD635B7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02100" y="4946651"/>
                        <a:ext cx="3289300"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811" name="Object 43">
            <a:extLst>
              <a:ext uri="{FF2B5EF4-FFF2-40B4-BE49-F238E27FC236}">
                <a16:creationId xmlns:a16="http://schemas.microsoft.com/office/drawing/2014/main" id="{3C78DEAD-C7AD-419E-A063-1AB489A63641}"/>
              </a:ext>
            </a:extLst>
          </p:cNvPr>
          <p:cNvGraphicFramePr>
            <a:graphicFrameLocks noChangeAspect="1"/>
          </p:cNvGraphicFramePr>
          <p:nvPr/>
        </p:nvGraphicFramePr>
        <p:xfrm>
          <a:off x="7932738" y="4760913"/>
          <a:ext cx="2044700" cy="641350"/>
        </p:xfrm>
        <a:graphic>
          <a:graphicData uri="http://schemas.openxmlformats.org/presentationml/2006/ole">
            <mc:AlternateContent xmlns:mc="http://schemas.openxmlformats.org/markup-compatibility/2006">
              <mc:Choice xmlns:v="urn:schemas-microsoft-com:vml" Requires="v">
                <p:oleObj name="Формула" r:id="rId13" imgW="1409088" imgH="444307" progId="Equation.3">
                  <p:embed/>
                </p:oleObj>
              </mc:Choice>
              <mc:Fallback>
                <p:oleObj name="Формула" r:id="rId13" imgW="1409088" imgH="444307" progId="Equation.3">
                  <p:embed/>
                  <p:pic>
                    <p:nvPicPr>
                      <p:cNvPr id="32811" name="Object 43">
                        <a:extLst>
                          <a:ext uri="{FF2B5EF4-FFF2-40B4-BE49-F238E27FC236}">
                            <a16:creationId xmlns:a16="http://schemas.microsoft.com/office/drawing/2014/main" id="{3C78DEAD-C7AD-419E-A063-1AB489A63641}"/>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932738" y="4760913"/>
                        <a:ext cx="2044700" cy="641350"/>
                      </a:xfrm>
                      <a:prstGeom prst="rect">
                        <a:avLst/>
                      </a:prstGeom>
                      <a:solidFill>
                        <a:srgbClr val="FFFF99"/>
                      </a:solidFill>
                      <a:ln w="9525">
                        <a:solidFill>
                          <a:srgbClr val="FFFF99"/>
                        </a:solidFill>
                        <a:miter lim="800000"/>
                        <a:headEnd/>
                        <a:tailEnd/>
                      </a:ln>
                    </p:spPr>
                  </p:pic>
                </p:oleObj>
              </mc:Fallback>
            </mc:AlternateContent>
          </a:graphicData>
        </a:graphic>
      </p:graphicFrame>
      <p:graphicFrame>
        <p:nvGraphicFramePr>
          <p:cNvPr id="32815" name="Object 47">
            <a:extLst>
              <a:ext uri="{FF2B5EF4-FFF2-40B4-BE49-F238E27FC236}">
                <a16:creationId xmlns:a16="http://schemas.microsoft.com/office/drawing/2014/main" id="{B17F6514-686E-4BF0-B95A-01194C879E81}"/>
              </a:ext>
            </a:extLst>
          </p:cNvPr>
          <p:cNvGraphicFramePr>
            <a:graphicFrameLocks noChangeAspect="1"/>
          </p:cNvGraphicFramePr>
          <p:nvPr/>
        </p:nvGraphicFramePr>
        <p:xfrm>
          <a:off x="3432175" y="5661025"/>
          <a:ext cx="3887788" cy="725488"/>
        </p:xfrm>
        <a:graphic>
          <a:graphicData uri="http://schemas.openxmlformats.org/presentationml/2006/ole">
            <mc:AlternateContent xmlns:mc="http://schemas.openxmlformats.org/markup-compatibility/2006">
              <mc:Choice xmlns:v="urn:schemas-microsoft-com:vml" Requires="v">
                <p:oleObj name="Формула" r:id="rId15" imgW="2425700" imgH="457200" progId="Equation.3">
                  <p:embed/>
                </p:oleObj>
              </mc:Choice>
              <mc:Fallback>
                <p:oleObj name="Формула" r:id="rId15" imgW="2425700" imgH="457200" progId="Equation.3">
                  <p:embed/>
                  <p:pic>
                    <p:nvPicPr>
                      <p:cNvPr id="32815" name="Object 47">
                        <a:extLst>
                          <a:ext uri="{FF2B5EF4-FFF2-40B4-BE49-F238E27FC236}">
                            <a16:creationId xmlns:a16="http://schemas.microsoft.com/office/drawing/2014/main" id="{B17F6514-686E-4BF0-B95A-01194C879E81}"/>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432175" y="5661025"/>
                        <a:ext cx="3887788"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817" name="Rectangle 49">
            <a:extLst>
              <a:ext uri="{FF2B5EF4-FFF2-40B4-BE49-F238E27FC236}">
                <a16:creationId xmlns:a16="http://schemas.microsoft.com/office/drawing/2014/main" id="{9BF229D6-76A9-4209-8EAE-301A116FDB49}"/>
              </a:ext>
            </a:extLst>
          </p:cNvPr>
          <p:cNvSpPr>
            <a:spLocks noChangeArrowheads="1"/>
          </p:cNvSpPr>
          <p:nvPr/>
        </p:nvSpPr>
        <p:spPr bwMode="auto">
          <a:xfrm>
            <a:off x="1666876" y="5842000"/>
            <a:ext cx="1795463"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45085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ru-RU" sz="1600">
                <a:solidFill>
                  <a:srgbClr val="003399"/>
                </a:solidFill>
                <a:latin typeface="Times New Roman" panose="02020603050405020304" pitchFamily="18" charset="0"/>
                <a:cs typeface="Times New Roman" panose="02020603050405020304" pitchFamily="18" charset="0"/>
              </a:rPr>
              <a:t>Для емкости:</a:t>
            </a:r>
          </a:p>
        </p:txBody>
      </p:sp>
      <p:graphicFrame>
        <p:nvGraphicFramePr>
          <p:cNvPr id="32818" name="Object 50">
            <a:extLst>
              <a:ext uri="{FF2B5EF4-FFF2-40B4-BE49-F238E27FC236}">
                <a16:creationId xmlns:a16="http://schemas.microsoft.com/office/drawing/2014/main" id="{1F18603D-F912-4B50-96BB-DE5AAEF54A51}"/>
              </a:ext>
            </a:extLst>
          </p:cNvPr>
          <p:cNvGraphicFramePr>
            <a:graphicFrameLocks noChangeAspect="1"/>
          </p:cNvGraphicFramePr>
          <p:nvPr/>
        </p:nvGraphicFramePr>
        <p:xfrm>
          <a:off x="7967664" y="5624514"/>
          <a:ext cx="2009775" cy="619125"/>
        </p:xfrm>
        <a:graphic>
          <a:graphicData uri="http://schemas.openxmlformats.org/presentationml/2006/ole">
            <mc:AlternateContent xmlns:mc="http://schemas.openxmlformats.org/markup-compatibility/2006">
              <mc:Choice xmlns:v="urn:schemas-microsoft-com:vml" Requires="v">
                <p:oleObj name="Формула" r:id="rId17" imgW="1435100" imgH="444500" progId="Equation.3">
                  <p:embed/>
                </p:oleObj>
              </mc:Choice>
              <mc:Fallback>
                <p:oleObj name="Формула" r:id="rId17" imgW="1435100" imgH="444500" progId="Equation.3">
                  <p:embed/>
                  <p:pic>
                    <p:nvPicPr>
                      <p:cNvPr id="32818" name="Object 50">
                        <a:extLst>
                          <a:ext uri="{FF2B5EF4-FFF2-40B4-BE49-F238E27FC236}">
                            <a16:creationId xmlns:a16="http://schemas.microsoft.com/office/drawing/2014/main" id="{1F18603D-F912-4B50-96BB-DE5AAEF54A51}"/>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967664" y="5624514"/>
                        <a:ext cx="2009775" cy="619125"/>
                      </a:xfrm>
                      <a:prstGeom prst="rect">
                        <a:avLst/>
                      </a:prstGeom>
                      <a:solidFill>
                        <a:srgbClr val="FFFF99"/>
                      </a:solidFill>
                      <a:ln w="9525">
                        <a:solidFill>
                          <a:srgbClr val="000080"/>
                        </a:solidFill>
                        <a:miter lim="800000"/>
                        <a:headEnd/>
                        <a:tailEnd/>
                      </a:ln>
                    </p:spPr>
                  </p:pic>
                </p:oleObj>
              </mc:Fallback>
            </mc:AlternateContent>
          </a:graphicData>
        </a:graphic>
      </p:graphicFrame>
      <p:sp>
        <p:nvSpPr>
          <p:cNvPr id="12307" name="Rectangle 53">
            <a:extLst>
              <a:ext uri="{FF2B5EF4-FFF2-40B4-BE49-F238E27FC236}">
                <a16:creationId xmlns:a16="http://schemas.microsoft.com/office/drawing/2014/main" id="{8B46C99D-D59E-41AE-BD68-A5521F845798}"/>
              </a:ext>
            </a:extLst>
          </p:cNvPr>
          <p:cNvSpPr>
            <a:spLocks noChangeArrowheads="1"/>
          </p:cNvSpPr>
          <p:nvPr/>
        </p:nvSpPr>
        <p:spPr bwMode="auto">
          <a:xfrm>
            <a:off x="1524001" y="3022314"/>
            <a:ext cx="1847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ru-RU" altLang="ru-RU">
              <a:solidFill>
                <a:srgbClr val="003399"/>
              </a:solidFill>
              <a:latin typeface="Times New Roman" panose="02020603050405020304" pitchFamily="18" charset="0"/>
            </a:endParaRPr>
          </a:p>
        </p:txBody>
      </p:sp>
      <p:sp>
        <p:nvSpPr>
          <p:cNvPr id="27" name="Rectangle 34">
            <a:extLst>
              <a:ext uri="{FF2B5EF4-FFF2-40B4-BE49-F238E27FC236}">
                <a16:creationId xmlns:a16="http://schemas.microsoft.com/office/drawing/2014/main" id="{818918C1-0AAD-4A62-B001-EFA5118F23DB}"/>
              </a:ext>
            </a:extLst>
          </p:cNvPr>
          <p:cNvSpPr>
            <a:spLocks noChangeArrowheads="1"/>
          </p:cNvSpPr>
          <p:nvPr/>
        </p:nvSpPr>
        <p:spPr bwMode="auto">
          <a:xfrm>
            <a:off x="1558926" y="2565400"/>
            <a:ext cx="815657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45085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ru-RU" sz="1600">
                <a:solidFill>
                  <a:srgbClr val="003399"/>
                </a:solidFill>
                <a:latin typeface="Times New Roman" panose="02020603050405020304" pitchFamily="18" charset="0"/>
                <a:cs typeface="Times New Roman" panose="02020603050405020304" pitchFamily="18" charset="0"/>
              </a:rPr>
              <a:t>Составим уравнение на основании второго закона Кирхгофа для замкнутого контура:</a:t>
            </a:r>
          </a:p>
        </p:txBody>
      </p:sp>
      <p:sp>
        <p:nvSpPr>
          <p:cNvPr id="28" name="Rectangle 34">
            <a:extLst>
              <a:ext uri="{FF2B5EF4-FFF2-40B4-BE49-F238E27FC236}">
                <a16:creationId xmlns:a16="http://schemas.microsoft.com/office/drawing/2014/main" id="{23367C08-0D42-4B5A-9006-F8186B73550D}"/>
              </a:ext>
            </a:extLst>
          </p:cNvPr>
          <p:cNvSpPr>
            <a:spLocks noChangeArrowheads="1"/>
          </p:cNvSpPr>
          <p:nvPr/>
        </p:nvSpPr>
        <p:spPr bwMode="auto">
          <a:xfrm>
            <a:off x="6491288" y="1125538"/>
            <a:ext cx="4176712"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ru-RU" sz="1600">
                <a:solidFill>
                  <a:srgbClr val="003399"/>
                </a:solidFill>
                <a:latin typeface="Times New Roman" panose="02020603050405020304" pitchFamily="18" charset="0"/>
                <a:cs typeface="Times New Roman" panose="02020603050405020304" pitchFamily="18" charset="0"/>
              </a:rPr>
              <a:t>Мгновенные значения тока </a:t>
            </a:r>
            <a:r>
              <a:rPr lang="en-US" altLang="ru-RU" sz="1600" i="1">
                <a:solidFill>
                  <a:srgbClr val="C00000"/>
                </a:solidFill>
                <a:latin typeface="Times New Roman" panose="02020603050405020304" pitchFamily="18" charset="0"/>
                <a:cs typeface="Times New Roman" panose="02020603050405020304" pitchFamily="18" charset="0"/>
              </a:rPr>
              <a:t>i(t)</a:t>
            </a:r>
            <a:r>
              <a:rPr lang="ru-RU" altLang="ru-RU" sz="1600">
                <a:solidFill>
                  <a:srgbClr val="003399"/>
                </a:solidFill>
                <a:latin typeface="Times New Roman" panose="02020603050405020304" pitchFamily="18" charset="0"/>
                <a:cs typeface="Times New Roman" panose="02020603050405020304" pitchFamily="18" charset="0"/>
              </a:rPr>
              <a:t> и </a:t>
            </a:r>
            <a:endParaRPr lang="en-US" altLang="ru-RU" sz="1600">
              <a:solidFill>
                <a:srgbClr val="003399"/>
              </a:solidFill>
              <a:latin typeface="Times New Roman" panose="02020603050405020304" pitchFamily="18" charset="0"/>
              <a:cs typeface="Times New Roman" panose="02020603050405020304" pitchFamily="18" charset="0"/>
            </a:endParaRPr>
          </a:p>
          <a:p>
            <a:pPr eaLnBrk="1" hangingPunct="1">
              <a:spcBef>
                <a:spcPct val="0"/>
              </a:spcBef>
              <a:buClrTx/>
              <a:buSzTx/>
              <a:buFontTx/>
              <a:buNone/>
            </a:pPr>
            <a:r>
              <a:rPr lang="ru-RU" altLang="ru-RU" sz="1600">
                <a:solidFill>
                  <a:srgbClr val="003399"/>
                </a:solidFill>
                <a:latin typeface="Times New Roman" panose="02020603050405020304" pitchFamily="18" charset="0"/>
                <a:cs typeface="Times New Roman" panose="02020603050405020304" pitchFamily="18" charset="0"/>
              </a:rPr>
              <a:t>напряжения </a:t>
            </a:r>
            <a:r>
              <a:rPr lang="en-US" altLang="ru-RU" sz="1600" i="1">
                <a:solidFill>
                  <a:srgbClr val="C00000"/>
                </a:solidFill>
                <a:latin typeface="Times New Roman" panose="02020603050405020304" pitchFamily="18" charset="0"/>
                <a:cs typeface="Times New Roman" panose="02020603050405020304" pitchFamily="18" charset="0"/>
              </a:rPr>
              <a:t>u(t) </a:t>
            </a:r>
            <a:r>
              <a:rPr lang="ru-RU" altLang="ru-RU" sz="1600">
                <a:solidFill>
                  <a:srgbClr val="003399"/>
                </a:solidFill>
                <a:latin typeface="Times New Roman" panose="02020603050405020304" pitchFamily="18" charset="0"/>
                <a:cs typeface="Times New Roman" panose="02020603050405020304" pitchFamily="18" charset="0"/>
              </a:rPr>
              <a:t>на зажимах двухполюсника:</a:t>
            </a:r>
          </a:p>
        </p:txBody>
      </p:sp>
      <p:sp>
        <p:nvSpPr>
          <p:cNvPr id="6" name="Полилиния 5">
            <a:extLst>
              <a:ext uri="{FF2B5EF4-FFF2-40B4-BE49-F238E27FC236}">
                <a16:creationId xmlns:a16="http://schemas.microsoft.com/office/drawing/2014/main" id="{49CA11CE-3A4F-44CF-A491-25859A988543}"/>
              </a:ext>
            </a:extLst>
          </p:cNvPr>
          <p:cNvSpPr>
            <a:spLocks/>
          </p:cNvSpPr>
          <p:nvPr/>
        </p:nvSpPr>
        <p:spPr bwMode="auto">
          <a:xfrm>
            <a:off x="1908969" y="1695163"/>
            <a:ext cx="1554162" cy="719138"/>
          </a:xfrm>
          <a:custGeom>
            <a:avLst/>
            <a:gdLst>
              <a:gd name="T0" fmla="*/ 481459 w 1553398"/>
              <a:gd name="T1" fmla="*/ 0 h 719787"/>
              <a:gd name="T2" fmla="*/ 1443016 w 1553398"/>
              <a:gd name="T3" fmla="*/ 270626 h 719787"/>
              <a:gd name="T4" fmla="*/ 1461159 w 1553398"/>
              <a:gd name="T5" fmla="*/ 550271 h 719787"/>
              <a:gd name="T6" fmla="*/ 753597 w 1553398"/>
              <a:gd name="T7" fmla="*/ 703626 h 719787"/>
              <a:gd name="T8" fmla="*/ 136750 w 1553398"/>
              <a:gd name="T9" fmla="*/ 658523 h 719787"/>
              <a:gd name="T10" fmla="*/ 9753 w 1553398"/>
              <a:gd name="T11" fmla="*/ 252584 h 719787"/>
              <a:gd name="T12" fmla="*/ 9753 w 1553398"/>
              <a:gd name="T13" fmla="*/ 261604 h 71978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53398" h="719787">
                <a:moveTo>
                  <a:pt x="480513" y="0"/>
                </a:moveTo>
                <a:cubicBezTo>
                  <a:pt x="878866" y="89780"/>
                  <a:pt x="1277219" y="179561"/>
                  <a:pt x="1440181" y="271604"/>
                </a:cubicBezTo>
                <a:cubicBezTo>
                  <a:pt x="1603143" y="363647"/>
                  <a:pt x="1572965" y="479833"/>
                  <a:pt x="1458288" y="552261"/>
                </a:cubicBezTo>
                <a:cubicBezTo>
                  <a:pt x="1343611" y="624689"/>
                  <a:pt x="972418" y="688063"/>
                  <a:pt x="752117" y="706170"/>
                </a:cubicBezTo>
                <a:cubicBezTo>
                  <a:pt x="531816" y="724277"/>
                  <a:pt x="260213" y="736348"/>
                  <a:pt x="136482" y="660903"/>
                </a:cubicBezTo>
                <a:cubicBezTo>
                  <a:pt x="12751" y="585458"/>
                  <a:pt x="9733" y="253497"/>
                  <a:pt x="9733" y="253497"/>
                </a:cubicBezTo>
                <a:cubicBezTo>
                  <a:pt x="-11392" y="187105"/>
                  <a:pt x="8224" y="270094"/>
                  <a:pt x="9733" y="262550"/>
                </a:cubicBezTo>
              </a:path>
            </a:pathLst>
          </a:custGeom>
          <a:noFill/>
          <a:ln w="28575" cap="flat" cmpd="sng" algn="ctr">
            <a:solidFill>
              <a:srgbClr val="C00000"/>
            </a:solidFill>
            <a:prstDash val="solid"/>
            <a:round/>
            <a:headEnd type="none" w="med" len="med"/>
            <a:tailEnd type="stealth"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ru-RU"/>
          </a:p>
        </p:txBody>
      </p:sp>
      <p:sp>
        <p:nvSpPr>
          <p:cNvPr id="35" name="Rectangle 34">
            <a:extLst>
              <a:ext uri="{FF2B5EF4-FFF2-40B4-BE49-F238E27FC236}">
                <a16:creationId xmlns:a16="http://schemas.microsoft.com/office/drawing/2014/main" id="{89B9ACC9-0996-4D35-8058-B168FBD2DFCB}"/>
              </a:ext>
            </a:extLst>
          </p:cNvPr>
          <p:cNvSpPr>
            <a:spLocks noChangeArrowheads="1"/>
          </p:cNvSpPr>
          <p:nvPr/>
        </p:nvSpPr>
        <p:spPr bwMode="auto">
          <a:xfrm>
            <a:off x="1703388" y="4976814"/>
            <a:ext cx="2417762"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45085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ru-RU" sz="1600">
                <a:solidFill>
                  <a:srgbClr val="003399"/>
                </a:solidFill>
                <a:latin typeface="Times New Roman" panose="02020603050405020304" pitchFamily="18" charset="0"/>
                <a:cs typeface="Times New Roman" panose="02020603050405020304" pitchFamily="18" charset="0"/>
              </a:rPr>
              <a:t>Для индуктивности:</a:t>
            </a:r>
          </a:p>
        </p:txBody>
      </p:sp>
      <p:graphicFrame>
        <p:nvGraphicFramePr>
          <p:cNvPr id="30" name="Object 45">
            <a:extLst>
              <a:ext uri="{FF2B5EF4-FFF2-40B4-BE49-F238E27FC236}">
                <a16:creationId xmlns:a16="http://schemas.microsoft.com/office/drawing/2014/main" id="{0A88DABD-5177-449E-AC6E-3D2372EFDEAD}"/>
              </a:ext>
            </a:extLst>
          </p:cNvPr>
          <p:cNvGraphicFramePr>
            <a:graphicFrameLocks noChangeAspect="1"/>
          </p:cNvGraphicFramePr>
          <p:nvPr/>
        </p:nvGraphicFramePr>
        <p:xfrm>
          <a:off x="7788276" y="3608388"/>
          <a:ext cx="936625" cy="385762"/>
        </p:xfrm>
        <a:graphic>
          <a:graphicData uri="http://schemas.openxmlformats.org/presentationml/2006/ole">
            <mc:AlternateContent xmlns:mc="http://schemas.openxmlformats.org/markup-compatibility/2006">
              <mc:Choice xmlns:v="urn:schemas-microsoft-com:vml" Requires="v">
                <p:oleObj name="Формула" r:id="rId19" imgW="596900" imgH="241300" progId="Equation.3">
                  <p:embed/>
                </p:oleObj>
              </mc:Choice>
              <mc:Fallback>
                <p:oleObj name="Формула" r:id="rId19" imgW="596900" imgH="241300" progId="Equation.3">
                  <p:embed/>
                  <p:pic>
                    <p:nvPicPr>
                      <p:cNvPr id="30" name="Object 45">
                        <a:extLst>
                          <a:ext uri="{FF2B5EF4-FFF2-40B4-BE49-F238E27FC236}">
                            <a16:creationId xmlns:a16="http://schemas.microsoft.com/office/drawing/2014/main" id="{0A88DABD-5177-449E-AC6E-3D2372EFDEAD}"/>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788276" y="3608388"/>
                        <a:ext cx="936625" cy="385762"/>
                      </a:xfrm>
                      <a:prstGeom prst="rect">
                        <a:avLst/>
                      </a:prstGeom>
                      <a:solidFill>
                        <a:srgbClr val="CCFFFF"/>
                      </a:solidFill>
                      <a:ln w="12700">
                        <a:solidFill>
                          <a:srgbClr val="333333"/>
                        </a:solidFill>
                        <a:miter lim="800000"/>
                        <a:headEnd/>
                        <a:tailEnd/>
                      </a:ln>
                    </p:spPr>
                  </p:pic>
                </p:oleObj>
              </mc:Fallback>
            </mc:AlternateContent>
          </a:graphicData>
        </a:graphic>
      </p:graphicFrame>
      <p:graphicFrame>
        <p:nvGraphicFramePr>
          <p:cNvPr id="31" name="Object 45">
            <a:extLst>
              <a:ext uri="{FF2B5EF4-FFF2-40B4-BE49-F238E27FC236}">
                <a16:creationId xmlns:a16="http://schemas.microsoft.com/office/drawing/2014/main" id="{6B2DC5A5-3288-41E2-B369-F19A8B1D87D0}"/>
              </a:ext>
            </a:extLst>
          </p:cNvPr>
          <p:cNvGraphicFramePr>
            <a:graphicFrameLocks noChangeAspect="1"/>
          </p:cNvGraphicFramePr>
          <p:nvPr/>
        </p:nvGraphicFramePr>
        <p:xfrm>
          <a:off x="9409114" y="3500438"/>
          <a:ext cx="879475" cy="660400"/>
        </p:xfrm>
        <a:graphic>
          <a:graphicData uri="http://schemas.openxmlformats.org/presentationml/2006/ole">
            <mc:AlternateContent xmlns:mc="http://schemas.openxmlformats.org/markup-compatibility/2006">
              <mc:Choice xmlns:v="urn:schemas-microsoft-com:vml" Requires="v">
                <p:oleObj name="Формула" r:id="rId21" imgW="622300" imgH="457200" progId="Equation.3">
                  <p:embed/>
                </p:oleObj>
              </mc:Choice>
              <mc:Fallback>
                <p:oleObj name="Формула" r:id="rId21" imgW="622300" imgH="457200" progId="Equation.3">
                  <p:embed/>
                  <p:pic>
                    <p:nvPicPr>
                      <p:cNvPr id="31" name="Object 45">
                        <a:extLst>
                          <a:ext uri="{FF2B5EF4-FFF2-40B4-BE49-F238E27FC236}">
                            <a16:creationId xmlns:a16="http://schemas.microsoft.com/office/drawing/2014/main" id="{6B2DC5A5-3288-41E2-B369-F19A8B1D87D0}"/>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9409114" y="3500438"/>
                        <a:ext cx="879475" cy="660400"/>
                      </a:xfrm>
                      <a:prstGeom prst="rect">
                        <a:avLst/>
                      </a:prstGeom>
                      <a:solidFill>
                        <a:srgbClr val="CCFFFF"/>
                      </a:solidFill>
                      <a:ln w="12700">
                        <a:solidFill>
                          <a:srgbClr val="333333"/>
                        </a:solidFill>
                        <a:miter lim="800000"/>
                        <a:headEnd/>
                        <a:tailEnd/>
                      </a:ln>
                    </p:spPr>
                  </p:pic>
                </p:oleObj>
              </mc:Fallback>
            </mc:AlternateContent>
          </a:graphicData>
        </a:graphic>
      </p:graphicFrame>
      <p:sp>
        <p:nvSpPr>
          <p:cNvPr id="32" name="Rectangle 34">
            <a:extLst>
              <a:ext uri="{FF2B5EF4-FFF2-40B4-BE49-F238E27FC236}">
                <a16:creationId xmlns:a16="http://schemas.microsoft.com/office/drawing/2014/main" id="{545DEC30-F544-46E9-93E6-F94D697CE9B1}"/>
              </a:ext>
            </a:extLst>
          </p:cNvPr>
          <p:cNvSpPr>
            <a:spLocks noChangeArrowheads="1"/>
          </p:cNvSpPr>
          <p:nvPr/>
        </p:nvSpPr>
        <p:spPr bwMode="auto">
          <a:xfrm>
            <a:off x="5772150" y="3573464"/>
            <a:ext cx="16700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45085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ru-RU" sz="1600">
                <a:solidFill>
                  <a:srgbClr val="003399"/>
                </a:solidFill>
                <a:latin typeface="Times New Roman" panose="02020603050405020304" pitchFamily="18" charset="0"/>
                <a:cs typeface="Times New Roman" panose="02020603050405020304" pitchFamily="18" charset="0"/>
              </a:rPr>
              <a:t>Обозначим:</a:t>
            </a:r>
          </a:p>
        </p:txBody>
      </p:sp>
      <p:sp>
        <p:nvSpPr>
          <p:cNvPr id="33" name="Rectangle 34">
            <a:extLst>
              <a:ext uri="{FF2B5EF4-FFF2-40B4-BE49-F238E27FC236}">
                <a16:creationId xmlns:a16="http://schemas.microsoft.com/office/drawing/2014/main" id="{E1216A79-12C0-4532-9BB1-D0B6EBD1DE84}"/>
              </a:ext>
            </a:extLst>
          </p:cNvPr>
          <p:cNvSpPr>
            <a:spLocks noChangeArrowheads="1"/>
          </p:cNvSpPr>
          <p:nvPr/>
        </p:nvSpPr>
        <p:spPr bwMode="auto">
          <a:xfrm>
            <a:off x="1631951" y="3933825"/>
            <a:ext cx="5038725"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45085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ru-RU" sz="1600">
                <a:solidFill>
                  <a:srgbClr val="003399"/>
                </a:solidFill>
                <a:latin typeface="Times New Roman" panose="02020603050405020304" pitchFamily="18" charset="0"/>
                <a:cs typeface="Times New Roman" panose="02020603050405020304" pitchFamily="18" charset="0"/>
              </a:rPr>
              <a:t>Для отдельных элементов цепи можем написать:</a:t>
            </a:r>
          </a:p>
        </p:txBody>
      </p:sp>
    </p:spTree>
    <p:extLst>
      <p:ext uri="{BB962C8B-B14F-4D97-AF65-F5344CB8AC3E}">
        <p14:creationId xmlns:p14="http://schemas.microsoft.com/office/powerpoint/2010/main" val="25833811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2786"/>
                                        </p:tgtEl>
                                        <p:attrNameLst>
                                          <p:attrName>style.visibility</p:attrName>
                                        </p:attrNameLst>
                                      </p:cBhvr>
                                      <p:to>
                                        <p:strVal val="visible"/>
                                      </p:to>
                                    </p:set>
                                    <p:anim calcmode="lin" valueType="num">
                                      <p:cBhvr additive="base">
                                        <p:cTn id="7" dur="500" fill="hold"/>
                                        <p:tgtEl>
                                          <p:spTgt spid="32786"/>
                                        </p:tgtEl>
                                        <p:attrNameLst>
                                          <p:attrName>ppt_x</p:attrName>
                                        </p:attrNameLst>
                                      </p:cBhvr>
                                      <p:tavLst>
                                        <p:tav tm="0">
                                          <p:val>
                                            <p:strVal val="#ppt_x"/>
                                          </p:val>
                                        </p:tav>
                                        <p:tav tm="100000">
                                          <p:val>
                                            <p:strVal val="#ppt_x"/>
                                          </p:val>
                                        </p:tav>
                                      </p:tavLst>
                                    </p:anim>
                                    <p:anim calcmode="lin" valueType="num">
                                      <p:cBhvr additive="base">
                                        <p:cTn id="8" dur="500" fill="hold"/>
                                        <p:tgtEl>
                                          <p:spTgt spid="3278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2794"/>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8" presetClass="entr" presetSubtype="16" fill="hold" nodeType="clickEffect">
                                  <p:stCondLst>
                                    <p:cond delay="0"/>
                                  </p:stCondLst>
                                  <p:childTnLst>
                                    <p:set>
                                      <p:cBhvr>
                                        <p:cTn id="20" dur="1" fill="hold">
                                          <p:stCondLst>
                                            <p:cond delay="0"/>
                                          </p:stCondLst>
                                        </p:cTn>
                                        <p:tgtEl>
                                          <p:spTgt spid="32795"/>
                                        </p:tgtEl>
                                        <p:attrNameLst>
                                          <p:attrName>style.visibility</p:attrName>
                                        </p:attrNameLst>
                                      </p:cBhvr>
                                      <p:to>
                                        <p:strVal val="visible"/>
                                      </p:to>
                                    </p:set>
                                    <p:animEffect transition="in" filter="diamond(in)">
                                      <p:cBhvr>
                                        <p:cTn id="21" dur="2000"/>
                                        <p:tgtEl>
                                          <p:spTgt spid="32795"/>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4" presetClass="entr" presetSubtype="16" fill="hold" nodeType="clickEffect">
                                  <p:stCondLst>
                                    <p:cond delay="0"/>
                                  </p:stCondLst>
                                  <p:childTnLst>
                                    <p:set>
                                      <p:cBhvr>
                                        <p:cTn id="25" dur="1" fill="hold">
                                          <p:stCondLst>
                                            <p:cond delay="0"/>
                                          </p:stCondLst>
                                        </p:cTn>
                                        <p:tgtEl>
                                          <p:spTgt spid="32797"/>
                                        </p:tgtEl>
                                        <p:attrNameLst>
                                          <p:attrName>style.visibility</p:attrName>
                                        </p:attrNameLst>
                                      </p:cBhvr>
                                      <p:to>
                                        <p:strVal val="visible"/>
                                      </p:to>
                                    </p:set>
                                    <p:animEffect transition="in" filter="box(in)">
                                      <p:cBhvr>
                                        <p:cTn id="26" dur="500"/>
                                        <p:tgtEl>
                                          <p:spTgt spid="32797"/>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4"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wipe(down)">
                                      <p:cBhvr>
                                        <p:cTn id="31" dur="500"/>
                                        <p:tgtEl>
                                          <p:spTgt spid="6"/>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wipe(down)">
                                      <p:cBhvr>
                                        <p:cTn id="34" dur="500"/>
                                        <p:tgtEl>
                                          <p:spTgt spid="27"/>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32799"/>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wipe(down)">
                                      <p:cBhvr>
                                        <p:cTn id="43" dur="500"/>
                                        <p:tgtEl>
                                          <p:spTgt spid="32"/>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4" fill="hold" nodeType="clickEffect">
                                  <p:stCondLst>
                                    <p:cond delay="0"/>
                                  </p:stCondLst>
                                  <p:childTnLst>
                                    <p:set>
                                      <p:cBhvr>
                                        <p:cTn id="47" dur="1" fill="hold">
                                          <p:stCondLst>
                                            <p:cond delay="0"/>
                                          </p:stCondLst>
                                        </p:cTn>
                                        <p:tgtEl>
                                          <p:spTgt spid="30"/>
                                        </p:tgtEl>
                                        <p:attrNameLst>
                                          <p:attrName>style.visibility</p:attrName>
                                        </p:attrNameLst>
                                      </p:cBhvr>
                                      <p:to>
                                        <p:strVal val="visible"/>
                                      </p:to>
                                    </p:set>
                                    <p:animEffect transition="in" filter="wipe(down)">
                                      <p:cBhvr>
                                        <p:cTn id="48" dur="500"/>
                                        <p:tgtEl>
                                          <p:spTgt spid="30"/>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4" fill="hold" nodeType="click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wipe(down)">
                                      <p:cBhvr>
                                        <p:cTn id="53" dur="500"/>
                                        <p:tgtEl>
                                          <p:spTgt spid="31"/>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4" fill="hold" grpId="0" nodeType="click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wipe(down)">
                                      <p:cBhvr>
                                        <p:cTn id="58" dur="500"/>
                                        <p:tgtEl>
                                          <p:spTgt spid="33"/>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4" fill="hold" grpId="0" nodeType="clickEffect">
                                  <p:stCondLst>
                                    <p:cond delay="0"/>
                                  </p:stCondLst>
                                  <p:childTnLst>
                                    <p:set>
                                      <p:cBhvr>
                                        <p:cTn id="62" dur="1" fill="hold">
                                          <p:stCondLst>
                                            <p:cond delay="0"/>
                                          </p:stCondLst>
                                        </p:cTn>
                                        <p:tgtEl>
                                          <p:spTgt spid="32802"/>
                                        </p:tgtEl>
                                        <p:attrNameLst>
                                          <p:attrName>style.visibility</p:attrName>
                                        </p:attrNameLst>
                                      </p:cBhvr>
                                      <p:to>
                                        <p:strVal val="visible"/>
                                      </p:to>
                                    </p:set>
                                    <p:animEffect transition="in" filter="wipe(down)">
                                      <p:cBhvr>
                                        <p:cTn id="63" dur="500"/>
                                        <p:tgtEl>
                                          <p:spTgt spid="32802"/>
                                        </p:tgtEl>
                                      </p:cBhvr>
                                    </p:animEffect>
                                  </p:childTnLst>
                                </p:cTn>
                              </p:par>
                              <p:par>
                                <p:cTn id="64" presetID="22" presetClass="entr" presetSubtype="4" fill="hold" nodeType="withEffect">
                                  <p:stCondLst>
                                    <p:cond delay="0"/>
                                  </p:stCondLst>
                                  <p:childTnLst>
                                    <p:set>
                                      <p:cBhvr>
                                        <p:cTn id="65" dur="1" fill="hold">
                                          <p:stCondLst>
                                            <p:cond delay="0"/>
                                          </p:stCondLst>
                                        </p:cTn>
                                        <p:tgtEl>
                                          <p:spTgt spid="32804"/>
                                        </p:tgtEl>
                                        <p:attrNameLst>
                                          <p:attrName>style.visibility</p:attrName>
                                        </p:attrNameLst>
                                      </p:cBhvr>
                                      <p:to>
                                        <p:strVal val="visible"/>
                                      </p:to>
                                    </p:set>
                                    <p:animEffect transition="in" filter="wipe(down)">
                                      <p:cBhvr>
                                        <p:cTn id="66" dur="500"/>
                                        <p:tgtEl>
                                          <p:spTgt spid="32804"/>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16" presetClass="entr" presetSubtype="21" fill="hold" grpId="0" nodeType="clickEffect">
                                  <p:stCondLst>
                                    <p:cond delay="0"/>
                                  </p:stCondLst>
                                  <p:childTnLst>
                                    <p:set>
                                      <p:cBhvr>
                                        <p:cTn id="70" dur="1" fill="hold">
                                          <p:stCondLst>
                                            <p:cond delay="0"/>
                                          </p:stCondLst>
                                        </p:cTn>
                                        <p:tgtEl>
                                          <p:spTgt spid="35"/>
                                        </p:tgtEl>
                                        <p:attrNameLst>
                                          <p:attrName>style.visibility</p:attrName>
                                        </p:attrNameLst>
                                      </p:cBhvr>
                                      <p:to>
                                        <p:strVal val="visible"/>
                                      </p:to>
                                    </p:set>
                                    <p:animEffect transition="in" filter="barn(inVertical)">
                                      <p:cBhvr>
                                        <p:cTn id="71" dur="500"/>
                                        <p:tgtEl>
                                          <p:spTgt spid="35"/>
                                        </p:tgtEl>
                                      </p:cBhvr>
                                    </p:animEffect>
                                  </p:childTnLst>
                                </p:cTn>
                              </p:par>
                              <p:par>
                                <p:cTn id="72" presetID="16" presetClass="entr" presetSubtype="21" fill="hold" nodeType="withEffect">
                                  <p:stCondLst>
                                    <p:cond delay="0"/>
                                  </p:stCondLst>
                                  <p:childTnLst>
                                    <p:set>
                                      <p:cBhvr>
                                        <p:cTn id="73" dur="1" fill="hold">
                                          <p:stCondLst>
                                            <p:cond delay="0"/>
                                          </p:stCondLst>
                                        </p:cTn>
                                        <p:tgtEl>
                                          <p:spTgt spid="32809"/>
                                        </p:tgtEl>
                                        <p:attrNameLst>
                                          <p:attrName>style.visibility</p:attrName>
                                        </p:attrNameLst>
                                      </p:cBhvr>
                                      <p:to>
                                        <p:strVal val="visible"/>
                                      </p:to>
                                    </p:set>
                                    <p:animEffect transition="in" filter="barn(inVertical)">
                                      <p:cBhvr>
                                        <p:cTn id="74" dur="500"/>
                                        <p:tgtEl>
                                          <p:spTgt spid="32809"/>
                                        </p:tgtEl>
                                      </p:cBhvr>
                                    </p:animEffect>
                                  </p:childTnLst>
                                </p:cTn>
                              </p:par>
                              <p:par>
                                <p:cTn id="75" presetID="16" presetClass="entr" presetSubtype="21" fill="hold" nodeType="withEffect">
                                  <p:stCondLst>
                                    <p:cond delay="0"/>
                                  </p:stCondLst>
                                  <p:childTnLst>
                                    <p:set>
                                      <p:cBhvr>
                                        <p:cTn id="76" dur="1" fill="hold">
                                          <p:stCondLst>
                                            <p:cond delay="0"/>
                                          </p:stCondLst>
                                        </p:cTn>
                                        <p:tgtEl>
                                          <p:spTgt spid="32811"/>
                                        </p:tgtEl>
                                        <p:attrNameLst>
                                          <p:attrName>style.visibility</p:attrName>
                                        </p:attrNameLst>
                                      </p:cBhvr>
                                      <p:to>
                                        <p:strVal val="visible"/>
                                      </p:to>
                                    </p:set>
                                    <p:animEffect transition="in" filter="barn(inVertical)">
                                      <p:cBhvr>
                                        <p:cTn id="77" dur="500"/>
                                        <p:tgtEl>
                                          <p:spTgt spid="32811"/>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4" fill="hold" nodeType="clickEffect">
                                  <p:stCondLst>
                                    <p:cond delay="0"/>
                                  </p:stCondLst>
                                  <p:childTnLst>
                                    <p:set>
                                      <p:cBhvr>
                                        <p:cTn id="81" dur="1" fill="hold">
                                          <p:stCondLst>
                                            <p:cond delay="0"/>
                                          </p:stCondLst>
                                        </p:cTn>
                                        <p:tgtEl>
                                          <p:spTgt spid="32815"/>
                                        </p:tgtEl>
                                        <p:attrNameLst>
                                          <p:attrName>style.visibility</p:attrName>
                                        </p:attrNameLst>
                                      </p:cBhvr>
                                      <p:to>
                                        <p:strVal val="visible"/>
                                      </p:to>
                                    </p:set>
                                    <p:animEffect transition="in" filter="wipe(down)">
                                      <p:cBhvr>
                                        <p:cTn id="82" dur="500"/>
                                        <p:tgtEl>
                                          <p:spTgt spid="32815"/>
                                        </p:tgtEl>
                                      </p:cBhvr>
                                    </p:animEffect>
                                  </p:childTnLst>
                                </p:cTn>
                              </p:par>
                              <p:par>
                                <p:cTn id="83" presetID="22" presetClass="entr" presetSubtype="4" fill="hold" grpId="0" nodeType="withEffect">
                                  <p:stCondLst>
                                    <p:cond delay="0"/>
                                  </p:stCondLst>
                                  <p:childTnLst>
                                    <p:set>
                                      <p:cBhvr>
                                        <p:cTn id="84" dur="1" fill="hold">
                                          <p:stCondLst>
                                            <p:cond delay="0"/>
                                          </p:stCondLst>
                                        </p:cTn>
                                        <p:tgtEl>
                                          <p:spTgt spid="32817"/>
                                        </p:tgtEl>
                                        <p:attrNameLst>
                                          <p:attrName>style.visibility</p:attrName>
                                        </p:attrNameLst>
                                      </p:cBhvr>
                                      <p:to>
                                        <p:strVal val="visible"/>
                                      </p:to>
                                    </p:set>
                                    <p:animEffect transition="in" filter="wipe(down)">
                                      <p:cBhvr>
                                        <p:cTn id="85" dur="500"/>
                                        <p:tgtEl>
                                          <p:spTgt spid="32817"/>
                                        </p:tgtEl>
                                      </p:cBhvr>
                                    </p:animEffect>
                                  </p:childTnLst>
                                </p:cTn>
                              </p:par>
                              <p:par>
                                <p:cTn id="86" presetID="22" presetClass="entr" presetSubtype="4" fill="hold" nodeType="withEffect">
                                  <p:stCondLst>
                                    <p:cond delay="0"/>
                                  </p:stCondLst>
                                  <p:childTnLst>
                                    <p:set>
                                      <p:cBhvr>
                                        <p:cTn id="87" dur="1" fill="hold">
                                          <p:stCondLst>
                                            <p:cond delay="0"/>
                                          </p:stCondLst>
                                        </p:cTn>
                                        <p:tgtEl>
                                          <p:spTgt spid="32818"/>
                                        </p:tgtEl>
                                        <p:attrNameLst>
                                          <p:attrName>style.visibility</p:attrName>
                                        </p:attrNameLst>
                                      </p:cBhvr>
                                      <p:to>
                                        <p:strVal val="visible"/>
                                      </p:to>
                                    </p:set>
                                    <p:animEffect transition="in" filter="wipe(down)">
                                      <p:cBhvr>
                                        <p:cTn id="88" dur="500"/>
                                        <p:tgtEl>
                                          <p:spTgt spid="328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86" grpId="0"/>
      <p:bldP spid="32802" grpId="0"/>
      <p:bldP spid="32817" grpId="0"/>
      <p:bldP spid="27" grpId="0"/>
      <p:bldP spid="28" grpId="0"/>
      <p:bldP spid="35" grpId="0"/>
      <p:bldP spid="32" grpId="0"/>
      <p:bldP spid="3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Номер слайда 4">
            <a:extLst>
              <a:ext uri="{FF2B5EF4-FFF2-40B4-BE49-F238E27FC236}">
                <a16:creationId xmlns:a16="http://schemas.microsoft.com/office/drawing/2014/main" id="{DD15DDC7-5584-4B5D-B732-5A39C8794EEC}"/>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0F982A20-6CEB-4F91-BCB9-736B1CF1CE59}" type="slidenum">
              <a:rPr lang="ru-RU" altLang="ru-RU" sz="1200">
                <a:latin typeface="Arial Black" panose="020B0A04020102020204" pitchFamily="34" charset="0"/>
              </a:rPr>
              <a:pPr>
                <a:spcBef>
                  <a:spcPct val="0"/>
                </a:spcBef>
                <a:buClrTx/>
                <a:buSzTx/>
                <a:buFontTx/>
                <a:buNone/>
              </a:pPr>
              <a:t>34</a:t>
            </a:fld>
            <a:endParaRPr lang="ru-RU" altLang="ru-RU" sz="1200">
              <a:latin typeface="Arial Black" panose="020B0A04020102020204" pitchFamily="34" charset="0"/>
            </a:endParaRPr>
          </a:p>
        </p:txBody>
      </p:sp>
      <p:sp>
        <p:nvSpPr>
          <p:cNvPr id="13315" name="Rectangle 19">
            <a:extLst>
              <a:ext uri="{FF2B5EF4-FFF2-40B4-BE49-F238E27FC236}">
                <a16:creationId xmlns:a16="http://schemas.microsoft.com/office/drawing/2014/main" id="{D503C369-7F32-4FEC-A406-19C3998F1B0F}"/>
              </a:ext>
            </a:extLst>
          </p:cNvPr>
          <p:cNvSpPr>
            <a:spLocks noChangeArrowheads="1"/>
          </p:cNvSpPr>
          <p:nvPr/>
        </p:nvSpPr>
        <p:spPr bwMode="auto">
          <a:xfrm>
            <a:off x="1524001" y="-292387"/>
            <a:ext cx="1847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ru-RU" altLang="ru-RU">
              <a:solidFill>
                <a:srgbClr val="003399"/>
              </a:solidFill>
              <a:latin typeface="Times New Roman" panose="02020603050405020304" pitchFamily="18" charset="0"/>
            </a:endParaRPr>
          </a:p>
        </p:txBody>
      </p:sp>
      <p:pic>
        <p:nvPicPr>
          <p:cNvPr id="13318" name="Picture 26" descr="Рис_2_1">
            <a:extLst>
              <a:ext uri="{FF2B5EF4-FFF2-40B4-BE49-F238E27FC236}">
                <a16:creationId xmlns:a16="http://schemas.microsoft.com/office/drawing/2014/main" id="{AB4C38BF-AE66-4527-931A-3E961AD2D28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81464" y="403225"/>
            <a:ext cx="3635375"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7" name="Rectangle 28">
            <a:extLst>
              <a:ext uri="{FF2B5EF4-FFF2-40B4-BE49-F238E27FC236}">
                <a16:creationId xmlns:a16="http://schemas.microsoft.com/office/drawing/2014/main" id="{5C75E691-723E-4416-8E15-A792D70FFE64}"/>
              </a:ext>
            </a:extLst>
          </p:cNvPr>
          <p:cNvSpPr>
            <a:spLocks noChangeArrowheads="1"/>
          </p:cNvSpPr>
          <p:nvPr/>
        </p:nvSpPr>
        <p:spPr bwMode="auto">
          <a:xfrm>
            <a:off x="1524001" y="3743039"/>
            <a:ext cx="1847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ru-RU" altLang="ru-RU">
              <a:solidFill>
                <a:srgbClr val="003399"/>
              </a:solidFill>
              <a:latin typeface="Times New Roman" panose="02020603050405020304" pitchFamily="18" charset="0"/>
            </a:endParaRPr>
          </a:p>
        </p:txBody>
      </p:sp>
      <p:graphicFrame>
        <p:nvGraphicFramePr>
          <p:cNvPr id="13320" name="Object 27">
            <a:extLst>
              <a:ext uri="{FF2B5EF4-FFF2-40B4-BE49-F238E27FC236}">
                <a16:creationId xmlns:a16="http://schemas.microsoft.com/office/drawing/2014/main" id="{A9EEA3C7-24AB-4B3E-8363-9469E72D4024}"/>
              </a:ext>
            </a:extLst>
          </p:cNvPr>
          <p:cNvGraphicFramePr>
            <a:graphicFrameLocks noChangeAspect="1"/>
          </p:cNvGraphicFramePr>
          <p:nvPr/>
        </p:nvGraphicFramePr>
        <p:xfrm>
          <a:off x="4205288" y="3249614"/>
          <a:ext cx="2838450" cy="407987"/>
        </p:xfrm>
        <a:graphic>
          <a:graphicData uri="http://schemas.openxmlformats.org/presentationml/2006/ole">
            <mc:AlternateContent xmlns:mc="http://schemas.openxmlformats.org/markup-compatibility/2006">
              <mc:Choice xmlns:v="urn:schemas-microsoft-com:vml" Requires="v">
                <p:oleObj name="Формула" r:id="rId3" imgW="1853396" imgH="266584" progId="Equation.3">
                  <p:embed/>
                </p:oleObj>
              </mc:Choice>
              <mc:Fallback>
                <p:oleObj name="Формула" r:id="rId3" imgW="1853396" imgH="266584" progId="Equation.3">
                  <p:embed/>
                  <p:pic>
                    <p:nvPicPr>
                      <p:cNvPr id="13320" name="Object 27">
                        <a:extLst>
                          <a:ext uri="{FF2B5EF4-FFF2-40B4-BE49-F238E27FC236}">
                            <a16:creationId xmlns:a16="http://schemas.microsoft.com/office/drawing/2014/main" id="{A9EEA3C7-24AB-4B3E-8363-9469E72D40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05288" y="3249614"/>
                        <a:ext cx="2838450" cy="407987"/>
                      </a:xfrm>
                      <a:prstGeom prst="rect">
                        <a:avLst/>
                      </a:prstGeom>
                      <a:solidFill>
                        <a:srgbClr val="CCFFFF"/>
                      </a:solidFill>
                      <a:ln w="12700">
                        <a:solidFill>
                          <a:srgbClr val="800000"/>
                        </a:solidFill>
                        <a:miter lim="800000"/>
                        <a:headEnd/>
                        <a:tailEnd/>
                      </a:ln>
                    </p:spPr>
                  </p:pic>
                </p:oleObj>
              </mc:Fallback>
            </mc:AlternateContent>
          </a:graphicData>
        </a:graphic>
      </p:graphicFrame>
      <p:graphicFrame>
        <p:nvGraphicFramePr>
          <p:cNvPr id="13322" name="Object 29">
            <a:extLst>
              <a:ext uri="{FF2B5EF4-FFF2-40B4-BE49-F238E27FC236}">
                <a16:creationId xmlns:a16="http://schemas.microsoft.com/office/drawing/2014/main" id="{56F3B888-B34E-4C67-AD53-2E0A1F7F6158}"/>
              </a:ext>
            </a:extLst>
          </p:cNvPr>
          <p:cNvGraphicFramePr>
            <a:graphicFrameLocks noChangeAspect="1"/>
          </p:cNvGraphicFramePr>
          <p:nvPr/>
        </p:nvGraphicFramePr>
        <p:xfrm>
          <a:off x="8543926" y="2492376"/>
          <a:ext cx="1381125" cy="430213"/>
        </p:xfrm>
        <a:graphic>
          <a:graphicData uri="http://schemas.openxmlformats.org/presentationml/2006/ole">
            <mc:AlternateContent xmlns:mc="http://schemas.openxmlformats.org/markup-compatibility/2006">
              <mc:Choice xmlns:v="urn:schemas-microsoft-com:vml" Requires="v">
                <p:oleObj name="Формула" r:id="rId5" imgW="736600" imgH="228600" progId="Equation.3">
                  <p:embed/>
                </p:oleObj>
              </mc:Choice>
              <mc:Fallback>
                <p:oleObj name="Формула" r:id="rId5" imgW="736600" imgH="228600" progId="Equation.3">
                  <p:embed/>
                  <p:pic>
                    <p:nvPicPr>
                      <p:cNvPr id="13322" name="Object 29">
                        <a:extLst>
                          <a:ext uri="{FF2B5EF4-FFF2-40B4-BE49-F238E27FC236}">
                            <a16:creationId xmlns:a16="http://schemas.microsoft.com/office/drawing/2014/main" id="{56F3B888-B34E-4C67-AD53-2E0A1F7F615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43926" y="2492376"/>
                        <a:ext cx="138112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324" name="Object 31">
            <a:extLst>
              <a:ext uri="{FF2B5EF4-FFF2-40B4-BE49-F238E27FC236}">
                <a16:creationId xmlns:a16="http://schemas.microsoft.com/office/drawing/2014/main" id="{BA432828-2A1E-48B1-9FE0-DAC5D472DC35}"/>
              </a:ext>
            </a:extLst>
          </p:cNvPr>
          <p:cNvGraphicFramePr>
            <a:graphicFrameLocks noChangeAspect="1"/>
          </p:cNvGraphicFramePr>
          <p:nvPr/>
        </p:nvGraphicFramePr>
        <p:xfrm>
          <a:off x="4224339" y="3717925"/>
          <a:ext cx="3635375" cy="395288"/>
        </p:xfrm>
        <a:graphic>
          <a:graphicData uri="http://schemas.openxmlformats.org/presentationml/2006/ole">
            <mc:AlternateContent xmlns:mc="http://schemas.openxmlformats.org/markup-compatibility/2006">
              <mc:Choice xmlns:v="urn:schemas-microsoft-com:vml" Requires="v">
                <p:oleObj name="Формула" r:id="rId7" imgW="2451100" imgH="266700" progId="Equation.3">
                  <p:embed/>
                </p:oleObj>
              </mc:Choice>
              <mc:Fallback>
                <p:oleObj name="Формула" r:id="rId7" imgW="2451100" imgH="266700" progId="Equation.3">
                  <p:embed/>
                  <p:pic>
                    <p:nvPicPr>
                      <p:cNvPr id="13324" name="Object 31">
                        <a:extLst>
                          <a:ext uri="{FF2B5EF4-FFF2-40B4-BE49-F238E27FC236}">
                            <a16:creationId xmlns:a16="http://schemas.microsoft.com/office/drawing/2014/main" id="{BA432828-2A1E-48B1-9FE0-DAC5D472DC3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24339" y="3717925"/>
                        <a:ext cx="3635375" cy="395288"/>
                      </a:xfrm>
                      <a:prstGeom prst="rect">
                        <a:avLst/>
                      </a:prstGeom>
                      <a:solidFill>
                        <a:srgbClr val="FFFF99"/>
                      </a:solidFill>
                      <a:ln w="12700">
                        <a:solidFill>
                          <a:srgbClr val="800000"/>
                        </a:solidFill>
                        <a:miter lim="800000"/>
                        <a:headEnd/>
                        <a:tailEnd/>
                      </a:ln>
                    </p:spPr>
                  </p:pic>
                </p:oleObj>
              </mc:Fallback>
            </mc:AlternateContent>
          </a:graphicData>
        </a:graphic>
      </p:graphicFrame>
      <p:graphicFrame>
        <p:nvGraphicFramePr>
          <p:cNvPr id="13325" name="Object 33">
            <a:extLst>
              <a:ext uri="{FF2B5EF4-FFF2-40B4-BE49-F238E27FC236}">
                <a16:creationId xmlns:a16="http://schemas.microsoft.com/office/drawing/2014/main" id="{AC170645-B2E4-49E8-959F-2FDDD8D55C34}"/>
              </a:ext>
            </a:extLst>
          </p:cNvPr>
          <p:cNvGraphicFramePr>
            <a:graphicFrameLocks noChangeAspect="1"/>
          </p:cNvGraphicFramePr>
          <p:nvPr/>
        </p:nvGraphicFramePr>
        <p:xfrm>
          <a:off x="4243388" y="4157664"/>
          <a:ext cx="1122362" cy="358775"/>
        </p:xfrm>
        <a:graphic>
          <a:graphicData uri="http://schemas.openxmlformats.org/presentationml/2006/ole">
            <mc:AlternateContent xmlns:mc="http://schemas.openxmlformats.org/markup-compatibility/2006">
              <mc:Choice xmlns:v="urn:schemas-microsoft-com:vml" Requires="v">
                <p:oleObj name="Формула" r:id="rId9" imgW="761669" imgH="241195" progId="Equation.3">
                  <p:embed/>
                </p:oleObj>
              </mc:Choice>
              <mc:Fallback>
                <p:oleObj name="Формула" r:id="rId9" imgW="761669" imgH="241195" progId="Equation.3">
                  <p:embed/>
                  <p:pic>
                    <p:nvPicPr>
                      <p:cNvPr id="13325" name="Object 33">
                        <a:extLst>
                          <a:ext uri="{FF2B5EF4-FFF2-40B4-BE49-F238E27FC236}">
                            <a16:creationId xmlns:a16="http://schemas.microsoft.com/office/drawing/2014/main" id="{AC170645-B2E4-49E8-959F-2FDDD8D55C3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43388" y="4157664"/>
                        <a:ext cx="1122362" cy="358775"/>
                      </a:xfrm>
                      <a:prstGeom prst="rect">
                        <a:avLst/>
                      </a:prstGeom>
                      <a:solidFill>
                        <a:srgbClr val="CCFFFF"/>
                      </a:solidFill>
                      <a:ln w="12700">
                        <a:solidFill>
                          <a:srgbClr val="800000"/>
                        </a:solidFill>
                        <a:miter lim="800000"/>
                        <a:headEnd/>
                        <a:tailEnd/>
                      </a:ln>
                    </p:spPr>
                  </p:pic>
                </p:oleObj>
              </mc:Fallback>
            </mc:AlternateContent>
          </a:graphicData>
        </a:graphic>
      </p:graphicFrame>
      <p:graphicFrame>
        <p:nvGraphicFramePr>
          <p:cNvPr id="13327" name="Object 36">
            <a:extLst>
              <a:ext uri="{FF2B5EF4-FFF2-40B4-BE49-F238E27FC236}">
                <a16:creationId xmlns:a16="http://schemas.microsoft.com/office/drawing/2014/main" id="{42E43115-11D1-441B-89C0-3FDC76CD59AB}"/>
              </a:ext>
            </a:extLst>
          </p:cNvPr>
          <p:cNvGraphicFramePr>
            <a:graphicFrameLocks noChangeAspect="1"/>
          </p:cNvGraphicFramePr>
          <p:nvPr/>
        </p:nvGraphicFramePr>
        <p:xfrm>
          <a:off x="4214814" y="4579939"/>
          <a:ext cx="2782887" cy="631825"/>
        </p:xfrm>
        <a:graphic>
          <a:graphicData uri="http://schemas.openxmlformats.org/presentationml/2006/ole">
            <mc:AlternateContent xmlns:mc="http://schemas.openxmlformats.org/markup-compatibility/2006">
              <mc:Choice xmlns:v="urn:schemas-microsoft-com:vml" Requires="v">
                <p:oleObj name="Формула" r:id="rId11" imgW="1943100" imgH="444500" progId="Equation.3">
                  <p:embed/>
                </p:oleObj>
              </mc:Choice>
              <mc:Fallback>
                <p:oleObj name="Формула" r:id="rId11" imgW="1943100" imgH="444500" progId="Equation.3">
                  <p:embed/>
                  <p:pic>
                    <p:nvPicPr>
                      <p:cNvPr id="13327" name="Object 36">
                        <a:extLst>
                          <a:ext uri="{FF2B5EF4-FFF2-40B4-BE49-F238E27FC236}">
                            <a16:creationId xmlns:a16="http://schemas.microsoft.com/office/drawing/2014/main" id="{42E43115-11D1-441B-89C0-3FDC76CD59AB}"/>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214814" y="4579939"/>
                        <a:ext cx="2782887" cy="631825"/>
                      </a:xfrm>
                      <a:prstGeom prst="rect">
                        <a:avLst/>
                      </a:prstGeom>
                      <a:solidFill>
                        <a:srgbClr val="FFFF99"/>
                      </a:solidFill>
                      <a:ln w="12700">
                        <a:solidFill>
                          <a:srgbClr val="800000"/>
                        </a:solidFill>
                        <a:miter lim="800000"/>
                        <a:headEnd/>
                        <a:tailEnd/>
                      </a:ln>
                    </p:spPr>
                  </p:pic>
                </p:oleObj>
              </mc:Fallback>
            </mc:AlternateContent>
          </a:graphicData>
        </a:graphic>
      </p:graphicFrame>
      <p:graphicFrame>
        <p:nvGraphicFramePr>
          <p:cNvPr id="13328" name="Object 39">
            <a:extLst>
              <a:ext uri="{FF2B5EF4-FFF2-40B4-BE49-F238E27FC236}">
                <a16:creationId xmlns:a16="http://schemas.microsoft.com/office/drawing/2014/main" id="{CC79B91E-7912-44FD-BE59-F27BC0A4F9C6}"/>
              </a:ext>
            </a:extLst>
          </p:cNvPr>
          <p:cNvGraphicFramePr>
            <a:graphicFrameLocks noChangeAspect="1"/>
          </p:cNvGraphicFramePr>
          <p:nvPr/>
        </p:nvGraphicFramePr>
        <p:xfrm>
          <a:off x="8364539" y="4672014"/>
          <a:ext cx="998537" cy="593725"/>
        </p:xfrm>
        <a:graphic>
          <a:graphicData uri="http://schemas.openxmlformats.org/presentationml/2006/ole">
            <mc:AlternateContent xmlns:mc="http://schemas.openxmlformats.org/markup-compatibility/2006">
              <mc:Choice xmlns:v="urn:schemas-microsoft-com:vml" Requires="v">
                <p:oleObj name="Формула" r:id="rId13" imgW="660113" imgH="393529" progId="Equation.3">
                  <p:embed/>
                </p:oleObj>
              </mc:Choice>
              <mc:Fallback>
                <p:oleObj name="Формула" r:id="rId13" imgW="660113" imgH="393529" progId="Equation.3">
                  <p:embed/>
                  <p:pic>
                    <p:nvPicPr>
                      <p:cNvPr id="13328" name="Object 39">
                        <a:extLst>
                          <a:ext uri="{FF2B5EF4-FFF2-40B4-BE49-F238E27FC236}">
                            <a16:creationId xmlns:a16="http://schemas.microsoft.com/office/drawing/2014/main" id="{CC79B91E-7912-44FD-BE59-F27BC0A4F9C6}"/>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364539" y="4672014"/>
                        <a:ext cx="998537"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329" name="Object 38">
            <a:extLst>
              <a:ext uri="{FF2B5EF4-FFF2-40B4-BE49-F238E27FC236}">
                <a16:creationId xmlns:a16="http://schemas.microsoft.com/office/drawing/2014/main" id="{634BEBCB-05BF-46F0-8EAF-99C7E7A0C856}"/>
              </a:ext>
            </a:extLst>
          </p:cNvPr>
          <p:cNvGraphicFramePr>
            <a:graphicFrameLocks noChangeAspect="1"/>
          </p:cNvGraphicFramePr>
          <p:nvPr/>
        </p:nvGraphicFramePr>
        <p:xfrm>
          <a:off x="9424989" y="4637089"/>
          <a:ext cx="955675" cy="611187"/>
        </p:xfrm>
        <a:graphic>
          <a:graphicData uri="http://schemas.openxmlformats.org/presentationml/2006/ole">
            <mc:AlternateContent xmlns:mc="http://schemas.openxmlformats.org/markup-compatibility/2006">
              <mc:Choice xmlns:v="urn:schemas-microsoft-com:vml" Requires="v">
                <p:oleObj name="Формула" r:id="rId15" imgW="609336" imgH="393529" progId="Equation.3">
                  <p:embed/>
                </p:oleObj>
              </mc:Choice>
              <mc:Fallback>
                <p:oleObj name="Формула" r:id="rId15" imgW="609336" imgH="393529" progId="Equation.3">
                  <p:embed/>
                  <p:pic>
                    <p:nvPicPr>
                      <p:cNvPr id="13329" name="Object 38">
                        <a:extLst>
                          <a:ext uri="{FF2B5EF4-FFF2-40B4-BE49-F238E27FC236}">
                            <a16:creationId xmlns:a16="http://schemas.microsoft.com/office/drawing/2014/main" id="{634BEBCB-05BF-46F0-8EAF-99C7E7A0C856}"/>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424989" y="4637089"/>
                        <a:ext cx="955675" cy="61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Rectangle 40">
            <a:extLst>
              <a:ext uri="{FF2B5EF4-FFF2-40B4-BE49-F238E27FC236}">
                <a16:creationId xmlns:a16="http://schemas.microsoft.com/office/drawing/2014/main" id="{D29C6785-6B3E-46FF-8BF3-CAB880A975B1}"/>
              </a:ext>
            </a:extLst>
          </p:cNvPr>
          <p:cNvSpPr>
            <a:spLocks noChangeArrowheads="1"/>
          </p:cNvSpPr>
          <p:nvPr/>
        </p:nvSpPr>
        <p:spPr bwMode="auto">
          <a:xfrm>
            <a:off x="1524001" y="3263614"/>
            <a:ext cx="1847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ru-RU" altLang="ru-RU">
              <a:solidFill>
                <a:srgbClr val="003399"/>
              </a:solidFill>
              <a:latin typeface="Times New Roman" panose="02020603050405020304" pitchFamily="18" charset="0"/>
            </a:endParaRPr>
          </a:p>
        </p:txBody>
      </p:sp>
      <p:sp>
        <p:nvSpPr>
          <p:cNvPr id="13326" name="Rectangle 41">
            <a:extLst>
              <a:ext uri="{FF2B5EF4-FFF2-40B4-BE49-F238E27FC236}">
                <a16:creationId xmlns:a16="http://schemas.microsoft.com/office/drawing/2014/main" id="{751EA16C-D8CE-4588-9DE1-1C1213170ACF}"/>
              </a:ext>
            </a:extLst>
          </p:cNvPr>
          <p:cNvSpPr>
            <a:spLocks noChangeArrowheads="1"/>
          </p:cNvSpPr>
          <p:nvPr/>
        </p:nvSpPr>
        <p:spPr bwMode="auto">
          <a:xfrm>
            <a:off x="1524001" y="4279900"/>
            <a:ext cx="227013"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ru-RU" sz="1200">
                <a:cs typeface="Times New Roman" panose="02020603050405020304" pitchFamily="18" charset="0"/>
              </a:rPr>
              <a:t> </a:t>
            </a:r>
            <a:endParaRPr lang="ru-RU" altLang="ru-RU" sz="1800"/>
          </a:p>
        </p:txBody>
      </p:sp>
      <p:sp>
        <p:nvSpPr>
          <p:cNvPr id="3" name="Rectangle 42">
            <a:extLst>
              <a:ext uri="{FF2B5EF4-FFF2-40B4-BE49-F238E27FC236}">
                <a16:creationId xmlns:a16="http://schemas.microsoft.com/office/drawing/2014/main" id="{B01034B6-B5DF-4407-B5D7-C94D245F79C6}"/>
              </a:ext>
            </a:extLst>
          </p:cNvPr>
          <p:cNvSpPr>
            <a:spLocks noChangeArrowheads="1"/>
          </p:cNvSpPr>
          <p:nvPr/>
        </p:nvSpPr>
        <p:spPr bwMode="auto">
          <a:xfrm>
            <a:off x="1524000" y="4605338"/>
            <a:ext cx="204788" cy="18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ru-RU" sz="600"/>
              <a:t> </a:t>
            </a:r>
            <a:endParaRPr lang="ru-RU" altLang="ru-RU" sz="1800"/>
          </a:p>
        </p:txBody>
      </p:sp>
      <p:graphicFrame>
        <p:nvGraphicFramePr>
          <p:cNvPr id="4" name="Object 43">
            <a:extLst>
              <a:ext uri="{FF2B5EF4-FFF2-40B4-BE49-F238E27FC236}">
                <a16:creationId xmlns:a16="http://schemas.microsoft.com/office/drawing/2014/main" id="{5F0171C9-093D-41E4-BF96-AC8E734C1AE9}"/>
              </a:ext>
            </a:extLst>
          </p:cNvPr>
          <p:cNvGraphicFramePr>
            <a:graphicFrameLocks noChangeAspect="1"/>
          </p:cNvGraphicFramePr>
          <p:nvPr/>
        </p:nvGraphicFramePr>
        <p:xfrm>
          <a:off x="4116389" y="5121275"/>
          <a:ext cx="1336675" cy="685800"/>
        </p:xfrm>
        <a:graphic>
          <a:graphicData uri="http://schemas.openxmlformats.org/presentationml/2006/ole">
            <mc:AlternateContent xmlns:mc="http://schemas.openxmlformats.org/markup-compatibility/2006">
              <mc:Choice xmlns:v="urn:schemas-microsoft-com:vml" Requires="v">
                <p:oleObj name="Формула" r:id="rId17" imgW="761669" imgH="393529" progId="Equation.3">
                  <p:embed/>
                </p:oleObj>
              </mc:Choice>
              <mc:Fallback>
                <p:oleObj name="Формула" r:id="rId17" imgW="761669" imgH="393529" progId="Equation.3">
                  <p:embed/>
                  <p:pic>
                    <p:nvPicPr>
                      <p:cNvPr id="4" name="Object 43">
                        <a:extLst>
                          <a:ext uri="{FF2B5EF4-FFF2-40B4-BE49-F238E27FC236}">
                            <a16:creationId xmlns:a16="http://schemas.microsoft.com/office/drawing/2014/main" id="{5F0171C9-093D-41E4-BF96-AC8E734C1AE9}"/>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116389" y="5121275"/>
                        <a:ext cx="133667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335" name="Text Box 45">
            <a:extLst>
              <a:ext uri="{FF2B5EF4-FFF2-40B4-BE49-F238E27FC236}">
                <a16:creationId xmlns:a16="http://schemas.microsoft.com/office/drawing/2014/main" id="{5498BFE6-2139-4438-8792-3DEA79B527B7}"/>
              </a:ext>
            </a:extLst>
          </p:cNvPr>
          <p:cNvSpPr txBox="1">
            <a:spLocks noChangeArrowheads="1"/>
          </p:cNvSpPr>
          <p:nvPr/>
        </p:nvSpPr>
        <p:spPr bwMode="auto">
          <a:xfrm>
            <a:off x="1703388" y="3284538"/>
            <a:ext cx="234551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ru-RU" sz="1600">
                <a:solidFill>
                  <a:srgbClr val="003399"/>
                </a:solidFill>
                <a:latin typeface="Times New Roman" panose="02020603050405020304" pitchFamily="18" charset="0"/>
              </a:rPr>
              <a:t>Реактивное напряжение:</a:t>
            </a:r>
          </a:p>
        </p:txBody>
      </p:sp>
      <p:sp>
        <p:nvSpPr>
          <p:cNvPr id="13336" name="Text Box 46">
            <a:extLst>
              <a:ext uri="{FF2B5EF4-FFF2-40B4-BE49-F238E27FC236}">
                <a16:creationId xmlns:a16="http://schemas.microsoft.com/office/drawing/2014/main" id="{0ACD03BD-E861-4D66-A794-5CDF0E1A5720}"/>
              </a:ext>
            </a:extLst>
          </p:cNvPr>
          <p:cNvSpPr txBox="1">
            <a:spLocks noChangeArrowheads="1"/>
          </p:cNvSpPr>
          <p:nvPr/>
        </p:nvSpPr>
        <p:spPr bwMode="auto">
          <a:xfrm>
            <a:off x="2063751" y="3716338"/>
            <a:ext cx="20056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ru-RU" sz="1600">
                <a:solidFill>
                  <a:srgbClr val="003399"/>
                </a:solidFill>
                <a:latin typeface="Times New Roman" panose="02020603050405020304" pitchFamily="18" charset="0"/>
              </a:rPr>
              <a:t>Полное напряжение:</a:t>
            </a:r>
          </a:p>
        </p:txBody>
      </p:sp>
      <p:sp>
        <p:nvSpPr>
          <p:cNvPr id="13337" name="Text Box 47">
            <a:extLst>
              <a:ext uri="{FF2B5EF4-FFF2-40B4-BE49-F238E27FC236}">
                <a16:creationId xmlns:a16="http://schemas.microsoft.com/office/drawing/2014/main" id="{CBDB3660-5FDB-444C-B410-60B9F745D182}"/>
              </a:ext>
            </a:extLst>
          </p:cNvPr>
          <p:cNvSpPr txBox="1">
            <a:spLocks noChangeArrowheads="1"/>
          </p:cNvSpPr>
          <p:nvPr/>
        </p:nvSpPr>
        <p:spPr bwMode="auto">
          <a:xfrm>
            <a:off x="2208213" y="4221163"/>
            <a:ext cx="177003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ru-RU" sz="1600">
                <a:solidFill>
                  <a:srgbClr val="003399"/>
                </a:solidFill>
                <a:latin typeface="Times New Roman" panose="02020603050405020304" pitchFamily="18" charset="0"/>
              </a:rPr>
              <a:t>Введем величину:</a:t>
            </a:r>
          </a:p>
        </p:txBody>
      </p:sp>
      <p:sp>
        <p:nvSpPr>
          <p:cNvPr id="13338" name="Text Box 48">
            <a:extLst>
              <a:ext uri="{FF2B5EF4-FFF2-40B4-BE49-F238E27FC236}">
                <a16:creationId xmlns:a16="http://schemas.microsoft.com/office/drawing/2014/main" id="{30C743E1-A406-4957-BD83-A802A2A23C9B}"/>
              </a:ext>
            </a:extLst>
          </p:cNvPr>
          <p:cNvSpPr txBox="1">
            <a:spLocks noChangeArrowheads="1"/>
          </p:cNvSpPr>
          <p:nvPr/>
        </p:nvSpPr>
        <p:spPr bwMode="auto">
          <a:xfrm>
            <a:off x="1666875" y="4724400"/>
            <a:ext cx="223651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ru-RU" sz="1600">
                <a:solidFill>
                  <a:srgbClr val="003399"/>
                </a:solidFill>
                <a:latin typeface="Times New Roman" panose="02020603050405020304" pitchFamily="18" charset="0"/>
              </a:rPr>
              <a:t>Тогда можем написать:</a:t>
            </a:r>
          </a:p>
        </p:txBody>
      </p:sp>
      <p:sp>
        <p:nvSpPr>
          <p:cNvPr id="13339" name="Text Box 49">
            <a:extLst>
              <a:ext uri="{FF2B5EF4-FFF2-40B4-BE49-F238E27FC236}">
                <a16:creationId xmlns:a16="http://schemas.microsoft.com/office/drawing/2014/main" id="{58A7BDF9-4E92-45D2-A92A-E81C562587AE}"/>
              </a:ext>
            </a:extLst>
          </p:cNvPr>
          <p:cNvSpPr txBox="1">
            <a:spLocks noChangeArrowheads="1"/>
          </p:cNvSpPr>
          <p:nvPr/>
        </p:nvSpPr>
        <p:spPr bwMode="auto">
          <a:xfrm>
            <a:off x="7859713" y="4779963"/>
            <a:ext cx="52290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ru-RU" sz="1600">
                <a:solidFill>
                  <a:srgbClr val="003399"/>
                </a:solidFill>
                <a:latin typeface="Times New Roman" panose="02020603050405020304" pitchFamily="18" charset="0"/>
              </a:rPr>
              <a:t>где:</a:t>
            </a:r>
          </a:p>
        </p:txBody>
      </p:sp>
      <p:sp>
        <p:nvSpPr>
          <p:cNvPr id="13334" name="Text Box 50">
            <a:extLst>
              <a:ext uri="{FF2B5EF4-FFF2-40B4-BE49-F238E27FC236}">
                <a16:creationId xmlns:a16="http://schemas.microsoft.com/office/drawing/2014/main" id="{6D31577A-E3DE-4ADB-9ACD-B66902F0DBDE}"/>
              </a:ext>
            </a:extLst>
          </p:cNvPr>
          <p:cNvSpPr txBox="1">
            <a:spLocks noChangeArrowheads="1"/>
          </p:cNvSpPr>
          <p:nvPr/>
        </p:nvSpPr>
        <p:spPr bwMode="auto">
          <a:xfrm>
            <a:off x="2100264" y="5300663"/>
            <a:ext cx="173316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ru-RU" sz="1600">
                <a:solidFill>
                  <a:srgbClr val="003399"/>
                </a:solidFill>
                <a:latin typeface="Times New Roman" panose="02020603050405020304" pitchFamily="18" charset="0"/>
              </a:rPr>
              <a:t>Отсюда получим:</a:t>
            </a:r>
          </a:p>
        </p:txBody>
      </p:sp>
      <p:graphicFrame>
        <p:nvGraphicFramePr>
          <p:cNvPr id="13341" name="Object 36">
            <a:extLst>
              <a:ext uri="{FF2B5EF4-FFF2-40B4-BE49-F238E27FC236}">
                <a16:creationId xmlns:a16="http://schemas.microsoft.com/office/drawing/2014/main" id="{74945C3A-DF71-4F7D-947C-7FA441B8BFC4}"/>
              </a:ext>
            </a:extLst>
          </p:cNvPr>
          <p:cNvGraphicFramePr>
            <a:graphicFrameLocks noChangeAspect="1"/>
          </p:cNvGraphicFramePr>
          <p:nvPr/>
        </p:nvGraphicFramePr>
        <p:xfrm>
          <a:off x="2955925" y="6119813"/>
          <a:ext cx="5729288" cy="342900"/>
        </p:xfrm>
        <a:graphic>
          <a:graphicData uri="http://schemas.openxmlformats.org/presentationml/2006/ole">
            <mc:AlternateContent xmlns:mc="http://schemas.openxmlformats.org/markup-compatibility/2006">
              <mc:Choice xmlns:v="urn:schemas-microsoft-com:vml" Requires="v">
                <p:oleObj name="Формула" r:id="rId19" imgW="4000500" imgH="241300" progId="Equation.3">
                  <p:embed/>
                </p:oleObj>
              </mc:Choice>
              <mc:Fallback>
                <p:oleObj name="Формула" r:id="rId19" imgW="4000500" imgH="241300" progId="Equation.3">
                  <p:embed/>
                  <p:pic>
                    <p:nvPicPr>
                      <p:cNvPr id="13341" name="Object 36">
                        <a:extLst>
                          <a:ext uri="{FF2B5EF4-FFF2-40B4-BE49-F238E27FC236}">
                            <a16:creationId xmlns:a16="http://schemas.microsoft.com/office/drawing/2014/main" id="{74945C3A-DF71-4F7D-947C-7FA441B8BFC4}"/>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955925" y="6119813"/>
                        <a:ext cx="5729288" cy="342900"/>
                      </a:xfrm>
                      <a:prstGeom prst="rect">
                        <a:avLst/>
                      </a:prstGeom>
                      <a:solidFill>
                        <a:srgbClr val="FFFF99"/>
                      </a:solidFill>
                      <a:ln w="12700">
                        <a:solidFill>
                          <a:srgbClr val="800000"/>
                        </a:solidFill>
                        <a:miter lim="800000"/>
                        <a:headEnd/>
                        <a:tailEnd/>
                      </a:ln>
                    </p:spPr>
                  </p:pic>
                </p:oleObj>
              </mc:Fallback>
            </mc:AlternateContent>
          </a:graphicData>
        </a:graphic>
      </p:graphicFrame>
      <p:sp>
        <p:nvSpPr>
          <p:cNvPr id="13342" name="Text Box 48">
            <a:extLst>
              <a:ext uri="{FF2B5EF4-FFF2-40B4-BE49-F238E27FC236}">
                <a16:creationId xmlns:a16="http://schemas.microsoft.com/office/drawing/2014/main" id="{2C68C5AA-5E37-4DDB-BF9D-6B095293D160}"/>
              </a:ext>
            </a:extLst>
          </p:cNvPr>
          <p:cNvSpPr txBox="1">
            <a:spLocks noChangeArrowheads="1"/>
          </p:cNvSpPr>
          <p:nvPr/>
        </p:nvSpPr>
        <p:spPr bwMode="auto">
          <a:xfrm>
            <a:off x="2135188" y="5516563"/>
            <a:ext cx="655320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ru-RU" sz="1600">
                <a:solidFill>
                  <a:srgbClr val="003399"/>
                </a:solidFill>
                <a:latin typeface="Times New Roman" panose="02020603050405020304" pitchFamily="18" charset="0"/>
              </a:rPr>
              <a:t>Мгновенное значение</a:t>
            </a:r>
            <a:r>
              <a:rPr lang="en-US" altLang="ru-RU" sz="1600">
                <a:solidFill>
                  <a:srgbClr val="003399"/>
                </a:solidFill>
                <a:latin typeface="Times New Roman" panose="02020603050405020304" pitchFamily="18" charset="0"/>
              </a:rPr>
              <a:t> </a:t>
            </a:r>
            <a:r>
              <a:rPr lang="ru-RU" altLang="ru-RU" sz="1600">
                <a:solidFill>
                  <a:srgbClr val="003399"/>
                </a:solidFill>
                <a:latin typeface="Times New Roman" panose="02020603050405020304" pitchFamily="18" charset="0"/>
              </a:rPr>
              <a:t> напряжения</a:t>
            </a:r>
            <a:r>
              <a:rPr lang="en-US" altLang="ru-RU" sz="1600">
                <a:solidFill>
                  <a:srgbClr val="003399"/>
                </a:solidFill>
                <a:latin typeface="Times New Roman" panose="02020603050405020304" pitchFamily="18" charset="0"/>
              </a:rPr>
              <a:t> </a:t>
            </a:r>
            <a:r>
              <a:rPr lang="ru-RU" altLang="ru-RU" sz="1600">
                <a:solidFill>
                  <a:srgbClr val="003399"/>
                </a:solidFill>
                <a:latin typeface="Times New Roman" panose="02020603050405020304" pitchFamily="18" charset="0"/>
              </a:rPr>
              <a:t>на входе двухполюсника </a:t>
            </a:r>
            <a:r>
              <a:rPr lang="en-US" altLang="ru-RU" sz="2400" i="1">
                <a:solidFill>
                  <a:srgbClr val="C00000"/>
                </a:solidFill>
                <a:latin typeface="Times New Roman" panose="02020603050405020304" pitchFamily="18" charset="0"/>
              </a:rPr>
              <a:t>u</a:t>
            </a:r>
            <a:r>
              <a:rPr lang="en-US" altLang="ru-RU" sz="2400">
                <a:solidFill>
                  <a:srgbClr val="C00000"/>
                </a:solidFill>
                <a:latin typeface="Times New Roman" panose="02020603050405020304" pitchFamily="18" charset="0"/>
              </a:rPr>
              <a:t>(</a:t>
            </a:r>
            <a:r>
              <a:rPr lang="en-US" altLang="ru-RU" sz="2400" i="1">
                <a:solidFill>
                  <a:srgbClr val="C00000"/>
                </a:solidFill>
                <a:latin typeface="Times New Roman" panose="02020603050405020304" pitchFamily="18" charset="0"/>
              </a:rPr>
              <a:t>t</a:t>
            </a:r>
            <a:r>
              <a:rPr lang="en-US" altLang="ru-RU" sz="2400">
                <a:solidFill>
                  <a:srgbClr val="C00000"/>
                </a:solidFill>
                <a:latin typeface="Times New Roman" panose="02020603050405020304" pitchFamily="18" charset="0"/>
              </a:rPr>
              <a:t>)</a:t>
            </a:r>
            <a:r>
              <a:rPr lang="ru-RU" altLang="ru-RU" sz="1600">
                <a:solidFill>
                  <a:srgbClr val="003399"/>
                </a:solidFill>
                <a:latin typeface="Times New Roman" panose="02020603050405020304" pitchFamily="18" charset="0"/>
              </a:rPr>
              <a:t>:</a:t>
            </a:r>
          </a:p>
        </p:txBody>
      </p:sp>
      <p:sp>
        <p:nvSpPr>
          <p:cNvPr id="13343" name="Text Box 48">
            <a:extLst>
              <a:ext uri="{FF2B5EF4-FFF2-40B4-BE49-F238E27FC236}">
                <a16:creationId xmlns:a16="http://schemas.microsoft.com/office/drawing/2014/main" id="{77575E45-DC5D-4394-B433-47BA257B98D9}"/>
              </a:ext>
            </a:extLst>
          </p:cNvPr>
          <p:cNvSpPr txBox="1">
            <a:spLocks noChangeArrowheads="1"/>
          </p:cNvSpPr>
          <p:nvPr/>
        </p:nvSpPr>
        <p:spPr bwMode="auto">
          <a:xfrm>
            <a:off x="2257426" y="6327775"/>
            <a:ext cx="635462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ru-RU" sz="2800" i="1">
                <a:solidFill>
                  <a:srgbClr val="FF0000"/>
                </a:solidFill>
                <a:latin typeface="Times New Roman" panose="02020603050405020304" pitchFamily="18" charset="0"/>
                <a:sym typeface="Symbol" panose="05050102010706020507" pitchFamily="18" charset="2"/>
              </a:rPr>
              <a:t></a:t>
            </a:r>
            <a:r>
              <a:rPr lang="ru-RU" altLang="ru-RU" sz="1600">
                <a:solidFill>
                  <a:srgbClr val="003399"/>
                </a:solidFill>
                <a:latin typeface="Times New Roman" panose="02020603050405020304" pitchFamily="18" charset="0"/>
                <a:sym typeface="Symbol" panose="05050102010706020507" pitchFamily="18" charset="2"/>
              </a:rPr>
              <a:t> - фазовый сдвиг между входным напряжением</a:t>
            </a:r>
            <a:r>
              <a:rPr lang="en-US" altLang="ru-RU" sz="1600" i="1">
                <a:solidFill>
                  <a:srgbClr val="FF0000"/>
                </a:solidFill>
                <a:latin typeface="Times New Roman" panose="02020603050405020304" pitchFamily="18" charset="0"/>
              </a:rPr>
              <a:t> </a:t>
            </a:r>
            <a:r>
              <a:rPr lang="en-US" altLang="ru-RU" sz="2800" i="1">
                <a:solidFill>
                  <a:srgbClr val="FF0000"/>
                </a:solidFill>
                <a:latin typeface="Times New Roman" panose="02020603050405020304" pitchFamily="18" charset="0"/>
              </a:rPr>
              <a:t>u</a:t>
            </a:r>
            <a:r>
              <a:rPr lang="en-US" altLang="ru-RU" sz="2800">
                <a:solidFill>
                  <a:srgbClr val="FF0000"/>
                </a:solidFill>
                <a:latin typeface="Times New Roman" panose="02020603050405020304" pitchFamily="18" charset="0"/>
              </a:rPr>
              <a:t>(</a:t>
            </a:r>
            <a:r>
              <a:rPr lang="en-US" altLang="ru-RU" sz="2800" i="1">
                <a:solidFill>
                  <a:srgbClr val="FF0000"/>
                </a:solidFill>
                <a:latin typeface="Times New Roman" panose="02020603050405020304" pitchFamily="18" charset="0"/>
              </a:rPr>
              <a:t>t</a:t>
            </a:r>
            <a:r>
              <a:rPr lang="en-US" altLang="ru-RU" sz="2800">
                <a:solidFill>
                  <a:srgbClr val="FF0000"/>
                </a:solidFill>
                <a:latin typeface="Times New Roman" panose="02020603050405020304" pitchFamily="18" charset="0"/>
              </a:rPr>
              <a:t>)</a:t>
            </a:r>
            <a:r>
              <a:rPr lang="ru-RU" altLang="ru-RU" sz="1600">
                <a:solidFill>
                  <a:srgbClr val="003399"/>
                </a:solidFill>
                <a:latin typeface="Times New Roman" panose="02020603050405020304" pitchFamily="18" charset="0"/>
                <a:sym typeface="Symbol" panose="05050102010706020507" pitchFamily="18" charset="2"/>
              </a:rPr>
              <a:t> и током </a:t>
            </a:r>
            <a:r>
              <a:rPr lang="en-US" altLang="ru-RU" sz="2800" i="1">
                <a:solidFill>
                  <a:srgbClr val="FF0000"/>
                </a:solidFill>
                <a:latin typeface="Times New Roman" panose="02020603050405020304" pitchFamily="18" charset="0"/>
              </a:rPr>
              <a:t>i</a:t>
            </a:r>
            <a:r>
              <a:rPr lang="en-US" altLang="ru-RU" sz="2800">
                <a:solidFill>
                  <a:srgbClr val="FF0000"/>
                </a:solidFill>
                <a:latin typeface="Times New Roman" panose="02020603050405020304" pitchFamily="18" charset="0"/>
              </a:rPr>
              <a:t>(</a:t>
            </a:r>
            <a:r>
              <a:rPr lang="en-US" altLang="ru-RU" sz="2800" i="1">
                <a:solidFill>
                  <a:srgbClr val="FF0000"/>
                </a:solidFill>
                <a:latin typeface="Times New Roman" panose="02020603050405020304" pitchFamily="18" charset="0"/>
              </a:rPr>
              <a:t>t</a:t>
            </a:r>
            <a:r>
              <a:rPr lang="en-US" altLang="ru-RU" sz="2800">
                <a:solidFill>
                  <a:srgbClr val="FF0000"/>
                </a:solidFill>
                <a:latin typeface="Times New Roman" panose="02020603050405020304" pitchFamily="18" charset="0"/>
              </a:rPr>
              <a:t>)</a:t>
            </a:r>
            <a:endParaRPr lang="ru-RU" altLang="ru-RU" sz="2800">
              <a:solidFill>
                <a:srgbClr val="003399"/>
              </a:solidFill>
              <a:latin typeface="Times New Roman" panose="02020603050405020304" pitchFamily="18" charset="0"/>
            </a:endParaRPr>
          </a:p>
        </p:txBody>
      </p:sp>
      <p:graphicFrame>
        <p:nvGraphicFramePr>
          <p:cNvPr id="32" name="Object 31">
            <a:extLst>
              <a:ext uri="{FF2B5EF4-FFF2-40B4-BE49-F238E27FC236}">
                <a16:creationId xmlns:a16="http://schemas.microsoft.com/office/drawing/2014/main" id="{4499528F-8422-401A-AFB1-849452020C39}"/>
              </a:ext>
            </a:extLst>
          </p:cNvPr>
          <p:cNvGraphicFramePr>
            <a:graphicFrameLocks noGrp="1" noChangeAspect="1"/>
          </p:cNvGraphicFramePr>
          <p:nvPr>
            <p:ph/>
          </p:nvPr>
        </p:nvGraphicFramePr>
        <p:xfrm>
          <a:off x="1919289" y="2024064"/>
          <a:ext cx="8135937" cy="574675"/>
        </p:xfrm>
        <a:graphic>
          <a:graphicData uri="http://schemas.openxmlformats.org/presentationml/2006/ole">
            <mc:AlternateContent xmlns:mc="http://schemas.openxmlformats.org/markup-compatibility/2006">
              <mc:Choice xmlns:v="urn:schemas-microsoft-com:vml" Requires="v">
                <p:oleObj name="Формула" r:id="rId21" imgW="6477000" imgH="457200" progId="Equation.3">
                  <p:embed/>
                </p:oleObj>
              </mc:Choice>
              <mc:Fallback>
                <p:oleObj name="Формула" r:id="rId21" imgW="6477000" imgH="457200" progId="Equation.3">
                  <p:embed/>
                  <p:pic>
                    <p:nvPicPr>
                      <p:cNvPr id="32" name="Object 31">
                        <a:extLst>
                          <a:ext uri="{FF2B5EF4-FFF2-40B4-BE49-F238E27FC236}">
                            <a16:creationId xmlns:a16="http://schemas.microsoft.com/office/drawing/2014/main" id="{4499528F-8422-401A-AFB1-849452020C39}"/>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919289" y="2024064"/>
                        <a:ext cx="8135937" cy="574675"/>
                      </a:xfrm>
                      <a:prstGeom prst="rect">
                        <a:avLst/>
                      </a:prstGeom>
                      <a:solidFill>
                        <a:srgbClr val="CCFFCC"/>
                      </a:solidFill>
                      <a:ln w="12700">
                        <a:solidFill>
                          <a:srgbClr val="800000"/>
                        </a:solidFill>
                        <a:miter lim="800000"/>
                        <a:headEnd/>
                        <a:tailEnd/>
                      </a:ln>
                    </p:spPr>
                  </p:pic>
                </p:oleObj>
              </mc:Fallback>
            </mc:AlternateContent>
          </a:graphicData>
        </a:graphic>
      </p:graphicFrame>
      <p:graphicFrame>
        <p:nvGraphicFramePr>
          <p:cNvPr id="33" name="Object 27">
            <a:extLst>
              <a:ext uri="{FF2B5EF4-FFF2-40B4-BE49-F238E27FC236}">
                <a16:creationId xmlns:a16="http://schemas.microsoft.com/office/drawing/2014/main" id="{3DE2873C-7174-4126-8567-DC484A59E015}"/>
              </a:ext>
            </a:extLst>
          </p:cNvPr>
          <p:cNvGraphicFramePr>
            <a:graphicFrameLocks noChangeAspect="1"/>
          </p:cNvGraphicFramePr>
          <p:nvPr/>
        </p:nvGraphicFramePr>
        <p:xfrm>
          <a:off x="4208463" y="2787650"/>
          <a:ext cx="2159000" cy="368300"/>
        </p:xfrm>
        <a:graphic>
          <a:graphicData uri="http://schemas.openxmlformats.org/presentationml/2006/ole">
            <mc:AlternateContent xmlns:mc="http://schemas.openxmlformats.org/markup-compatibility/2006">
              <mc:Choice xmlns:v="urn:schemas-microsoft-com:vml" Requires="v">
                <p:oleObj name="Формула" r:id="rId23" imgW="1409088" imgH="241195" progId="Equation.3">
                  <p:embed/>
                </p:oleObj>
              </mc:Choice>
              <mc:Fallback>
                <p:oleObj name="Формула" r:id="rId23" imgW="1409088" imgH="241195" progId="Equation.3">
                  <p:embed/>
                  <p:pic>
                    <p:nvPicPr>
                      <p:cNvPr id="33" name="Object 27">
                        <a:extLst>
                          <a:ext uri="{FF2B5EF4-FFF2-40B4-BE49-F238E27FC236}">
                            <a16:creationId xmlns:a16="http://schemas.microsoft.com/office/drawing/2014/main" id="{3DE2873C-7174-4126-8567-DC484A59E015}"/>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208463" y="2787650"/>
                        <a:ext cx="2159000" cy="368300"/>
                      </a:xfrm>
                      <a:prstGeom prst="rect">
                        <a:avLst/>
                      </a:prstGeom>
                      <a:solidFill>
                        <a:srgbClr val="CCFFFF"/>
                      </a:solidFill>
                      <a:ln w="12700">
                        <a:solidFill>
                          <a:srgbClr val="800000"/>
                        </a:solidFill>
                        <a:miter lim="800000"/>
                        <a:headEnd/>
                        <a:tailEnd/>
                      </a:ln>
                    </p:spPr>
                  </p:pic>
                </p:oleObj>
              </mc:Fallback>
            </mc:AlternateContent>
          </a:graphicData>
        </a:graphic>
      </p:graphicFrame>
      <p:sp>
        <p:nvSpPr>
          <p:cNvPr id="34" name="Text Box 45">
            <a:extLst>
              <a:ext uri="{FF2B5EF4-FFF2-40B4-BE49-F238E27FC236}">
                <a16:creationId xmlns:a16="http://schemas.microsoft.com/office/drawing/2014/main" id="{2328A160-D2AD-469B-BC01-221FC0E49F5F}"/>
              </a:ext>
            </a:extLst>
          </p:cNvPr>
          <p:cNvSpPr txBox="1">
            <a:spLocks noChangeArrowheads="1"/>
          </p:cNvSpPr>
          <p:nvPr/>
        </p:nvSpPr>
        <p:spPr bwMode="auto">
          <a:xfrm>
            <a:off x="1811338" y="2805114"/>
            <a:ext cx="219075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ru-RU" sz="1600">
                <a:solidFill>
                  <a:srgbClr val="003399"/>
                </a:solidFill>
                <a:latin typeface="Times New Roman" panose="02020603050405020304" pitchFamily="18" charset="0"/>
              </a:rPr>
              <a:t>Активное напряжение:</a:t>
            </a:r>
          </a:p>
        </p:txBody>
      </p:sp>
      <p:sp>
        <p:nvSpPr>
          <p:cNvPr id="35" name="Text Box 47">
            <a:extLst>
              <a:ext uri="{FF2B5EF4-FFF2-40B4-BE49-F238E27FC236}">
                <a16:creationId xmlns:a16="http://schemas.microsoft.com/office/drawing/2014/main" id="{D98979F3-B68A-4AC7-8E3A-4250CA15CE4E}"/>
              </a:ext>
            </a:extLst>
          </p:cNvPr>
          <p:cNvSpPr txBox="1">
            <a:spLocks noChangeArrowheads="1"/>
          </p:cNvSpPr>
          <p:nvPr/>
        </p:nvSpPr>
        <p:spPr bwMode="auto">
          <a:xfrm>
            <a:off x="5391151" y="4149725"/>
            <a:ext cx="4233863"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ru-RU" sz="1600">
                <a:solidFill>
                  <a:srgbClr val="003399"/>
                </a:solidFill>
                <a:latin typeface="Times New Roman" panose="02020603050405020304" pitchFamily="18" charset="0"/>
              </a:rPr>
              <a:t>Полное напряжение умножим и поделим на </a:t>
            </a:r>
            <a:r>
              <a:rPr lang="en-US" altLang="ru-RU" sz="2000" i="1">
                <a:solidFill>
                  <a:srgbClr val="C00000"/>
                </a:solidFill>
                <a:latin typeface="Times New Roman" panose="02020603050405020304" pitchFamily="18" charset="0"/>
              </a:rPr>
              <a:t>z</a:t>
            </a:r>
            <a:r>
              <a:rPr lang="ru-RU" altLang="ru-RU" sz="1600">
                <a:solidFill>
                  <a:srgbClr val="003399"/>
                </a:solidFill>
                <a:latin typeface="Times New Roman" panose="02020603050405020304" pitchFamily="18" charset="0"/>
              </a:rPr>
              <a:t>:</a:t>
            </a:r>
          </a:p>
        </p:txBody>
      </p:sp>
      <p:sp>
        <p:nvSpPr>
          <p:cNvPr id="36" name="Text Box 45">
            <a:extLst>
              <a:ext uri="{FF2B5EF4-FFF2-40B4-BE49-F238E27FC236}">
                <a16:creationId xmlns:a16="http://schemas.microsoft.com/office/drawing/2014/main" id="{7CF81A06-86EA-4E57-8E85-64572DD25687}"/>
              </a:ext>
            </a:extLst>
          </p:cNvPr>
          <p:cNvSpPr txBox="1">
            <a:spLocks noChangeArrowheads="1"/>
          </p:cNvSpPr>
          <p:nvPr/>
        </p:nvSpPr>
        <p:spPr bwMode="auto">
          <a:xfrm>
            <a:off x="1739900" y="2528889"/>
            <a:ext cx="2605088"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ru-RU" sz="1600">
                <a:solidFill>
                  <a:srgbClr val="003399"/>
                </a:solidFill>
                <a:latin typeface="Times New Roman" panose="02020603050405020304" pitchFamily="18" charset="0"/>
              </a:rPr>
              <a:t>Для данной схемы введем:</a:t>
            </a:r>
          </a:p>
        </p:txBody>
      </p:sp>
    </p:spTree>
    <p:extLst>
      <p:ext uri="{BB962C8B-B14F-4D97-AF65-F5344CB8AC3E}">
        <p14:creationId xmlns:p14="http://schemas.microsoft.com/office/powerpoint/2010/main" val="33750336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318"/>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3322"/>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33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320"/>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33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3324"/>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33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332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5"/>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333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332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3339"/>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3328"/>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3329"/>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3342"/>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3341"/>
                                        </p:tgtEl>
                                        <p:attrNameLst>
                                          <p:attrName>style.visibility</p:attrName>
                                        </p:attrNameLst>
                                      </p:cBhvr>
                                      <p:to>
                                        <p:strVal val="visible"/>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33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35" grpId="0"/>
      <p:bldP spid="13336" grpId="0"/>
      <p:bldP spid="13337" grpId="0"/>
      <p:bldP spid="13338" grpId="0"/>
      <p:bldP spid="13339" grpId="0"/>
      <p:bldP spid="13342" grpId="0"/>
      <p:bldP spid="13343" grpId="0"/>
      <p:bldP spid="34" grpId="0"/>
      <p:bldP spid="35" grpId="0"/>
      <p:bldP spid="3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Номер слайда 6">
            <a:extLst>
              <a:ext uri="{FF2B5EF4-FFF2-40B4-BE49-F238E27FC236}">
                <a16:creationId xmlns:a16="http://schemas.microsoft.com/office/drawing/2014/main" id="{2656BD5D-DD7B-40E3-853A-E91DA67401C5}"/>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fld id="{36C1AE5A-1943-488D-984E-DB5DE7995063}" type="slidenum">
              <a:rPr lang="ru-RU" altLang="ru-RU" sz="1200">
                <a:latin typeface="Arial Black" panose="020B0A04020102020204" pitchFamily="34" charset="0"/>
              </a:rPr>
              <a:pPr>
                <a:spcBef>
                  <a:spcPct val="0"/>
                </a:spcBef>
                <a:buClrTx/>
                <a:buSzTx/>
                <a:buFontTx/>
                <a:buNone/>
              </a:pPr>
              <a:t>35</a:t>
            </a:fld>
            <a:endParaRPr lang="ru-RU" altLang="ru-RU" sz="1200">
              <a:latin typeface="Arial Black" panose="020B0A04020102020204" pitchFamily="34" charset="0"/>
            </a:endParaRPr>
          </a:p>
        </p:txBody>
      </p:sp>
      <p:sp>
        <p:nvSpPr>
          <p:cNvPr id="14339" name="Rectangle 16">
            <a:extLst>
              <a:ext uri="{FF2B5EF4-FFF2-40B4-BE49-F238E27FC236}">
                <a16:creationId xmlns:a16="http://schemas.microsoft.com/office/drawing/2014/main" id="{2F3BE02B-D608-410F-BFFA-55014C6D3239}"/>
              </a:ext>
            </a:extLst>
          </p:cNvPr>
          <p:cNvSpPr>
            <a:spLocks noChangeArrowheads="1"/>
          </p:cNvSpPr>
          <p:nvPr/>
        </p:nvSpPr>
        <p:spPr bwMode="auto">
          <a:xfrm>
            <a:off x="1524001" y="2922302"/>
            <a:ext cx="1847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ru-RU" altLang="ru-RU">
              <a:solidFill>
                <a:srgbClr val="003399"/>
              </a:solidFill>
              <a:latin typeface="Times New Roman" panose="02020603050405020304" pitchFamily="18" charset="0"/>
            </a:endParaRPr>
          </a:p>
        </p:txBody>
      </p:sp>
      <p:sp>
        <p:nvSpPr>
          <p:cNvPr id="14340" name="Rectangle 20">
            <a:extLst>
              <a:ext uri="{FF2B5EF4-FFF2-40B4-BE49-F238E27FC236}">
                <a16:creationId xmlns:a16="http://schemas.microsoft.com/office/drawing/2014/main" id="{A000B4E9-40C7-48D0-A523-FE8BF05F69FE}"/>
              </a:ext>
            </a:extLst>
          </p:cNvPr>
          <p:cNvSpPr>
            <a:spLocks noChangeArrowheads="1"/>
          </p:cNvSpPr>
          <p:nvPr/>
        </p:nvSpPr>
        <p:spPr bwMode="auto">
          <a:xfrm>
            <a:off x="1524001" y="2920714"/>
            <a:ext cx="1847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ru-RU" altLang="ru-RU">
              <a:solidFill>
                <a:srgbClr val="003399"/>
              </a:solidFill>
              <a:latin typeface="Times New Roman" panose="02020603050405020304" pitchFamily="18" charset="0"/>
            </a:endParaRPr>
          </a:p>
        </p:txBody>
      </p:sp>
      <p:sp>
        <p:nvSpPr>
          <p:cNvPr id="33823" name="Rectangle 31">
            <a:extLst>
              <a:ext uri="{FF2B5EF4-FFF2-40B4-BE49-F238E27FC236}">
                <a16:creationId xmlns:a16="http://schemas.microsoft.com/office/drawing/2014/main" id="{A98E6E78-4DE1-4BAC-AB13-454DF561B91A}"/>
              </a:ext>
            </a:extLst>
          </p:cNvPr>
          <p:cNvSpPr>
            <a:spLocks noChangeArrowheads="1"/>
          </p:cNvSpPr>
          <p:nvPr/>
        </p:nvSpPr>
        <p:spPr bwMode="auto">
          <a:xfrm>
            <a:off x="536145" y="682625"/>
            <a:ext cx="869634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algn="just" eaLnBrk="1" hangingPunct="1">
              <a:spcBef>
                <a:spcPct val="0"/>
              </a:spcBef>
              <a:buClrTx/>
              <a:buSzTx/>
              <a:buFontTx/>
              <a:buNone/>
            </a:pPr>
            <a:r>
              <a:rPr lang="ru-RU" altLang="ru-RU" sz="1600" dirty="0">
                <a:solidFill>
                  <a:srgbClr val="003399"/>
                </a:solidFill>
                <a:latin typeface="Times New Roman" panose="02020603050405020304" pitchFamily="18" charset="0"/>
                <a:cs typeface="Times New Roman" panose="02020603050405020304" pitchFamily="18" charset="0"/>
              </a:rPr>
              <a:t>введённые выше величины</a:t>
            </a:r>
            <a:r>
              <a:rPr lang="en-US" altLang="ru-RU" sz="1600" dirty="0">
                <a:solidFill>
                  <a:srgbClr val="003399"/>
                </a:solidFill>
                <a:latin typeface="Times New Roman" panose="02020603050405020304" pitchFamily="18" charset="0"/>
                <a:cs typeface="Times New Roman" panose="02020603050405020304" pitchFamily="18" charset="0"/>
              </a:rPr>
              <a:t> </a:t>
            </a:r>
            <a:r>
              <a:rPr lang="en-US" altLang="ru-RU" sz="1800" i="1" dirty="0">
                <a:solidFill>
                  <a:srgbClr val="C00000"/>
                </a:solidFill>
                <a:latin typeface="Times New Roman" panose="02020603050405020304" pitchFamily="18" charset="0"/>
                <a:cs typeface="Times New Roman" panose="02020603050405020304" pitchFamily="18" charset="0"/>
              </a:rPr>
              <a:t>x</a:t>
            </a:r>
            <a:r>
              <a:rPr lang="en-US" altLang="ru-RU" sz="1800" i="1" baseline="-25000" dirty="0">
                <a:solidFill>
                  <a:srgbClr val="C00000"/>
                </a:solidFill>
                <a:latin typeface="Times New Roman" panose="02020603050405020304" pitchFamily="18" charset="0"/>
                <a:cs typeface="Times New Roman" panose="02020603050405020304" pitchFamily="18" charset="0"/>
              </a:rPr>
              <a:t>L</a:t>
            </a:r>
            <a:r>
              <a:rPr lang="en-US" altLang="ru-RU" sz="1800" dirty="0">
                <a:solidFill>
                  <a:srgbClr val="003399"/>
                </a:solidFill>
                <a:latin typeface="Times New Roman" panose="02020603050405020304" pitchFamily="18" charset="0"/>
                <a:cs typeface="Times New Roman" panose="02020603050405020304" pitchFamily="18" charset="0"/>
              </a:rPr>
              <a:t>, </a:t>
            </a:r>
            <a:r>
              <a:rPr lang="en-US" altLang="ru-RU" sz="1800" i="1" dirty="0">
                <a:solidFill>
                  <a:srgbClr val="C00000"/>
                </a:solidFill>
                <a:latin typeface="Times New Roman" panose="02020603050405020304" pitchFamily="18" charset="0"/>
                <a:cs typeface="Times New Roman" panose="02020603050405020304" pitchFamily="18" charset="0"/>
              </a:rPr>
              <a:t>x</a:t>
            </a:r>
            <a:r>
              <a:rPr lang="en-US" altLang="ru-RU" sz="1800" i="1" baseline="-25000" dirty="0">
                <a:solidFill>
                  <a:srgbClr val="C00000"/>
                </a:solidFill>
                <a:latin typeface="Times New Roman" panose="02020603050405020304" pitchFamily="18" charset="0"/>
                <a:cs typeface="Times New Roman" panose="02020603050405020304" pitchFamily="18" charset="0"/>
              </a:rPr>
              <a:t>C</a:t>
            </a:r>
            <a:r>
              <a:rPr lang="en-US" altLang="ru-RU" sz="1800" dirty="0">
                <a:solidFill>
                  <a:srgbClr val="003399"/>
                </a:solidFill>
                <a:latin typeface="Times New Roman" panose="02020603050405020304" pitchFamily="18" charset="0"/>
                <a:cs typeface="Times New Roman" panose="02020603050405020304" pitchFamily="18" charset="0"/>
              </a:rPr>
              <a:t>, </a:t>
            </a:r>
            <a:r>
              <a:rPr lang="en-US" altLang="ru-RU" sz="1800" i="1" dirty="0">
                <a:solidFill>
                  <a:srgbClr val="C00000"/>
                </a:solidFill>
                <a:latin typeface="Times New Roman" panose="02020603050405020304" pitchFamily="18" charset="0"/>
                <a:cs typeface="Times New Roman" panose="02020603050405020304" pitchFamily="18" charset="0"/>
              </a:rPr>
              <a:t>x, z</a:t>
            </a:r>
            <a:r>
              <a:rPr lang="ru-RU" altLang="ru-RU" sz="1800" i="1" dirty="0">
                <a:solidFill>
                  <a:srgbClr val="C00000"/>
                </a:solidFill>
                <a:latin typeface="Times New Roman" panose="02020603050405020304" pitchFamily="18" charset="0"/>
                <a:cs typeface="Times New Roman" panose="02020603050405020304" pitchFamily="18" charset="0"/>
              </a:rPr>
              <a:t> </a:t>
            </a:r>
            <a:r>
              <a:rPr lang="ru-RU" altLang="ru-RU" sz="1600" dirty="0">
                <a:solidFill>
                  <a:srgbClr val="003399"/>
                </a:solidFill>
                <a:latin typeface="Times New Roman" panose="02020603050405020304" pitchFamily="18" charset="0"/>
              </a:rPr>
              <a:t>имеют размерность сопротивления (Ом).</a:t>
            </a:r>
            <a:endParaRPr lang="ru-RU" altLang="ru-RU" sz="1600" dirty="0">
              <a:solidFill>
                <a:srgbClr val="003399"/>
              </a:solidFill>
              <a:latin typeface="Times New Roman" panose="02020603050405020304" pitchFamily="18" charset="0"/>
              <a:cs typeface="Times New Roman" panose="02020603050405020304" pitchFamily="18" charset="0"/>
            </a:endParaRPr>
          </a:p>
        </p:txBody>
      </p:sp>
      <p:sp>
        <p:nvSpPr>
          <p:cNvPr id="33824" name="Rectangle 32">
            <a:extLst>
              <a:ext uri="{FF2B5EF4-FFF2-40B4-BE49-F238E27FC236}">
                <a16:creationId xmlns:a16="http://schemas.microsoft.com/office/drawing/2014/main" id="{5B4A1919-F64C-486F-9995-11690B09C1E7}"/>
              </a:ext>
            </a:extLst>
          </p:cNvPr>
          <p:cNvSpPr>
            <a:spLocks noChangeArrowheads="1"/>
          </p:cNvSpPr>
          <p:nvPr/>
        </p:nvSpPr>
        <p:spPr bwMode="auto">
          <a:xfrm>
            <a:off x="433387" y="1034765"/>
            <a:ext cx="7593013" cy="2831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45085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ru-RU" sz="1600" dirty="0">
                <a:solidFill>
                  <a:srgbClr val="003399"/>
                </a:solidFill>
                <a:latin typeface="Times New Roman" panose="02020603050405020304" pitchFamily="18" charset="0"/>
                <a:cs typeface="Times New Roman" panose="02020603050405020304" pitchFamily="18" charset="0"/>
              </a:rPr>
              <a:t>Поэтому в соответствии с их физическим смыслом – они называются:</a:t>
            </a:r>
          </a:p>
          <a:p>
            <a:pPr>
              <a:spcBef>
                <a:spcPct val="0"/>
              </a:spcBef>
              <a:buClrTx/>
              <a:buSzTx/>
              <a:buNone/>
            </a:pPr>
            <a:r>
              <a:rPr lang="en-US" altLang="ru-RU" sz="1600" i="1" dirty="0">
                <a:solidFill>
                  <a:srgbClr val="C00000"/>
                </a:solidFill>
                <a:latin typeface="Times New Roman" panose="02020603050405020304" pitchFamily="18" charset="0"/>
                <a:cs typeface="Times New Roman" panose="02020603050405020304" pitchFamily="18" charset="0"/>
              </a:rPr>
              <a:t>r</a:t>
            </a:r>
            <a:r>
              <a:rPr lang="en-US" altLang="ru-RU" sz="1600" i="1" baseline="-25000" dirty="0">
                <a:solidFill>
                  <a:srgbClr val="C00000"/>
                </a:solidFill>
                <a:latin typeface="Times New Roman" panose="02020603050405020304" pitchFamily="18" charset="0"/>
                <a:cs typeface="Times New Roman" panose="02020603050405020304" pitchFamily="18" charset="0"/>
              </a:rPr>
              <a:t> </a:t>
            </a:r>
            <a:r>
              <a:rPr lang="ru-RU" altLang="ru-RU" sz="1600" i="1" dirty="0">
                <a:solidFill>
                  <a:srgbClr val="FF3300"/>
                </a:solidFill>
                <a:latin typeface="Times New Roman" panose="02020603050405020304" pitchFamily="18" charset="0"/>
              </a:rPr>
              <a:t>- </a:t>
            </a:r>
            <a:r>
              <a:rPr lang="ru-RU" altLang="ru-RU" sz="1600" i="1" dirty="0">
                <a:solidFill>
                  <a:srgbClr val="663300"/>
                </a:solidFill>
                <a:latin typeface="Times New Roman" panose="02020603050405020304" pitchFamily="18" charset="0"/>
              </a:rPr>
              <a:t>активное</a:t>
            </a:r>
            <a:r>
              <a:rPr lang="ru-RU" altLang="ru-RU" sz="1600" dirty="0">
                <a:solidFill>
                  <a:srgbClr val="003399"/>
                </a:solidFill>
                <a:latin typeface="Times New Roman" panose="02020603050405020304" pitchFamily="18" charset="0"/>
              </a:rPr>
              <a:t> сопротивление; </a:t>
            </a:r>
          </a:p>
          <a:p>
            <a:pPr>
              <a:spcBef>
                <a:spcPct val="0"/>
              </a:spcBef>
              <a:buClrTx/>
              <a:buSzTx/>
              <a:buNone/>
            </a:pPr>
            <a:r>
              <a:rPr lang="en-US" altLang="ru-RU" sz="1600" i="1" dirty="0">
                <a:solidFill>
                  <a:srgbClr val="C00000"/>
                </a:solidFill>
                <a:latin typeface="Times New Roman" panose="02020603050405020304" pitchFamily="18" charset="0"/>
                <a:cs typeface="Times New Roman" panose="02020603050405020304" pitchFamily="18" charset="0"/>
              </a:rPr>
              <a:t>x</a:t>
            </a:r>
            <a:r>
              <a:rPr lang="en-US" altLang="ru-RU" sz="1600" i="1" baseline="-25000" dirty="0">
                <a:solidFill>
                  <a:srgbClr val="C00000"/>
                </a:solidFill>
                <a:latin typeface="Times New Roman" panose="02020603050405020304" pitchFamily="18" charset="0"/>
                <a:cs typeface="Times New Roman" panose="02020603050405020304" pitchFamily="18" charset="0"/>
              </a:rPr>
              <a:t> </a:t>
            </a:r>
            <a:r>
              <a:rPr lang="ru-RU" altLang="ru-RU" sz="1600" i="1" dirty="0">
                <a:solidFill>
                  <a:srgbClr val="FF3300"/>
                </a:solidFill>
                <a:latin typeface="Times New Roman" panose="02020603050405020304" pitchFamily="18" charset="0"/>
              </a:rPr>
              <a:t>- </a:t>
            </a:r>
            <a:r>
              <a:rPr lang="ru-RU" altLang="ru-RU" sz="1600" i="1" dirty="0">
                <a:solidFill>
                  <a:srgbClr val="663300"/>
                </a:solidFill>
                <a:latin typeface="Times New Roman" panose="02020603050405020304" pitchFamily="18" charset="0"/>
              </a:rPr>
              <a:t>реактивное</a:t>
            </a:r>
            <a:r>
              <a:rPr lang="ru-RU" altLang="ru-RU" sz="1600" dirty="0">
                <a:solidFill>
                  <a:srgbClr val="003399"/>
                </a:solidFill>
                <a:latin typeface="Times New Roman" panose="02020603050405020304" pitchFamily="18" charset="0"/>
              </a:rPr>
              <a:t> сопротивление;</a:t>
            </a:r>
          </a:p>
          <a:p>
            <a:pPr>
              <a:spcBef>
                <a:spcPct val="0"/>
              </a:spcBef>
              <a:buClrTx/>
              <a:buSzTx/>
              <a:buNone/>
            </a:pPr>
            <a:r>
              <a:rPr lang="ru-RU" altLang="ru-RU" sz="1600" dirty="0">
                <a:solidFill>
                  <a:srgbClr val="003399"/>
                </a:solidFill>
                <a:latin typeface="Times New Roman" panose="02020603050405020304" pitchFamily="18" charset="0"/>
              </a:rPr>
              <a:t> </a:t>
            </a:r>
          </a:p>
          <a:p>
            <a:pPr>
              <a:spcBef>
                <a:spcPct val="0"/>
              </a:spcBef>
              <a:buClrTx/>
              <a:buSzTx/>
              <a:buNone/>
            </a:pPr>
            <a:r>
              <a:rPr lang="en-US" altLang="ru-RU" sz="1600" i="1" dirty="0">
                <a:solidFill>
                  <a:srgbClr val="C00000"/>
                </a:solidFill>
                <a:latin typeface="Times New Roman" panose="02020603050405020304" pitchFamily="18" charset="0"/>
                <a:cs typeface="Times New Roman" panose="02020603050405020304" pitchFamily="18" charset="0"/>
              </a:rPr>
              <a:t>x</a:t>
            </a:r>
            <a:r>
              <a:rPr lang="en-US" altLang="ru-RU" sz="1600" i="1" baseline="-25000" dirty="0">
                <a:solidFill>
                  <a:srgbClr val="C00000"/>
                </a:solidFill>
                <a:latin typeface="Times New Roman" panose="02020603050405020304" pitchFamily="18" charset="0"/>
                <a:cs typeface="Times New Roman" panose="02020603050405020304" pitchFamily="18" charset="0"/>
              </a:rPr>
              <a:t>L </a:t>
            </a:r>
            <a:r>
              <a:rPr lang="ru-RU" altLang="ru-RU" sz="1600" i="1" dirty="0">
                <a:latin typeface="Times New Roman" panose="02020603050405020304" pitchFamily="18" charset="0"/>
              </a:rPr>
              <a:t>-</a:t>
            </a:r>
            <a:r>
              <a:rPr lang="en-US" altLang="ru-RU" sz="1600" i="1" dirty="0">
                <a:latin typeface="Times New Roman" panose="02020603050405020304" pitchFamily="18" charset="0"/>
              </a:rPr>
              <a:t> </a:t>
            </a:r>
            <a:r>
              <a:rPr lang="ru-RU" altLang="ru-RU" sz="1600" i="1" dirty="0">
                <a:solidFill>
                  <a:srgbClr val="663300"/>
                </a:solidFill>
                <a:latin typeface="Times New Roman" panose="02020603050405020304" pitchFamily="18" charset="0"/>
              </a:rPr>
              <a:t>индуктивное</a:t>
            </a:r>
            <a:r>
              <a:rPr lang="ru-RU" altLang="ru-RU" sz="1600" dirty="0">
                <a:latin typeface="Times New Roman" panose="02020603050405020304" pitchFamily="18" charset="0"/>
              </a:rPr>
              <a:t> </a:t>
            </a:r>
            <a:r>
              <a:rPr lang="ru-RU" altLang="ru-RU" sz="1600" dirty="0">
                <a:solidFill>
                  <a:srgbClr val="663300"/>
                </a:solidFill>
                <a:latin typeface="Times New Roman" panose="02020603050405020304" pitchFamily="18" charset="0"/>
              </a:rPr>
              <a:t>сопротивление;</a:t>
            </a:r>
          </a:p>
          <a:p>
            <a:pPr>
              <a:spcBef>
                <a:spcPct val="0"/>
              </a:spcBef>
              <a:buClrTx/>
              <a:buSzTx/>
              <a:buNone/>
            </a:pPr>
            <a:endParaRPr lang="ru-RU" altLang="ru-RU" sz="1600" dirty="0">
              <a:solidFill>
                <a:srgbClr val="663300"/>
              </a:solidFill>
              <a:latin typeface="Times New Roman" panose="02020603050405020304" pitchFamily="18" charset="0"/>
            </a:endParaRPr>
          </a:p>
          <a:p>
            <a:pPr>
              <a:spcBef>
                <a:spcPct val="0"/>
              </a:spcBef>
              <a:buClrTx/>
              <a:buSzTx/>
              <a:buNone/>
            </a:pPr>
            <a:r>
              <a:rPr lang="en-US" altLang="ru-RU" sz="1600" i="1" dirty="0">
                <a:solidFill>
                  <a:srgbClr val="C00000"/>
                </a:solidFill>
                <a:latin typeface="Times New Roman" panose="02020603050405020304" pitchFamily="18" charset="0"/>
                <a:cs typeface="Times New Roman" panose="02020603050405020304" pitchFamily="18" charset="0"/>
              </a:rPr>
              <a:t>x</a:t>
            </a:r>
            <a:r>
              <a:rPr lang="en-US" altLang="ru-RU" sz="1600" i="1" baseline="-25000" dirty="0">
                <a:solidFill>
                  <a:srgbClr val="C00000"/>
                </a:solidFill>
                <a:latin typeface="Times New Roman" panose="02020603050405020304" pitchFamily="18" charset="0"/>
                <a:cs typeface="Times New Roman" panose="02020603050405020304" pitchFamily="18" charset="0"/>
              </a:rPr>
              <a:t>C </a:t>
            </a:r>
            <a:r>
              <a:rPr lang="ru-RU" altLang="ru-RU" sz="1600" i="1" dirty="0">
                <a:latin typeface="Times New Roman" panose="02020603050405020304" pitchFamily="18" charset="0"/>
              </a:rPr>
              <a:t>-</a:t>
            </a:r>
            <a:r>
              <a:rPr lang="en-US" altLang="ru-RU" sz="1600" i="1" dirty="0">
                <a:latin typeface="Times New Roman" panose="02020603050405020304" pitchFamily="18" charset="0"/>
              </a:rPr>
              <a:t> </a:t>
            </a:r>
            <a:r>
              <a:rPr lang="ru-RU" altLang="ru-RU" sz="1600" i="1" dirty="0">
                <a:solidFill>
                  <a:srgbClr val="663300"/>
                </a:solidFill>
                <a:latin typeface="Times New Roman" panose="02020603050405020304" pitchFamily="18" charset="0"/>
              </a:rPr>
              <a:t>ёмкостное</a:t>
            </a:r>
            <a:r>
              <a:rPr lang="ru-RU" altLang="ru-RU" sz="1600" dirty="0">
                <a:latin typeface="Times New Roman" panose="02020603050405020304" pitchFamily="18" charset="0"/>
              </a:rPr>
              <a:t> </a:t>
            </a:r>
            <a:r>
              <a:rPr lang="ru-RU" altLang="ru-RU" sz="1600" dirty="0">
                <a:solidFill>
                  <a:srgbClr val="663300"/>
                </a:solidFill>
                <a:latin typeface="Times New Roman" panose="02020603050405020304" pitchFamily="18" charset="0"/>
              </a:rPr>
              <a:t>сопротивление;</a:t>
            </a:r>
          </a:p>
          <a:p>
            <a:pPr>
              <a:spcBef>
                <a:spcPct val="0"/>
              </a:spcBef>
              <a:buClrTx/>
              <a:buSzTx/>
              <a:buNone/>
            </a:pPr>
            <a:endParaRPr lang="ru-RU" altLang="ru-RU" sz="1600" dirty="0">
              <a:solidFill>
                <a:srgbClr val="663300"/>
              </a:solidFill>
              <a:latin typeface="Times New Roman" panose="02020603050405020304" pitchFamily="18" charset="0"/>
            </a:endParaRPr>
          </a:p>
          <a:p>
            <a:pPr>
              <a:spcBef>
                <a:spcPct val="0"/>
              </a:spcBef>
              <a:buClrTx/>
              <a:buSzTx/>
              <a:buNone/>
            </a:pPr>
            <a:r>
              <a:rPr lang="en-US" altLang="ru-RU" sz="1800" i="1" dirty="0">
                <a:solidFill>
                  <a:srgbClr val="C00000"/>
                </a:solidFill>
                <a:latin typeface="Times New Roman" panose="02020603050405020304" pitchFamily="18" charset="0"/>
                <a:cs typeface="Times New Roman" panose="02020603050405020304" pitchFamily="18" charset="0"/>
              </a:rPr>
              <a:t>z</a:t>
            </a:r>
            <a:r>
              <a:rPr lang="ru-RU" altLang="ru-RU" sz="1800" i="1" dirty="0">
                <a:solidFill>
                  <a:srgbClr val="C00000"/>
                </a:solidFill>
                <a:latin typeface="Times New Roman" panose="02020603050405020304" pitchFamily="18" charset="0"/>
                <a:cs typeface="Times New Roman" panose="02020603050405020304" pitchFamily="18" charset="0"/>
              </a:rPr>
              <a:t>- </a:t>
            </a:r>
            <a:r>
              <a:rPr lang="ru-RU" altLang="ru-RU" sz="1600" i="1" dirty="0">
                <a:solidFill>
                  <a:srgbClr val="663300"/>
                </a:solidFill>
                <a:latin typeface="Times New Roman" panose="02020603050405020304" pitchFamily="18" charset="0"/>
                <a:cs typeface="Times New Roman" panose="02020603050405020304" pitchFamily="18" charset="0"/>
              </a:rPr>
              <a:t>полное</a:t>
            </a:r>
            <a:r>
              <a:rPr lang="ru-RU" altLang="ru-RU" sz="1600" dirty="0">
                <a:latin typeface="Times New Roman" panose="02020603050405020304" pitchFamily="18" charset="0"/>
                <a:cs typeface="Times New Roman" panose="02020603050405020304" pitchFamily="18" charset="0"/>
              </a:rPr>
              <a:t> сопротивление</a:t>
            </a:r>
            <a:r>
              <a:rPr lang="en-US" altLang="ru-RU" sz="1800" dirty="0">
                <a:latin typeface="Times New Roman" panose="02020603050405020304" pitchFamily="18" charset="0"/>
                <a:cs typeface="Times New Roman" panose="02020603050405020304" pitchFamily="18" charset="0"/>
              </a:rPr>
              <a:t>.</a:t>
            </a:r>
            <a:endParaRPr lang="ru-RU" altLang="ru-RU" sz="1800" dirty="0">
              <a:latin typeface="Times New Roman" panose="02020603050405020304" pitchFamily="18" charset="0"/>
              <a:cs typeface="Times New Roman" panose="02020603050405020304" pitchFamily="18" charset="0"/>
            </a:endParaRPr>
          </a:p>
          <a:p>
            <a:pPr>
              <a:spcBef>
                <a:spcPct val="0"/>
              </a:spcBef>
              <a:buClrTx/>
              <a:buSzTx/>
              <a:buNone/>
            </a:pPr>
            <a:endParaRPr lang="ru-RU" altLang="ru-RU" sz="1600" dirty="0">
              <a:solidFill>
                <a:srgbClr val="003399"/>
              </a:solidFill>
              <a:latin typeface="Times New Roman" panose="02020603050405020304" pitchFamily="18" charset="0"/>
            </a:endParaRPr>
          </a:p>
          <a:p>
            <a:pPr eaLnBrk="1" hangingPunct="1">
              <a:spcBef>
                <a:spcPct val="0"/>
              </a:spcBef>
              <a:buClrTx/>
              <a:buSzTx/>
              <a:buFontTx/>
              <a:buNone/>
            </a:pPr>
            <a:endParaRPr lang="ru-RU" altLang="ru-RU" sz="1600" dirty="0">
              <a:solidFill>
                <a:srgbClr val="003399"/>
              </a:solidFill>
              <a:latin typeface="Times New Roman" panose="02020603050405020304" pitchFamily="18" charset="0"/>
              <a:cs typeface="Times New Roman" panose="02020603050405020304" pitchFamily="18" charset="0"/>
            </a:endParaRPr>
          </a:p>
        </p:txBody>
      </p:sp>
      <p:sp>
        <p:nvSpPr>
          <p:cNvPr id="14345" name="Rectangle 43">
            <a:extLst>
              <a:ext uri="{FF2B5EF4-FFF2-40B4-BE49-F238E27FC236}">
                <a16:creationId xmlns:a16="http://schemas.microsoft.com/office/drawing/2014/main" id="{3A50E51F-5CF6-43A6-98E1-A4486976ECC7}"/>
              </a:ext>
            </a:extLst>
          </p:cNvPr>
          <p:cNvSpPr>
            <a:spLocks noChangeArrowheads="1"/>
          </p:cNvSpPr>
          <p:nvPr/>
        </p:nvSpPr>
        <p:spPr bwMode="auto">
          <a:xfrm>
            <a:off x="1524001" y="3028664"/>
            <a:ext cx="1847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ru-RU" altLang="ru-RU">
              <a:solidFill>
                <a:srgbClr val="003399"/>
              </a:solidFill>
              <a:latin typeface="Times New Roman" panose="02020603050405020304" pitchFamily="18" charset="0"/>
            </a:endParaRPr>
          </a:p>
        </p:txBody>
      </p:sp>
      <p:graphicFrame>
        <p:nvGraphicFramePr>
          <p:cNvPr id="33834" name="Object 42">
            <a:extLst>
              <a:ext uri="{FF2B5EF4-FFF2-40B4-BE49-F238E27FC236}">
                <a16:creationId xmlns:a16="http://schemas.microsoft.com/office/drawing/2014/main" id="{B73172D8-344A-4886-9099-206B8BB52638}"/>
              </a:ext>
            </a:extLst>
          </p:cNvPr>
          <p:cNvGraphicFramePr>
            <a:graphicFrameLocks noChangeAspect="1"/>
          </p:cNvGraphicFramePr>
          <p:nvPr>
            <p:extLst>
              <p:ext uri="{D42A27DB-BD31-4B8C-83A1-F6EECF244321}">
                <p14:modId xmlns:p14="http://schemas.microsoft.com/office/powerpoint/2010/main" val="1616975274"/>
              </p:ext>
            </p:extLst>
          </p:nvPr>
        </p:nvGraphicFramePr>
        <p:xfrm>
          <a:off x="1015130" y="4113501"/>
          <a:ext cx="3962400" cy="1085850"/>
        </p:xfrm>
        <a:graphic>
          <a:graphicData uri="http://schemas.openxmlformats.org/presentationml/2006/ole">
            <mc:AlternateContent xmlns:mc="http://schemas.openxmlformats.org/markup-compatibility/2006">
              <mc:Choice xmlns:v="urn:schemas-microsoft-com:vml" Requires="v">
                <p:oleObj name="Формула" r:id="rId2" imgW="2971800" imgH="812800" progId="Equation.3">
                  <p:embed/>
                </p:oleObj>
              </mc:Choice>
              <mc:Fallback>
                <p:oleObj name="Формула" r:id="rId2" imgW="2971800" imgH="812800" progId="Equation.3">
                  <p:embed/>
                  <p:pic>
                    <p:nvPicPr>
                      <p:cNvPr id="33834" name="Object 42">
                        <a:extLst>
                          <a:ext uri="{FF2B5EF4-FFF2-40B4-BE49-F238E27FC236}">
                            <a16:creationId xmlns:a16="http://schemas.microsoft.com/office/drawing/2014/main" id="{B73172D8-344A-4886-9099-206B8BB526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5130" y="4113501"/>
                        <a:ext cx="3962400" cy="108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851" name="Rectangle 59">
            <a:extLst>
              <a:ext uri="{FF2B5EF4-FFF2-40B4-BE49-F238E27FC236}">
                <a16:creationId xmlns:a16="http://schemas.microsoft.com/office/drawing/2014/main" id="{41E01BB2-C36D-4B74-8122-9197CAA71993}"/>
              </a:ext>
            </a:extLst>
          </p:cNvPr>
          <p:cNvSpPr>
            <a:spLocks noChangeArrowheads="1"/>
          </p:cNvSpPr>
          <p:nvPr/>
        </p:nvSpPr>
        <p:spPr bwMode="auto">
          <a:xfrm>
            <a:off x="1524001" y="3028664"/>
            <a:ext cx="1847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endParaRPr lang="ru-RU" altLang="ru-RU">
              <a:solidFill>
                <a:srgbClr val="003399"/>
              </a:solidFill>
              <a:latin typeface="Times New Roman" panose="02020603050405020304" pitchFamily="18" charset="0"/>
            </a:endParaRPr>
          </a:p>
        </p:txBody>
      </p:sp>
      <p:graphicFrame>
        <p:nvGraphicFramePr>
          <p:cNvPr id="33850" name="Object 58">
            <a:extLst>
              <a:ext uri="{FF2B5EF4-FFF2-40B4-BE49-F238E27FC236}">
                <a16:creationId xmlns:a16="http://schemas.microsoft.com/office/drawing/2014/main" id="{B10D03C5-273C-4F3A-B21A-35A23F9AECC2}"/>
              </a:ext>
            </a:extLst>
          </p:cNvPr>
          <p:cNvGraphicFramePr>
            <a:graphicFrameLocks noChangeAspect="1"/>
          </p:cNvGraphicFramePr>
          <p:nvPr>
            <p:extLst>
              <p:ext uri="{D42A27DB-BD31-4B8C-83A1-F6EECF244321}">
                <p14:modId xmlns:p14="http://schemas.microsoft.com/office/powerpoint/2010/main" val="1747904774"/>
              </p:ext>
            </p:extLst>
          </p:nvPr>
        </p:nvGraphicFramePr>
        <p:xfrm>
          <a:off x="1073980" y="5607458"/>
          <a:ext cx="5078412" cy="465137"/>
        </p:xfrm>
        <a:graphic>
          <a:graphicData uri="http://schemas.openxmlformats.org/presentationml/2006/ole">
            <mc:AlternateContent xmlns:mc="http://schemas.openxmlformats.org/markup-compatibility/2006">
              <mc:Choice xmlns:v="urn:schemas-microsoft-com:vml" Requires="v">
                <p:oleObj name="Формула" r:id="rId4" imgW="2603500" imgH="241300" progId="Equation.3">
                  <p:embed/>
                </p:oleObj>
              </mc:Choice>
              <mc:Fallback>
                <p:oleObj name="Формула" r:id="rId4" imgW="2603500" imgH="241300" progId="Equation.3">
                  <p:embed/>
                  <p:pic>
                    <p:nvPicPr>
                      <p:cNvPr id="33850" name="Object 58">
                        <a:extLst>
                          <a:ext uri="{FF2B5EF4-FFF2-40B4-BE49-F238E27FC236}">
                            <a16:creationId xmlns:a16="http://schemas.microsoft.com/office/drawing/2014/main" id="{B10D03C5-273C-4F3A-B21A-35A23F9AECC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3980" y="5607458"/>
                        <a:ext cx="5078412"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852" name="Text Box 60">
            <a:extLst>
              <a:ext uri="{FF2B5EF4-FFF2-40B4-BE49-F238E27FC236}">
                <a16:creationId xmlns:a16="http://schemas.microsoft.com/office/drawing/2014/main" id="{2A5C05F8-94FE-4D1F-B347-225C3AB316D6}"/>
              </a:ext>
            </a:extLst>
          </p:cNvPr>
          <p:cNvSpPr txBox="1">
            <a:spLocks noChangeArrowheads="1"/>
          </p:cNvSpPr>
          <p:nvPr/>
        </p:nvSpPr>
        <p:spPr bwMode="auto">
          <a:xfrm>
            <a:off x="948723" y="5108596"/>
            <a:ext cx="460094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ru-RU" sz="1600" dirty="0">
                <a:solidFill>
                  <a:srgbClr val="003399"/>
                </a:solidFill>
                <a:latin typeface="Times New Roman" panose="02020603050405020304" pitchFamily="18" charset="0"/>
              </a:rPr>
              <a:t>Реактивную мощность можем представить в виде:</a:t>
            </a:r>
          </a:p>
        </p:txBody>
      </p:sp>
      <p:sp>
        <p:nvSpPr>
          <p:cNvPr id="33853" name="Text Box 61">
            <a:extLst>
              <a:ext uri="{FF2B5EF4-FFF2-40B4-BE49-F238E27FC236}">
                <a16:creationId xmlns:a16="http://schemas.microsoft.com/office/drawing/2014/main" id="{0A155DC6-5376-43DA-B419-8A7BEBA7CD6F}"/>
              </a:ext>
            </a:extLst>
          </p:cNvPr>
          <p:cNvSpPr txBox="1">
            <a:spLocks noChangeArrowheads="1"/>
          </p:cNvSpPr>
          <p:nvPr/>
        </p:nvSpPr>
        <p:spPr bwMode="auto">
          <a:xfrm>
            <a:off x="836513" y="3751028"/>
            <a:ext cx="482536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ru-RU" sz="1600" dirty="0">
                <a:solidFill>
                  <a:srgbClr val="003399"/>
                </a:solidFill>
                <a:latin typeface="Times New Roman" panose="02020603050405020304" pitchFamily="18" charset="0"/>
              </a:rPr>
              <a:t>Подставляя данные величины в формулы мощности:</a:t>
            </a:r>
          </a:p>
        </p:txBody>
      </p:sp>
      <p:sp>
        <p:nvSpPr>
          <p:cNvPr id="33856" name="Rectangle 64">
            <a:extLst>
              <a:ext uri="{FF2B5EF4-FFF2-40B4-BE49-F238E27FC236}">
                <a16:creationId xmlns:a16="http://schemas.microsoft.com/office/drawing/2014/main" id="{F7FD5A15-4C69-4379-9833-7CC31A997DFB}"/>
              </a:ext>
            </a:extLst>
          </p:cNvPr>
          <p:cNvSpPr>
            <a:spLocks noChangeArrowheads="1"/>
          </p:cNvSpPr>
          <p:nvPr/>
        </p:nvSpPr>
        <p:spPr bwMode="auto">
          <a:xfrm>
            <a:off x="6240463" y="608014"/>
            <a:ext cx="254000" cy="338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ru-RU" sz="1600">
                <a:latin typeface="Times New Roman" panose="02020603050405020304" pitchFamily="18" charset="0"/>
              </a:rPr>
              <a:t>-</a:t>
            </a:r>
          </a:p>
        </p:txBody>
      </p:sp>
      <p:graphicFrame>
        <p:nvGraphicFramePr>
          <p:cNvPr id="29" name="Object 38">
            <a:extLst>
              <a:ext uri="{FF2B5EF4-FFF2-40B4-BE49-F238E27FC236}">
                <a16:creationId xmlns:a16="http://schemas.microsoft.com/office/drawing/2014/main" id="{8E45F649-A2DE-4F55-A4A1-64CFD07562FD}"/>
              </a:ext>
            </a:extLst>
          </p:cNvPr>
          <p:cNvGraphicFramePr>
            <a:graphicFrameLocks noChangeAspect="1"/>
          </p:cNvGraphicFramePr>
          <p:nvPr>
            <p:extLst>
              <p:ext uri="{D42A27DB-BD31-4B8C-83A1-F6EECF244321}">
                <p14:modId xmlns:p14="http://schemas.microsoft.com/office/powerpoint/2010/main" val="46196269"/>
              </p:ext>
            </p:extLst>
          </p:nvPr>
        </p:nvGraphicFramePr>
        <p:xfrm>
          <a:off x="9565917" y="2190750"/>
          <a:ext cx="938212" cy="414338"/>
        </p:xfrm>
        <a:graphic>
          <a:graphicData uri="http://schemas.openxmlformats.org/presentationml/2006/ole">
            <mc:AlternateContent xmlns:mc="http://schemas.openxmlformats.org/markup-compatibility/2006">
              <mc:Choice xmlns:v="urn:schemas-microsoft-com:vml" Requires="v">
                <p:oleObj name="Формула" r:id="rId6" imgW="494870" imgH="215713" progId="Equation.3">
                  <p:embed/>
                </p:oleObj>
              </mc:Choice>
              <mc:Fallback>
                <p:oleObj name="Формула" r:id="rId6" imgW="494870" imgH="215713" progId="Equation.3">
                  <p:embed/>
                  <p:pic>
                    <p:nvPicPr>
                      <p:cNvPr id="29" name="Object 38">
                        <a:extLst>
                          <a:ext uri="{FF2B5EF4-FFF2-40B4-BE49-F238E27FC236}">
                            <a16:creationId xmlns:a16="http://schemas.microsoft.com/office/drawing/2014/main" id="{8E45F649-A2DE-4F55-A4A1-64CFD07562F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565917" y="2190750"/>
                        <a:ext cx="938212" cy="414338"/>
                      </a:xfrm>
                      <a:prstGeom prst="rect">
                        <a:avLst/>
                      </a:prstGeom>
                      <a:solidFill>
                        <a:srgbClr val="CCFFFF"/>
                      </a:solidFill>
                      <a:ln w="12700">
                        <a:solidFill>
                          <a:srgbClr val="800080"/>
                        </a:solidFill>
                        <a:miter lim="800000"/>
                        <a:headEnd/>
                        <a:tailEnd/>
                      </a:ln>
                    </p:spPr>
                  </p:pic>
                </p:oleObj>
              </mc:Fallback>
            </mc:AlternateContent>
          </a:graphicData>
        </a:graphic>
      </p:graphicFrame>
      <p:graphicFrame>
        <p:nvGraphicFramePr>
          <p:cNvPr id="30" name="Object 45">
            <a:extLst>
              <a:ext uri="{FF2B5EF4-FFF2-40B4-BE49-F238E27FC236}">
                <a16:creationId xmlns:a16="http://schemas.microsoft.com/office/drawing/2014/main" id="{1C9E1D10-264B-4E9B-895D-2505B31F1F75}"/>
              </a:ext>
            </a:extLst>
          </p:cNvPr>
          <p:cNvGraphicFramePr>
            <a:graphicFrameLocks noChangeAspect="1"/>
          </p:cNvGraphicFramePr>
          <p:nvPr>
            <p:extLst>
              <p:ext uri="{D42A27DB-BD31-4B8C-83A1-F6EECF244321}">
                <p14:modId xmlns:p14="http://schemas.microsoft.com/office/powerpoint/2010/main" val="2867696207"/>
              </p:ext>
            </p:extLst>
          </p:nvPr>
        </p:nvGraphicFramePr>
        <p:xfrm>
          <a:off x="9496066" y="2801702"/>
          <a:ext cx="1008063" cy="387350"/>
        </p:xfrm>
        <a:graphic>
          <a:graphicData uri="http://schemas.openxmlformats.org/presentationml/2006/ole">
            <mc:AlternateContent xmlns:mc="http://schemas.openxmlformats.org/markup-compatibility/2006">
              <mc:Choice xmlns:v="urn:schemas-microsoft-com:vml" Requires="v">
                <p:oleObj name="Формула" r:id="rId8" imgW="571252" imgH="215806" progId="Equation.3">
                  <p:embed/>
                </p:oleObj>
              </mc:Choice>
              <mc:Fallback>
                <p:oleObj name="Формула" r:id="rId8" imgW="571252" imgH="215806" progId="Equation.3">
                  <p:embed/>
                  <p:pic>
                    <p:nvPicPr>
                      <p:cNvPr id="30" name="Object 45">
                        <a:extLst>
                          <a:ext uri="{FF2B5EF4-FFF2-40B4-BE49-F238E27FC236}">
                            <a16:creationId xmlns:a16="http://schemas.microsoft.com/office/drawing/2014/main" id="{1C9E1D10-264B-4E9B-895D-2505B31F1F7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496066" y="2801702"/>
                        <a:ext cx="1008063" cy="387350"/>
                      </a:xfrm>
                      <a:prstGeom prst="rect">
                        <a:avLst/>
                      </a:prstGeom>
                      <a:solidFill>
                        <a:srgbClr val="CCFFFF"/>
                      </a:solidFill>
                      <a:ln w="12700">
                        <a:solidFill>
                          <a:srgbClr val="333333"/>
                        </a:solidFill>
                        <a:miter lim="800000"/>
                        <a:headEnd/>
                        <a:tailEnd/>
                      </a:ln>
                    </p:spPr>
                  </p:pic>
                </p:oleObj>
              </mc:Fallback>
            </mc:AlternateContent>
          </a:graphicData>
        </a:graphic>
      </p:graphicFrame>
      <p:graphicFrame>
        <p:nvGraphicFramePr>
          <p:cNvPr id="31" name="Object 52">
            <a:extLst>
              <a:ext uri="{FF2B5EF4-FFF2-40B4-BE49-F238E27FC236}">
                <a16:creationId xmlns:a16="http://schemas.microsoft.com/office/drawing/2014/main" id="{D0E80BDE-229C-42F8-834D-E0D71FDA0764}"/>
              </a:ext>
            </a:extLst>
          </p:cNvPr>
          <p:cNvGraphicFramePr>
            <a:graphicFrameLocks noChangeAspect="1"/>
          </p:cNvGraphicFramePr>
          <p:nvPr>
            <p:extLst>
              <p:ext uri="{D42A27DB-BD31-4B8C-83A1-F6EECF244321}">
                <p14:modId xmlns:p14="http://schemas.microsoft.com/office/powerpoint/2010/main" val="2294501798"/>
              </p:ext>
            </p:extLst>
          </p:nvPr>
        </p:nvGraphicFramePr>
        <p:xfrm>
          <a:off x="9476222" y="3385666"/>
          <a:ext cx="1047750" cy="414337"/>
        </p:xfrm>
        <a:graphic>
          <a:graphicData uri="http://schemas.openxmlformats.org/presentationml/2006/ole">
            <mc:AlternateContent xmlns:mc="http://schemas.openxmlformats.org/markup-compatibility/2006">
              <mc:Choice xmlns:v="urn:schemas-microsoft-com:vml" Requires="v">
                <p:oleObj name="Формула" r:id="rId10" imgW="583947" imgH="228501" progId="Equation.3">
                  <p:embed/>
                </p:oleObj>
              </mc:Choice>
              <mc:Fallback>
                <p:oleObj name="Формула" r:id="rId10" imgW="583947" imgH="228501" progId="Equation.3">
                  <p:embed/>
                  <p:pic>
                    <p:nvPicPr>
                      <p:cNvPr id="31" name="Object 52">
                        <a:extLst>
                          <a:ext uri="{FF2B5EF4-FFF2-40B4-BE49-F238E27FC236}">
                            <a16:creationId xmlns:a16="http://schemas.microsoft.com/office/drawing/2014/main" id="{D0E80BDE-229C-42F8-834D-E0D71FDA0764}"/>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476222" y="3385666"/>
                        <a:ext cx="1047750" cy="414337"/>
                      </a:xfrm>
                      <a:prstGeom prst="rect">
                        <a:avLst/>
                      </a:prstGeom>
                      <a:solidFill>
                        <a:srgbClr val="CCFFFF"/>
                      </a:solidFill>
                      <a:ln w="12700">
                        <a:solidFill>
                          <a:srgbClr val="333333"/>
                        </a:solidFill>
                        <a:miter lim="800000"/>
                        <a:headEnd/>
                        <a:tailEnd/>
                      </a:ln>
                    </p:spPr>
                  </p:pic>
                </p:oleObj>
              </mc:Fallback>
            </mc:AlternateContent>
          </a:graphicData>
        </a:graphic>
      </p:graphicFrame>
      <p:sp>
        <p:nvSpPr>
          <p:cNvPr id="32" name="Rectangle 34">
            <a:extLst>
              <a:ext uri="{FF2B5EF4-FFF2-40B4-BE49-F238E27FC236}">
                <a16:creationId xmlns:a16="http://schemas.microsoft.com/office/drawing/2014/main" id="{8C30BD9B-FDEB-4EE2-8B9C-276AB1F4EB98}"/>
              </a:ext>
            </a:extLst>
          </p:cNvPr>
          <p:cNvSpPr>
            <a:spLocks noChangeArrowheads="1"/>
          </p:cNvSpPr>
          <p:nvPr/>
        </p:nvSpPr>
        <p:spPr bwMode="auto">
          <a:xfrm>
            <a:off x="8164707" y="1447800"/>
            <a:ext cx="3301807"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indent="450850">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ru-RU" altLang="ru-RU" sz="1600" dirty="0">
                <a:solidFill>
                  <a:srgbClr val="003399"/>
                </a:solidFill>
                <a:latin typeface="Times New Roman" panose="02020603050405020304" pitchFamily="18" charset="0"/>
                <a:cs typeface="Times New Roman" panose="02020603050405020304" pitchFamily="18" charset="0"/>
              </a:rPr>
              <a:t>Закон Ома</a:t>
            </a:r>
            <a:r>
              <a:rPr lang="en-US" altLang="ru-RU" sz="1600" dirty="0">
                <a:solidFill>
                  <a:srgbClr val="003399"/>
                </a:solidFill>
                <a:latin typeface="Times New Roman" panose="02020603050405020304" pitchFamily="18" charset="0"/>
                <a:cs typeface="Times New Roman" panose="02020603050405020304" pitchFamily="18" charset="0"/>
              </a:rPr>
              <a:t> </a:t>
            </a:r>
            <a:r>
              <a:rPr lang="ru-RU" altLang="ru-RU" sz="1600" dirty="0">
                <a:solidFill>
                  <a:srgbClr val="003399"/>
                </a:solidFill>
                <a:latin typeface="Times New Roman" panose="02020603050405020304" pitchFamily="18" charset="0"/>
                <a:cs typeface="Times New Roman" panose="02020603050405020304" pitchFamily="18" charset="0"/>
              </a:rPr>
              <a:t>для действующих</a:t>
            </a:r>
          </a:p>
          <a:p>
            <a:pPr eaLnBrk="1" hangingPunct="1">
              <a:spcBef>
                <a:spcPct val="0"/>
              </a:spcBef>
              <a:buClrTx/>
              <a:buSzTx/>
              <a:buFontTx/>
              <a:buNone/>
            </a:pPr>
            <a:r>
              <a:rPr lang="ru-RU" altLang="ru-RU" sz="1600" dirty="0">
                <a:solidFill>
                  <a:srgbClr val="003399"/>
                </a:solidFill>
                <a:latin typeface="Times New Roman" panose="02020603050405020304" pitchFamily="18" charset="0"/>
                <a:cs typeface="Times New Roman" panose="02020603050405020304" pitchFamily="18" charset="0"/>
              </a:rPr>
              <a:t> значений тока и напряжения:</a:t>
            </a:r>
          </a:p>
        </p:txBody>
      </p:sp>
      <p:graphicFrame>
        <p:nvGraphicFramePr>
          <p:cNvPr id="33" name="Object 52">
            <a:extLst>
              <a:ext uri="{FF2B5EF4-FFF2-40B4-BE49-F238E27FC236}">
                <a16:creationId xmlns:a16="http://schemas.microsoft.com/office/drawing/2014/main" id="{248CF92C-FDFD-411C-8B2F-1F8369BD66F9}"/>
              </a:ext>
            </a:extLst>
          </p:cNvPr>
          <p:cNvGraphicFramePr>
            <a:graphicFrameLocks noChangeAspect="1"/>
          </p:cNvGraphicFramePr>
          <p:nvPr>
            <p:extLst>
              <p:ext uri="{D42A27DB-BD31-4B8C-83A1-F6EECF244321}">
                <p14:modId xmlns:p14="http://schemas.microsoft.com/office/powerpoint/2010/main" val="1823141576"/>
              </p:ext>
            </p:extLst>
          </p:nvPr>
        </p:nvGraphicFramePr>
        <p:xfrm>
          <a:off x="9544484" y="4009234"/>
          <a:ext cx="979488" cy="379413"/>
        </p:xfrm>
        <a:graphic>
          <a:graphicData uri="http://schemas.openxmlformats.org/presentationml/2006/ole">
            <mc:AlternateContent xmlns:mc="http://schemas.openxmlformats.org/markup-compatibility/2006">
              <mc:Choice xmlns:v="urn:schemas-microsoft-com:vml" Requires="v">
                <p:oleObj name="Формула" r:id="rId12" imgW="495085" imgH="190417" progId="Equation.3">
                  <p:embed/>
                </p:oleObj>
              </mc:Choice>
              <mc:Fallback>
                <p:oleObj name="Формула" r:id="rId12" imgW="495085" imgH="190417" progId="Equation.3">
                  <p:embed/>
                  <p:pic>
                    <p:nvPicPr>
                      <p:cNvPr id="33" name="Object 52">
                        <a:extLst>
                          <a:ext uri="{FF2B5EF4-FFF2-40B4-BE49-F238E27FC236}">
                            <a16:creationId xmlns:a16="http://schemas.microsoft.com/office/drawing/2014/main" id="{248CF92C-FDFD-411C-8B2F-1F8369BD66F9}"/>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544484" y="4009234"/>
                        <a:ext cx="979488" cy="379413"/>
                      </a:xfrm>
                      <a:prstGeom prst="rect">
                        <a:avLst/>
                      </a:prstGeom>
                      <a:solidFill>
                        <a:srgbClr val="CCFFFF"/>
                      </a:solidFill>
                      <a:ln w="12700">
                        <a:solidFill>
                          <a:srgbClr val="333333"/>
                        </a:solidFill>
                        <a:miter lim="800000"/>
                        <a:headEnd/>
                        <a:tailEnd/>
                      </a:ln>
                    </p:spPr>
                  </p:pic>
                </p:oleObj>
              </mc:Fallback>
            </mc:AlternateContent>
          </a:graphicData>
        </a:graphic>
      </p:graphicFrame>
    </p:spTree>
    <p:extLst>
      <p:ext uri="{BB962C8B-B14F-4D97-AF65-F5344CB8AC3E}">
        <p14:creationId xmlns:p14="http://schemas.microsoft.com/office/powerpoint/2010/main" val="21710067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82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3856"/>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3824"/>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3853"/>
                                        </p:tgtEl>
                                        <p:attrNameLst>
                                          <p:attrName>style.visibility</p:attrName>
                                        </p:attrNameLst>
                                      </p:cBhvr>
                                      <p:to>
                                        <p:strVal val="visible"/>
                                      </p:to>
                                    </p:set>
                                    <p:animEffect transition="in" filter="checkerboard(across)">
                                      <p:cBhvr>
                                        <p:cTn id="17" dur="500"/>
                                        <p:tgtEl>
                                          <p:spTgt spid="33853"/>
                                        </p:tgtEl>
                                      </p:cBhvr>
                                    </p:animEffect>
                                  </p:childTnLst>
                                </p:cTn>
                              </p:par>
                              <p:par>
                                <p:cTn id="18" presetID="5" presetClass="entr" presetSubtype="10" fill="hold" nodeType="withEffect">
                                  <p:stCondLst>
                                    <p:cond delay="0"/>
                                  </p:stCondLst>
                                  <p:childTnLst>
                                    <p:set>
                                      <p:cBhvr>
                                        <p:cTn id="19" dur="1" fill="hold">
                                          <p:stCondLst>
                                            <p:cond delay="0"/>
                                          </p:stCondLst>
                                        </p:cTn>
                                        <p:tgtEl>
                                          <p:spTgt spid="33851"/>
                                        </p:tgtEl>
                                        <p:attrNameLst>
                                          <p:attrName>style.visibility</p:attrName>
                                        </p:attrNameLst>
                                      </p:cBhvr>
                                      <p:to>
                                        <p:strVal val="visible"/>
                                      </p:to>
                                    </p:set>
                                    <p:animEffect transition="in" filter="checkerboard(across)">
                                      <p:cBhvr>
                                        <p:cTn id="20" dur="500"/>
                                        <p:tgtEl>
                                          <p:spTgt spid="33851"/>
                                        </p:tgtEl>
                                      </p:cBhvr>
                                    </p:animEffect>
                                  </p:childTnLst>
                                </p:cTn>
                              </p:par>
                              <p:par>
                                <p:cTn id="21" presetID="5" presetClass="entr" presetSubtype="10" fill="hold" nodeType="withEffect">
                                  <p:stCondLst>
                                    <p:cond delay="0"/>
                                  </p:stCondLst>
                                  <p:childTnLst>
                                    <p:set>
                                      <p:cBhvr>
                                        <p:cTn id="22" dur="1" fill="hold">
                                          <p:stCondLst>
                                            <p:cond delay="0"/>
                                          </p:stCondLst>
                                        </p:cTn>
                                        <p:tgtEl>
                                          <p:spTgt spid="33834"/>
                                        </p:tgtEl>
                                        <p:attrNameLst>
                                          <p:attrName>style.visibility</p:attrName>
                                        </p:attrNameLst>
                                      </p:cBhvr>
                                      <p:to>
                                        <p:strVal val="visible"/>
                                      </p:to>
                                    </p:set>
                                    <p:animEffect transition="in" filter="checkerboard(across)">
                                      <p:cBhvr>
                                        <p:cTn id="23" dur="500"/>
                                        <p:tgtEl>
                                          <p:spTgt spid="33834"/>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 presetClass="entr" presetSubtype="10" fill="hold" grpId="0" nodeType="clickEffect">
                                  <p:stCondLst>
                                    <p:cond delay="0"/>
                                  </p:stCondLst>
                                  <p:childTnLst>
                                    <p:set>
                                      <p:cBhvr>
                                        <p:cTn id="27" dur="1" fill="hold">
                                          <p:stCondLst>
                                            <p:cond delay="0"/>
                                          </p:stCondLst>
                                        </p:cTn>
                                        <p:tgtEl>
                                          <p:spTgt spid="33852"/>
                                        </p:tgtEl>
                                        <p:attrNameLst>
                                          <p:attrName>style.visibility</p:attrName>
                                        </p:attrNameLst>
                                      </p:cBhvr>
                                      <p:to>
                                        <p:strVal val="visible"/>
                                      </p:to>
                                    </p:set>
                                    <p:animEffect transition="in" filter="checkerboard(across)">
                                      <p:cBhvr>
                                        <p:cTn id="28" dur="500"/>
                                        <p:tgtEl>
                                          <p:spTgt spid="33852"/>
                                        </p:tgtEl>
                                      </p:cBhvr>
                                    </p:animEffect>
                                  </p:childTnLst>
                                </p:cTn>
                              </p:par>
                              <p:par>
                                <p:cTn id="29" presetID="5" presetClass="entr" presetSubtype="10" fill="hold" nodeType="withEffect">
                                  <p:stCondLst>
                                    <p:cond delay="0"/>
                                  </p:stCondLst>
                                  <p:childTnLst>
                                    <p:set>
                                      <p:cBhvr>
                                        <p:cTn id="30" dur="1" fill="hold">
                                          <p:stCondLst>
                                            <p:cond delay="0"/>
                                          </p:stCondLst>
                                        </p:cTn>
                                        <p:tgtEl>
                                          <p:spTgt spid="33850"/>
                                        </p:tgtEl>
                                        <p:attrNameLst>
                                          <p:attrName>style.visibility</p:attrName>
                                        </p:attrNameLst>
                                      </p:cBhvr>
                                      <p:to>
                                        <p:strVal val="visible"/>
                                      </p:to>
                                    </p:set>
                                    <p:animEffect transition="in" filter="checkerboard(across)">
                                      <p:cBhvr>
                                        <p:cTn id="31" dur="500"/>
                                        <p:tgtEl>
                                          <p:spTgt spid="33850"/>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32"/>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4" fill="hold" nodeType="click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wipe(down)">
                                      <p:cBhvr>
                                        <p:cTn id="40" dur="500"/>
                                        <p:tgtEl>
                                          <p:spTgt spid="29"/>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4" fill="hold" nodeType="click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wipe(down)">
                                      <p:cBhvr>
                                        <p:cTn id="45" dur="500"/>
                                        <p:tgtEl>
                                          <p:spTgt spid="30"/>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4" fill="hold" nodeType="clickEffect">
                                  <p:stCondLst>
                                    <p:cond delay="0"/>
                                  </p:stCondLst>
                                  <p:childTnLst>
                                    <p:set>
                                      <p:cBhvr>
                                        <p:cTn id="49" dur="1" fill="hold">
                                          <p:stCondLst>
                                            <p:cond delay="0"/>
                                          </p:stCondLst>
                                        </p:cTn>
                                        <p:tgtEl>
                                          <p:spTgt spid="31"/>
                                        </p:tgtEl>
                                        <p:attrNameLst>
                                          <p:attrName>style.visibility</p:attrName>
                                        </p:attrNameLst>
                                      </p:cBhvr>
                                      <p:to>
                                        <p:strVal val="visible"/>
                                      </p:to>
                                    </p:set>
                                    <p:animEffect transition="in" filter="wipe(down)">
                                      <p:cBhvr>
                                        <p:cTn id="50" dur="500"/>
                                        <p:tgtEl>
                                          <p:spTgt spid="31"/>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4" fill="hold" nodeType="clickEffect">
                                  <p:stCondLst>
                                    <p:cond delay="0"/>
                                  </p:stCondLst>
                                  <p:childTnLst>
                                    <p:set>
                                      <p:cBhvr>
                                        <p:cTn id="54" dur="1" fill="hold">
                                          <p:stCondLst>
                                            <p:cond delay="0"/>
                                          </p:stCondLst>
                                        </p:cTn>
                                        <p:tgtEl>
                                          <p:spTgt spid="33"/>
                                        </p:tgtEl>
                                        <p:attrNameLst>
                                          <p:attrName>style.visibility</p:attrName>
                                        </p:attrNameLst>
                                      </p:cBhvr>
                                      <p:to>
                                        <p:strVal val="visible"/>
                                      </p:to>
                                    </p:set>
                                    <p:animEffect transition="in" filter="wipe(down)">
                                      <p:cBhvr>
                                        <p:cTn id="55"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23" grpId="0"/>
      <p:bldP spid="33824" grpId="0"/>
      <p:bldP spid="33852" grpId="0"/>
      <p:bldP spid="33853" grpId="0"/>
      <p:bldP spid="33856" grpId="0"/>
      <p:bldP spid="32" grpId="0"/>
    </p:bldLst>
  </p:timing>
</p:sld>
</file>

<file path=ppt/theme/theme1.xml><?xml version="1.0" encoding="utf-8"?>
<a:theme xmlns:a="http://schemas.openxmlformats.org/drawingml/2006/main" name="Тема Office">
  <a:themeElements>
    <a:clrScheme name="МТУСИ">
      <a:dk1>
        <a:srgbClr val="352379"/>
      </a:dk1>
      <a:lt1>
        <a:srgbClr val="FFFFFF"/>
      </a:lt1>
      <a:dk2>
        <a:srgbClr val="352379"/>
      </a:dk2>
      <a:lt2>
        <a:srgbClr val="FFFFFF"/>
      </a:lt2>
      <a:accent1>
        <a:srgbClr val="352379"/>
      </a:accent1>
      <a:accent2>
        <a:srgbClr val="C7ADEB"/>
      </a:accent2>
      <a:accent3>
        <a:srgbClr val="532494"/>
      </a:accent3>
      <a:accent4>
        <a:srgbClr val="E3D6F5"/>
      </a:accent4>
      <a:accent5>
        <a:srgbClr val="8C64D8"/>
      </a:accent5>
      <a:accent6>
        <a:srgbClr val="000000"/>
      </a:accent6>
      <a:hlink>
        <a:srgbClr val="8C64D8"/>
      </a:hlink>
      <a:folHlink>
        <a:srgbClr val="352379"/>
      </a:folHlink>
    </a:clrScheme>
    <a:fontScheme name="МТУСИ">
      <a:majorFont>
        <a:latin typeface="Montserrat SemiBold"/>
        <a:ea typeface="Arial"/>
        <a:cs typeface="Arial"/>
      </a:majorFont>
      <a:minorFont>
        <a:latin typeface="Montserrat"/>
        <a:ea typeface="Arial"/>
        <a:cs typeface="Arial"/>
      </a:minorFont>
    </a:fontScheme>
    <a:fmtScheme name="Стандартная">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bwMode="auto"/>
      <a:bodyPr/>
      <a:lstStyle/>
    </a:txDef>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442</TotalTime>
  <Words>2702</Words>
  <Application>Microsoft Office PowerPoint</Application>
  <DocSecurity>0</DocSecurity>
  <PresentationFormat>Широкоэкранный</PresentationFormat>
  <Paragraphs>273</Paragraphs>
  <Slides>35</Slides>
  <Notes>1</Notes>
  <HiddenSlides>0</HiddenSlides>
  <MMClips>0</MMClips>
  <ScaleCrop>false</ScaleCrop>
  <HeadingPairs>
    <vt:vector size="8" baseType="variant">
      <vt:variant>
        <vt:lpstr>Использованные шрифты</vt:lpstr>
      </vt:variant>
      <vt:variant>
        <vt:i4>7</vt:i4>
      </vt:variant>
      <vt:variant>
        <vt:lpstr>Тема</vt:lpstr>
      </vt:variant>
      <vt:variant>
        <vt:i4>1</vt:i4>
      </vt:variant>
      <vt:variant>
        <vt:lpstr>Внедренные серверы OLE</vt:lpstr>
      </vt:variant>
      <vt:variant>
        <vt:i4>2</vt:i4>
      </vt:variant>
      <vt:variant>
        <vt:lpstr>Заголовки слайдов</vt:lpstr>
      </vt:variant>
      <vt:variant>
        <vt:i4>35</vt:i4>
      </vt:variant>
    </vt:vector>
  </HeadingPairs>
  <TitlesOfParts>
    <vt:vector size="45" baseType="lpstr">
      <vt:lpstr>Montserrat</vt:lpstr>
      <vt:lpstr>Montserrat SemiBold</vt:lpstr>
      <vt:lpstr>Times New Roman</vt:lpstr>
      <vt:lpstr>Symbol</vt:lpstr>
      <vt:lpstr>Arial Black</vt:lpstr>
      <vt:lpstr>Arial</vt:lpstr>
      <vt:lpstr>Calibri</vt:lpstr>
      <vt:lpstr>Тема Office</vt:lpstr>
      <vt:lpstr>Формула</vt:lpstr>
      <vt:lpstr>MathType 7.0 Equation</vt:lpstr>
      <vt:lpstr>Лекция №3  на тему:  Электрические цепи с источниками гармонического напряжения и тока.  </vt:lpstr>
      <vt:lpstr>Презентация PowerPoint</vt:lpstr>
      <vt:lpstr>Презентация PowerPoint</vt:lpstr>
      <vt:lpstr>Презентация PowerPoint</vt:lpstr>
      <vt:lpstr>Презентация PowerPoint</vt:lpstr>
      <vt:lpstr>Презентация PowerPoint</vt:lpstr>
      <vt:lpstr>Однофазный синусоидальный ток</vt:lpstr>
      <vt:lpstr>Мгновенные значения напряжения u(t), тока i(t) и фазовый сдвиг </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subject/>
  <dc:creator>user [v4]</dc:creator>
  <cp:keywords/>
  <dc:description/>
  <cp:lastModifiedBy>Igor Nikolashin</cp:lastModifiedBy>
  <cp:revision>68</cp:revision>
  <dcterms:created xsi:type="dcterms:W3CDTF">2023-04-19T21:39:12Z</dcterms:created>
  <dcterms:modified xsi:type="dcterms:W3CDTF">2025-09-24T08:30:44Z</dcterms:modified>
  <cp:category/>
  <dc:identifier/>
  <cp:contentStatus/>
  <dc:language/>
  <cp:version/>
</cp:coreProperties>
</file>