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59.png" ContentType="image/png"/>
  <Override PartName="/ppt/media/image49.wmf" ContentType="image/x-wmf"/>
  <Override PartName="/ppt/media/image48.wmf" ContentType="image/x-wmf"/>
  <Override PartName="/ppt/media/image47.wmf" ContentType="image/x-wmf"/>
  <Override PartName="/ppt/media/image46.wmf" ContentType="image/x-wmf"/>
  <Override PartName="/ppt/media/image45.wmf" ContentType="image/x-wmf"/>
  <Override PartName="/ppt/media/image56.wmf" ContentType="image/x-wmf"/>
  <Override PartName="/ppt/media/image33.png" ContentType="image/png"/>
  <Override PartName="/ppt/media/image3.png" ContentType="image/png"/>
  <Override PartName="/ppt/media/image15.png" ContentType="image/png"/>
  <Override PartName="/ppt/media/image55.wmf" ContentType="image/x-wmf"/>
  <Override PartName="/ppt/media/image32.png" ContentType="image/png"/>
  <Override PartName="/ppt/media/image2.png" ContentType="image/png"/>
  <Override PartName="/ppt/media/image14.png" ContentType="image/png"/>
  <Override PartName="/ppt/media/image54.wmf" ContentType="image/x-wmf"/>
  <Override PartName="/ppt/media/image29.wmf" ContentType="image/x-wmf"/>
  <Override PartName="/ppt/media/image18.wmf" ContentType="image/x-wmf"/>
  <Override PartName="/ppt/media/image60.wmf" ContentType="image/x-wmf"/>
  <Override PartName="/ppt/media/image20.wmf" ContentType="image/x-wmf"/>
  <Override PartName="/ppt/media/image57.wmf" ContentType="image/x-wmf"/>
  <Override PartName="/ppt/media/image26.wmf" ContentType="image/x-wmf"/>
  <Override PartName="/ppt/media/image64.wmf" ContentType="image/x-wmf"/>
  <Override PartName="/ppt/media/image27.wmf" ContentType="image/x-wmf"/>
  <Override PartName="/ppt/media/image63.wmf" ContentType="image/x-wmf"/>
  <Override PartName="/ppt/media/image62.wmf" ContentType="image/x-wmf"/>
  <Override PartName="/ppt/media/image25.wmf" ContentType="image/x-wmf"/>
  <Override PartName="/ppt/media/image61.wmf" ContentType="image/x-wmf"/>
  <Override PartName="/ppt/media/image19.wmf" ContentType="image/x-wmf"/>
  <Override PartName="/ppt/media/image24.wmf" ContentType="image/x-wmf"/>
  <Override PartName="/ppt/media/image58.wmf" ContentType="image/x-wmf"/>
  <Override PartName="/ppt/media/image21.wmf" ContentType="image/x-wmf"/>
  <Override PartName="/ppt/media/image23.wmf" ContentType="image/x-wmf"/>
  <Override PartName="/ppt/media/image65.png" ContentType="image/png"/>
  <Override PartName="/ppt/media/image22.wmf" ContentType="image/x-wmf"/>
  <Override PartName="/ppt/media/image16.png" ContentType="image/png"/>
  <Override PartName="/ppt/media/image4.png" ContentType="image/png"/>
  <Override PartName="/ppt/media/image5.png" ContentType="image/png"/>
  <Override PartName="/ppt/media/image35.png" ContentType="image/png"/>
  <Override PartName="/ppt/media/image28.wmf" ContentType="image/x-wmf"/>
  <Override PartName="/ppt/media/image10.png" ContentType="image/png"/>
  <Override PartName="/ppt/media/image50.wmf" ContentType="image/x-wmf"/>
  <Override PartName="/ppt/media/image11.png" ContentType="image/png"/>
  <Override PartName="/ppt/media/image51.wmf" ContentType="image/x-wmf"/>
  <Override PartName="/ppt/media/image37.png" ContentType="image/png"/>
  <Override PartName="/ppt/media/image40.wmf" ContentType="image/x-wmf"/>
  <Override PartName="/ppt/media/image6.png" ContentType="image/png"/>
  <Override PartName="/ppt/media/image12.png" ContentType="image/png"/>
  <Override PartName="/ppt/media/image52.wmf" ContentType="image/x-wmf"/>
  <Override PartName="/ppt/media/image7.png" ContentType="image/png"/>
  <Override PartName="/ppt/media/image41.wmf" ContentType="image/x-wmf"/>
  <Override PartName="/ppt/media/image1.png" ContentType="image/png"/>
  <Override PartName="/ppt/media/image13.png" ContentType="image/png"/>
  <Override PartName="/ppt/media/image53.wmf" ContentType="image/x-wmf"/>
  <Override PartName="/ppt/media/image17.wmf" ContentType="image/x-wmf"/>
  <Override PartName="/ppt/media/image8.png" ContentType="image/png"/>
  <Override PartName="/ppt/media/image42.wmf" ContentType="image/x-wmf"/>
  <Override PartName="/ppt/media/image30.wmf" ContentType="image/x-wmf"/>
  <Override PartName="/ppt/media/image31.wmf" ContentType="image/x-wmf"/>
  <Override PartName="/ppt/media/image34.wmf" ContentType="image/x-wmf"/>
  <Override PartName="/ppt/media/image36.wmf" ContentType="image/x-wmf"/>
  <Override PartName="/ppt/media/image38.wmf" ContentType="image/x-wmf"/>
  <Override PartName="/ppt/media/image39.wmf" ContentType="image/x-wmf"/>
  <Override PartName="/ppt/media/image9.png" ContentType="image/png"/>
  <Override PartName="/ppt/media/image43.wmf" ContentType="image/x-wmf"/>
  <Override PartName="/ppt/media/image44.wmf" ContentType="image/x-wmf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4.xml.rels" ContentType="application/vnd.openxmlformats-package.relationships+xml"/>
  <Override PartName="/ppt/slides/_rels/slide8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5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6.xml.rels" ContentType="application/vnd.openxmlformats-package.relationships+xml"/>
  <Override PartName="/ppt/slides/_rels/slide16.xml.rels" ContentType="application/vnd.openxmlformats-package.relationships+xml"/>
  <Override PartName="/ppt/slides/_rels/slide32.xml.rels" ContentType="application/vnd.openxmlformats-package.relationships+xml"/>
  <Override PartName="/ppt/slides/_rels/slide10.xml.rels" ContentType="application/vnd.openxmlformats-package.relationships+xml"/>
  <Override PartName="/ppt/slides/_rels/slide25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7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9.xml.rels" ContentType="application/vnd.openxmlformats-package.relationships+xml"/>
  <Override PartName="/ppt/slides/_rels/slide3.xml.rels" ContentType="application/vnd.openxmlformats-package.relationships+xml"/>
  <Override PartName="/ppt/slides/_rels/slide28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6.xml" ContentType="application/vnd.openxmlformats-officedocument.presentationml.slide+xml"/>
  <Override PartName="/ppt/slides/slide3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952560" y="3676680"/>
            <a:ext cx="1040112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1040112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952560" y="2425680"/>
            <a:ext cx="10898640" cy="465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952560" y="507636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282360" y="507636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952560" y="5076360"/>
            <a:ext cx="1040112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1040112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952560" y="5076360"/>
            <a:ext cx="1040112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952560" y="507636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282360" y="507636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4469400" y="367668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7986240" y="367668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952560" y="507636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4469400" y="507636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7986240" y="507636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A166D6-7520-4D45-974A-9264CF834F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952560" y="3676680"/>
            <a:ext cx="1040112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614127-9490-4CCD-B292-03373AA1E9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1040112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269B3C-0F2C-4E94-9FF5-05674CC60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FB287C-81A9-494F-84B1-BBD5BD1631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73195C-6185-427B-9FAC-281C6C196C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952560" y="2425680"/>
            <a:ext cx="10898640" cy="465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ED7392-4DF1-42FD-828E-0BE15C89D8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952560" y="507636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CF0576-97BF-4986-B358-975AC6BAC1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282360" y="507636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B6450E4-2D27-4E66-83D1-2B46FD7E21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952560" y="5076360"/>
            <a:ext cx="1040112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F99BC1-FD92-493D-B784-935ACC29AD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1040112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952560" y="5076360"/>
            <a:ext cx="1040112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D964D7-D9C3-49B6-B706-7FFF2C9771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952560" y="507636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6282360" y="507636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3B52FB-737E-4D3B-8BB8-F5CF332F665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4469400" y="367668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7986240" y="367668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952560" y="507636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4469400" y="507636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7986240" y="507636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22E574-A33C-4ADB-A0B8-227E20803B3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F514D2-E769-4901-B1C8-8863D52B91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952560" y="3676680"/>
            <a:ext cx="1040112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90ECDC-BDDA-4503-9748-D436935DD2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1040112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258710-86E6-4072-AD7E-1B3E6FA94A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E89774-7943-45EF-BB5E-9B204DFA31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03D666-7F46-4ADE-BDF1-AA1FA061C9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ubTitle"/>
          </p:nvPr>
        </p:nvSpPr>
        <p:spPr>
          <a:xfrm>
            <a:off x="952560" y="2425680"/>
            <a:ext cx="10898640" cy="465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9A1E3B-4C62-41E2-9044-EAD38C4E1E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952560" y="507636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6BA252-FEDF-41AC-AC74-A18612F5E7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282360" y="507636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10C1BE-A641-4D96-B257-D3AAAABCB0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952560" y="5076360"/>
            <a:ext cx="1040112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616BB7-E384-4080-91A0-48B561F5CA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1040112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952560" y="5076360"/>
            <a:ext cx="1040112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8E5654-45F7-4E3F-B76A-43B0EF05A7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952560" y="507636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6282360" y="507636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6B40FF-3277-4AA1-8FCE-D918A71752A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4469400" y="367668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/>
          </p:nvPr>
        </p:nvSpPr>
        <p:spPr>
          <a:xfrm>
            <a:off x="7986240" y="367668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/>
          </p:nvPr>
        </p:nvSpPr>
        <p:spPr>
          <a:xfrm>
            <a:off x="952560" y="507636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32" name="PlaceHolder 6"/>
          <p:cNvSpPr>
            <a:spLocks noGrp="1"/>
          </p:cNvSpPr>
          <p:nvPr>
            <p:ph/>
          </p:nvPr>
        </p:nvSpPr>
        <p:spPr>
          <a:xfrm>
            <a:off x="4469400" y="507636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33" name="PlaceHolder 7"/>
          <p:cNvSpPr>
            <a:spLocks noGrp="1"/>
          </p:cNvSpPr>
          <p:nvPr>
            <p:ph/>
          </p:nvPr>
        </p:nvSpPr>
        <p:spPr>
          <a:xfrm>
            <a:off x="7986240" y="507636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2B3E0D-E3D1-4C13-BB93-475E6966D6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D92DBE8-4634-4A3E-81EE-8DB6886775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952560" y="3676680"/>
            <a:ext cx="1040112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C70EA0C-515C-4641-997B-BB4FA01778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1040112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159A5F5-1940-4070-8632-5832DFF4C5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7DCDF7A-E424-4637-A236-2BA59BD6E8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1998FCB-4328-4A20-BCFD-E01C1FD368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ubTitle"/>
          </p:nvPr>
        </p:nvSpPr>
        <p:spPr>
          <a:xfrm>
            <a:off x="952560" y="2425680"/>
            <a:ext cx="10898640" cy="465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9056F04-C275-4C5F-BFA1-BCC979A61F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952560" y="507636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5D9F953-DEF3-413A-8FCF-D4D9780FEF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26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6282360" y="507636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9783F37-B19C-4974-B199-8EAECBF19E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952560" y="5076360"/>
            <a:ext cx="1040112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F91F414-5D27-478B-8543-72CC8E0637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1040112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952560" y="5076360"/>
            <a:ext cx="1040112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F6E6347-E5D0-446F-9FAD-E185FA2200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6282360" y="367668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952560" y="507636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/>
          </p:nvPr>
        </p:nvSpPr>
        <p:spPr>
          <a:xfrm>
            <a:off x="6282360" y="5076360"/>
            <a:ext cx="507564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3673459-1197-4071-9C77-124AE277122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952560" y="367668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4469400" y="367668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7986240" y="367668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/>
          </p:nvPr>
        </p:nvSpPr>
        <p:spPr>
          <a:xfrm>
            <a:off x="952560" y="507636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76" name="PlaceHolder 6"/>
          <p:cNvSpPr>
            <a:spLocks noGrp="1"/>
          </p:cNvSpPr>
          <p:nvPr>
            <p:ph/>
          </p:nvPr>
        </p:nvSpPr>
        <p:spPr>
          <a:xfrm>
            <a:off x="4469400" y="507636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77" name="PlaceHolder 7"/>
          <p:cNvSpPr>
            <a:spLocks noGrp="1"/>
          </p:cNvSpPr>
          <p:nvPr>
            <p:ph/>
          </p:nvPr>
        </p:nvSpPr>
        <p:spPr>
          <a:xfrm>
            <a:off x="7986240" y="5076360"/>
            <a:ext cx="3349080" cy="12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4AF87DC-CF07-4D26-BA7C-E9AC0DEAC16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Relationship Id="rId9" Type="http://schemas.openxmlformats.org/officeDocument/2006/relationships/slideLayout" Target="../slideLayouts/slideLayout3.xml"/><Relationship Id="rId10" Type="http://schemas.openxmlformats.org/officeDocument/2006/relationships/slideLayout" Target="../slideLayouts/slideLayout4.xml"/><Relationship Id="rId11" Type="http://schemas.openxmlformats.org/officeDocument/2006/relationships/slideLayout" Target="../slideLayouts/slideLayout5.xml"/><Relationship Id="rId12" Type="http://schemas.openxmlformats.org/officeDocument/2006/relationships/slideLayout" Target="../slideLayouts/slideLayout6.xml"/><Relationship Id="rId13" Type="http://schemas.openxmlformats.org/officeDocument/2006/relationships/slideLayout" Target="../slideLayouts/slideLayout7.xml"/><Relationship Id="rId14" Type="http://schemas.openxmlformats.org/officeDocument/2006/relationships/slideLayout" Target="../slideLayouts/slideLayout8.xml"/><Relationship Id="rId15" Type="http://schemas.openxmlformats.org/officeDocument/2006/relationships/slideLayout" Target="../slideLayouts/slideLayout9.xml"/><Relationship Id="rId16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Рисунок 8" descr=""/>
          <p:cNvPicPr/>
          <p:nvPr/>
        </p:nvPicPr>
        <p:blipFill>
          <a:blip r:embed="rId2"/>
          <a:stretch/>
        </p:blipFill>
        <p:spPr>
          <a:xfrm>
            <a:off x="96480" y="0"/>
            <a:ext cx="12038040" cy="6771240"/>
          </a:xfrm>
          <a:prstGeom prst="rect">
            <a:avLst/>
          </a:prstGeom>
          <a:ln w="0">
            <a:noFill/>
          </a:ln>
        </p:spPr>
      </p:pic>
      <p:pic>
        <p:nvPicPr>
          <p:cNvPr id="1" name="Рисунок 11" descr=""/>
          <p:cNvPicPr/>
          <p:nvPr/>
        </p:nvPicPr>
        <p:blipFill>
          <a:blip r:embed="rId3"/>
          <a:stretch/>
        </p:blipFill>
        <p:spPr>
          <a:xfrm>
            <a:off x="0" y="-20520"/>
            <a:ext cx="12191760" cy="606240"/>
          </a:xfrm>
          <a:prstGeom prst="rect">
            <a:avLst/>
          </a:prstGeom>
          <a:ln w="0">
            <a:noFill/>
          </a:ln>
        </p:spPr>
      </p:pic>
      <p:pic>
        <p:nvPicPr>
          <p:cNvPr id="2" name="Рисунок 15" descr=""/>
          <p:cNvPicPr/>
          <p:nvPr/>
        </p:nvPicPr>
        <p:blipFill>
          <a:blip r:embed="rId4"/>
          <a:stretch/>
        </p:blipFill>
        <p:spPr>
          <a:xfrm>
            <a:off x="10760040" y="142200"/>
            <a:ext cx="952200" cy="293040"/>
          </a:xfrm>
          <a:prstGeom prst="rect">
            <a:avLst/>
          </a:prstGeom>
          <a:ln w="0">
            <a:noFill/>
          </a:ln>
        </p:spPr>
      </p:pic>
      <p:pic>
        <p:nvPicPr>
          <p:cNvPr id="3" name="Рисунок 11" descr=""/>
          <p:cNvPicPr/>
          <p:nvPr/>
        </p:nvPicPr>
        <p:blipFill>
          <a:blip r:embed="rId5"/>
          <a:srcRect l="0" t="2571" r="0" b="2571"/>
          <a:stretch/>
        </p:blipFill>
        <p:spPr>
          <a:xfrm>
            <a:off x="-35640" y="-32040"/>
            <a:ext cx="3650400" cy="6924960"/>
          </a:xfrm>
          <a:prstGeom prst="rect">
            <a:avLst/>
          </a:prstGeom>
          <a:ln w="0">
            <a:noFill/>
          </a:ln>
        </p:spPr>
      </p:pic>
      <p:sp>
        <p:nvSpPr>
          <p:cNvPr id="4" name="Прямоугольник 12"/>
          <p:cNvSpPr/>
          <p:nvPr/>
        </p:nvSpPr>
        <p:spPr>
          <a:xfrm>
            <a:off x="3615120" y="-32040"/>
            <a:ext cx="8576640" cy="68896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3800880" y="6024960"/>
            <a:ext cx="8055720" cy="7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Montserrat"/>
                <a:ea typeface="Arial"/>
              </a:rPr>
              <a:t>Поле для дополнительной информации (16</a:t>
            </a: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Arial"/>
              </a:rPr>
              <a:t>pt</a:t>
            </a:r>
            <a:r>
              <a:rPr b="0" lang="ru-RU" sz="1600" spc="-1" strike="noStrike">
                <a:solidFill>
                  <a:srgbClr val="000000"/>
                </a:solidFill>
                <a:latin typeface="Montserrat"/>
                <a:ea typeface="Arial"/>
              </a:rPr>
              <a:t>)</a:t>
            </a:r>
            <a:br>
              <a:rPr sz="1600"/>
            </a:br>
            <a:r>
              <a:rPr b="0" lang="ru-RU" sz="1600" spc="-1" strike="noStrike">
                <a:solidFill>
                  <a:srgbClr val="000000"/>
                </a:solidFill>
                <a:latin typeface="Montserrat"/>
                <a:ea typeface="Arial"/>
              </a:rPr>
              <a:t>(пример: Фамилия Имя Отчество; Должность; Место проведения)</a:t>
            </a:r>
            <a:endParaRPr b="0" lang="ru-RU" sz="16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800880" y="4003200"/>
            <a:ext cx="8050320" cy="165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Если информации много, то</a:t>
            </a:r>
            <a:r>
              <a:rPr b="0" lang="en-US" sz="24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рекомендуется </a:t>
            </a:r>
            <a:r>
              <a:rPr b="0" lang="en-US" sz="24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 использовать </a:t>
            </a: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подзаголовок (24</a:t>
            </a:r>
            <a:r>
              <a:rPr b="0" lang="en-US" sz="2400" spc="-1" strike="noStrike">
                <a:solidFill>
                  <a:srgbClr val="352379"/>
                </a:solidFill>
                <a:latin typeface="Montserrat"/>
                <a:ea typeface="Arial"/>
              </a:rPr>
              <a:t>pt</a:t>
            </a: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)</a:t>
            </a:r>
            <a:endParaRPr b="0" lang="ru-RU" sz="2400" spc="-1" strike="noStrike">
              <a:solidFill>
                <a:srgbClr val="352379"/>
              </a:solidFill>
              <a:latin typeface="Montserrat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88520" y="6024960"/>
            <a:ext cx="2637720" cy="33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rgbClr val="ffffff"/>
                </a:solidFill>
                <a:latin typeface="Montserrat SemiBold"/>
                <a:ea typeface="Arial"/>
              </a:rPr>
              <a:t>Дата (хх.хх.хххх г.)</a:t>
            </a:r>
            <a:endParaRPr b="0" lang="ru-RU" sz="16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3806280" y="1396440"/>
            <a:ext cx="8044920" cy="2032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Название </a:t>
            </a: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презента</a:t>
            </a: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ции </a:t>
            </a: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может </a:t>
            </a: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быть </a:t>
            </a: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набрано </a:t>
            </a:r>
            <a:br>
              <a:rPr sz="4000"/>
            </a:b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в две или </a:t>
            </a: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три </a:t>
            </a: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строки</a:t>
            </a:r>
            <a:r>
              <a:rPr b="0" lang="en-US" sz="40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r>
              <a:rPr b="0" lang="en-US" sz="4000" spc="-1" strike="noStrike">
                <a:solidFill>
                  <a:srgbClr val="352379"/>
                </a:solidFill>
                <a:latin typeface="Montserrat"/>
                <a:ea typeface="Arial"/>
              </a:rPr>
              <a:t>(</a:t>
            </a: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40</a:t>
            </a:r>
            <a:r>
              <a:rPr b="0" lang="en-US" sz="4000" spc="-1" strike="noStrike">
                <a:solidFill>
                  <a:srgbClr val="352379"/>
                </a:solidFill>
                <a:latin typeface="Montserrat"/>
                <a:ea typeface="Arial"/>
              </a:rPr>
              <a:t>pt)</a:t>
            </a: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pic>
        <p:nvPicPr>
          <p:cNvPr id="9" name="Рисунок 8" descr=""/>
          <p:cNvPicPr/>
          <p:nvPr/>
        </p:nvPicPr>
        <p:blipFill>
          <a:blip r:embed="rId6"/>
          <a:stretch/>
        </p:blipFill>
        <p:spPr>
          <a:xfrm>
            <a:off x="696960" y="405000"/>
            <a:ext cx="2185200" cy="6732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0" r:id="rId1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Рисунок 8" descr=""/>
          <p:cNvPicPr/>
          <p:nvPr/>
        </p:nvPicPr>
        <p:blipFill>
          <a:blip r:embed="rId2"/>
          <a:stretch/>
        </p:blipFill>
        <p:spPr>
          <a:xfrm>
            <a:off x="96480" y="0"/>
            <a:ext cx="12038040" cy="6771240"/>
          </a:xfrm>
          <a:prstGeom prst="rect">
            <a:avLst/>
          </a:prstGeom>
          <a:ln w="0">
            <a:noFill/>
          </a:ln>
        </p:spPr>
      </p:pic>
      <p:pic>
        <p:nvPicPr>
          <p:cNvPr id="47" name="Рисунок 11" descr=""/>
          <p:cNvPicPr/>
          <p:nvPr/>
        </p:nvPicPr>
        <p:blipFill>
          <a:blip r:embed="rId3"/>
          <a:stretch/>
        </p:blipFill>
        <p:spPr>
          <a:xfrm>
            <a:off x="0" y="-20520"/>
            <a:ext cx="12191760" cy="606240"/>
          </a:xfrm>
          <a:prstGeom prst="rect">
            <a:avLst/>
          </a:prstGeom>
          <a:ln w="0">
            <a:noFill/>
          </a:ln>
        </p:spPr>
      </p:pic>
      <p:pic>
        <p:nvPicPr>
          <p:cNvPr id="48" name="Рисунок 15" descr=""/>
          <p:cNvPicPr/>
          <p:nvPr/>
        </p:nvPicPr>
        <p:blipFill>
          <a:blip r:embed="rId4"/>
          <a:stretch/>
        </p:blipFill>
        <p:spPr>
          <a:xfrm>
            <a:off x="10760040" y="142200"/>
            <a:ext cx="952200" cy="293040"/>
          </a:xfrm>
          <a:prstGeom prst="rect">
            <a:avLst/>
          </a:prstGeom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3600" spc="-1" strike="noStrike">
                <a:solidFill>
                  <a:srgbClr val="352379"/>
                </a:solidFill>
                <a:latin typeface="Montserrat SemiBold"/>
                <a:ea typeface="Arial"/>
              </a:rPr>
              <a:t>Образец заголовка</a:t>
            </a:r>
            <a:endParaRPr b="0" lang="ru-RU" sz="36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952560" y="3676680"/>
            <a:ext cx="10401120" cy="2679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Образец текста</a:t>
            </a: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  <a:p>
            <a:pPr marL="457200" algn="just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352379"/>
                </a:solidFill>
                <a:latin typeface="Montserrat"/>
                <a:ea typeface="Arial"/>
              </a:rPr>
              <a:t>Второй уровень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  <a:p>
            <a:pPr marL="914400" algn="just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Третий уровень</a:t>
            </a:r>
            <a:endParaRPr b="0" lang="ru-RU" sz="2400" spc="-1" strike="noStrike">
              <a:solidFill>
                <a:srgbClr val="352379"/>
              </a:solidFill>
              <a:latin typeface="Montserrat"/>
            </a:endParaRPr>
          </a:p>
          <a:p>
            <a:pPr marL="1371600" algn="just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rgbClr val="352379"/>
                </a:solidFill>
                <a:latin typeface="Montserrat"/>
                <a:ea typeface="Arial"/>
              </a:rPr>
              <a:t>Четвертый уровень</a:t>
            </a:r>
            <a:endParaRPr b="0" lang="ru-RU" sz="1600" spc="-1" strike="noStrike">
              <a:solidFill>
                <a:srgbClr val="352379"/>
              </a:solidFill>
              <a:latin typeface="Montserrat"/>
            </a:endParaRPr>
          </a:p>
          <a:p>
            <a:pPr marL="1828800" algn="just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352379"/>
                </a:solidFill>
                <a:latin typeface="Montserrat"/>
                <a:ea typeface="Arial"/>
              </a:rPr>
              <a:t>Пятый уровень</a:t>
            </a:r>
            <a:endParaRPr b="0" lang="ru-RU" sz="14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1"/>
          </p:nvPr>
        </p:nvSpPr>
        <p:spPr>
          <a:xfrm>
            <a:off x="479520" y="6356520"/>
            <a:ext cx="7673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600" spc="-1" strike="noStrike">
                <a:solidFill>
                  <a:srgbClr val="908da8"/>
                </a:solidFill>
                <a:latin typeface="Montserrat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0FBFED8-5C2A-418B-B30E-26954F535233}" type="slidenum">
              <a:rPr b="1" lang="ru-RU" sz="1600" spc="-1" strike="noStrike">
                <a:solidFill>
                  <a:srgbClr val="908da8"/>
                </a:solidFill>
                <a:latin typeface="Montserrat"/>
                <a:ea typeface="Arial"/>
              </a:rPr>
              <a:t>&lt;номер&gt;</a:t>
            </a:fld>
            <a:endParaRPr b="0" lang="ru-RU" sz="1600" spc="-1" strike="noStrike"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dt" idx="3"/>
          </p:nvPr>
        </p:nvSpPr>
        <p:spPr>
          <a:xfrm>
            <a:off x="479520" y="63525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Рисунок 8" descr=""/>
          <p:cNvPicPr/>
          <p:nvPr/>
        </p:nvPicPr>
        <p:blipFill>
          <a:blip r:embed="rId2"/>
          <a:stretch/>
        </p:blipFill>
        <p:spPr>
          <a:xfrm>
            <a:off x="96480" y="0"/>
            <a:ext cx="12038040" cy="6771240"/>
          </a:xfrm>
          <a:prstGeom prst="rect">
            <a:avLst/>
          </a:prstGeom>
          <a:ln w="0">
            <a:noFill/>
          </a:ln>
        </p:spPr>
      </p:pic>
      <p:pic>
        <p:nvPicPr>
          <p:cNvPr id="91" name="Рисунок 11" descr=""/>
          <p:cNvPicPr/>
          <p:nvPr/>
        </p:nvPicPr>
        <p:blipFill>
          <a:blip r:embed="rId3"/>
          <a:stretch/>
        </p:blipFill>
        <p:spPr>
          <a:xfrm>
            <a:off x="0" y="-20520"/>
            <a:ext cx="12191760" cy="606240"/>
          </a:xfrm>
          <a:prstGeom prst="rect">
            <a:avLst/>
          </a:prstGeom>
          <a:ln w="0">
            <a:noFill/>
          </a:ln>
        </p:spPr>
      </p:pic>
      <p:pic>
        <p:nvPicPr>
          <p:cNvPr id="92" name="Рисунок 15" descr=""/>
          <p:cNvPicPr/>
          <p:nvPr/>
        </p:nvPicPr>
        <p:blipFill>
          <a:blip r:embed="rId4"/>
          <a:stretch/>
        </p:blipFill>
        <p:spPr>
          <a:xfrm>
            <a:off x="10760040" y="142200"/>
            <a:ext cx="952200" cy="293040"/>
          </a:xfrm>
          <a:prstGeom prst="rect">
            <a:avLst/>
          </a:prstGeom>
          <a:ln w="0">
            <a:noFill/>
          </a:ln>
        </p:spPr>
      </p:pic>
      <p:sp>
        <p:nvSpPr>
          <p:cNvPr id="93" name="PlaceHolder 1"/>
          <p:cNvSpPr>
            <a:spLocks noGrp="1"/>
          </p:cNvSpPr>
          <p:nvPr>
            <p:ph type="dt" idx="4"/>
          </p:nvPr>
        </p:nvSpPr>
        <p:spPr>
          <a:xfrm>
            <a:off x="479520" y="63525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b="0" lang="ru-RU" sz="1200" spc="-1" strike="noStrike">
                <a:solidFill>
                  <a:srgbClr val="908da8"/>
                </a:solidFill>
                <a:latin typeface="Montserrat"/>
                <a:ea typeface="Arial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rgbClr val="908da8"/>
                </a:solidFill>
                <a:latin typeface="Montserrat"/>
                <a:ea typeface="Arial"/>
              </a:rPr>
              <a:t>&lt;дата/время&gt;</a:t>
            </a:r>
            <a:endParaRPr b="0" lang="ru-RU" sz="1200" spc="-1" strike="noStrike"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5"/>
          </p:nvPr>
        </p:nvSpPr>
        <p:spPr>
          <a:xfrm>
            <a:off x="479520" y="6356520"/>
            <a:ext cx="7673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6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600" spc="-1" strike="noStrike">
                <a:solidFill>
                  <a:srgbClr val="908da8"/>
                </a:solidFill>
                <a:latin typeface="Montserrat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59FC02-9D8E-41DC-BB1C-92B01EDB8981}" type="slidenum">
              <a:rPr b="1" lang="ru-RU" sz="1600" spc="-1" strike="noStrike">
                <a:solidFill>
                  <a:srgbClr val="908da8"/>
                </a:solidFill>
                <a:latin typeface="Montserrat"/>
                <a:ea typeface="Arial"/>
              </a:rPr>
              <a:t>&lt;номер&gt;</a:t>
            </a:fld>
            <a:endParaRPr b="0" lang="ru-RU" sz="1600" spc="-1" strike="noStrike"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rgbClr val="352379"/>
                </a:solidFill>
                <a:latin typeface="Montserrat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000" spc="-1" strike="noStrike">
                <a:solidFill>
                  <a:srgbClr val="352379"/>
                </a:solidFill>
                <a:latin typeface="Montserrat"/>
              </a:rPr>
              <a:t>Для правки структуры щёлкните мышью</a:t>
            </a: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  <a:p>
            <a:pPr lvl="1" marL="864000" indent="-324000" algn="just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352379"/>
                </a:solidFill>
                <a:latin typeface="Montserrat"/>
              </a:rPr>
              <a:t>Второй уровень структуры</a:t>
            </a:r>
            <a:endParaRPr b="0" lang="ru-RU" sz="2400" spc="-1" strike="noStrike">
              <a:solidFill>
                <a:srgbClr val="352379"/>
              </a:solidFill>
              <a:latin typeface="Montserrat"/>
            </a:endParaRPr>
          </a:p>
          <a:p>
            <a:pPr lvl="2" marL="1296000" indent="-288000" algn="just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rgbClr val="352379"/>
                </a:solidFill>
                <a:latin typeface="Montserrat"/>
              </a:rPr>
              <a:t>Третий уровень структуры</a:t>
            </a:r>
            <a:endParaRPr b="0" lang="ru-RU" sz="1600" spc="-1" strike="noStrike">
              <a:solidFill>
                <a:srgbClr val="352379"/>
              </a:solidFill>
              <a:latin typeface="Montserrat"/>
            </a:endParaRPr>
          </a:p>
          <a:p>
            <a:pPr lvl="3" marL="1728000" indent="-216000" algn="just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352379"/>
                </a:solidFill>
                <a:latin typeface="Montserrat"/>
              </a:rPr>
              <a:t>Четвёртый уровень структуры</a:t>
            </a:r>
            <a:endParaRPr b="0" lang="ru-RU" sz="1400" spc="-1" strike="noStrike">
              <a:solidFill>
                <a:srgbClr val="352379"/>
              </a:solidFill>
              <a:latin typeface="Montserrat"/>
            </a:endParaRPr>
          </a:p>
          <a:p>
            <a:pPr lvl="4" marL="2160000" indent="-216000" algn="just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352379"/>
                </a:solidFill>
                <a:latin typeface="Montserrat"/>
              </a:rPr>
              <a:t>Пятый уровень структуры</a:t>
            </a:r>
            <a:endParaRPr b="0" lang="ru-RU" sz="2000" spc="-1" strike="noStrike">
              <a:solidFill>
                <a:srgbClr val="352379"/>
              </a:solidFill>
              <a:latin typeface="Montserrat"/>
            </a:endParaRPr>
          </a:p>
          <a:p>
            <a:pPr lvl="5" marL="2592000" indent="-216000" algn="just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352379"/>
                </a:solidFill>
                <a:latin typeface="Montserrat"/>
              </a:rPr>
              <a:t>Шестой уровень структуры</a:t>
            </a:r>
            <a:endParaRPr b="0" lang="ru-RU" sz="2000" spc="-1" strike="noStrike">
              <a:solidFill>
                <a:srgbClr val="352379"/>
              </a:solidFill>
              <a:latin typeface="Montserrat"/>
            </a:endParaRPr>
          </a:p>
          <a:p>
            <a:pPr lvl="6" marL="3024000" indent="-216000" algn="just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352379"/>
                </a:solidFill>
                <a:latin typeface="Montserrat"/>
              </a:rPr>
              <a:t>Седьмой уровень структуры</a:t>
            </a:r>
            <a:endParaRPr b="0" lang="ru-RU" sz="2000" spc="-1" strike="noStrike">
              <a:solidFill>
                <a:srgbClr val="352379"/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Рисунок 8" descr=""/>
          <p:cNvPicPr/>
          <p:nvPr/>
        </p:nvPicPr>
        <p:blipFill>
          <a:blip r:embed="rId2"/>
          <a:stretch/>
        </p:blipFill>
        <p:spPr>
          <a:xfrm>
            <a:off x="96480" y="0"/>
            <a:ext cx="12038040" cy="6771240"/>
          </a:xfrm>
          <a:prstGeom prst="rect">
            <a:avLst/>
          </a:prstGeom>
          <a:ln w="0">
            <a:noFill/>
          </a:ln>
        </p:spPr>
      </p:pic>
      <p:pic>
        <p:nvPicPr>
          <p:cNvPr id="135" name="Рисунок 11" descr=""/>
          <p:cNvPicPr/>
          <p:nvPr/>
        </p:nvPicPr>
        <p:blipFill>
          <a:blip r:embed="rId3"/>
          <a:stretch/>
        </p:blipFill>
        <p:spPr>
          <a:xfrm>
            <a:off x="0" y="-20520"/>
            <a:ext cx="12191760" cy="606240"/>
          </a:xfrm>
          <a:prstGeom prst="rect">
            <a:avLst/>
          </a:prstGeom>
          <a:ln w="0">
            <a:noFill/>
          </a:ln>
        </p:spPr>
      </p:pic>
      <p:pic>
        <p:nvPicPr>
          <p:cNvPr id="136" name="Рисунок 15" descr=""/>
          <p:cNvPicPr/>
          <p:nvPr/>
        </p:nvPicPr>
        <p:blipFill>
          <a:blip r:embed="rId4"/>
          <a:stretch/>
        </p:blipFill>
        <p:spPr>
          <a:xfrm>
            <a:off x="10760040" y="142200"/>
            <a:ext cx="952200" cy="293040"/>
          </a:xfrm>
          <a:prstGeom prst="rect">
            <a:avLst/>
          </a:prstGeom>
          <a:ln w="0">
            <a:noFill/>
          </a:ln>
        </p:spPr>
      </p:pic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952560" y="2425680"/>
            <a:ext cx="10898640" cy="1002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3600" spc="-1" strike="noStrike">
                <a:solidFill>
                  <a:srgbClr val="352379"/>
                </a:solidFill>
                <a:latin typeface="Montserrat SemiBold"/>
                <a:ea typeface="Arial"/>
              </a:rPr>
              <a:t>Образец заголовка</a:t>
            </a:r>
            <a:endParaRPr b="0" lang="ru-RU" sz="36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ftr" idx="7"/>
          </p:nvPr>
        </p:nvSpPr>
        <p:spPr>
          <a:xfrm>
            <a:off x="479520" y="6356520"/>
            <a:ext cx="7673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8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600" spc="-1" strike="noStrike">
                <a:solidFill>
                  <a:srgbClr val="908da8"/>
                </a:solidFill>
                <a:latin typeface="Montserrat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24072C0-8154-4B1E-A5C3-FC02E5818425}" type="slidenum">
              <a:rPr b="1" lang="ru-RU" sz="1600" spc="-1" strike="noStrike">
                <a:solidFill>
                  <a:srgbClr val="908da8"/>
                </a:solidFill>
                <a:latin typeface="Montserrat"/>
                <a:ea typeface="Arial"/>
              </a:rPr>
              <a:t>&lt;номер&gt;</a:t>
            </a:fld>
            <a:endParaRPr b="0" lang="ru-RU" sz="1600" spc="-1" strike="noStrike"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dt" idx="9"/>
          </p:nvPr>
        </p:nvSpPr>
        <p:spPr>
          <a:xfrm>
            <a:off x="479520" y="63525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000" spc="-1" strike="noStrike">
                <a:solidFill>
                  <a:srgbClr val="352379"/>
                </a:solidFill>
                <a:latin typeface="Montserrat"/>
              </a:rPr>
              <a:t>Для правки структуры щёлкните мышью</a:t>
            </a: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  <a:p>
            <a:pPr lvl="1" marL="864000" indent="-324000" algn="just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352379"/>
                </a:solidFill>
                <a:latin typeface="Montserrat"/>
              </a:rPr>
              <a:t>Второй уровень структуры</a:t>
            </a:r>
            <a:endParaRPr b="0" lang="ru-RU" sz="2400" spc="-1" strike="noStrike">
              <a:solidFill>
                <a:srgbClr val="352379"/>
              </a:solidFill>
              <a:latin typeface="Montserrat"/>
            </a:endParaRPr>
          </a:p>
          <a:p>
            <a:pPr lvl="2" marL="1296000" indent="-288000" algn="just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rgbClr val="352379"/>
                </a:solidFill>
                <a:latin typeface="Montserrat"/>
              </a:rPr>
              <a:t>Третий уровень структуры</a:t>
            </a:r>
            <a:endParaRPr b="0" lang="ru-RU" sz="1600" spc="-1" strike="noStrike">
              <a:solidFill>
                <a:srgbClr val="352379"/>
              </a:solidFill>
              <a:latin typeface="Montserrat"/>
            </a:endParaRPr>
          </a:p>
          <a:p>
            <a:pPr lvl="3" marL="1728000" indent="-216000" algn="just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352379"/>
                </a:solidFill>
                <a:latin typeface="Montserrat"/>
              </a:rPr>
              <a:t>Четвёртый уровень структуры</a:t>
            </a:r>
            <a:endParaRPr b="0" lang="ru-RU" sz="1400" spc="-1" strike="noStrike">
              <a:solidFill>
                <a:srgbClr val="352379"/>
              </a:solidFill>
              <a:latin typeface="Montserrat"/>
            </a:endParaRPr>
          </a:p>
          <a:p>
            <a:pPr lvl="4" marL="2160000" indent="-216000" algn="just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352379"/>
                </a:solidFill>
                <a:latin typeface="Montserrat"/>
              </a:rPr>
              <a:t>Пятый уровень структуры</a:t>
            </a:r>
            <a:endParaRPr b="0" lang="ru-RU" sz="2000" spc="-1" strike="noStrike">
              <a:solidFill>
                <a:srgbClr val="352379"/>
              </a:solidFill>
              <a:latin typeface="Montserrat"/>
            </a:endParaRPr>
          </a:p>
          <a:p>
            <a:pPr lvl="5" marL="2592000" indent="-216000" algn="just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352379"/>
                </a:solidFill>
                <a:latin typeface="Montserrat"/>
              </a:rPr>
              <a:t>Шестой уровень структуры</a:t>
            </a:r>
            <a:endParaRPr b="0" lang="ru-RU" sz="2000" spc="-1" strike="noStrike">
              <a:solidFill>
                <a:srgbClr val="352379"/>
              </a:solidFill>
              <a:latin typeface="Montserrat"/>
            </a:endParaRPr>
          </a:p>
          <a:p>
            <a:pPr lvl="6" marL="3024000" indent="-216000" algn="just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352379"/>
                </a:solidFill>
                <a:latin typeface="Montserrat"/>
              </a:rPr>
              <a:t>Седьмой уровень структуры</a:t>
            </a:r>
            <a:endParaRPr b="0" lang="ru-RU" sz="2000" spc="-1" strike="noStrike">
              <a:solidFill>
                <a:srgbClr val="352379"/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ru.wikipedia.org/wiki/&#1069;&#1083;&#1077;&#1082;&#1090;&#1088;&#1086;&#1101;&#1085;&#1077;&#1088;&#1075;&#1080;&#1103;" TargetMode="External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7.wmf"/><Relationship Id="rId3" Type="http://schemas.openxmlformats.org/officeDocument/2006/relationships/image" Target="../media/image18.wmf"/><Relationship Id="rId4" Type="http://schemas.openxmlformats.org/officeDocument/2006/relationships/slideLayout" Target="../slideLayouts/slideLayout4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9.wmf"/><Relationship Id="rId3" Type="http://schemas.openxmlformats.org/officeDocument/2006/relationships/image" Target="../media/image20.wmf"/><Relationship Id="rId4" Type="http://schemas.openxmlformats.org/officeDocument/2006/relationships/slideLayout" Target="../slideLayouts/slideLayout4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1.wmf"/><Relationship Id="rId3" Type="http://schemas.openxmlformats.org/officeDocument/2006/relationships/image" Target="../media/image22.wmf"/><Relationship Id="rId4" Type="http://schemas.openxmlformats.org/officeDocument/2006/relationships/slideLayout" Target="../slideLayouts/slideLayout4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3.wmf"/><Relationship Id="rId3" Type="http://schemas.openxmlformats.org/officeDocument/2006/relationships/image" Target="../media/image24.wmf"/><Relationship Id="rId4" Type="http://schemas.openxmlformats.org/officeDocument/2006/relationships/slideLayout" Target="../slideLayouts/slideLayout4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5.wmf"/><Relationship Id="rId3" Type="http://schemas.openxmlformats.org/officeDocument/2006/relationships/image" Target="../media/image26.wmf"/><Relationship Id="rId4" Type="http://schemas.openxmlformats.org/officeDocument/2006/relationships/slideLayout" Target="../slideLayouts/slideLayout4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7.wmf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8.wmf"/><Relationship Id="rId3" Type="http://schemas.openxmlformats.org/officeDocument/2006/relationships/image" Target="../media/image29.wmf"/><Relationship Id="rId4" Type="http://schemas.openxmlformats.org/officeDocument/2006/relationships/image" Target="../media/image30.wmf"/><Relationship Id="rId5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1.wmf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4.wmf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6.wmf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38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39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40.wmf"/><Relationship Id="rId7" Type="http://schemas.openxmlformats.org/officeDocument/2006/relationships/image" Target="../media/image41.wmf"/><Relationship Id="rId8" Type="http://schemas.openxmlformats.org/officeDocument/2006/relationships/oleObject" Target="../embeddings/oleObject4.bin"/><Relationship Id="rId9" Type="http://schemas.openxmlformats.org/officeDocument/2006/relationships/image" Target="../media/image42.wmf"/><Relationship Id="rId10" Type="http://schemas.openxmlformats.org/officeDocument/2006/relationships/image" Target="../media/image43.wmf"/><Relationship Id="rId11" Type="http://schemas.openxmlformats.org/officeDocument/2006/relationships/image" Target="../media/image44.wmf"/><Relationship Id="rId12" Type="http://schemas.openxmlformats.org/officeDocument/2006/relationships/image" Target="../media/image45.wmf"/><Relationship Id="rId13" Type="http://schemas.openxmlformats.org/officeDocument/2006/relationships/image" Target="../media/image46.wmf"/><Relationship Id="rId14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7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48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49.wmf"/><Relationship Id="rId7" Type="http://schemas.openxmlformats.org/officeDocument/2006/relationships/oleObject" Target="../embeddings/oleObject4.bin"/><Relationship Id="rId8" Type="http://schemas.openxmlformats.org/officeDocument/2006/relationships/image" Target="../media/image50.wmf"/><Relationship Id="rId9" Type="http://schemas.openxmlformats.org/officeDocument/2006/relationships/oleObject" Target="../embeddings/oleObject5.bin"/><Relationship Id="rId10" Type="http://schemas.openxmlformats.org/officeDocument/2006/relationships/image" Target="../media/image51.wmf"/><Relationship Id="rId11" Type="http://schemas.openxmlformats.org/officeDocument/2006/relationships/image" Target="../media/image52.wmf"/><Relationship Id="rId12" Type="http://schemas.openxmlformats.org/officeDocument/2006/relationships/image" Target="../media/image53.wmf"/><Relationship Id="rId13" Type="http://schemas.openxmlformats.org/officeDocument/2006/relationships/image" Target="../media/image54.wmf"/><Relationship Id="rId14" Type="http://schemas.openxmlformats.org/officeDocument/2006/relationships/image" Target="../media/image55.wmf"/><Relationship Id="rId15" Type="http://schemas.openxmlformats.org/officeDocument/2006/relationships/image" Target="../media/image56.wmf"/><Relationship Id="rId16" Type="http://schemas.openxmlformats.org/officeDocument/2006/relationships/image" Target="../media/image57.wmf"/><Relationship Id="rId17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58.wmf"/><Relationship Id="rId2" Type="http://schemas.openxmlformats.org/officeDocument/2006/relationships/image" Target="../media/image59.png"/><Relationship Id="rId3" Type="http://schemas.openxmlformats.org/officeDocument/2006/relationships/image" Target="../media/image60.wmf"/><Relationship Id="rId4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61.wmf"/><Relationship Id="rId3" Type="http://schemas.openxmlformats.org/officeDocument/2006/relationships/image" Target="../media/image62.wmf"/><Relationship Id="rId4" Type="http://schemas.openxmlformats.org/officeDocument/2006/relationships/image" Target="../media/image63.wmf"/><Relationship Id="rId5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64.wmf"/><Relationship Id="rId2" Type="http://schemas.openxmlformats.org/officeDocument/2006/relationships/image" Target="../media/image65.png"/><Relationship Id="rId3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/>
          </p:nvPr>
        </p:nvSpPr>
        <p:spPr>
          <a:xfrm>
            <a:off x="3958200" y="3534120"/>
            <a:ext cx="8050320" cy="2680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Кафедра «Теория электрических цепей»</a:t>
            </a:r>
            <a:endParaRPr b="0" lang="ru-RU" sz="2400" spc="-1" strike="noStrike">
              <a:solidFill>
                <a:srgbClr val="352379"/>
              </a:solidFill>
              <a:latin typeface="Montserrat"/>
            </a:endParaRPr>
          </a:p>
          <a:p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endParaRPr b="0" lang="ru-RU" sz="2400" spc="-1" strike="noStrike">
              <a:solidFill>
                <a:srgbClr val="352379"/>
              </a:solidFill>
              <a:latin typeface="Montserrat"/>
            </a:endParaRPr>
          </a:p>
          <a:p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pc="-1" strike="noStrike">
              <a:solidFill>
                <a:srgbClr val="352379"/>
              </a:solidFill>
              <a:latin typeface="Montserrat"/>
            </a:endParaRPr>
          </a:p>
          <a:p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Лектор: Овсянникова </a:t>
            </a:r>
            <a:endParaRPr b="0" lang="ru-RU" sz="2400" spc="-1" strike="noStrike">
              <a:solidFill>
                <a:srgbClr val="352379"/>
              </a:solidFill>
              <a:latin typeface="Montserrat"/>
            </a:endParaRPr>
          </a:p>
          <a:p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Елена Александровна</a:t>
            </a:r>
            <a:endParaRPr b="0" lang="ru-RU" sz="2400" spc="-1" strike="noStrike">
              <a:solidFill>
                <a:srgbClr val="352379"/>
              </a:solidFill>
              <a:latin typeface="Montserrat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182880" y="2131200"/>
            <a:ext cx="3055680" cy="2074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ffffff"/>
                </a:solidFill>
                <a:latin typeface="Montserrat SemiBold"/>
                <a:ea typeface="Arial"/>
              </a:rPr>
              <a:t>ДИСЦИПЛИНА: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rgbClr val="ffffff"/>
                </a:solidFill>
                <a:latin typeface="Montserrat SemiBold"/>
                <a:ea typeface="Arial"/>
              </a:rPr>
              <a:t>Электротехника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title"/>
          </p:nvPr>
        </p:nvSpPr>
        <p:spPr>
          <a:xfrm>
            <a:off x="3963600" y="505440"/>
            <a:ext cx="8044920" cy="3263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352379"/>
                </a:solidFill>
                <a:latin typeface="Montserrat SemiBold"/>
                <a:ea typeface="Arial"/>
              </a:rPr>
              <a:t>Лекция №1 </a:t>
            </a:r>
            <a:br>
              <a:rPr sz="4000"/>
            </a:br>
            <a:r>
              <a:rPr b="0" lang="ru-RU" sz="4000" spc="-1" strike="noStrike">
                <a:solidFill>
                  <a:srgbClr val="352379"/>
                </a:solidFill>
                <a:latin typeface="Montserrat SemiBold"/>
                <a:ea typeface="Arial"/>
              </a:rPr>
              <a:t>на тему: </a:t>
            </a:r>
            <a:br>
              <a:rPr sz="4000"/>
            </a:br>
            <a:r>
              <a:rPr b="0" lang="ru-RU" sz="4000" spc="-1" strike="noStrike">
                <a:solidFill>
                  <a:srgbClr val="352379"/>
                </a:solidFill>
                <a:latin typeface="Montserrat SemiBold"/>
                <a:ea typeface="Arial"/>
              </a:rPr>
              <a:t>Электрические цепи.</a:t>
            </a:r>
            <a:br>
              <a:rPr sz="4000"/>
            </a:br>
            <a:r>
              <a:rPr b="0" lang="ru-RU" sz="4000" spc="-1" strike="noStrike">
                <a:solidFill>
                  <a:srgbClr val="352379"/>
                </a:solidFill>
                <a:latin typeface="Montserrat SemiBold"/>
                <a:ea typeface="Arial"/>
              </a:rPr>
              <a:t>Основные понятия</a:t>
            </a:r>
            <a:br>
              <a:rPr sz="4000"/>
            </a:b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Num" idx="10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AEEA658-8EDC-4BC1-A62F-C9BBC2D34FFD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title"/>
          </p:nvPr>
        </p:nvSpPr>
        <p:spPr>
          <a:xfrm>
            <a:off x="1981080" y="669600"/>
            <a:ext cx="8229240" cy="1026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352379"/>
                </a:solidFill>
                <a:latin typeface="Montserrat SemiBold"/>
                <a:ea typeface="Arial"/>
              </a:rPr>
              <a:t>Теоретические основы электротехники</a:t>
            </a:r>
            <a:br>
              <a:rPr sz="3200"/>
            </a:br>
            <a:r>
              <a:rPr b="0" lang="ru-RU" sz="3200" spc="-1" strike="noStrike">
                <a:solidFill>
                  <a:srgbClr val="800000"/>
                </a:solidFill>
                <a:latin typeface="Montserrat SemiBold"/>
                <a:ea typeface="Arial"/>
              </a:rPr>
              <a:t>Введение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820080" y="1816920"/>
            <a:ext cx="10551600" cy="5294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000"/>
          </a:bodyPr>
          <a:p>
            <a:pPr algn="ctr">
              <a:lnSpc>
                <a:spcPct val="8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800" spc="-1" strike="noStrike">
                <a:solidFill>
                  <a:srgbClr val="352379"/>
                </a:solidFill>
                <a:latin typeface="Montserrat"/>
                <a:ea typeface="Arial"/>
              </a:rPr>
              <a:t>Основная литература</a:t>
            </a:r>
            <a:endParaRPr b="0" lang="ru-RU" sz="2800" spc="-1" strike="noStrike">
              <a:solidFill>
                <a:srgbClr val="352379"/>
              </a:solidFill>
              <a:latin typeface="Montserrat"/>
            </a:endParaRPr>
          </a:p>
          <a:p>
            <a:pPr algn="ctr">
              <a:lnSpc>
                <a:spcPct val="8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1. Бутырин П.А. Основы электротехники [Электронный ресурс]: учебник для студентов средних и высших учебных заведений профессионального образования по направлениям электротехники и электроэнергетики/ Бутырин П.А., Толчеев О.В., Шакирзянов Ф.Н.— Электронные текстовые данные.— М.: Издательский дом МЭИ, 2014.— 360 c.— Режим доступа: http://www.iprbookshop.ru/33220. — ЭБС «IPRbooks», по паролю</a:t>
            </a:r>
            <a:endParaRPr b="0" lang="ru-RU" sz="2400" spc="-1" strike="noStrike">
              <a:solidFill>
                <a:srgbClr val="352379"/>
              </a:solidFill>
              <a:latin typeface="Montserrat"/>
            </a:endParaRPr>
          </a:p>
          <a:p>
            <a:pPr algn="ctr">
              <a:lnSpc>
                <a:spcPct val="8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2. Смирнов Н.И. Теория электрических цепей учебник. Смирнов Н.И., Фриск В.В. — М.: Горячая линия - Телеком, 2019.— 286 c.</a:t>
            </a:r>
            <a:endParaRPr b="0" lang="ru-RU" sz="2400" spc="-1" strike="noStrike">
              <a:solidFill>
                <a:srgbClr val="352379"/>
              </a:solidFill>
              <a:latin typeface="Montserrat"/>
            </a:endParaRPr>
          </a:p>
          <a:p>
            <a:pPr algn="ctr">
              <a:lnSpc>
                <a:spcPct val="8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3. Смирнов Н.И. Теория электрических цепей Конспект лекций. Смирнов Н.И., Фриск В.В. — М.: Горячая линия - Телеком, 2017. — 270 c</a:t>
            </a:r>
            <a:endParaRPr b="0" lang="ru-RU" sz="2400" spc="-1" strike="noStrike">
              <a:solidFill>
                <a:srgbClr val="352379"/>
              </a:solidFill>
              <a:latin typeface="Montserrat"/>
            </a:endParaRPr>
          </a:p>
          <a:p>
            <a:pPr algn="ctr">
              <a:lnSpc>
                <a:spcPct val="8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4. Соболев В.Н. Теория электрических цепей [Электронный ресурс]: учебное пособие для вузов/ Соболев В.Н.— Электрон. текстовые данные.— М.: Горячая линия - Телеком, 2014.— 502 c.— Режим доступа: ЭБС МТУСИ</a:t>
            </a:r>
            <a:endParaRPr b="0" lang="ru-RU" sz="2400" spc="-1" strike="noStrike">
              <a:solidFill>
                <a:srgbClr val="352379"/>
              </a:solidFill>
              <a:latin typeface="Montserrat"/>
            </a:endParaRPr>
          </a:p>
          <a:p>
            <a:pPr algn="ctr">
              <a:lnSpc>
                <a:spcPct val="8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000" spc="-1" strike="noStrike">
              <a:solidFill>
                <a:srgbClr val="352379"/>
              </a:solidFill>
              <a:latin typeface="Montserra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Num" idx="11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C99D8A-60AB-4A49-88CB-72D2F5A59458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441360" y="617040"/>
            <a:ext cx="11202480" cy="6161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6000"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ru-RU" sz="11000" spc="-1" strike="noStrike">
                <a:solidFill>
                  <a:srgbClr val="ff3300"/>
                </a:solidFill>
                <a:latin typeface="Montserrat"/>
                <a:ea typeface="Arial"/>
              </a:rPr>
              <a:t>Электротехника</a:t>
            </a:r>
            <a:r>
              <a:rPr b="0" lang="ru-RU" sz="11000" spc="-1" strike="noStrike">
                <a:solidFill>
                  <a:srgbClr val="352379"/>
                </a:solidFill>
                <a:latin typeface="Montserrat"/>
                <a:ea typeface="Arial"/>
              </a:rPr>
              <a:t> - область техники, связанная с получением, распределением, преобразованием  и использованием </a:t>
            </a:r>
            <a:r>
              <a:rPr b="0" lang="ru-RU" sz="11000" spc="-1" strike="noStrike" u="sng">
                <a:solidFill>
                  <a:srgbClr val="8c64d8"/>
                </a:solidFill>
                <a:uFillTx/>
                <a:latin typeface="Montserrat"/>
                <a:ea typeface="Arial"/>
                <a:hlinkClick r:id="rId1"/>
              </a:rPr>
              <a:t>электрической</a:t>
            </a:r>
            <a:r>
              <a:rPr b="0" lang="en-US" sz="110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r>
              <a:rPr b="0" lang="ru-RU" sz="11000" spc="-1" strike="noStrike">
                <a:solidFill>
                  <a:srgbClr val="352379"/>
                </a:solidFill>
                <a:latin typeface="Montserrat"/>
                <a:ea typeface="Arial"/>
              </a:rPr>
              <a:t>энергии.</a:t>
            </a:r>
            <a:endParaRPr b="0" lang="ru-RU" sz="11000" spc="-1" strike="noStrike">
              <a:solidFill>
                <a:srgbClr val="352379"/>
              </a:solidFill>
              <a:latin typeface="Montserrat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endParaRPr b="0" lang="ru-RU" sz="11000" spc="-1" strike="noStrike">
              <a:solidFill>
                <a:srgbClr val="352379"/>
              </a:solidFill>
              <a:latin typeface="Montserrat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11000" spc="-1" strike="noStrike">
                <a:solidFill>
                  <a:srgbClr val="352379"/>
                </a:solidFill>
                <a:latin typeface="Montserrat"/>
                <a:ea typeface="Arial"/>
              </a:rPr>
              <a:t>Под </a:t>
            </a:r>
            <a:r>
              <a:rPr b="0" i="1" lang="ru-RU" sz="11000" spc="-1" strike="noStrike">
                <a:solidFill>
                  <a:srgbClr val="ff0000"/>
                </a:solidFill>
                <a:latin typeface="Montserrat"/>
                <a:ea typeface="Arial"/>
              </a:rPr>
              <a:t>электротехникой</a:t>
            </a:r>
            <a:r>
              <a:rPr b="0" lang="ru-RU" sz="11000" spc="-1" strike="noStrike">
                <a:solidFill>
                  <a:srgbClr val="352379"/>
                </a:solidFill>
                <a:latin typeface="Montserrat"/>
                <a:ea typeface="Arial"/>
              </a:rPr>
              <a:t> также понимают техническую науку, которая изучает применение электрических и магнитных явлений для практического использования</a:t>
            </a:r>
            <a:r>
              <a:rPr b="0" lang="ru-RU" sz="11000" spc="-1" strike="noStrike">
                <a:solidFill>
                  <a:srgbClr val="352379"/>
                </a:solidFill>
                <a:latin typeface="Times New Roman"/>
                <a:ea typeface="Arial"/>
              </a:rPr>
              <a:t>.</a:t>
            </a:r>
            <a:endParaRPr b="0" lang="ru-RU" sz="11000" spc="-1" strike="noStrike">
              <a:solidFill>
                <a:srgbClr val="352379"/>
              </a:solidFill>
              <a:latin typeface="Montserrat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352379"/>
              </a:solidFill>
              <a:latin typeface="Montserra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Num" idx="12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73FF699-A36B-4879-9FD9-EC18666AC00C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187" name="Прямоугольник 1"/>
          <p:cNvSpPr/>
          <p:nvPr/>
        </p:nvSpPr>
        <p:spPr>
          <a:xfrm>
            <a:off x="436680" y="970200"/>
            <a:ext cx="11639160" cy="54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ru-RU" sz="4400" spc="-1" strike="noStrike">
                <a:solidFill>
                  <a:srgbClr val="ff0000"/>
                </a:solidFill>
                <a:latin typeface="Montserrat"/>
                <a:ea typeface="Arial"/>
              </a:rPr>
              <a:t>Электротехника</a:t>
            </a:r>
            <a:r>
              <a:rPr b="0" lang="ru-RU" sz="4400" spc="-1" strike="noStrike">
                <a:solidFill>
                  <a:srgbClr val="352379"/>
                </a:solidFill>
                <a:latin typeface="Montserrat"/>
                <a:ea typeface="Arial"/>
              </a:rPr>
              <a:t> имеет множество разделов. </a:t>
            </a:r>
            <a:endParaRPr b="0" lang="ru-RU" sz="4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rgbClr val="352379"/>
                </a:solidFill>
                <a:latin typeface="Montserrat"/>
                <a:ea typeface="Arial"/>
              </a:rPr>
              <a:t>основные:</a:t>
            </a:r>
            <a:endParaRPr b="0" lang="ru-RU" sz="44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352379"/>
              </a:buClr>
              <a:buFont typeface="StarSymbol"/>
              <a:buChar char="-"/>
            </a:pPr>
            <a:r>
              <a:rPr b="0" lang="ru-RU" sz="4400" spc="-1" strike="noStrike">
                <a:solidFill>
                  <a:srgbClr val="352379"/>
                </a:solidFill>
                <a:latin typeface="Montserrat"/>
                <a:ea typeface="Arial"/>
              </a:rPr>
              <a:t>электроэнергетика;</a:t>
            </a:r>
            <a:endParaRPr b="0" lang="ru-RU" sz="44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352379"/>
              </a:buClr>
              <a:buFont typeface="StarSymbol"/>
              <a:buChar char="-"/>
            </a:pPr>
            <a:r>
              <a:rPr b="0" lang="ru-RU" sz="4400" spc="-1" strike="noStrike">
                <a:solidFill>
                  <a:srgbClr val="352379"/>
                </a:solidFill>
                <a:latin typeface="Montserrat"/>
                <a:ea typeface="Arial"/>
              </a:rPr>
              <a:t>электромеханика;</a:t>
            </a:r>
            <a:endParaRPr b="0" lang="ru-RU" sz="44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352379"/>
              </a:buClr>
              <a:buFont typeface="StarSymbol"/>
              <a:buChar char="-"/>
            </a:pPr>
            <a:r>
              <a:rPr b="0" lang="ru-RU" sz="4400" spc="-1" strike="noStrike">
                <a:solidFill>
                  <a:srgbClr val="352379"/>
                </a:solidFill>
                <a:latin typeface="Montserrat"/>
                <a:ea typeface="Arial"/>
              </a:rPr>
              <a:t>системы автоматического управления;</a:t>
            </a:r>
            <a:endParaRPr b="0" lang="ru-RU" sz="44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352379"/>
              </a:buClr>
              <a:buFont typeface="StarSymbol"/>
              <a:buChar char="-"/>
            </a:pPr>
            <a:r>
              <a:rPr b="0" lang="ru-RU" sz="4400" spc="-1" strike="noStrike">
                <a:solidFill>
                  <a:srgbClr val="352379"/>
                </a:solidFill>
                <a:latin typeface="Montserrat"/>
                <a:ea typeface="Arial"/>
              </a:rPr>
              <a:t>электроника.</a:t>
            </a:r>
            <a:endParaRPr b="0" lang="ru-RU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рямоугольник 1"/>
          <p:cNvSpPr/>
          <p:nvPr/>
        </p:nvSpPr>
        <p:spPr>
          <a:xfrm>
            <a:off x="704160" y="1166760"/>
            <a:ext cx="10905480" cy="5576040"/>
          </a:xfrm>
          <a:prstGeom prst="rect">
            <a:avLst/>
          </a:prstGeom>
          <a:solidFill>
            <a:srgbClr val="f3de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Все электротехнические устройства по назначению, принципу действия и конструктивному оформлению можно разделить на три большие группы. 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Источники энергии</a:t>
            </a: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, т.е. устройства, вырабатывающие электрический ток (генераторы, термоэлементы, фотоэлементы, химические элементы). 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2400"/>
            </a:br>
            <a:r>
              <a:rPr b="1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Приемники, или нагрузка</a:t>
            </a: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, т.е. устройства, потребляющие электрический ток (электродвигатели, электролампы, электромеханизмы и т.д.). 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2400"/>
            </a:br>
            <a:r>
              <a:rPr b="1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Проводники, а также различная коммутационная аппаратура </a:t>
            </a: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(выключатели, реле, контакторы и т.д.). 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Прямоугольник 1"/>
          <p:cNvSpPr/>
          <p:nvPr/>
        </p:nvSpPr>
        <p:spPr>
          <a:xfrm>
            <a:off x="850680" y="813960"/>
            <a:ext cx="10646640" cy="4782240"/>
          </a:xfrm>
          <a:prstGeom prst="rect">
            <a:avLst/>
          </a:prstGeom>
          <a:solidFill>
            <a:srgbClr val="f3de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Для работы электрической цепи необходимо наличие </a:t>
            </a:r>
            <a:r>
              <a:rPr b="1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источников энергии</a:t>
            </a:r>
            <a:r>
              <a:rPr b="0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. 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В любом источнике за счет сторонних сил неэлектрического происхождения создается электродвижущая сила  ( э.д.с). 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На зажимах источника возникает разность потенциалов или </a:t>
            </a:r>
            <a:r>
              <a:rPr b="1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напряжение</a:t>
            </a:r>
            <a:r>
              <a:rPr b="0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 (</a:t>
            </a:r>
            <a:r>
              <a:rPr b="0" lang="en-US" sz="2800" spc="-1" strike="noStrike">
                <a:solidFill>
                  <a:srgbClr val="352379"/>
                </a:solidFill>
                <a:latin typeface="Calibri"/>
                <a:ea typeface="Arial"/>
              </a:rPr>
              <a:t>U)</a:t>
            </a:r>
            <a:r>
              <a:rPr b="0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, под воздействием которого во внешней, присоединенной к источнику части цепи, возникает электрический ток.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Прямоугольник 1"/>
          <p:cNvSpPr/>
          <p:nvPr/>
        </p:nvSpPr>
        <p:spPr>
          <a:xfrm>
            <a:off x="1131480" y="797760"/>
            <a:ext cx="9781920" cy="4964040"/>
          </a:xfrm>
          <a:prstGeom prst="rect">
            <a:avLst/>
          </a:prstGeom>
          <a:solidFill>
            <a:srgbClr val="f3de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352379"/>
                </a:solidFill>
                <a:latin typeface="Calibri"/>
                <a:ea typeface="Arial"/>
              </a:rPr>
              <a:t>Различают </a:t>
            </a:r>
            <a:r>
              <a:rPr b="1" lang="ru-RU" sz="3200" spc="-1" strike="noStrike">
                <a:solidFill>
                  <a:srgbClr val="352379"/>
                </a:solidFill>
                <a:latin typeface="Calibri"/>
                <a:ea typeface="Arial"/>
              </a:rPr>
              <a:t>активные и пассивные цепи</a:t>
            </a:r>
            <a:r>
              <a:rPr b="0" lang="ru-RU" sz="3200" spc="-1" strike="noStrike">
                <a:solidFill>
                  <a:srgbClr val="352379"/>
                </a:solidFill>
                <a:latin typeface="Calibri"/>
                <a:ea typeface="Arial"/>
              </a:rPr>
              <a:t>, участки и элементы цепей.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352379"/>
                </a:solidFill>
                <a:latin typeface="Calibri"/>
                <a:ea typeface="Arial"/>
              </a:rPr>
              <a:t> </a:t>
            </a:r>
            <a:r>
              <a:rPr b="1" lang="ru-RU" sz="3200" spc="-1" strike="noStrike">
                <a:solidFill>
                  <a:srgbClr val="352379"/>
                </a:solidFill>
                <a:latin typeface="Calibri"/>
                <a:ea typeface="Arial"/>
              </a:rPr>
              <a:t>Активными </a:t>
            </a:r>
            <a:r>
              <a:rPr b="0" lang="ru-RU" sz="3200" spc="-1" strike="noStrike">
                <a:solidFill>
                  <a:srgbClr val="352379"/>
                </a:solidFill>
                <a:latin typeface="Calibri"/>
                <a:ea typeface="Arial"/>
              </a:rPr>
              <a:t>называют электрические цепи, содержащие источники энергии, </a:t>
            </a: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352379"/>
                </a:solidFill>
                <a:latin typeface="Calibri"/>
                <a:ea typeface="Arial"/>
              </a:rPr>
              <a:t>пассивными</a:t>
            </a:r>
            <a:r>
              <a:rPr b="0" lang="ru-RU" sz="3200" spc="-1" strike="noStrike">
                <a:solidFill>
                  <a:srgbClr val="352379"/>
                </a:solidFill>
                <a:latin typeface="Calibri"/>
                <a:ea typeface="Arial"/>
              </a:rPr>
              <a:t> - электрические цепи, не содержащие источников энергии. </a:t>
            </a: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Прямоугольник 1"/>
          <p:cNvSpPr/>
          <p:nvPr/>
        </p:nvSpPr>
        <p:spPr>
          <a:xfrm>
            <a:off x="1121040" y="1197720"/>
            <a:ext cx="9611640" cy="5697720"/>
          </a:xfrm>
          <a:prstGeom prst="rect">
            <a:avLst/>
          </a:prstGeom>
          <a:solidFill>
            <a:srgbClr val="f3de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Направленное движение электрических зарядов называют </a:t>
            </a:r>
            <a:r>
              <a:rPr b="1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электрическим током. 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Электрический ток может возникать в замкнутой электрической цепи. Электрический ток, направление и величина которого неизменны, называют </a:t>
            </a:r>
            <a:r>
              <a:rPr b="1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постоянным током </a:t>
            </a: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и обозначают прописной буквой </a:t>
            </a:r>
            <a:r>
              <a:rPr b="1" lang="en-US" sz="3200" spc="-1" strike="noStrike">
                <a:solidFill>
                  <a:srgbClr val="352379"/>
                </a:solidFill>
                <a:latin typeface="Aparajita"/>
                <a:ea typeface="Arial"/>
              </a:rPr>
              <a:t>I</a:t>
            </a: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.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2400"/>
            </a:b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Электрический ток, величина и направление которого не остаются постоянными, называется </a:t>
            </a:r>
            <a:r>
              <a:rPr b="1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переменным током.</a:t>
            </a: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 Значение переменного тока в рассматриваемый момент времени называют мгновенным и обозначают строчной буквой </a:t>
            </a:r>
            <a:r>
              <a:rPr b="1" lang="ru-RU" sz="2400" spc="-1" strike="noStrike">
                <a:solidFill>
                  <a:srgbClr val="352379"/>
                </a:solidFill>
                <a:latin typeface="Arial"/>
                <a:ea typeface="Arial"/>
              </a:rPr>
              <a:t>i</a:t>
            </a:r>
            <a:r>
              <a:rPr b="1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.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 </a:t>
            </a:r>
            <a:endParaRPr b="0" lang="ru-RU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Прямоугольник 1"/>
          <p:cNvSpPr/>
          <p:nvPr/>
        </p:nvSpPr>
        <p:spPr>
          <a:xfrm>
            <a:off x="1238760" y="1138680"/>
            <a:ext cx="9993240" cy="3502440"/>
          </a:xfrm>
          <a:prstGeom prst="rect">
            <a:avLst/>
          </a:prstGeom>
          <a:solidFill>
            <a:srgbClr val="f3de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Электрическая цепь может содержать: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Коммутационные элементы (выключатели)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Защитные элементы (предохранители)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Контролирующие элементы (измерительные приборы)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Прямоугольник 1"/>
          <p:cNvSpPr/>
          <p:nvPr/>
        </p:nvSpPr>
        <p:spPr>
          <a:xfrm>
            <a:off x="1273320" y="1527840"/>
            <a:ext cx="8725680" cy="4782240"/>
          </a:xfrm>
          <a:prstGeom prst="rect">
            <a:avLst/>
          </a:prstGeom>
          <a:solidFill>
            <a:srgbClr val="f3de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Электрическую цепь называют </a:t>
            </a:r>
            <a:r>
              <a:rPr b="1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линейной, </a:t>
            </a:r>
            <a:r>
              <a:rPr b="0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если ни один параметр цепи не зависит от величины или направления тока, или напряжения.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2800"/>
            </a:br>
            <a:r>
              <a:rPr b="0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Электрическая цепь является </a:t>
            </a:r>
            <a:r>
              <a:rPr b="1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нелинейной</a:t>
            </a:r>
            <a:r>
              <a:rPr b="0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, если она содержит хотя бы один нелинейный элемент.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 </a:t>
            </a:r>
            <a:r>
              <a:rPr b="0" lang="ru-RU" sz="2800" spc="-1" strike="noStrike">
                <a:solidFill>
                  <a:srgbClr val="352379"/>
                </a:solidFill>
                <a:latin typeface="Calibri"/>
                <a:ea typeface="Arial"/>
              </a:rPr>
              <a:t>Параметры нелинейных элементов зависят от величины или направления тока, или напряжения. 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Прямоугольник 1"/>
          <p:cNvSpPr/>
          <p:nvPr/>
        </p:nvSpPr>
        <p:spPr>
          <a:xfrm>
            <a:off x="271800" y="890640"/>
            <a:ext cx="5824080" cy="6307560"/>
          </a:xfrm>
          <a:prstGeom prst="rect">
            <a:avLst/>
          </a:prstGeom>
          <a:solidFill>
            <a:srgbClr val="f3de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Электрическая схема </a:t>
            </a: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- это графическое изображение электрической цепи, включающее в себя условные обозначения устройств и показывающее соединение этих устройств. 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Для облегчения анализа электрическую цепь заменяют схемой замещения. </a:t>
            </a:r>
            <a:br>
              <a:rPr sz="2400"/>
            </a:br>
            <a:r>
              <a:rPr b="1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Схема замещения </a:t>
            </a: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- это графическое изображение электрической цепи с помощью идеальных элементов, параметрами которых являются параметры замещаемых элементов.  </a:t>
            </a:r>
            <a:endParaRPr b="0" lang="ru-RU" sz="2400" spc="-1" strike="noStrike">
              <a:latin typeface="Arial"/>
            </a:endParaRPr>
          </a:p>
        </p:txBody>
      </p:sp>
      <p:pic>
        <p:nvPicPr>
          <p:cNvPr id="195" name="Picture 2" descr="http://www.normalizator.com/manuals/lessons/matusko/images/ris_1.gif"/>
          <p:cNvPicPr/>
          <p:nvPr/>
        </p:nvPicPr>
        <p:blipFill>
          <a:blip r:embed="rId1">
            <a:lum bright="28000"/>
          </a:blip>
          <a:stretch/>
        </p:blipFill>
        <p:spPr>
          <a:xfrm>
            <a:off x="6942240" y="684360"/>
            <a:ext cx="3528000" cy="1439640"/>
          </a:xfrm>
          <a:prstGeom prst="rect">
            <a:avLst/>
          </a:prstGeom>
          <a:ln w="0">
            <a:noFill/>
          </a:ln>
        </p:spPr>
      </p:pic>
      <p:sp>
        <p:nvSpPr>
          <p:cNvPr id="196" name="Прямоугольник 4"/>
          <p:cNvSpPr/>
          <p:nvPr/>
        </p:nvSpPr>
        <p:spPr>
          <a:xfrm>
            <a:off x="6921000" y="2124360"/>
            <a:ext cx="3850920" cy="13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600" spc="-1" strike="noStrike">
                <a:solidFill>
                  <a:srgbClr val="352379"/>
                </a:solidFill>
                <a:latin typeface="Calibri"/>
                <a:ea typeface="Arial"/>
              </a:rPr>
              <a:t>На рис. </a:t>
            </a:r>
            <a:r>
              <a:rPr b="0" lang="en-US" sz="1600" spc="-1" strike="noStrike">
                <a:solidFill>
                  <a:srgbClr val="352379"/>
                </a:solidFill>
                <a:latin typeface="Calibri"/>
                <a:ea typeface="Arial"/>
              </a:rPr>
              <a:t> </a:t>
            </a:r>
            <a:r>
              <a:rPr b="0" lang="ru-RU" sz="1600" spc="-1" strike="noStrike">
                <a:solidFill>
                  <a:srgbClr val="352379"/>
                </a:solidFill>
                <a:latin typeface="Calibri"/>
                <a:ea typeface="Arial"/>
              </a:rPr>
              <a:t>изображена электрическая схема цепи, состоящей из источника энергии, электроламп 1 и 2, электродвигателя 3. </a:t>
            </a:r>
            <a:endParaRPr b="0" lang="ru-RU" sz="1600" spc="-1" strike="noStrike">
              <a:latin typeface="Arial"/>
            </a:endParaRPr>
          </a:p>
        </p:txBody>
      </p:sp>
      <p:pic>
        <p:nvPicPr>
          <p:cNvPr id="197" name="Picture 3" descr="http://www.normalizator.com/manuals/lessons/matusko/images/ris_2.gif"/>
          <p:cNvPicPr/>
          <p:nvPr/>
        </p:nvPicPr>
        <p:blipFill>
          <a:blip r:embed="rId2"/>
          <a:stretch/>
        </p:blipFill>
        <p:spPr>
          <a:xfrm>
            <a:off x="6942240" y="3483000"/>
            <a:ext cx="3600000" cy="1890000"/>
          </a:xfrm>
          <a:prstGeom prst="rect">
            <a:avLst/>
          </a:prstGeom>
          <a:ln w="0">
            <a:noFill/>
          </a:ln>
        </p:spPr>
      </p:pic>
      <p:sp>
        <p:nvSpPr>
          <p:cNvPr id="198" name="Прямоугольник 6"/>
          <p:cNvSpPr/>
          <p:nvPr/>
        </p:nvSpPr>
        <p:spPr>
          <a:xfrm>
            <a:off x="7577280" y="5599440"/>
            <a:ext cx="2329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52379"/>
                </a:solidFill>
                <a:latin typeface="Calibri"/>
                <a:ea typeface="Arial"/>
              </a:rPr>
              <a:t>схема замещения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Прямоугольник 1"/>
          <p:cNvSpPr/>
          <p:nvPr/>
        </p:nvSpPr>
        <p:spPr>
          <a:xfrm>
            <a:off x="509400" y="731520"/>
            <a:ext cx="9861480" cy="6673320"/>
          </a:xfrm>
          <a:prstGeom prst="rect">
            <a:avLst/>
          </a:prstGeom>
          <a:solidFill>
            <a:srgbClr val="f3de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Пассивные элементы схемы замещения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     </a:t>
            </a: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Простейшими пассивными элементами схемы замещения являются </a:t>
            </a:r>
            <a:r>
              <a:rPr b="1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сопротивление, индуктивность и емкость</a:t>
            </a: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.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2400"/>
            </a:b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В реальной цепи электрическим сопротивлением обладают не только реостат или резистор, но и проводники, катушки, конденсаторы и т.д. </a:t>
            </a:r>
            <a:r>
              <a:rPr b="0" i="1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Общим свойством всех устройств, обладающих сопротивлением, является необратимое преобразование электрической энергии в тепловую. 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352379"/>
                </a:solidFill>
                <a:latin typeface="Calibri"/>
                <a:ea typeface="Arial"/>
              </a:rPr>
              <a:t>Тепловая энергия, выделяемая в сопротивлении, полезно используется или рассеивается в пространстве. В схеме замещения во всех случаях, когда надо учесть необратимое преобразование энергии, включается сопротивление. </a:t>
            </a:r>
            <a:endParaRPr b="0" lang="ru-RU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Num" idx="13"/>
          </p:nvPr>
        </p:nvSpPr>
        <p:spPr>
          <a:xfrm>
            <a:off x="9767880" y="6248520"/>
            <a:ext cx="442440" cy="456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3B1B708-7EFD-4EBE-803C-4C873ED996C3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title"/>
          </p:nvPr>
        </p:nvSpPr>
        <p:spPr>
          <a:xfrm>
            <a:off x="1981080" y="457200"/>
            <a:ext cx="8229240" cy="8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c00000"/>
                </a:solidFill>
                <a:latin typeface="Montserrat SemiBold"/>
                <a:ea typeface="Arial"/>
              </a:rPr>
              <a:t>Электрические цепи.</a:t>
            </a:r>
            <a:br>
              <a:rPr sz="3200"/>
            </a:br>
            <a:r>
              <a:rPr b="0" lang="ru-RU" sz="3200" spc="-1" strike="noStrike">
                <a:solidFill>
                  <a:srgbClr val="c00000"/>
                </a:solidFill>
                <a:latin typeface="Montserrat SemiBold"/>
                <a:ea typeface="Arial"/>
              </a:rPr>
              <a:t>Основные понятия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202" name="Rectangle 7"/>
          <p:cNvSpPr/>
          <p:nvPr/>
        </p:nvSpPr>
        <p:spPr>
          <a:xfrm>
            <a:off x="497520" y="1411920"/>
            <a:ext cx="1152504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ru-RU" sz="2000" spc="-1" strike="noStrike">
                <a:solidFill>
                  <a:srgbClr val="ff3300"/>
                </a:solidFill>
                <a:latin typeface="Times New Roman"/>
                <a:ea typeface="Arial"/>
              </a:rPr>
              <a:t>	</a:t>
            </a:r>
            <a:r>
              <a:rPr b="0" i="1" lang="ru-RU" sz="3200" spc="-1" strike="noStrike">
                <a:solidFill>
                  <a:srgbClr val="ff3300"/>
                </a:solidFill>
                <a:latin typeface="Times New Roman"/>
                <a:ea typeface="Arial"/>
              </a:rPr>
              <a:t>Электрическим током</a:t>
            </a:r>
            <a:r>
              <a:rPr b="0" lang="ru-RU" sz="3200" spc="-1" strike="noStrike">
                <a:solidFill>
                  <a:srgbClr val="352379"/>
                </a:solidFill>
                <a:latin typeface="Times New Roman"/>
                <a:ea typeface="Arial"/>
              </a:rPr>
              <a:t> называется направленное движение электрических зарядов.</a:t>
            </a:r>
            <a:endParaRPr b="0" lang="ru-RU" sz="3200" spc="-1" strike="noStrike">
              <a:latin typeface="Arial"/>
            </a:endParaRPr>
          </a:p>
        </p:txBody>
      </p:sp>
      <p:sp>
        <p:nvSpPr>
          <p:cNvPr id="203" name="Rectangle 8"/>
          <p:cNvSpPr/>
          <p:nvPr/>
        </p:nvSpPr>
        <p:spPr>
          <a:xfrm>
            <a:off x="432720" y="2480040"/>
            <a:ext cx="11371680" cy="20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	</a:t>
            </a:r>
            <a:r>
              <a:rPr b="0" lang="ru-RU" sz="3200" spc="-1" strike="noStrike">
                <a:solidFill>
                  <a:srgbClr val="352379"/>
                </a:solidFill>
                <a:latin typeface="Times New Roman"/>
                <a:ea typeface="Arial"/>
              </a:rPr>
              <a:t>Количественная оценка электрического тока- сила тока (или ток) – это количество</a:t>
            </a:r>
            <a:r>
              <a:rPr b="0" lang="en-US" sz="3200" spc="-1" strike="noStrike">
                <a:solidFill>
                  <a:srgbClr val="352379"/>
                </a:solidFill>
                <a:latin typeface="Times New Roman"/>
                <a:ea typeface="Arial"/>
              </a:rPr>
              <a:t> </a:t>
            </a:r>
            <a:r>
              <a:rPr b="0" lang="ru-RU" sz="3200" spc="-1" strike="noStrike">
                <a:solidFill>
                  <a:srgbClr val="352379"/>
                </a:solidFill>
                <a:latin typeface="Times New Roman"/>
                <a:ea typeface="Arial"/>
              </a:rPr>
              <a:t>заряда, прошедшего через рассматриваемое сечение проводника за одну секунду.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352379"/>
                </a:solidFill>
                <a:latin typeface="Times New Roman"/>
                <a:ea typeface="Arial"/>
              </a:rPr>
              <a:t>	</a:t>
            </a:r>
            <a:r>
              <a:rPr b="0" lang="ru-RU" sz="3200" spc="-1" strike="noStrike">
                <a:solidFill>
                  <a:srgbClr val="352379"/>
                </a:solidFill>
                <a:latin typeface="Times New Roman"/>
                <a:ea typeface="Arial"/>
              </a:rPr>
              <a:t>Единица измерения тока – </a:t>
            </a:r>
            <a:r>
              <a:rPr b="0" lang="ru-RU" sz="3200" spc="-1" strike="noStrike">
                <a:solidFill>
                  <a:srgbClr val="ff3300"/>
                </a:solidFill>
                <a:latin typeface="Arial"/>
                <a:ea typeface="Arial"/>
              </a:rPr>
              <a:t>ампер (сокращение – А);</a:t>
            </a:r>
            <a:endParaRPr b="0" lang="ru-RU" sz="3200" spc="-1" strike="noStrike">
              <a:latin typeface="Arial"/>
            </a:endParaRPr>
          </a:p>
        </p:txBody>
      </p:sp>
      <p:sp>
        <p:nvSpPr>
          <p:cNvPr id="204" name="Rectangle 12"/>
          <p:cNvSpPr/>
          <p:nvPr/>
        </p:nvSpPr>
        <p:spPr>
          <a:xfrm>
            <a:off x="1523880" y="30348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Rectangle 14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206" name="Object 13"/>
          <p:cNvGraphicFramePr/>
          <p:nvPr/>
        </p:nvGraphicFramePr>
        <p:xfrm>
          <a:off x="1473480" y="4542120"/>
          <a:ext cx="2785320" cy="217944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207" name="Object 1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73480" y="4542120"/>
                    <a:ext cx="2785320" cy="21794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08" name="" descr=""/>
          <p:cNvPicPr/>
          <p:nvPr/>
        </p:nvPicPr>
        <p:blipFill>
          <a:blip r:embed="rId3"/>
          <a:stretch/>
        </p:blipFill>
        <p:spPr>
          <a:xfrm>
            <a:off x="1473120" y="4533840"/>
            <a:ext cx="2781360" cy="217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nodeType="clickEffect" fill="hold">
                      <p:stCondLst>
                        <p:cond delay="indefinite"/>
                      </p:stCondLst>
                      <p:childTnLst>
                        <p:par>
                          <p:cTn id="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nodeType="clickEffect" fill="hold">
                      <p:stCondLst>
                        <p:cond delay="indefinite"/>
                      </p:stCondLst>
                      <p:childTnLst>
                        <p:par>
                          <p:cTn id="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Num" idx="14"/>
          </p:nvPr>
        </p:nvSpPr>
        <p:spPr>
          <a:xfrm>
            <a:off x="9767880" y="6248520"/>
            <a:ext cx="442440" cy="456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1ECDFC1-2F8A-4787-A6AF-A1B4AE237C25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title"/>
          </p:nvPr>
        </p:nvSpPr>
        <p:spPr>
          <a:xfrm>
            <a:off x="1981080" y="457200"/>
            <a:ext cx="8229240" cy="8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c00000"/>
                </a:solidFill>
                <a:latin typeface="Montserrat SemiBold"/>
                <a:ea typeface="Arial"/>
              </a:rPr>
              <a:t>Электрические цепи.</a:t>
            </a:r>
            <a:br>
              <a:rPr sz="3200"/>
            </a:br>
            <a:r>
              <a:rPr b="0" lang="ru-RU" sz="3200" spc="-1" strike="noStrike">
                <a:solidFill>
                  <a:srgbClr val="c00000"/>
                </a:solidFill>
                <a:latin typeface="Montserrat SemiBold"/>
                <a:ea typeface="Arial"/>
              </a:rPr>
              <a:t>Основные понятия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211" name="Rectangle 12"/>
          <p:cNvSpPr/>
          <p:nvPr/>
        </p:nvSpPr>
        <p:spPr>
          <a:xfrm>
            <a:off x="1523880" y="30348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Rectangle 14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213" name="Object 13"/>
          <p:cNvGraphicFramePr/>
          <p:nvPr/>
        </p:nvGraphicFramePr>
        <p:xfrm>
          <a:off x="1122840" y="2438280"/>
          <a:ext cx="2799720" cy="255024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214" name="Object 1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122840" y="2438280"/>
                    <a:ext cx="2799720" cy="2550240"/>
                  </a:xfrm>
                  <a:prstGeom prst="rect">
                    <a:avLst/>
                  </a:prstGeom>
                  <a:ln w="9525">
                    <a:solidFill>
                      <a:srgbClr val="c00000"/>
                    </a:solidFill>
                    <a:miter/>
                  </a:ln>
                </p:spPr>
              </p:pic>
            </p:oleObj>
          </a:graphicData>
        </a:graphic>
      </p:graphicFrame>
      <p:sp>
        <p:nvSpPr>
          <p:cNvPr id="215" name="Rectangle 15"/>
          <p:cNvSpPr/>
          <p:nvPr/>
        </p:nvSpPr>
        <p:spPr>
          <a:xfrm>
            <a:off x="409680" y="1463400"/>
            <a:ext cx="107751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ru-RU" sz="2800" spc="-1" strike="noStrike">
                <a:solidFill>
                  <a:srgbClr val="ff3300"/>
                </a:solidFill>
                <a:latin typeface="Arial"/>
                <a:ea typeface="Arial"/>
              </a:rPr>
              <a:t>Мгновенное</a:t>
            </a:r>
            <a:r>
              <a:rPr b="0" lang="ru-RU" sz="2800" spc="-1" strike="noStrike">
                <a:solidFill>
                  <a:srgbClr val="ff3300"/>
                </a:solidFill>
                <a:latin typeface="Arial"/>
                <a:ea typeface="Arial"/>
              </a:rPr>
              <a:t> значение тока</a:t>
            </a:r>
            <a:r>
              <a:rPr b="0" lang="ru-RU" sz="2800" spc="-1" strike="noStrike">
                <a:solidFill>
                  <a:srgbClr val="352379"/>
                </a:solidFill>
                <a:latin typeface="Arial"/>
                <a:ea typeface="Arial"/>
              </a:rPr>
              <a:t>, обозначается строчной буквой </a:t>
            </a:r>
            <a:r>
              <a:rPr b="0" i="1" lang="de-DE" sz="2800" spc="-1" strike="noStrike">
                <a:solidFill>
                  <a:srgbClr val="ff0000"/>
                </a:solidFill>
                <a:latin typeface="Times New Roman"/>
                <a:ea typeface="Arial"/>
              </a:rPr>
              <a:t>i</a:t>
            </a:r>
            <a:r>
              <a:rPr b="0" lang="ru-RU" sz="2800" spc="-1" strike="noStrike">
                <a:solidFill>
                  <a:srgbClr val="ff0000"/>
                </a:solidFill>
                <a:latin typeface="Arial"/>
                <a:ea typeface="Arial"/>
              </a:rPr>
              <a:t>.</a:t>
            </a:r>
            <a:r>
              <a:rPr b="0" lang="ru-RU" sz="2800" spc="-1" strike="noStrike">
                <a:solidFill>
                  <a:srgbClr val="352379"/>
                </a:solidFill>
                <a:latin typeface="Arial"/>
                <a:ea typeface="Arial"/>
              </a:rPr>
              <a:t> 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16" name="Rectangle 16"/>
          <p:cNvSpPr/>
          <p:nvPr/>
        </p:nvSpPr>
        <p:spPr>
          <a:xfrm>
            <a:off x="482760" y="5635440"/>
            <a:ext cx="1106208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Постоянный ток, ток который не изменяется по времени (</a:t>
            </a:r>
            <a:r>
              <a:rPr b="0" i="1" lang="en-US" sz="2800" spc="-1" strike="noStrike">
                <a:solidFill>
                  <a:srgbClr val="c00000"/>
                </a:solidFill>
                <a:latin typeface="Times New Roman"/>
                <a:ea typeface="Arial"/>
              </a:rPr>
              <a:t>i</a:t>
            </a:r>
            <a:r>
              <a:rPr b="0" i="1" lang="ru-RU" sz="2800" spc="-1" strike="noStrike">
                <a:solidFill>
                  <a:srgbClr val="c00000"/>
                </a:solidFill>
                <a:latin typeface="Times New Roman"/>
                <a:ea typeface="Arial"/>
              </a:rPr>
              <a:t>(</a:t>
            </a:r>
            <a:r>
              <a:rPr b="0" i="1" lang="en-US" sz="2800" spc="-1" strike="noStrike">
                <a:solidFill>
                  <a:srgbClr val="c00000"/>
                </a:solidFill>
                <a:latin typeface="Times New Roman"/>
                <a:ea typeface="Arial"/>
              </a:rPr>
              <a:t>t</a:t>
            </a:r>
            <a:r>
              <a:rPr b="0" i="1" lang="ru-RU" sz="2800" spc="-1" strike="noStrike">
                <a:solidFill>
                  <a:srgbClr val="c00000"/>
                </a:solidFill>
                <a:latin typeface="Times New Roman"/>
                <a:ea typeface="Arial"/>
              </a:rPr>
              <a:t>)</a:t>
            </a:r>
            <a:r>
              <a:rPr b="0" lang="ru-RU" sz="2800" spc="-1" strike="noStrike">
                <a:solidFill>
                  <a:srgbClr val="c00000"/>
                </a:solidFill>
                <a:latin typeface="Times New Roman"/>
                <a:ea typeface="Arial"/>
              </a:rPr>
              <a:t>=</a:t>
            </a:r>
            <a:r>
              <a:rPr b="0" lang="en-US" sz="2800" spc="-1" strike="noStrike">
                <a:solidFill>
                  <a:srgbClr val="c00000"/>
                </a:solidFill>
                <a:latin typeface="Times New Roman"/>
                <a:ea typeface="Arial"/>
              </a:rPr>
              <a:t>const</a:t>
            </a:r>
            <a:r>
              <a:rPr b="0" lang="ru-RU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)</a:t>
            </a:r>
            <a:r>
              <a:rPr b="0" lang="en-US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.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Постоянный ток обозначается </a:t>
            </a:r>
            <a:r>
              <a:rPr b="0" lang="ru-RU" sz="2800" spc="-1" strike="noStrike" u="sng">
                <a:solidFill>
                  <a:srgbClr val="ff3300"/>
                </a:solidFill>
                <a:uFillTx/>
                <a:latin typeface="Times New Roman"/>
                <a:ea typeface="Arial"/>
              </a:rPr>
              <a:t>только</a:t>
            </a:r>
            <a:r>
              <a:rPr b="0" lang="ru-RU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 прописной буквой </a:t>
            </a:r>
            <a:r>
              <a:rPr b="0" i="1" lang="en-US" sz="2800" spc="-1" strike="noStrike">
                <a:solidFill>
                  <a:srgbClr val="ff3300"/>
                </a:solidFill>
                <a:latin typeface="Times New Roman"/>
                <a:ea typeface="Arial"/>
              </a:rPr>
              <a:t>I</a:t>
            </a:r>
            <a:r>
              <a:rPr b="0" i="1" lang="ru-RU" sz="2800" spc="-1" strike="noStrike">
                <a:solidFill>
                  <a:srgbClr val="ff3300"/>
                </a:solidFill>
                <a:latin typeface="Times New Roman"/>
                <a:ea typeface="Arial"/>
              </a:rPr>
              <a:t> </a:t>
            </a:r>
            <a:r>
              <a:rPr b="0" lang="ru-RU" sz="2800" spc="-1" strike="noStrike">
                <a:solidFill>
                  <a:srgbClr val="ff3300"/>
                </a:solidFill>
                <a:latin typeface="Times New Roman"/>
                <a:ea typeface="Arial"/>
              </a:rPr>
              <a:t>(</a:t>
            </a:r>
            <a:r>
              <a:rPr b="0" i="1" lang="en-US" sz="2800" spc="-1" strike="noStrike">
                <a:solidFill>
                  <a:srgbClr val="ff3300"/>
                </a:solidFill>
                <a:latin typeface="Times New Roman"/>
                <a:ea typeface="Arial"/>
              </a:rPr>
              <a:t>I=i</a:t>
            </a:r>
            <a:r>
              <a:rPr b="0" lang="ru-RU" sz="2800" spc="-1" strike="noStrike">
                <a:solidFill>
                  <a:srgbClr val="ff3300"/>
                </a:solidFill>
                <a:latin typeface="Times New Roman"/>
                <a:ea typeface="Arial"/>
              </a:rPr>
              <a:t>)</a:t>
            </a:r>
            <a:r>
              <a:rPr b="0" lang="ru-RU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. </a:t>
            </a:r>
            <a:endParaRPr b="0" lang="ru-RU" sz="2800" spc="-1" strike="noStrike">
              <a:latin typeface="Arial"/>
            </a:endParaRPr>
          </a:p>
        </p:txBody>
      </p:sp>
      <p:grpSp>
        <p:nvGrpSpPr>
          <p:cNvPr id="217" name="Группа 11"/>
          <p:cNvGrpSpPr/>
          <p:nvPr/>
        </p:nvGrpSpPr>
        <p:grpSpPr>
          <a:xfrm>
            <a:off x="6419880" y="2533320"/>
            <a:ext cx="4345920" cy="2502000"/>
            <a:chOff x="6419880" y="2533320"/>
            <a:chExt cx="4345920" cy="2502000"/>
          </a:xfrm>
        </p:grpSpPr>
        <p:sp>
          <p:nvSpPr>
            <p:cNvPr id="218" name="Line 3"/>
            <p:cNvSpPr/>
            <p:nvPr/>
          </p:nvSpPr>
          <p:spPr>
            <a:xfrm>
              <a:off x="7229520" y="3309120"/>
              <a:ext cx="1828080" cy="360"/>
            </a:xfrm>
            <a:prstGeom prst="line">
              <a:avLst/>
            </a:prstGeom>
            <a:ln w="38100">
              <a:solidFill>
                <a:srgbClr val="35237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9" name="Rectangle 4"/>
            <p:cNvSpPr/>
            <p:nvPr/>
          </p:nvSpPr>
          <p:spPr>
            <a:xfrm>
              <a:off x="9060120" y="2767320"/>
              <a:ext cx="1705680" cy="2139840"/>
            </a:xfrm>
            <a:prstGeom prst="rect">
              <a:avLst/>
            </a:prstGeom>
            <a:solidFill>
              <a:srgbClr val="f4efa8"/>
            </a:solidFill>
            <a:ln w="38100">
              <a:solidFill>
                <a:srgbClr val="35237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0" name="Line 5"/>
            <p:cNvSpPr/>
            <p:nvPr/>
          </p:nvSpPr>
          <p:spPr>
            <a:xfrm>
              <a:off x="7229520" y="4486320"/>
              <a:ext cx="1828080" cy="360"/>
            </a:xfrm>
            <a:prstGeom prst="line">
              <a:avLst/>
            </a:prstGeom>
            <a:ln w="38100">
              <a:solidFill>
                <a:srgbClr val="35237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1" name="Oval 6"/>
            <p:cNvSpPr/>
            <p:nvPr/>
          </p:nvSpPr>
          <p:spPr>
            <a:xfrm>
              <a:off x="7229880" y="3255840"/>
              <a:ext cx="121680" cy="10656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35237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2" name="Oval 7"/>
            <p:cNvSpPr/>
            <p:nvPr/>
          </p:nvSpPr>
          <p:spPr>
            <a:xfrm>
              <a:off x="7229880" y="4433040"/>
              <a:ext cx="121680" cy="10656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35237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Text Box 8"/>
            <p:cNvSpPr/>
            <p:nvPr/>
          </p:nvSpPr>
          <p:spPr>
            <a:xfrm>
              <a:off x="6914880" y="3440880"/>
              <a:ext cx="11268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spcBef>
                  <a:spcPts val="1800"/>
                </a:spcBef>
                <a:buNone/>
              </a:pPr>
              <a:r>
                <a:rPr b="0" i="1" lang="ru-RU" sz="3600" spc="-1" strike="noStrike">
                  <a:solidFill>
                    <a:srgbClr val="352379"/>
                  </a:solidFill>
                  <a:latin typeface="Times New Roman"/>
                  <a:ea typeface="Arial"/>
                </a:rPr>
                <a:t>u</a:t>
              </a:r>
              <a:endParaRPr b="0" lang="ru-RU" sz="3600" spc="-1" strike="noStrike">
                <a:latin typeface="Arial"/>
              </a:endParaRPr>
            </a:p>
          </p:txBody>
        </p:sp>
        <p:sp>
          <p:nvSpPr>
            <p:cNvPr id="224" name="Text Box 9"/>
            <p:cNvSpPr/>
            <p:nvPr/>
          </p:nvSpPr>
          <p:spPr>
            <a:xfrm>
              <a:off x="6419880" y="2979360"/>
              <a:ext cx="943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  <a:buNone/>
              </a:pPr>
              <a:r>
                <a:rPr b="0" lang="ru-RU" sz="2400" spc="-1" strike="noStrike">
                  <a:solidFill>
                    <a:srgbClr val="352379"/>
                  </a:solidFill>
                  <a:latin typeface="Times New Roman"/>
                  <a:ea typeface="Arial"/>
                </a:rPr>
                <a:t>(+)</a:t>
              </a:r>
              <a:endParaRPr b="0" lang="ru-RU" sz="2400" spc="-1" strike="noStrike">
                <a:latin typeface="Arial"/>
              </a:endParaRPr>
            </a:p>
          </p:txBody>
        </p:sp>
        <p:sp>
          <p:nvSpPr>
            <p:cNvPr id="225" name="Text Box 10"/>
            <p:cNvSpPr/>
            <p:nvPr/>
          </p:nvSpPr>
          <p:spPr>
            <a:xfrm>
              <a:off x="7044480" y="2533320"/>
              <a:ext cx="13096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  <a:buNone/>
              </a:pPr>
              <a:r>
                <a:rPr b="0" lang="ru-RU" sz="2400" spc="-1" strike="noStrike">
                  <a:solidFill>
                    <a:srgbClr val="352379"/>
                  </a:solidFill>
                  <a:latin typeface="Times New Roman"/>
                  <a:ea typeface="Arial"/>
                </a:rPr>
                <a:t>1</a:t>
              </a:r>
              <a:endParaRPr b="0" lang="ru-RU" sz="2400" spc="-1" strike="noStrike">
                <a:latin typeface="Arial"/>
              </a:endParaRPr>
            </a:p>
          </p:txBody>
        </p:sp>
        <p:grpSp>
          <p:nvGrpSpPr>
            <p:cNvPr id="226" name="Group 11"/>
            <p:cNvGrpSpPr/>
            <p:nvPr/>
          </p:nvGrpSpPr>
          <p:grpSpPr>
            <a:xfrm>
              <a:off x="7443000" y="2638080"/>
              <a:ext cx="2035800" cy="671400"/>
              <a:chOff x="7443000" y="2638080"/>
              <a:chExt cx="2035800" cy="671400"/>
            </a:xfrm>
          </p:grpSpPr>
          <p:sp>
            <p:nvSpPr>
              <p:cNvPr id="227" name="Text Box 12"/>
              <p:cNvSpPr/>
              <p:nvPr/>
            </p:nvSpPr>
            <p:spPr>
              <a:xfrm>
                <a:off x="8199720" y="2638080"/>
                <a:ext cx="127908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1199"/>
                  </a:spcBef>
                  <a:buNone/>
                </a:pPr>
                <a:r>
                  <a:rPr b="0" i="1" lang="en-US" sz="2400" spc="-1" strike="noStrike">
                    <a:solidFill>
                      <a:srgbClr val="352379"/>
                    </a:solidFill>
                    <a:latin typeface="Times New Roman"/>
                    <a:ea typeface="Arial"/>
                  </a:rPr>
                  <a:t>i</a:t>
                </a:r>
                <a:endParaRPr b="0" lang="ru-RU" sz="2400" spc="-1" strike="noStrike">
                  <a:latin typeface="Arial"/>
                </a:endParaRPr>
              </a:p>
            </p:txBody>
          </p:sp>
          <p:sp>
            <p:nvSpPr>
              <p:cNvPr id="228" name="Line 13"/>
              <p:cNvSpPr/>
              <p:nvPr/>
            </p:nvSpPr>
            <p:spPr>
              <a:xfrm>
                <a:off x="7443000" y="3309120"/>
                <a:ext cx="1508040" cy="360"/>
              </a:xfrm>
              <a:prstGeom prst="line">
                <a:avLst/>
              </a:prstGeom>
              <a:ln w="38100">
                <a:solidFill>
                  <a:srgbClr val="352379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229" name="Text Box 16"/>
            <p:cNvSpPr/>
            <p:nvPr/>
          </p:nvSpPr>
          <p:spPr>
            <a:xfrm>
              <a:off x="6465600" y="4151880"/>
              <a:ext cx="943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  <a:buNone/>
              </a:pPr>
              <a:r>
                <a:rPr b="0" lang="ru-RU" sz="2400" spc="-1" strike="noStrike">
                  <a:solidFill>
                    <a:srgbClr val="352379"/>
                  </a:solidFill>
                  <a:latin typeface="Times New Roman"/>
                  <a:ea typeface="Arial"/>
                </a:rPr>
                <a:t>(-)</a:t>
              </a:r>
              <a:endParaRPr b="0" lang="ru-RU" sz="2400" spc="-1" strike="noStrike">
                <a:latin typeface="Arial"/>
              </a:endParaRPr>
            </a:p>
          </p:txBody>
        </p:sp>
        <p:sp>
          <p:nvSpPr>
            <p:cNvPr id="230" name="Text Box 17"/>
            <p:cNvSpPr/>
            <p:nvPr/>
          </p:nvSpPr>
          <p:spPr>
            <a:xfrm>
              <a:off x="7024320" y="4579920"/>
              <a:ext cx="13096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  <a:buNone/>
              </a:pPr>
              <a:r>
                <a:rPr b="0" lang="ru-RU" sz="2400" spc="-1" strike="noStrike">
                  <a:solidFill>
                    <a:srgbClr val="352379"/>
                  </a:solidFill>
                  <a:latin typeface="Times New Roman"/>
                  <a:ea typeface="Arial"/>
                </a:rPr>
                <a:t>2</a:t>
              </a:r>
              <a:endParaRPr b="0" lang="ru-RU" sz="2400" spc="-1" strike="noStrike">
                <a:latin typeface="Arial"/>
              </a:endParaRPr>
            </a:p>
          </p:txBody>
        </p:sp>
      </p:grpSp>
      <p:pic>
        <p:nvPicPr>
          <p:cNvPr id="231" name="" descr=""/>
          <p:cNvPicPr/>
          <p:nvPr/>
        </p:nvPicPr>
        <p:blipFill>
          <a:blip r:embed="rId3"/>
          <a:stretch/>
        </p:blipFill>
        <p:spPr>
          <a:xfrm>
            <a:off x="1117440" y="2438280"/>
            <a:ext cx="2793960" cy="2540160"/>
          </a:xfrm>
          <a:prstGeom prst="rect">
            <a:avLst/>
          </a:prstGeom>
          <a:ln w="9360">
            <a:solidFill>
              <a:srgbClr val="c00000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" dur="indefinite" restart="never" nodeType="tmRoot">
          <p:childTnLst>
            <p:seq>
              <p:cTn id="18" dur="indefinite" nodeType="mainSeq">
                <p:childTnLst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nodeType="clickEffect" fill="hold">
                      <p:stCondLst>
                        <p:cond delay="indefinite"/>
                      </p:stCondLst>
                      <p:childTnLst>
                        <p:par>
                          <p:cTn id="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nodeType="clickEffect" fill="hold">
                      <p:stCondLst>
                        <p:cond delay="indefinite"/>
                      </p:stCondLst>
                      <p:childTnLst>
                        <p:par>
                          <p:cTn id="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nodeType="clickEffect" fill="hold">
                      <p:stCondLst>
                        <p:cond delay="indefinite"/>
                      </p:stCondLst>
                      <p:childTnLst>
                        <p:par>
                          <p:cTn id="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Num" idx="15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D76D2A2-6103-44A2-9B15-A46DF5943C22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title"/>
          </p:nvPr>
        </p:nvSpPr>
        <p:spPr>
          <a:xfrm>
            <a:off x="1981080" y="457200"/>
            <a:ext cx="8229240" cy="8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c00000"/>
                </a:solidFill>
                <a:latin typeface="Times New Roman"/>
                <a:ea typeface="Arial"/>
              </a:rPr>
              <a:t>Электрические цепи.</a:t>
            </a:r>
            <a:br>
              <a:rPr sz="2800"/>
            </a:br>
            <a:r>
              <a:rPr b="0" lang="ru-RU" sz="2800" spc="-1" strike="noStrike">
                <a:solidFill>
                  <a:srgbClr val="c00000"/>
                </a:solidFill>
                <a:latin typeface="Times New Roman"/>
                <a:ea typeface="Arial"/>
              </a:rPr>
              <a:t>Основные понятия</a:t>
            </a:r>
            <a:endParaRPr b="0" lang="ru-RU" sz="2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234" name="Rectangle 3"/>
          <p:cNvSpPr/>
          <p:nvPr/>
        </p:nvSpPr>
        <p:spPr>
          <a:xfrm>
            <a:off x="475560" y="1137240"/>
            <a:ext cx="11617920" cy="22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	</a:t>
            </a:r>
            <a:r>
              <a:rPr b="0" i="1" lang="ru-RU" sz="2800" spc="-1" strike="noStrike">
                <a:solidFill>
                  <a:srgbClr val="c00000"/>
                </a:solidFill>
                <a:latin typeface="Times New Roman"/>
                <a:ea typeface="Arial"/>
              </a:rPr>
              <a:t>Работа </a:t>
            </a:r>
            <a:r>
              <a:rPr b="0" lang="ru-RU" sz="2800" spc="-1" strike="noStrike">
                <a:solidFill>
                  <a:srgbClr val="0000cc"/>
                </a:solidFill>
                <a:latin typeface="Times New Roman"/>
                <a:ea typeface="Arial"/>
              </a:rPr>
              <a:t>(</a:t>
            </a:r>
            <a:r>
              <a:rPr b="0" i="1" lang="en-US" sz="2800" spc="-1" strike="noStrike">
                <a:solidFill>
                  <a:srgbClr val="c00000"/>
                </a:solidFill>
                <a:latin typeface="Times New Roman"/>
                <a:ea typeface="Arial"/>
              </a:rPr>
              <a:t>dW</a:t>
            </a:r>
            <a:r>
              <a:rPr b="0" lang="ru-RU" sz="2800" spc="-1" strike="noStrike">
                <a:solidFill>
                  <a:srgbClr val="0000cc"/>
                </a:solidFill>
                <a:latin typeface="Times New Roman"/>
                <a:ea typeface="Arial"/>
              </a:rPr>
              <a:t>)</a:t>
            </a:r>
            <a:r>
              <a:rPr b="0" lang="ru-RU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, совершенная при прохождении заряда</a:t>
            </a:r>
            <a:r>
              <a:rPr b="0" lang="en-US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 (</a:t>
            </a:r>
            <a:r>
              <a:rPr b="0" i="1" lang="en-US" sz="2800" spc="-1" strike="noStrike">
                <a:solidFill>
                  <a:srgbClr val="c00000"/>
                </a:solidFill>
                <a:latin typeface="Times New Roman"/>
                <a:ea typeface="Arial"/>
              </a:rPr>
              <a:t>dq</a:t>
            </a:r>
            <a:r>
              <a:rPr b="0" lang="en-US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)</a:t>
            </a:r>
            <a:r>
              <a:rPr b="0" lang="ru-RU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 от одной потенциальной точки цепи до другой, оценивается </a:t>
            </a:r>
            <a:r>
              <a:rPr b="0" i="1" lang="ru-RU" sz="2800" spc="-1" strike="noStrike">
                <a:solidFill>
                  <a:srgbClr val="ff3300"/>
                </a:solidFill>
                <a:latin typeface="Times New Roman"/>
                <a:ea typeface="Arial"/>
              </a:rPr>
              <a:t>напряжением</a:t>
            </a:r>
            <a:r>
              <a:rPr b="0" i="1" lang="en-US" sz="2800" spc="-1" strike="noStrike">
                <a:solidFill>
                  <a:srgbClr val="ff3300"/>
                </a:solidFill>
                <a:latin typeface="Times New Roman"/>
                <a:ea typeface="Arial"/>
              </a:rPr>
              <a:t> </a:t>
            </a:r>
            <a:r>
              <a:rPr b="0" lang="en-US" sz="2800" spc="-1" strike="noStrike">
                <a:solidFill>
                  <a:srgbClr val="0000cc"/>
                </a:solidFill>
                <a:latin typeface="Times New Roman"/>
                <a:ea typeface="Arial"/>
              </a:rPr>
              <a:t>(</a:t>
            </a:r>
            <a:r>
              <a:rPr b="0" i="1" lang="en-US" sz="2800" spc="-1" strike="noStrike">
                <a:solidFill>
                  <a:srgbClr val="ff3300"/>
                </a:solidFill>
                <a:latin typeface="Times New Roman"/>
                <a:ea typeface="Arial"/>
              </a:rPr>
              <a:t>u</a:t>
            </a:r>
            <a:r>
              <a:rPr b="0" lang="en-US" sz="2800" spc="-1" strike="noStrike">
                <a:solidFill>
                  <a:srgbClr val="0000cc"/>
                </a:solidFill>
                <a:latin typeface="Times New Roman"/>
                <a:ea typeface="Arial"/>
              </a:rPr>
              <a:t>)</a:t>
            </a:r>
            <a:r>
              <a:rPr b="0" i="1" lang="ru-RU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 </a:t>
            </a:r>
            <a:r>
              <a:rPr b="0" lang="ru-RU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между точками. 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ff3300"/>
                </a:solidFill>
                <a:latin typeface="Times New Roman"/>
                <a:ea typeface="Arial"/>
              </a:rPr>
              <a:t>	</a:t>
            </a:r>
            <a:r>
              <a:rPr b="0" lang="ru-RU" sz="2800" spc="-1" strike="noStrike">
                <a:solidFill>
                  <a:srgbClr val="ff3300"/>
                </a:solidFill>
                <a:latin typeface="Times New Roman"/>
                <a:ea typeface="Arial"/>
              </a:rPr>
              <a:t>Напряжение</a:t>
            </a:r>
            <a:r>
              <a:rPr b="0" lang="ru-RU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 обозначается строчной или прописной буквой </a:t>
            </a:r>
            <a:r>
              <a:rPr b="0" i="1" lang="de-DE" sz="2800" spc="-1" strike="noStrike">
                <a:solidFill>
                  <a:srgbClr val="c00000"/>
                </a:solidFill>
                <a:latin typeface="Times New Roman"/>
                <a:ea typeface="Arial"/>
              </a:rPr>
              <a:t>u</a:t>
            </a:r>
            <a:r>
              <a:rPr b="0" i="1" lang="de-DE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 (</a:t>
            </a:r>
            <a:r>
              <a:rPr b="0" i="1" lang="ru-RU" sz="2800" spc="-1" strike="noStrike">
                <a:solidFill>
                  <a:srgbClr val="ff3300"/>
                </a:solidFill>
                <a:latin typeface="Times New Roman"/>
                <a:ea typeface="Arial"/>
              </a:rPr>
              <a:t>мгновенное значение</a:t>
            </a:r>
            <a:r>
              <a:rPr b="0" i="1" lang="de-DE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)</a:t>
            </a:r>
            <a:r>
              <a:rPr b="0" i="1" lang="ru-RU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, </a:t>
            </a:r>
            <a:r>
              <a:rPr b="0" i="1" lang="de-DE" sz="2800" spc="-1" strike="noStrike">
                <a:solidFill>
                  <a:srgbClr val="c00000"/>
                </a:solidFill>
                <a:latin typeface="Times New Roman"/>
                <a:ea typeface="Arial"/>
              </a:rPr>
              <a:t>U</a:t>
            </a:r>
            <a:r>
              <a:rPr b="0" lang="ru-RU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 и измеряется в вольтах (</a:t>
            </a:r>
            <a:r>
              <a:rPr b="0" lang="ru-RU" sz="2800" spc="-1" strike="noStrike">
                <a:solidFill>
                  <a:srgbClr val="ff3300"/>
                </a:solidFill>
                <a:latin typeface="Times New Roman"/>
                <a:ea typeface="Arial"/>
              </a:rPr>
              <a:t>В</a:t>
            </a:r>
            <a:r>
              <a:rPr b="0" lang="ru-RU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). 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35" name="Rectangle 6"/>
          <p:cNvSpPr/>
          <p:nvPr/>
        </p:nvSpPr>
        <p:spPr>
          <a:xfrm>
            <a:off x="1523880" y="30348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Rectangle 8"/>
          <p:cNvSpPr/>
          <p:nvPr/>
        </p:nvSpPr>
        <p:spPr>
          <a:xfrm>
            <a:off x="1523880" y="3028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Rectangle 13"/>
          <p:cNvSpPr/>
          <p:nvPr/>
        </p:nvSpPr>
        <p:spPr>
          <a:xfrm>
            <a:off x="334800" y="4731840"/>
            <a:ext cx="1168704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cc"/>
                </a:solidFill>
                <a:latin typeface="Times New Roman"/>
                <a:ea typeface="Arial"/>
              </a:rPr>
              <a:t>         </a:t>
            </a:r>
            <a:r>
              <a:rPr b="0" lang="ru-RU" sz="2800" spc="-1" strike="noStrike">
                <a:solidFill>
                  <a:srgbClr val="0000cc"/>
                </a:solidFill>
                <a:latin typeface="Times New Roman"/>
                <a:ea typeface="Arial"/>
              </a:rPr>
              <a:t>Напряжение, замеренное между данной точкой цепи и некоторой точкой, принятой за базовую, называется </a:t>
            </a:r>
            <a:r>
              <a:rPr b="0" i="1" lang="ru-RU" sz="2800" spc="-1" strike="noStrike">
                <a:solidFill>
                  <a:srgbClr val="c00000"/>
                </a:solidFill>
                <a:latin typeface="Times New Roman"/>
                <a:ea typeface="Arial"/>
              </a:rPr>
              <a:t>потенциалом</a:t>
            </a:r>
            <a:r>
              <a:rPr b="0" lang="ru-RU" sz="2800" spc="-1" strike="noStrike">
                <a:solidFill>
                  <a:srgbClr val="0000cc"/>
                </a:solidFill>
                <a:latin typeface="Times New Roman"/>
                <a:ea typeface="Arial"/>
              </a:rPr>
              <a:t> и обозначается</a:t>
            </a:r>
            <a:r>
              <a:rPr b="0" lang="en-US" sz="2800" spc="-1" strike="noStrike">
                <a:solidFill>
                  <a:srgbClr val="0000cc"/>
                </a:solidFill>
                <a:latin typeface="Times New Roman"/>
                <a:ea typeface="Arial"/>
              </a:rPr>
              <a:t> </a:t>
            </a:r>
            <a:r>
              <a:rPr b="0" lang="ru-RU" sz="2800" spc="-1" strike="noStrike">
                <a:solidFill>
                  <a:srgbClr val="cc3300"/>
                </a:solidFill>
                <a:latin typeface="Symbol"/>
                <a:ea typeface="Arial"/>
              </a:rPr>
              <a:t></a:t>
            </a:r>
            <a:r>
              <a:rPr b="0" lang="en-US" sz="2800" spc="-1" strike="noStrike">
                <a:solidFill>
                  <a:srgbClr val="cc3300"/>
                </a:solidFill>
                <a:latin typeface="Arial"/>
                <a:ea typeface="Arial"/>
              </a:rPr>
              <a:t>.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38" name="Rectangle 16"/>
          <p:cNvSpPr/>
          <p:nvPr/>
        </p:nvSpPr>
        <p:spPr>
          <a:xfrm>
            <a:off x="405000" y="5709240"/>
            <a:ext cx="11546640" cy="11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352379"/>
                </a:solidFill>
                <a:latin typeface="Arial"/>
                <a:ea typeface="Arial"/>
              </a:rPr>
              <a:t>       </a:t>
            </a:r>
            <a:r>
              <a:rPr b="0" lang="ru-RU" sz="2400" spc="-1" strike="noStrike">
                <a:solidFill>
                  <a:srgbClr val="0000cc"/>
                </a:solidFill>
                <a:latin typeface="Times New Roman"/>
                <a:ea typeface="Arial"/>
              </a:rPr>
              <a:t>Запас энергии, приходящийся на каждый кулон, называется </a:t>
            </a:r>
            <a:r>
              <a:rPr b="0" i="1" lang="ru-RU" sz="2400" spc="-1" strike="noStrike">
                <a:solidFill>
                  <a:srgbClr val="c00000"/>
                </a:solidFill>
                <a:latin typeface="Times New Roman"/>
                <a:ea typeface="Arial"/>
              </a:rPr>
              <a:t>электродвижущей силой</a:t>
            </a:r>
            <a:r>
              <a:rPr b="0" lang="ru-RU" sz="2400" spc="-1" strike="noStrike">
                <a:solidFill>
                  <a:srgbClr val="0000cc"/>
                </a:solidFill>
                <a:latin typeface="Times New Roman"/>
                <a:ea typeface="Arial"/>
              </a:rPr>
              <a:t> (сокращённо – </a:t>
            </a:r>
            <a:r>
              <a:rPr b="0" lang="ru-RU" sz="2400" spc="-1" strike="noStrike">
                <a:solidFill>
                  <a:srgbClr val="c00000"/>
                </a:solidFill>
                <a:latin typeface="Times New Roman"/>
                <a:ea typeface="Arial"/>
              </a:rPr>
              <a:t>ЭДС</a:t>
            </a:r>
            <a:r>
              <a:rPr b="0" lang="ru-RU" sz="2400" spc="-1" strike="noStrike">
                <a:solidFill>
                  <a:srgbClr val="0000cc"/>
                </a:solidFill>
                <a:latin typeface="Times New Roman"/>
                <a:ea typeface="Arial"/>
              </a:rPr>
              <a:t>). ЭДС обозначается строчной или прописной буквами </a:t>
            </a:r>
            <a:r>
              <a:rPr b="0" i="1" lang="ru-RU" sz="2400" spc="-1" strike="noStrike">
                <a:solidFill>
                  <a:srgbClr val="c00000"/>
                </a:solidFill>
                <a:latin typeface="Times New Roman"/>
                <a:ea typeface="Arial"/>
              </a:rPr>
              <a:t>е, Е</a:t>
            </a:r>
            <a:r>
              <a:rPr b="0" lang="ru-RU" sz="2400" spc="-1" strike="noStrike">
                <a:solidFill>
                  <a:srgbClr val="c00000"/>
                </a:solidFill>
                <a:latin typeface="Times New Roman"/>
                <a:ea typeface="Arial"/>
              </a:rPr>
              <a:t> </a:t>
            </a:r>
            <a:r>
              <a:rPr b="0" lang="ru-RU" sz="2400" spc="-1" strike="noStrike">
                <a:solidFill>
                  <a:srgbClr val="0000cc"/>
                </a:solidFill>
                <a:latin typeface="Times New Roman"/>
                <a:ea typeface="Arial"/>
              </a:rPr>
              <a:t>и измеряется также в </a:t>
            </a:r>
            <a:r>
              <a:rPr b="0" i="1" lang="ru-RU" sz="2400" spc="-1" strike="noStrike">
                <a:solidFill>
                  <a:srgbClr val="0000cc"/>
                </a:solidFill>
                <a:latin typeface="Times New Roman"/>
                <a:ea typeface="Arial"/>
              </a:rPr>
              <a:t>вольтах</a:t>
            </a:r>
            <a:r>
              <a:rPr b="0" i="1" lang="ru-RU" sz="2400" spc="-1" strike="noStrike">
                <a:solidFill>
                  <a:srgbClr val="352379"/>
                </a:solidFill>
                <a:latin typeface="Arial"/>
                <a:ea typeface="Arial"/>
              </a:rPr>
              <a:t>.</a:t>
            </a:r>
            <a:r>
              <a:rPr b="0" lang="ru-RU" sz="2400" spc="-1" strike="noStrike">
                <a:solidFill>
                  <a:srgbClr val="352379"/>
                </a:solidFill>
                <a:latin typeface="Arial"/>
                <a:ea typeface="Arial"/>
              </a:rPr>
              <a:t> </a:t>
            </a:r>
            <a:endParaRPr b="0" lang="ru-RU" sz="2400" spc="-1" strike="noStrike">
              <a:latin typeface="Arial"/>
            </a:endParaRPr>
          </a:p>
        </p:txBody>
      </p:sp>
      <p:graphicFrame>
        <p:nvGraphicFramePr>
          <p:cNvPr id="239" name="Object 3"/>
          <p:cNvGraphicFramePr/>
          <p:nvPr/>
        </p:nvGraphicFramePr>
        <p:xfrm>
          <a:off x="1022760" y="3563640"/>
          <a:ext cx="4897080" cy="116640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240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022760" y="3563640"/>
                    <a:ext cx="4897080" cy="116640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41" name="Прямоугольник 13"/>
          <p:cNvSpPr/>
          <p:nvPr/>
        </p:nvSpPr>
        <p:spPr>
          <a:xfrm>
            <a:off x="9690840" y="2708280"/>
            <a:ext cx="371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0" spc="-1" strike="noStrike">
                <a:solidFill>
                  <a:srgbClr val="0000cc"/>
                </a:solidFill>
                <a:latin typeface="Times New Roman"/>
                <a:ea typeface="Arial"/>
              </a:rPr>
              <a:t>.</a:t>
            </a:r>
            <a:endParaRPr b="0" lang="ru-RU" sz="6000" spc="-1" strike="noStrike">
              <a:latin typeface="Arial"/>
            </a:endParaRPr>
          </a:p>
        </p:txBody>
      </p:sp>
      <p:grpSp>
        <p:nvGrpSpPr>
          <p:cNvPr id="242" name="Группа 6"/>
          <p:cNvGrpSpPr/>
          <p:nvPr/>
        </p:nvGrpSpPr>
        <p:grpSpPr>
          <a:xfrm>
            <a:off x="7279920" y="3142080"/>
            <a:ext cx="3074400" cy="1520640"/>
            <a:chOff x="7279920" y="3142080"/>
            <a:chExt cx="3074400" cy="1520640"/>
          </a:xfrm>
        </p:grpSpPr>
        <p:sp>
          <p:nvSpPr>
            <p:cNvPr id="243" name="Полилиния 1"/>
            <p:cNvSpPr/>
            <p:nvPr/>
          </p:nvSpPr>
          <p:spPr>
            <a:xfrm>
              <a:off x="7279920" y="3142080"/>
              <a:ext cx="3033360" cy="1520640"/>
            </a:xfrm>
            <a:custGeom>
              <a:avLst/>
              <a:gdLst/>
              <a:ahLst/>
              <a:rect l="l" t="t" r="r" b="b"/>
              <a:pathLst>
                <a:path w="3032911" h="1520982">
                  <a:moveTo>
                    <a:pt x="0" y="1520982"/>
                  </a:moveTo>
                  <a:cubicBezTo>
                    <a:pt x="199930" y="1293891"/>
                    <a:pt x="399861" y="1066800"/>
                    <a:pt x="660903" y="1050202"/>
                  </a:cubicBezTo>
                  <a:cubicBezTo>
                    <a:pt x="921945" y="1033604"/>
                    <a:pt x="1294646" y="1501366"/>
                    <a:pt x="1566250" y="1421394"/>
                  </a:cubicBezTo>
                  <a:cubicBezTo>
                    <a:pt x="1837854" y="1341422"/>
                    <a:pt x="2046084" y="807267"/>
                    <a:pt x="2290527" y="570368"/>
                  </a:cubicBezTo>
                  <a:cubicBezTo>
                    <a:pt x="2534970" y="333469"/>
                    <a:pt x="2888055" y="86008"/>
                    <a:pt x="3032911" y="0"/>
                  </a:cubicBez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4" name="Прямоугольник 2"/>
            <p:cNvSpPr/>
            <p:nvPr/>
          </p:nvSpPr>
          <p:spPr>
            <a:xfrm>
              <a:off x="7726680" y="3858840"/>
              <a:ext cx="373320" cy="57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ru-RU" sz="2800" spc="-1" strike="noStrike">
                  <a:solidFill>
                    <a:srgbClr val="0000cc"/>
                  </a:solidFill>
                  <a:latin typeface="Symbol"/>
                  <a:ea typeface="Arial"/>
                </a:rPr>
                <a:t></a:t>
              </a:r>
              <a:r>
                <a:rPr b="0" lang="en-US" sz="2800" spc="-1" strike="noStrike" baseline="-25000">
                  <a:solidFill>
                    <a:srgbClr val="0000cc"/>
                  </a:solidFill>
                  <a:latin typeface="Times New Roman"/>
                  <a:ea typeface="Arial"/>
                </a:rPr>
                <a:t>1</a:t>
              </a:r>
              <a:endParaRPr b="0" lang="ru-RU" sz="2800" spc="-1" strike="noStrike">
                <a:latin typeface="Arial"/>
              </a:endParaRPr>
            </a:p>
          </p:txBody>
        </p:sp>
        <p:sp>
          <p:nvSpPr>
            <p:cNvPr id="245" name="Прямоугольник 11"/>
            <p:cNvSpPr/>
            <p:nvPr/>
          </p:nvSpPr>
          <p:spPr>
            <a:xfrm>
              <a:off x="9767520" y="3286080"/>
              <a:ext cx="586800" cy="57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ru-RU" sz="2800" spc="-1" strike="noStrike">
                  <a:solidFill>
                    <a:srgbClr val="0000cc"/>
                  </a:solidFill>
                  <a:latin typeface="Symbol"/>
                  <a:ea typeface="Arial"/>
                </a:rPr>
                <a:t></a:t>
              </a:r>
              <a:r>
                <a:rPr b="0" lang="ru-RU" sz="2800" spc="-1" strike="noStrike">
                  <a:solidFill>
                    <a:srgbClr val="0000cc"/>
                  </a:solidFill>
                  <a:latin typeface="Symbol"/>
                  <a:ea typeface="Arial"/>
                </a:rPr>
                <a:t>φ</a:t>
              </a:r>
              <a:r>
                <a:rPr b="0" lang="en-US" sz="2800" spc="-1" strike="noStrike" baseline="-25000">
                  <a:solidFill>
                    <a:srgbClr val="0000cc"/>
                  </a:solidFill>
                  <a:latin typeface="Times New Roman"/>
                  <a:ea typeface="Arial"/>
                </a:rPr>
                <a:t>2</a:t>
              </a:r>
              <a:endParaRPr b="0" lang="ru-RU" sz="2800" spc="-1" strike="noStrike">
                <a:latin typeface="Arial"/>
              </a:endParaRPr>
            </a:p>
          </p:txBody>
        </p:sp>
        <p:sp>
          <p:nvSpPr>
            <p:cNvPr id="246" name="Прямоугольник 12"/>
            <p:cNvSpPr/>
            <p:nvPr/>
          </p:nvSpPr>
          <p:spPr>
            <a:xfrm>
              <a:off x="7422840" y="3430080"/>
              <a:ext cx="810720" cy="100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6000" spc="-1" strike="noStrike">
                  <a:solidFill>
                    <a:srgbClr val="0000cc"/>
                  </a:solidFill>
                  <a:latin typeface="Times New Roman"/>
                  <a:ea typeface="Arial"/>
                </a:rPr>
                <a:t>φ.</a:t>
              </a:r>
              <a:endParaRPr b="0" lang="ru-RU" sz="6000" spc="-1" strike="noStrike">
                <a:latin typeface="Arial"/>
              </a:endParaRPr>
            </a:p>
          </p:txBody>
        </p:sp>
        <p:sp>
          <p:nvSpPr>
            <p:cNvPr id="247" name="Прямая со стрелкой 4"/>
            <p:cNvSpPr/>
            <p:nvPr/>
          </p:nvSpPr>
          <p:spPr>
            <a:xfrm flipV="1">
              <a:off x="7927560" y="3428640"/>
              <a:ext cx="1872720" cy="649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15875">
              <a:solidFill>
                <a:srgbClr val="0000cc"/>
              </a:solidFill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248" name="" descr=""/>
          <p:cNvPicPr/>
          <p:nvPr/>
        </p:nvPicPr>
        <p:blipFill>
          <a:blip r:embed="rId3"/>
          <a:stretch/>
        </p:blipFill>
        <p:spPr>
          <a:xfrm>
            <a:off x="1015920" y="3556080"/>
            <a:ext cx="4889520" cy="115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" dur="indefinite" restart="never" nodeType="tmRoot">
          <p:childTnLst>
            <p:seq>
              <p:cTn id="46" dur="indefinite" nodeType="mainSeq">
                <p:childTnLst>
                  <p:par>
                    <p:cTn id="47" nodeType="clickEffect" fill="hold">
                      <p:stCondLst>
                        <p:cond delay="indefinite"/>
                      </p:stCondLst>
                      <p:childTnLst>
                        <p:par>
                          <p:cTn id="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nodeType="clickEffect" fill="hold">
                      <p:stCondLst>
                        <p:cond delay="indefinite"/>
                      </p:stCondLst>
                      <p:childTnLst>
                        <p:par>
                          <p:cTn id="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nodeType="clickEffect" fill="hold">
                      <p:stCondLst>
                        <p:cond delay="indefinite"/>
                      </p:stCondLst>
                      <p:childTnLst>
                        <p:par>
                          <p:cTn id="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1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nodeType="clickEffect" fill="hold">
                      <p:stCondLst>
                        <p:cond delay="indefinite"/>
                      </p:stCondLst>
                      <p:childTnLst>
                        <p:par>
                          <p:cTn id="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7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nodeType="clickEffect" fill="hold">
                      <p:stCondLst>
                        <p:cond delay="indefinite"/>
                      </p:stCondLst>
                      <p:childTnLst>
                        <p:par>
                          <p:cTn id="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Num" idx="16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BC93C50-6123-489D-953F-4BCD0E8A0EE5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250" name="Прямоугольник 3"/>
          <p:cNvSpPr/>
          <p:nvPr/>
        </p:nvSpPr>
        <p:spPr>
          <a:xfrm>
            <a:off x="479520" y="1481040"/>
            <a:ext cx="11472480" cy="13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3399"/>
                </a:solidFill>
                <a:latin typeface="Times New Roman"/>
                <a:ea typeface="Arial"/>
              </a:rPr>
              <a:t>Положительное направление напряжения связано с принятым положительным направлением тока, причем ток течет от более высокого потенциала </a:t>
            </a:r>
            <a:r>
              <a:rPr b="0" lang="ru-RU" sz="2800" spc="-1" strike="noStrike">
                <a:solidFill>
                  <a:srgbClr val="c00000"/>
                </a:solidFill>
                <a:latin typeface="Times New Roman"/>
                <a:ea typeface="Arial"/>
              </a:rPr>
              <a:t>(+)</a:t>
            </a:r>
            <a:r>
              <a:rPr b="0" lang="ru-RU" sz="2800" spc="-1" strike="noStrike">
                <a:solidFill>
                  <a:srgbClr val="003399"/>
                </a:solidFill>
                <a:latin typeface="Times New Roman"/>
                <a:ea typeface="Arial"/>
              </a:rPr>
              <a:t> к более низкому потенциалу </a:t>
            </a:r>
            <a:r>
              <a:rPr b="0" lang="ru-RU" sz="2800" spc="-1" strike="noStrike">
                <a:solidFill>
                  <a:srgbClr val="c00000"/>
                </a:solidFill>
                <a:latin typeface="Times New Roman"/>
                <a:ea typeface="Arial"/>
              </a:rPr>
              <a:t>(-)</a:t>
            </a:r>
            <a:r>
              <a:rPr b="0" lang="ru-RU" sz="2800" spc="-1" strike="noStrike">
                <a:solidFill>
                  <a:srgbClr val="003399"/>
                </a:solidFill>
                <a:latin typeface="Times New Roman"/>
                <a:ea typeface="Arial"/>
              </a:rPr>
              <a:t>   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title"/>
          </p:nvPr>
        </p:nvSpPr>
        <p:spPr>
          <a:xfrm>
            <a:off x="1981080" y="457200"/>
            <a:ext cx="8229240" cy="8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c00000"/>
                </a:solidFill>
                <a:latin typeface="Montserrat SemiBold"/>
                <a:ea typeface="Arial"/>
              </a:rPr>
              <a:t>Электрические цепи.</a:t>
            </a:r>
            <a:br>
              <a:rPr sz="3200"/>
            </a:br>
            <a:r>
              <a:rPr b="0" lang="ru-RU" sz="3200" spc="-1" strike="noStrike">
                <a:solidFill>
                  <a:srgbClr val="c00000"/>
                </a:solidFill>
                <a:latin typeface="Montserrat SemiBold"/>
                <a:ea typeface="Arial"/>
              </a:rPr>
              <a:t>Основные понятия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grpSp>
        <p:nvGrpSpPr>
          <p:cNvPr id="252" name="Группа 21"/>
          <p:cNvGrpSpPr/>
          <p:nvPr/>
        </p:nvGrpSpPr>
        <p:grpSpPr>
          <a:xfrm>
            <a:off x="2667240" y="2960640"/>
            <a:ext cx="5549400" cy="2505960"/>
            <a:chOff x="2667240" y="2960640"/>
            <a:chExt cx="5549400" cy="2505960"/>
          </a:xfrm>
        </p:grpSpPr>
        <p:sp>
          <p:nvSpPr>
            <p:cNvPr id="253" name="Line 3"/>
            <p:cNvSpPr/>
            <p:nvPr/>
          </p:nvSpPr>
          <p:spPr>
            <a:xfrm>
              <a:off x="4119480" y="3737520"/>
              <a:ext cx="2117880" cy="360"/>
            </a:xfrm>
            <a:prstGeom prst="line">
              <a:avLst/>
            </a:prstGeom>
            <a:ln w="38100">
              <a:solidFill>
                <a:srgbClr val="35237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4" name="Rectangle 4"/>
            <p:cNvSpPr/>
            <p:nvPr/>
          </p:nvSpPr>
          <p:spPr>
            <a:xfrm>
              <a:off x="6240240" y="3195000"/>
              <a:ext cx="1976400" cy="2144160"/>
            </a:xfrm>
            <a:prstGeom prst="rect">
              <a:avLst/>
            </a:prstGeom>
            <a:solidFill>
              <a:srgbClr val="f4efa8"/>
            </a:solidFill>
            <a:ln w="38100">
              <a:solidFill>
                <a:srgbClr val="35237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5" name="Line 5"/>
            <p:cNvSpPr/>
            <p:nvPr/>
          </p:nvSpPr>
          <p:spPr>
            <a:xfrm>
              <a:off x="4119480" y="4917240"/>
              <a:ext cx="2117880" cy="360"/>
            </a:xfrm>
            <a:prstGeom prst="line">
              <a:avLst/>
            </a:prstGeom>
            <a:ln w="38100">
              <a:solidFill>
                <a:srgbClr val="35237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6" name="Oval 6"/>
            <p:cNvSpPr/>
            <p:nvPr/>
          </p:nvSpPr>
          <p:spPr>
            <a:xfrm>
              <a:off x="4119480" y="3684240"/>
              <a:ext cx="140760" cy="10692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35237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7" name="Oval 7"/>
            <p:cNvSpPr/>
            <p:nvPr/>
          </p:nvSpPr>
          <p:spPr>
            <a:xfrm>
              <a:off x="4119480" y="4863600"/>
              <a:ext cx="140760" cy="10692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35237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" name="Text Box 8"/>
            <p:cNvSpPr/>
            <p:nvPr/>
          </p:nvSpPr>
          <p:spPr>
            <a:xfrm>
              <a:off x="4437360" y="3801600"/>
              <a:ext cx="130572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spcBef>
                  <a:spcPts val="1800"/>
                </a:spcBef>
                <a:buNone/>
              </a:pPr>
              <a:r>
                <a:rPr b="0" i="1" lang="ru-RU" sz="3600" spc="-1" strike="noStrike">
                  <a:solidFill>
                    <a:srgbClr val="352379"/>
                  </a:solidFill>
                  <a:latin typeface="Times New Roman"/>
                  <a:ea typeface="Arial"/>
                </a:rPr>
                <a:t>u</a:t>
              </a:r>
              <a:endParaRPr b="0" lang="ru-RU" sz="3600" spc="-1" strike="noStrike">
                <a:latin typeface="Arial"/>
              </a:endParaRPr>
            </a:p>
          </p:txBody>
        </p:sp>
        <p:sp>
          <p:nvSpPr>
            <p:cNvPr id="259" name="Text Box 9"/>
            <p:cNvSpPr/>
            <p:nvPr/>
          </p:nvSpPr>
          <p:spPr>
            <a:xfrm>
              <a:off x="2674080" y="3376800"/>
              <a:ext cx="10940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  <a:buNone/>
              </a:pPr>
              <a:r>
                <a:rPr b="0" lang="ru-RU" sz="2400" spc="-1" strike="noStrike">
                  <a:solidFill>
                    <a:srgbClr val="352379"/>
                  </a:solidFill>
                  <a:latin typeface="Times New Roman"/>
                  <a:ea typeface="Arial"/>
                </a:rPr>
                <a:t>(+)</a:t>
              </a:r>
              <a:endParaRPr b="0" lang="ru-RU" sz="2400" spc="-1" strike="noStrike">
                <a:latin typeface="Arial"/>
              </a:endParaRPr>
            </a:p>
          </p:txBody>
        </p:sp>
        <p:sp>
          <p:nvSpPr>
            <p:cNvPr id="260" name="Text Box 10"/>
            <p:cNvSpPr/>
            <p:nvPr/>
          </p:nvSpPr>
          <p:spPr>
            <a:xfrm>
              <a:off x="3904920" y="2960640"/>
              <a:ext cx="15174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  <a:buNone/>
              </a:pPr>
              <a:r>
                <a:rPr b="0" lang="ru-RU" sz="2400" spc="-1" strike="noStrike">
                  <a:solidFill>
                    <a:srgbClr val="352379"/>
                  </a:solidFill>
                  <a:latin typeface="Times New Roman"/>
                  <a:ea typeface="Arial"/>
                </a:rPr>
                <a:t>1</a:t>
              </a:r>
              <a:endParaRPr b="0" lang="ru-RU" sz="2400" spc="-1" strike="noStrike">
                <a:latin typeface="Arial"/>
              </a:endParaRPr>
            </a:p>
          </p:txBody>
        </p:sp>
        <p:grpSp>
          <p:nvGrpSpPr>
            <p:cNvPr id="261" name="Group 11"/>
            <p:cNvGrpSpPr/>
            <p:nvPr/>
          </p:nvGrpSpPr>
          <p:grpSpPr>
            <a:xfrm>
              <a:off x="4366440" y="3065400"/>
              <a:ext cx="2358720" cy="672480"/>
              <a:chOff x="4366440" y="3065400"/>
              <a:chExt cx="2358720" cy="672480"/>
            </a:xfrm>
          </p:grpSpPr>
          <p:sp>
            <p:nvSpPr>
              <p:cNvPr id="262" name="Text Box 12"/>
              <p:cNvSpPr/>
              <p:nvPr/>
            </p:nvSpPr>
            <p:spPr>
              <a:xfrm>
                <a:off x="5243040" y="3065400"/>
                <a:ext cx="148212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1199"/>
                  </a:spcBef>
                  <a:buNone/>
                </a:pPr>
                <a:r>
                  <a:rPr b="0" i="1" lang="en-US" sz="2400" spc="-1" strike="noStrike">
                    <a:solidFill>
                      <a:srgbClr val="352379"/>
                    </a:solidFill>
                    <a:latin typeface="Times New Roman"/>
                    <a:ea typeface="Arial"/>
                  </a:rPr>
                  <a:t>i</a:t>
                </a:r>
                <a:endParaRPr b="0" lang="ru-RU" sz="2400" spc="-1" strike="noStrike">
                  <a:latin typeface="Arial"/>
                </a:endParaRPr>
              </a:p>
            </p:txBody>
          </p:sp>
          <p:sp>
            <p:nvSpPr>
              <p:cNvPr id="263" name="Line 13"/>
              <p:cNvSpPr/>
              <p:nvPr/>
            </p:nvSpPr>
            <p:spPr>
              <a:xfrm>
                <a:off x="4366440" y="3737520"/>
                <a:ext cx="1747440" cy="360"/>
              </a:xfrm>
              <a:prstGeom prst="line">
                <a:avLst/>
              </a:prstGeom>
              <a:ln w="38100">
                <a:solidFill>
                  <a:srgbClr val="352379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264" name="Text Box 15"/>
            <p:cNvSpPr/>
            <p:nvPr/>
          </p:nvSpPr>
          <p:spPr>
            <a:xfrm>
              <a:off x="2667240" y="4617000"/>
              <a:ext cx="10940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  <a:buNone/>
              </a:pPr>
              <a:r>
                <a:rPr b="0" lang="ru-RU" sz="2400" spc="-1" strike="noStrike">
                  <a:solidFill>
                    <a:srgbClr val="352379"/>
                  </a:solidFill>
                  <a:latin typeface="Times New Roman"/>
                  <a:ea typeface="Arial"/>
                </a:rPr>
                <a:t>(-)</a:t>
              </a:r>
              <a:endParaRPr b="0" lang="ru-RU" sz="2400" spc="-1" strike="noStrike">
                <a:latin typeface="Arial"/>
              </a:endParaRPr>
            </a:p>
          </p:txBody>
        </p:sp>
        <p:sp>
          <p:nvSpPr>
            <p:cNvPr id="265" name="Text Box 16"/>
            <p:cNvSpPr/>
            <p:nvPr/>
          </p:nvSpPr>
          <p:spPr>
            <a:xfrm>
              <a:off x="3881160" y="5011200"/>
              <a:ext cx="15174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  <a:buNone/>
              </a:pPr>
              <a:r>
                <a:rPr b="0" lang="ru-RU" sz="2400" spc="-1" strike="noStrike">
                  <a:solidFill>
                    <a:srgbClr val="352379"/>
                  </a:solidFill>
                  <a:latin typeface="Times New Roman"/>
                  <a:ea typeface="Arial"/>
                </a:rPr>
                <a:t>2</a:t>
              </a:r>
              <a:endParaRPr b="0" lang="ru-RU" sz="2400" spc="-1" strike="noStrike">
                <a:latin typeface="Arial"/>
              </a:endParaRPr>
            </a:p>
          </p:txBody>
        </p:sp>
      </p:grpSp>
      <p:graphicFrame>
        <p:nvGraphicFramePr>
          <p:cNvPr id="266" name="Object 17"/>
          <p:cNvGraphicFramePr/>
          <p:nvPr/>
        </p:nvGraphicFramePr>
        <p:xfrm>
          <a:off x="7050240" y="2565360"/>
          <a:ext cx="124920" cy="23940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267" name="Object 17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050240" y="2565360"/>
                    <a:ext cx="124920" cy="23940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68" name="Прямая со стрелкой 2"/>
          <p:cNvSpPr/>
          <p:nvPr/>
        </p:nvSpPr>
        <p:spPr>
          <a:xfrm>
            <a:off x="4842360" y="3874680"/>
            <a:ext cx="360" cy="86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c0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9" name="Прямоугольник 23"/>
          <p:cNvSpPr/>
          <p:nvPr/>
        </p:nvSpPr>
        <p:spPr>
          <a:xfrm>
            <a:off x="3395160" y="4551480"/>
            <a:ext cx="5868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ru-RU" sz="2800" spc="-1" strike="noStrike">
                <a:solidFill>
                  <a:srgbClr val="0000cc"/>
                </a:solidFill>
                <a:latin typeface="Symbol"/>
                <a:ea typeface="Arial"/>
              </a:rPr>
              <a:t></a:t>
            </a:r>
            <a:r>
              <a:rPr b="0" i="1" lang="ru-RU" sz="2800" spc="-1" strike="noStrike">
                <a:solidFill>
                  <a:srgbClr val="0000cc"/>
                </a:solidFill>
                <a:latin typeface="Symbol"/>
                <a:ea typeface="Arial"/>
              </a:rPr>
              <a:t>φ</a:t>
            </a:r>
            <a:r>
              <a:rPr b="0" lang="en-US" sz="2800" spc="-1" strike="noStrike" baseline="-25000">
                <a:solidFill>
                  <a:srgbClr val="0000cc"/>
                </a:solidFill>
                <a:latin typeface="Times New Roman"/>
                <a:ea typeface="Arial"/>
              </a:rPr>
              <a:t>1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70" name="Прямоугольник 24"/>
          <p:cNvSpPr/>
          <p:nvPr/>
        </p:nvSpPr>
        <p:spPr>
          <a:xfrm>
            <a:off x="3444840" y="3279240"/>
            <a:ext cx="5868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ru-RU" sz="2800" spc="-1" strike="noStrike">
                <a:solidFill>
                  <a:srgbClr val="0000cc"/>
                </a:solidFill>
                <a:latin typeface="Symbol"/>
                <a:ea typeface="Arial"/>
              </a:rPr>
              <a:t></a:t>
            </a:r>
            <a:r>
              <a:rPr b="0" i="1" lang="ru-RU" sz="2800" spc="-1" strike="noStrike">
                <a:solidFill>
                  <a:srgbClr val="0000cc"/>
                </a:solidFill>
                <a:latin typeface="Symbol"/>
                <a:ea typeface="Arial"/>
              </a:rPr>
              <a:t>φ</a:t>
            </a:r>
            <a:r>
              <a:rPr b="0" lang="en-US" sz="2800" spc="-1" strike="noStrike" baseline="-25000">
                <a:solidFill>
                  <a:srgbClr val="0000cc"/>
                </a:solidFill>
                <a:latin typeface="Times New Roman"/>
                <a:ea typeface="Arial"/>
              </a:rPr>
              <a:t>2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71" name="Прямоугольник 25"/>
          <p:cNvSpPr/>
          <p:nvPr/>
        </p:nvSpPr>
        <p:spPr>
          <a:xfrm>
            <a:off x="8771760" y="3007800"/>
            <a:ext cx="231876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ru-RU" sz="4400" spc="-1" strike="noStrike">
                <a:solidFill>
                  <a:srgbClr val="0000cc"/>
                </a:solidFill>
                <a:latin typeface="Symbol"/>
                <a:ea typeface="Arial"/>
              </a:rPr>
              <a:t></a:t>
            </a:r>
            <a:r>
              <a:rPr b="0" i="1" lang="ru-RU" sz="4400" spc="-1" strike="noStrike">
                <a:solidFill>
                  <a:srgbClr val="0000cc"/>
                </a:solidFill>
                <a:latin typeface="Symbol"/>
                <a:ea typeface="Arial"/>
              </a:rPr>
              <a:t>φ</a:t>
            </a:r>
            <a:r>
              <a:rPr b="0" lang="en-US" sz="4400" spc="-1" strike="noStrike" baseline="-25000">
                <a:solidFill>
                  <a:srgbClr val="0000cc"/>
                </a:solidFill>
                <a:latin typeface="Times New Roman"/>
                <a:ea typeface="Arial"/>
              </a:rPr>
              <a:t>2</a:t>
            </a:r>
            <a:r>
              <a:rPr b="0" i="1" lang="ru-RU" sz="4400" spc="-1" strike="noStrike">
                <a:solidFill>
                  <a:srgbClr val="0000cc"/>
                </a:solidFill>
                <a:latin typeface="Times New Roman"/>
                <a:ea typeface="Arial"/>
              </a:rPr>
              <a:t> </a:t>
            </a:r>
            <a:r>
              <a:rPr b="0" i="1" lang="en-US" sz="4400" spc="-1" strike="noStrike">
                <a:solidFill>
                  <a:srgbClr val="0000cc"/>
                </a:solidFill>
                <a:latin typeface="Times New Roman"/>
                <a:ea typeface="Arial"/>
              </a:rPr>
              <a:t>&gt;</a:t>
            </a:r>
            <a:r>
              <a:rPr b="0" i="1" lang="ru-RU" sz="4400" spc="-1" strike="noStrike">
                <a:solidFill>
                  <a:srgbClr val="0000cc"/>
                </a:solidFill>
                <a:latin typeface="Symbol"/>
                <a:ea typeface="Arial"/>
              </a:rPr>
              <a:t>φ</a:t>
            </a:r>
            <a:r>
              <a:rPr b="0" i="1" lang="ru-RU" sz="4400" spc="-1" strike="noStrike" baseline="-25000">
                <a:solidFill>
                  <a:srgbClr val="0000cc"/>
                </a:solidFill>
                <a:latin typeface="Times New Roman"/>
                <a:ea typeface="Arial"/>
              </a:rPr>
              <a:t>1</a:t>
            </a:r>
            <a:r>
              <a:rPr b="0" lang="en-US" sz="4400" spc="-1" strike="noStrike" baseline="-25000">
                <a:solidFill>
                  <a:srgbClr val="0000cc"/>
                </a:solidFill>
                <a:latin typeface="Times New Roman"/>
                <a:ea typeface="Arial"/>
              </a:rPr>
              <a:t> 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272" name="" descr=""/>
          <p:cNvPicPr/>
          <p:nvPr/>
        </p:nvPicPr>
        <p:blipFill>
          <a:blip r:embed="rId3"/>
          <a:stretch/>
        </p:blipFill>
        <p:spPr>
          <a:xfrm>
            <a:off x="7048440" y="2565360"/>
            <a:ext cx="114480" cy="22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3" dur="indefinite" restart="never" nodeType="tmRoot">
          <p:childTnLst>
            <p:seq>
              <p:cTn id="74" dur="indefinite" nodeType="mainSeq">
                <p:childTnLst>
                  <p:par>
                    <p:cTn id="75" nodeType="clickEffect" fill="hold">
                      <p:stCondLst>
                        <p:cond delay="indefinite"/>
                      </p:stCondLst>
                      <p:childTnLst>
                        <p:par>
                          <p:cTn id="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Num" idx="17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3B75271-DD02-4EA7-8764-2AB4360FAF31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title"/>
          </p:nvPr>
        </p:nvSpPr>
        <p:spPr>
          <a:xfrm>
            <a:off x="1981080" y="457200"/>
            <a:ext cx="8229240" cy="8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c00000"/>
                </a:solidFill>
                <a:latin typeface="Montserrat SemiBold"/>
                <a:ea typeface="Arial"/>
              </a:rPr>
              <a:t>Электрические цепи.</a:t>
            </a:r>
            <a:br>
              <a:rPr sz="3200"/>
            </a:br>
            <a:r>
              <a:rPr b="0" lang="ru-RU" sz="3200" spc="-1" strike="noStrike">
                <a:solidFill>
                  <a:srgbClr val="c00000"/>
                </a:solidFill>
                <a:latin typeface="Montserrat SemiBold"/>
                <a:ea typeface="Arial"/>
              </a:rPr>
              <a:t>Основные понятия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275" name="Прямоугольник 4"/>
          <p:cNvSpPr/>
          <p:nvPr/>
        </p:nvSpPr>
        <p:spPr>
          <a:xfrm>
            <a:off x="477360" y="1449360"/>
            <a:ext cx="1142712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  <a:tabLst>
                <a:tab algn="l" pos="0"/>
              </a:tabLst>
            </a:pPr>
            <a:r>
              <a:rPr b="0" i="1" lang="ru-RU" sz="3200" spc="-1" strike="noStrike">
                <a:solidFill>
                  <a:srgbClr val="c00000"/>
                </a:solidFill>
                <a:latin typeface="Bookman Old Style"/>
                <a:ea typeface="Arial"/>
              </a:rPr>
              <a:t>Мощность</a:t>
            </a:r>
            <a:r>
              <a:rPr b="0" lang="ru-RU" sz="3200" spc="-1" strike="noStrike">
                <a:solidFill>
                  <a:srgbClr val="003399"/>
                </a:solidFill>
                <a:latin typeface="Bookman Old Style"/>
                <a:ea typeface="Arial"/>
              </a:rPr>
              <a:t> характеризует преобразование энергии на участке цепи и равна скорости  изменения этой энергии</a:t>
            </a:r>
            <a:endParaRPr b="0" lang="ru-RU" sz="3200" spc="-1" strike="noStrike">
              <a:latin typeface="Arial"/>
            </a:endParaRPr>
          </a:p>
        </p:txBody>
      </p:sp>
      <p:graphicFrame>
        <p:nvGraphicFramePr>
          <p:cNvPr id="276" name="Object 3"/>
          <p:cNvGraphicFramePr/>
          <p:nvPr/>
        </p:nvGraphicFramePr>
        <p:xfrm>
          <a:off x="2789280" y="2500560"/>
          <a:ext cx="6179760" cy="149184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277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789280" y="2500560"/>
                    <a:ext cx="6179760" cy="14918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78" name="Прямоугольник 6"/>
          <p:cNvSpPr/>
          <p:nvPr/>
        </p:nvSpPr>
        <p:spPr>
          <a:xfrm>
            <a:off x="300600" y="4092480"/>
            <a:ext cx="11073240" cy="22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ru-RU" sz="3200" spc="-1" strike="noStrike">
                <a:solidFill>
                  <a:srgbClr val="0000cc"/>
                </a:solidFill>
                <a:latin typeface="Bookman Old Style"/>
                <a:ea typeface="Arial"/>
              </a:rPr>
              <a:t>Если </a:t>
            </a:r>
            <a:r>
              <a:rPr b="0" i="1" lang="en-US" sz="3200" spc="-1" strike="noStrike">
                <a:solidFill>
                  <a:srgbClr val="c00000"/>
                </a:solidFill>
                <a:latin typeface="Bookman Old Style"/>
                <a:ea typeface="Arial"/>
              </a:rPr>
              <a:t>P&gt;0</a:t>
            </a:r>
            <a:r>
              <a:rPr b="0" lang="en-US" sz="3200" spc="-1" strike="noStrike">
                <a:solidFill>
                  <a:srgbClr val="0000cc"/>
                </a:solidFill>
                <a:latin typeface="Bookman Old Style"/>
                <a:ea typeface="Arial"/>
              </a:rPr>
              <a:t> – </a:t>
            </a:r>
            <a:r>
              <a:rPr b="0" lang="ru-RU" sz="3200" spc="-1" strike="noStrike">
                <a:solidFill>
                  <a:srgbClr val="0000cc"/>
                </a:solidFill>
                <a:latin typeface="Bookman Old Style"/>
                <a:ea typeface="Arial"/>
              </a:rPr>
              <a:t>то энергия </a:t>
            </a:r>
            <a:r>
              <a:rPr b="0" i="1" lang="ru-RU" sz="3200" spc="-1" strike="noStrike">
                <a:solidFill>
                  <a:srgbClr val="c00000"/>
                </a:solidFill>
                <a:latin typeface="Bookman Old Style"/>
                <a:ea typeface="Arial"/>
              </a:rPr>
              <a:t>потребляется</a:t>
            </a:r>
            <a:r>
              <a:rPr b="0" lang="ru-RU" sz="3200" spc="-1" strike="noStrike">
                <a:solidFill>
                  <a:srgbClr val="0000cc"/>
                </a:solidFill>
                <a:latin typeface="Bookman Old Style"/>
                <a:ea typeface="Arial"/>
              </a:rPr>
              <a:t> на данном участке цепи, </a:t>
            </a:r>
            <a:endParaRPr b="0" lang="ru-RU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ru-RU" sz="3200" spc="-1" strike="noStrike">
                <a:solidFill>
                  <a:srgbClr val="0000cc"/>
                </a:solidFill>
                <a:latin typeface="Bookman Old Style"/>
                <a:ea typeface="Arial"/>
              </a:rPr>
              <a:t>а если </a:t>
            </a:r>
            <a:r>
              <a:rPr b="0" i="1" lang="en-US" sz="3200" spc="-1" strike="noStrike">
                <a:solidFill>
                  <a:srgbClr val="c00000"/>
                </a:solidFill>
                <a:latin typeface="Bookman Old Style"/>
                <a:ea typeface="Arial"/>
              </a:rPr>
              <a:t>P&lt;0</a:t>
            </a:r>
            <a:r>
              <a:rPr b="0" lang="en-US" sz="3200" spc="-1" strike="noStrike">
                <a:solidFill>
                  <a:srgbClr val="0000cc"/>
                </a:solidFill>
                <a:latin typeface="Bookman Old Style"/>
                <a:ea typeface="Arial"/>
              </a:rPr>
              <a:t> –</a:t>
            </a:r>
            <a:r>
              <a:rPr b="0" lang="ru-RU" sz="3200" spc="-1" strike="noStrike">
                <a:solidFill>
                  <a:srgbClr val="0000cc"/>
                </a:solidFill>
                <a:latin typeface="Bookman Old Style"/>
                <a:ea typeface="Arial"/>
              </a:rPr>
              <a:t> то энергия </a:t>
            </a:r>
            <a:r>
              <a:rPr b="0" i="1" lang="ru-RU" sz="3200" spc="-1" strike="noStrike">
                <a:solidFill>
                  <a:srgbClr val="0000cc"/>
                </a:solidFill>
                <a:latin typeface="Bookman Old Style"/>
                <a:ea typeface="Arial"/>
              </a:rPr>
              <a:t>генерируется</a:t>
            </a:r>
            <a:r>
              <a:rPr b="0" lang="ru-RU" sz="3200" spc="-1" strike="noStrike">
                <a:solidFill>
                  <a:srgbClr val="0000cc"/>
                </a:solidFill>
                <a:latin typeface="Bookman Old Style"/>
                <a:ea typeface="Arial"/>
              </a:rPr>
              <a:t> на этом участке цепи </a:t>
            </a:r>
            <a:endParaRPr b="0" lang="ru-RU" sz="3200" spc="-1" strike="noStrike">
              <a:latin typeface="Arial"/>
            </a:endParaRPr>
          </a:p>
        </p:txBody>
      </p:sp>
      <p:pic>
        <p:nvPicPr>
          <p:cNvPr id="279" name="" descr=""/>
          <p:cNvPicPr/>
          <p:nvPr/>
        </p:nvPicPr>
        <p:blipFill>
          <a:blip r:embed="rId3"/>
          <a:stretch/>
        </p:blipFill>
        <p:spPr>
          <a:xfrm>
            <a:off x="2781360" y="2489040"/>
            <a:ext cx="6172200" cy="148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1" dur="indefinite" restart="never" nodeType="tmRoot">
          <p:childTnLst>
            <p:seq>
              <p:cTn id="82" dur="indefinite" nodeType="mainSeq">
                <p:childTnLst>
                  <p:par>
                    <p:cTn id="83" nodeType="clickEffect" fill="hold">
                      <p:stCondLst>
                        <p:cond delay="indefinite"/>
                      </p:stCondLst>
                      <p:childTnLst>
                        <p:par>
                          <p:cTn id="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nodeType="clickEffect" fill="hold">
                      <p:stCondLst>
                        <p:cond delay="indefinite"/>
                      </p:stCondLst>
                      <p:childTnLst>
                        <p:par>
                          <p:cTn id="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nodeType="clickEffect" fill="hold">
                      <p:stCondLst>
                        <p:cond delay="indefinite"/>
                      </p:stCondLst>
                      <p:childTnLst>
                        <p:par>
                          <p:cTn id="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Num" idx="18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D3DEFEA-E163-4398-8C67-68D0D05F3C60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title"/>
          </p:nvPr>
        </p:nvSpPr>
        <p:spPr>
          <a:xfrm>
            <a:off x="1981080" y="457200"/>
            <a:ext cx="8229240" cy="379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cc3300"/>
                </a:solidFill>
                <a:latin typeface="Montserrat SemiBold"/>
                <a:ea typeface="Arial"/>
              </a:rPr>
              <a:t>Электрические цепи постоянного тока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460080" y="1182240"/>
            <a:ext cx="11615400" cy="287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352379"/>
                </a:solidFill>
                <a:latin typeface="Bookman Old Style"/>
                <a:ea typeface="Arial"/>
              </a:rPr>
              <a:t> </a:t>
            </a:r>
            <a:r>
              <a:rPr b="0" i="1" lang="ru-RU" sz="3200" spc="-1" strike="noStrike">
                <a:solidFill>
                  <a:srgbClr val="c00000"/>
                </a:solidFill>
                <a:latin typeface="Montserrat"/>
                <a:ea typeface="Arial"/>
              </a:rPr>
              <a:t>Электрическая цепь </a:t>
            </a:r>
            <a:r>
              <a:rPr b="0" lang="ru-RU" sz="3200" spc="-1" strike="noStrike">
                <a:solidFill>
                  <a:srgbClr val="003399"/>
                </a:solidFill>
                <a:latin typeface="Montserrat"/>
                <a:ea typeface="Arial"/>
              </a:rPr>
              <a:t>– это</a:t>
            </a:r>
            <a:r>
              <a:rPr b="0" lang="en-US" sz="3200" spc="-1" strike="noStrike">
                <a:solidFill>
                  <a:srgbClr val="003399"/>
                </a:solidFill>
                <a:latin typeface="Montserrat"/>
                <a:ea typeface="Arial"/>
              </a:rPr>
              <a:t> </a:t>
            </a:r>
            <a:r>
              <a:rPr b="0" lang="ru-RU" sz="3200" spc="-1" strike="noStrike">
                <a:solidFill>
                  <a:srgbClr val="003399"/>
                </a:solidFill>
                <a:latin typeface="Montserrat"/>
                <a:ea typeface="Arial"/>
              </a:rPr>
              <a:t>совокупность соединенных</a:t>
            </a:r>
            <a:r>
              <a:rPr b="0" lang="en-US" sz="3200" spc="-1" strike="noStrike">
                <a:solidFill>
                  <a:srgbClr val="003399"/>
                </a:solidFill>
                <a:latin typeface="Montserrat"/>
                <a:ea typeface="Arial"/>
              </a:rPr>
              <a:t> </a:t>
            </a:r>
            <a:r>
              <a:rPr b="0" lang="ru-RU" sz="3200" spc="-1" strike="noStrike">
                <a:solidFill>
                  <a:srgbClr val="003399"/>
                </a:solidFill>
                <a:latin typeface="Montserrat"/>
                <a:ea typeface="Arial"/>
              </a:rPr>
              <a:t>проводниками источников</a:t>
            </a:r>
            <a:r>
              <a:rPr b="0" lang="en-US" sz="3200" spc="-1" strike="noStrike">
                <a:solidFill>
                  <a:srgbClr val="003399"/>
                </a:solidFill>
                <a:latin typeface="Montserrat"/>
                <a:ea typeface="Arial"/>
              </a:rPr>
              <a:t> </a:t>
            </a:r>
            <a:r>
              <a:rPr b="0" lang="ru-RU" sz="3200" spc="-1" strike="noStrike">
                <a:solidFill>
                  <a:srgbClr val="003399"/>
                </a:solidFill>
                <a:latin typeface="Montserrat"/>
                <a:ea typeface="Arial"/>
              </a:rPr>
              <a:t>и приемников</a:t>
            </a:r>
            <a:r>
              <a:rPr b="0" lang="en-US" sz="3200" spc="-1" strike="noStrike">
                <a:solidFill>
                  <a:srgbClr val="003399"/>
                </a:solidFill>
                <a:latin typeface="Montserrat"/>
                <a:ea typeface="Arial"/>
              </a:rPr>
              <a:t> </a:t>
            </a:r>
            <a:r>
              <a:rPr b="0" lang="ru-RU" sz="3200" spc="-1" strike="noStrike">
                <a:solidFill>
                  <a:srgbClr val="003399"/>
                </a:solidFill>
                <a:latin typeface="Montserrat"/>
                <a:ea typeface="Arial"/>
              </a:rPr>
              <a:t>электромагнитной энергии</a:t>
            </a:r>
            <a:r>
              <a:rPr b="0" lang="en-US" sz="3200" spc="-1" strike="noStrike">
                <a:solidFill>
                  <a:srgbClr val="003399"/>
                </a:solidFill>
                <a:latin typeface="Montserrat"/>
                <a:ea typeface="Arial"/>
              </a:rPr>
              <a:t>. </a:t>
            </a:r>
            <a:r>
              <a:rPr b="0" lang="en-US" sz="3200" spc="-1" strike="noStrike">
                <a:solidFill>
                  <a:srgbClr val="352379"/>
                </a:solidFill>
                <a:latin typeface="Montserrat"/>
                <a:ea typeface="Arial"/>
              </a:rPr>
              <a:t>              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3399"/>
                </a:solidFill>
                <a:latin typeface="Montserrat"/>
                <a:ea typeface="Arial"/>
              </a:rPr>
              <a:t>Электрическая цепь состоит из отдельных частей,</a:t>
            </a:r>
            <a:r>
              <a:rPr b="0" lang="en-US" sz="3200" spc="-1" strike="noStrike">
                <a:solidFill>
                  <a:srgbClr val="003399"/>
                </a:solidFill>
                <a:latin typeface="Montserrat"/>
                <a:ea typeface="Arial"/>
              </a:rPr>
              <a:t> </a:t>
            </a:r>
            <a:r>
              <a:rPr b="0" lang="ru-RU" sz="3200" spc="-1" strike="noStrike">
                <a:solidFill>
                  <a:srgbClr val="003399"/>
                </a:solidFill>
                <a:latin typeface="Montserrat"/>
                <a:ea typeface="Arial"/>
              </a:rPr>
              <a:t>выполняющих определенные функции и называемых </a:t>
            </a:r>
            <a:r>
              <a:rPr b="1" lang="ru-RU" sz="3200" spc="-1" strike="noStrike">
                <a:solidFill>
                  <a:srgbClr val="c00000"/>
                </a:solidFill>
                <a:latin typeface="Montserrat"/>
                <a:ea typeface="Arial"/>
              </a:rPr>
              <a:t>элементами цепи</a:t>
            </a:r>
            <a:r>
              <a:rPr b="0" lang="ru-RU" sz="3200" spc="-1" strike="noStrike">
                <a:solidFill>
                  <a:srgbClr val="003399"/>
                </a:solidFill>
                <a:latin typeface="Montserrat"/>
                <a:ea typeface="Arial"/>
              </a:rPr>
              <a:t>.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283" name="Rectangle 5"/>
          <p:cNvSpPr/>
          <p:nvPr/>
        </p:nvSpPr>
        <p:spPr>
          <a:xfrm>
            <a:off x="1145160" y="4008960"/>
            <a:ext cx="89128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0000cc"/>
                </a:solidFill>
                <a:latin typeface="Montserrat"/>
                <a:ea typeface="Arial"/>
              </a:rPr>
              <a:t>Основными элементами цепи являются: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5" dur="indefinite" restart="never" nodeType="tmRoot">
          <p:childTnLst>
            <p:seq>
              <p:cTn id="96" dur="indefinite" nodeType="mainSeq">
                <p:childTnLst>
                  <p:par>
                    <p:cTn id="97" nodeType="clickEffect" fill="hold">
                      <p:stCondLst>
                        <p:cond delay="indefinite"/>
                      </p:stCondLst>
                      <p:childTnLst>
                        <p:par>
                          <p:cTn id="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nodeType="clickEffect" fill="hold">
                      <p:stCondLst>
                        <p:cond delay="indefinite"/>
                      </p:stCondLst>
                      <p:childTnLst>
                        <p:par>
                          <p:cTn id="10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nodeType="clickEffect" fill="hold">
                      <p:stCondLst>
                        <p:cond delay="indefinite"/>
                      </p:stCondLst>
                      <p:childTnLst>
                        <p:par>
                          <p:cTn id="1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Num" idx="19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8912EC-82CD-494E-9391-EA829A0E0478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title"/>
          </p:nvPr>
        </p:nvSpPr>
        <p:spPr>
          <a:xfrm>
            <a:off x="1869120" y="73800"/>
            <a:ext cx="8229240" cy="379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ffffff"/>
                </a:solidFill>
                <a:latin typeface="Montserrat SemiBold"/>
                <a:ea typeface="Arial"/>
              </a:rPr>
              <a:t>Электрические цепи постоянного тока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286" name="Rectangle 4"/>
          <p:cNvSpPr/>
          <p:nvPr/>
        </p:nvSpPr>
        <p:spPr>
          <a:xfrm>
            <a:off x="448200" y="1167840"/>
            <a:ext cx="11378160" cy="39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663300"/>
                </a:solidFill>
                <a:latin typeface="Arial"/>
                <a:ea typeface="Arial"/>
              </a:rPr>
              <a:t>	</a:t>
            </a:r>
            <a:r>
              <a:rPr b="0" lang="ru-RU" sz="3200" spc="-1" strike="noStrike">
                <a:solidFill>
                  <a:srgbClr val="003399"/>
                </a:solidFill>
                <a:latin typeface="Montserrat"/>
                <a:ea typeface="Arial"/>
              </a:rPr>
              <a:t>Электротехнические устройства, производящие электрическую энергию, называются</a:t>
            </a:r>
            <a:r>
              <a:rPr b="0" lang="ru-RU" sz="3200" spc="-1" strike="noStrike">
                <a:solidFill>
                  <a:srgbClr val="663300"/>
                </a:solidFill>
                <a:latin typeface="Montserrat"/>
                <a:ea typeface="Arial"/>
              </a:rPr>
              <a:t> </a:t>
            </a:r>
            <a:r>
              <a:rPr b="1" lang="ru-RU" sz="3200" spc="-1" strike="noStrike">
                <a:solidFill>
                  <a:srgbClr val="c00000"/>
                </a:solidFill>
                <a:latin typeface="Montserrat"/>
                <a:ea typeface="Arial"/>
              </a:rPr>
              <a:t>генераторами</a:t>
            </a:r>
            <a:r>
              <a:rPr b="0" lang="ru-RU" sz="3200" spc="-1" strike="noStrike">
                <a:solidFill>
                  <a:srgbClr val="663300"/>
                </a:solidFill>
                <a:latin typeface="Montserrat"/>
                <a:ea typeface="Arial"/>
              </a:rPr>
              <a:t> или </a:t>
            </a:r>
            <a:r>
              <a:rPr b="1" lang="ru-RU" sz="3200" spc="-1" strike="noStrike">
                <a:solidFill>
                  <a:srgbClr val="c00000"/>
                </a:solidFill>
                <a:latin typeface="Montserrat"/>
                <a:ea typeface="Arial"/>
              </a:rPr>
              <a:t>источниками электрической энергии.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352379"/>
                </a:solidFill>
                <a:latin typeface="Montserrat"/>
                <a:ea typeface="Arial"/>
              </a:rPr>
              <a:t>	</a:t>
            </a:r>
            <a:r>
              <a:rPr b="0" lang="ru-RU" sz="3200" spc="-1" strike="noStrike">
                <a:solidFill>
                  <a:srgbClr val="352379"/>
                </a:solidFill>
                <a:latin typeface="Montserrat"/>
                <a:ea typeface="Arial"/>
              </a:rPr>
              <a:t>Источники преобразуют</a:t>
            </a:r>
            <a:r>
              <a:rPr b="0" lang="en-US" sz="32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r>
              <a:rPr b="0" lang="ru-RU" sz="3200" spc="-1" strike="noStrike">
                <a:solidFill>
                  <a:srgbClr val="352379"/>
                </a:solidFill>
                <a:latin typeface="Montserrat"/>
                <a:ea typeface="Arial"/>
              </a:rPr>
              <a:t>различные виды энергии в</a:t>
            </a:r>
            <a:r>
              <a:rPr b="0" lang="en-US" sz="32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r>
              <a:rPr b="0" lang="ru-RU" sz="3200" spc="-1" strike="noStrike">
                <a:solidFill>
                  <a:srgbClr val="352379"/>
                </a:solidFill>
                <a:latin typeface="Montserrat"/>
                <a:ea typeface="Arial"/>
              </a:rPr>
              <a:t>электромагнитную энергию</a:t>
            </a:r>
            <a:r>
              <a:rPr b="0" lang="en-US" sz="32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r>
              <a:rPr b="0" lang="ru-RU" sz="3200" spc="-1" strike="noStrike">
                <a:solidFill>
                  <a:srgbClr val="352379"/>
                </a:solidFill>
                <a:latin typeface="Montserrat"/>
                <a:ea typeface="Arial"/>
              </a:rPr>
              <a:t> аккумуляторы, электромашинные генераторы и</a:t>
            </a:r>
            <a:r>
              <a:rPr b="0" lang="en-US" sz="32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r>
              <a:rPr b="0" lang="ru-RU" sz="3200" spc="-1" strike="noStrike">
                <a:solidFill>
                  <a:srgbClr val="352379"/>
                </a:solidFill>
                <a:latin typeface="Montserrat"/>
                <a:ea typeface="Arial"/>
              </a:rPr>
              <a:t>другие устройства</a:t>
            </a:r>
            <a:r>
              <a:rPr b="0" lang="en-US" sz="3200" spc="-1" strike="noStrike">
                <a:solidFill>
                  <a:srgbClr val="352379"/>
                </a:solidFill>
                <a:latin typeface="Montserrat"/>
                <a:ea typeface="Arial"/>
              </a:rPr>
              <a:t>.</a:t>
            </a:r>
            <a:endParaRPr b="0" lang="ru-RU" sz="3200" spc="-1" strike="noStrike">
              <a:latin typeface="Arial"/>
            </a:endParaRPr>
          </a:p>
        </p:txBody>
      </p:sp>
      <p:sp>
        <p:nvSpPr>
          <p:cNvPr id="287" name="Rectangle 8"/>
          <p:cNvSpPr/>
          <p:nvPr/>
        </p:nvSpPr>
        <p:spPr>
          <a:xfrm>
            <a:off x="540000" y="5157000"/>
            <a:ext cx="11070720" cy="22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663300"/>
                </a:solidFill>
                <a:latin typeface="Times New Roman"/>
                <a:ea typeface="Arial"/>
              </a:rPr>
              <a:t>	</a:t>
            </a:r>
            <a:r>
              <a:rPr b="0" lang="ru-RU" sz="2800" spc="-1" strike="noStrike">
                <a:solidFill>
                  <a:srgbClr val="003399"/>
                </a:solidFill>
                <a:latin typeface="Montserrat"/>
                <a:ea typeface="Arial"/>
              </a:rPr>
              <a:t>Устройства, потребляющие ее</a:t>
            </a:r>
            <a:r>
              <a:rPr b="0" lang="en-US" sz="2800" spc="-1" strike="noStrike">
                <a:solidFill>
                  <a:srgbClr val="003399"/>
                </a:solidFill>
                <a:latin typeface="Montserrat"/>
                <a:ea typeface="Arial"/>
              </a:rPr>
              <a:t> </a:t>
            </a:r>
            <a:r>
              <a:rPr b="0" lang="ru-RU" sz="2800" spc="-1" strike="noStrike">
                <a:solidFill>
                  <a:srgbClr val="003399"/>
                </a:solidFill>
                <a:latin typeface="Montserrat"/>
                <a:ea typeface="Arial"/>
              </a:rPr>
              <a:t> – </a:t>
            </a:r>
            <a:r>
              <a:rPr b="1" lang="ru-RU" sz="2800" spc="-1" strike="noStrike">
                <a:solidFill>
                  <a:srgbClr val="ff3300"/>
                </a:solidFill>
                <a:latin typeface="Montserrat"/>
                <a:ea typeface="Arial"/>
              </a:rPr>
              <a:t>приемниками</a:t>
            </a:r>
            <a:r>
              <a:rPr b="0" lang="ru-RU" sz="2800" spc="-1" strike="noStrike">
                <a:solidFill>
                  <a:srgbClr val="663300"/>
                </a:solidFill>
                <a:latin typeface="Montserrat"/>
                <a:ea typeface="Arial"/>
              </a:rPr>
              <a:t> (потребителями) электрической энергии.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352379"/>
                </a:solidFill>
                <a:latin typeface="Montserrat"/>
                <a:ea typeface="Arial"/>
              </a:rPr>
              <a:t>	</a:t>
            </a: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Arial"/>
              </a:rPr>
              <a:t>Потребители преобразуют</a:t>
            </a:r>
            <a:r>
              <a:rPr b="0" lang="en-US" sz="28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Arial"/>
              </a:rPr>
              <a:t>электромагнитную энергию</a:t>
            </a:r>
            <a:r>
              <a:rPr b="0" lang="en-US" sz="28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Arial"/>
              </a:rPr>
              <a:t>в другие виды энергии –</a:t>
            </a:r>
            <a:r>
              <a:rPr b="0" lang="en-US" sz="28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Arial"/>
              </a:rPr>
              <a:t>это </a:t>
            </a:r>
            <a:r>
              <a:rPr b="0" lang="ru-RU" sz="2800" spc="-1" strike="noStrike">
                <a:solidFill>
                  <a:srgbClr val="c00000"/>
                </a:solidFill>
                <a:latin typeface="Montserrat"/>
                <a:ea typeface="Arial"/>
              </a:rPr>
              <a:t>нагреватели, лампы,</a:t>
            </a:r>
            <a:r>
              <a:rPr b="0" lang="en-US" sz="2800" spc="-1" strike="noStrike">
                <a:solidFill>
                  <a:srgbClr val="c00000"/>
                </a:solidFill>
                <a:latin typeface="Montserrat"/>
                <a:ea typeface="Arial"/>
              </a:rPr>
              <a:t> </a:t>
            </a:r>
            <a:r>
              <a:rPr b="0" lang="ru-RU" sz="2800" spc="-1" strike="noStrike">
                <a:solidFill>
                  <a:srgbClr val="c00000"/>
                </a:solidFill>
                <a:latin typeface="Montserrat"/>
                <a:ea typeface="Arial"/>
              </a:rPr>
              <a:t>двигатели и другие</a:t>
            </a:r>
            <a:r>
              <a:rPr b="0" lang="en-US" sz="2800" spc="-1" strike="noStrike">
                <a:solidFill>
                  <a:srgbClr val="c00000"/>
                </a:solidFill>
                <a:latin typeface="Montserrat"/>
                <a:ea typeface="Arial"/>
              </a:rPr>
              <a:t> </a:t>
            </a:r>
            <a:r>
              <a:rPr b="0" lang="ru-RU" sz="2800" spc="-1" strike="noStrike">
                <a:solidFill>
                  <a:srgbClr val="c00000"/>
                </a:solidFill>
                <a:latin typeface="Montserrat"/>
                <a:ea typeface="Arial"/>
              </a:rPr>
              <a:t>устройства</a:t>
            </a:r>
            <a:r>
              <a:rPr b="0" lang="en-US" sz="2800" spc="-1" strike="noStrike">
                <a:solidFill>
                  <a:srgbClr val="c00000"/>
                </a:solidFill>
                <a:latin typeface="Montserrat"/>
                <a:ea typeface="Arial"/>
              </a:rPr>
              <a:t>.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9" dur="indefinite" restart="never" nodeType="tmRoot">
          <p:childTnLst>
            <p:seq>
              <p:cTn id="110" dur="indefinite" nodeType="mainSeq">
                <p:childTnLst>
                  <p:par>
                    <p:cTn id="111" nodeType="clickEffect" fill="hold">
                      <p:stCondLst>
                        <p:cond delay="indefinite"/>
                      </p:stCondLst>
                      <p:childTnLst>
                        <p:par>
                          <p:cTn id="1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15" dur="500"/>
                                        <p:tgtEl>
                                          <p:spTgt spid="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nodeType="clickEffect" fill="hold">
                      <p:stCondLst>
                        <p:cond delay="indefinite"/>
                      </p:stCondLst>
                      <p:childTnLst>
                        <p:par>
                          <p:cTn id="1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8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20" dur="500"/>
                                        <p:tgtEl>
                                          <p:spTgt spid="2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nodeType="clickEffect" fill="hold">
                      <p:stCondLst>
                        <p:cond delay="indefinite"/>
                      </p:stCondLst>
                      <p:childTnLst>
                        <p:par>
                          <p:cTn id="1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125" dur="2000"/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nodeType="clickEffect" fill="hold">
                      <p:stCondLst>
                        <p:cond delay="indefinite"/>
                      </p:stCondLst>
                      <p:childTnLst>
                        <p:par>
                          <p:cTn id="1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8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130" dur="2000"/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Num" idx="20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3C9D62-C5FD-4F3F-A30E-3AA4AED7EBC2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title"/>
          </p:nvPr>
        </p:nvSpPr>
        <p:spPr>
          <a:xfrm>
            <a:off x="1291320" y="-37440"/>
            <a:ext cx="8229240" cy="8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ffffff"/>
                </a:solidFill>
                <a:latin typeface="Montserrat SemiBold"/>
                <a:ea typeface="Arial"/>
              </a:rPr>
              <a:t>Электрические цепи постоянного тока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/>
          </p:nvPr>
        </p:nvSpPr>
        <p:spPr>
          <a:xfrm>
            <a:off x="250560" y="567000"/>
            <a:ext cx="11576160" cy="1712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just">
              <a:lnSpc>
                <a:spcPct val="8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3399"/>
                </a:solidFill>
                <a:latin typeface="Montserrat"/>
                <a:ea typeface="Arial"/>
              </a:rPr>
              <a:t>У</a:t>
            </a:r>
            <a:r>
              <a:rPr b="0" lang="en-US" sz="3200" spc="-1" strike="noStrike">
                <a:solidFill>
                  <a:srgbClr val="003399"/>
                </a:solidFill>
                <a:latin typeface="Montserrat"/>
                <a:ea typeface="Arial"/>
              </a:rPr>
              <a:t> </a:t>
            </a:r>
            <a:r>
              <a:rPr b="0" lang="ru-RU" sz="3200" spc="-1" strike="noStrike">
                <a:solidFill>
                  <a:srgbClr val="003399"/>
                </a:solidFill>
                <a:latin typeface="Montserrat"/>
                <a:ea typeface="Arial"/>
              </a:rPr>
              <a:t>каждого элемента цепи можно выделить определенное число зажимов (</a:t>
            </a:r>
            <a:r>
              <a:rPr b="1" lang="ru-RU" sz="3200" spc="-1" strike="noStrike">
                <a:solidFill>
                  <a:srgbClr val="c00000"/>
                </a:solidFill>
                <a:latin typeface="Montserrat"/>
                <a:ea typeface="Arial"/>
              </a:rPr>
              <a:t>полюсов</a:t>
            </a:r>
            <a:r>
              <a:rPr b="0" lang="ru-RU" sz="3200" spc="-1" strike="noStrike">
                <a:solidFill>
                  <a:srgbClr val="003399"/>
                </a:solidFill>
                <a:latin typeface="Montserrat"/>
                <a:ea typeface="Arial"/>
              </a:rPr>
              <a:t>), с помощью которых он соединяется с другими элементами.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  <a:p>
            <a:pPr algn="just">
              <a:lnSpc>
                <a:spcPct val="8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352379"/>
                </a:solidFill>
                <a:latin typeface="Times New Roman"/>
                <a:ea typeface="Arial"/>
              </a:rPr>
              <a:t>Различают </a:t>
            </a:r>
            <a:r>
              <a:rPr b="1" lang="ru-RU" sz="3200" spc="-1" strike="noStrike">
                <a:solidFill>
                  <a:srgbClr val="ff3300"/>
                </a:solidFill>
                <a:latin typeface="Times New Roman"/>
                <a:ea typeface="Arial"/>
              </a:rPr>
              <a:t>двух</a:t>
            </a:r>
            <a:r>
              <a:rPr b="0" lang="ru-RU" sz="3200" spc="-1" strike="noStrike">
                <a:solidFill>
                  <a:srgbClr val="352379"/>
                </a:solidFill>
                <a:latin typeface="Times New Roman"/>
                <a:ea typeface="Arial"/>
              </a:rPr>
              <a:t> –и </a:t>
            </a:r>
            <a:r>
              <a:rPr b="1" lang="ru-RU" sz="3200" spc="-1" strike="noStrike">
                <a:solidFill>
                  <a:srgbClr val="ff3300"/>
                </a:solidFill>
                <a:latin typeface="Times New Roman"/>
                <a:ea typeface="Arial"/>
              </a:rPr>
              <a:t>многополюсные</a:t>
            </a:r>
            <a:r>
              <a:rPr b="0" lang="ru-RU" sz="3200" spc="-1" strike="noStrike">
                <a:solidFill>
                  <a:srgbClr val="352379"/>
                </a:solidFill>
                <a:latin typeface="Times New Roman"/>
                <a:ea typeface="Arial"/>
              </a:rPr>
              <a:t> элементы. 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291" name="Rectangle 10"/>
          <p:cNvSpPr/>
          <p:nvPr/>
        </p:nvSpPr>
        <p:spPr>
          <a:xfrm>
            <a:off x="187920" y="2333160"/>
            <a:ext cx="8156880" cy="30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Двухполюсник – это электрическая цепь, содержащая две точки для соединения с другими цепями</a:t>
            </a:r>
            <a:r>
              <a:rPr b="0" lang="en-US" sz="2400" spc="-1" strike="noStrike">
                <a:solidFill>
                  <a:srgbClr val="352379"/>
                </a:solidFill>
                <a:latin typeface="Montserrat"/>
                <a:ea typeface="Arial"/>
              </a:rPr>
              <a:t>.</a:t>
            </a: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К ним относятся:</a:t>
            </a:r>
            <a:endParaRPr b="0" lang="ru-RU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c00000"/>
                </a:solidFill>
                <a:latin typeface="Montserrat"/>
                <a:ea typeface="Arial"/>
              </a:rPr>
              <a:t>источники энергии;</a:t>
            </a:r>
            <a:endParaRPr b="0" lang="ru-RU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c00000"/>
                </a:solidFill>
                <a:latin typeface="Montserrat"/>
                <a:ea typeface="Arial"/>
              </a:rPr>
              <a:t>резисторы;</a:t>
            </a:r>
            <a:endParaRPr b="0" lang="ru-RU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c00000"/>
                </a:solidFill>
                <a:latin typeface="Montserrat"/>
                <a:ea typeface="Arial"/>
              </a:rPr>
              <a:t>катушки индуктивности;</a:t>
            </a:r>
            <a:endParaRPr b="0" lang="ru-RU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c00000"/>
                </a:solidFill>
                <a:latin typeface="Montserrat"/>
                <a:ea typeface="Arial"/>
              </a:rPr>
              <a:t>конденсаторы. 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292" name="Rectangle 11"/>
          <p:cNvSpPr/>
          <p:nvPr/>
        </p:nvSpPr>
        <p:spPr>
          <a:xfrm>
            <a:off x="16560" y="5226120"/>
            <a:ext cx="799272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003399"/>
                </a:solidFill>
                <a:latin typeface="Times New Roman"/>
                <a:ea typeface="Arial"/>
              </a:rPr>
              <a:t>Многополюсные элементы – это, например, триоды, трансформаторы, усилители и т.д.</a:t>
            </a:r>
            <a:endParaRPr b="0" lang="ru-RU" sz="3200" spc="-1" strike="noStrike">
              <a:latin typeface="Arial"/>
            </a:endParaRPr>
          </a:p>
        </p:txBody>
      </p:sp>
      <p:grpSp>
        <p:nvGrpSpPr>
          <p:cNvPr id="293" name="Группа 23"/>
          <p:cNvGrpSpPr/>
          <p:nvPr/>
        </p:nvGrpSpPr>
        <p:grpSpPr>
          <a:xfrm>
            <a:off x="8191800" y="5010840"/>
            <a:ext cx="3627360" cy="1233000"/>
            <a:chOff x="8191800" y="5010840"/>
            <a:chExt cx="3627360" cy="1233000"/>
          </a:xfrm>
        </p:grpSpPr>
        <p:sp>
          <p:nvSpPr>
            <p:cNvPr id="294" name="Прямоугольник 25"/>
            <p:cNvSpPr/>
            <p:nvPr/>
          </p:nvSpPr>
          <p:spPr>
            <a:xfrm>
              <a:off x="9126360" y="5236200"/>
              <a:ext cx="1296720" cy="1007640"/>
            </a:xfrm>
            <a:prstGeom prst="rect">
              <a:avLst/>
            </a:prstGeom>
            <a:noFill/>
            <a:ln>
              <a:solidFill>
                <a:srgbClr val="3523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95" name="Прямоугольник 26"/>
            <p:cNvSpPr/>
            <p:nvPr/>
          </p:nvSpPr>
          <p:spPr>
            <a:xfrm>
              <a:off x="11287080" y="5523480"/>
              <a:ext cx="144000" cy="360000"/>
            </a:xfrm>
            <a:prstGeom prst="rect">
              <a:avLst/>
            </a:prstGeom>
            <a:noFill/>
            <a:ln w="15875">
              <a:solidFill>
                <a:srgbClr val="3523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96" name="Соединительная линия уступом 27"/>
            <p:cNvSpPr/>
            <p:nvPr/>
          </p:nvSpPr>
          <p:spPr>
            <a:xfrm flipV="1" rot="16200000">
              <a:off x="10820160" y="4984560"/>
              <a:ext cx="142560" cy="934560"/>
            </a:xfrm>
            <a:prstGeom prst="bentConnector2">
              <a:avLst/>
            </a:prstGeom>
            <a:noFill/>
            <a:ln w="12700">
              <a:solidFill>
                <a:srgbClr val="3523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97" name="Соединительная линия уступом 28"/>
            <p:cNvSpPr/>
            <p:nvPr/>
          </p:nvSpPr>
          <p:spPr>
            <a:xfrm rot="5400000">
              <a:off x="10783440" y="5524200"/>
              <a:ext cx="215640" cy="934560"/>
            </a:xfrm>
            <a:prstGeom prst="bentConnector2">
              <a:avLst/>
            </a:prstGeom>
            <a:noFill/>
            <a:ln w="12700">
              <a:solidFill>
                <a:srgbClr val="3523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98" name="Прямоугольник 31"/>
            <p:cNvSpPr/>
            <p:nvPr/>
          </p:nvSpPr>
          <p:spPr>
            <a:xfrm>
              <a:off x="10713240" y="5010840"/>
              <a:ext cx="2955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i="1" lang="en-US" sz="18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a</a:t>
              </a:r>
              <a:endParaRPr b="0" lang="ru-RU" sz="1800" spc="-1" strike="noStrike">
                <a:latin typeface="Arial"/>
              </a:endParaRPr>
            </a:p>
          </p:txBody>
        </p:sp>
        <p:sp>
          <p:nvSpPr>
            <p:cNvPr id="299" name="Прямоугольник 32"/>
            <p:cNvSpPr/>
            <p:nvPr/>
          </p:nvSpPr>
          <p:spPr>
            <a:xfrm>
              <a:off x="10711080" y="5730840"/>
              <a:ext cx="2278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i="1" lang="en-US" sz="18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b</a:t>
              </a:r>
              <a:endParaRPr b="0" lang="ru-RU" sz="1800" spc="-1" strike="noStrike">
                <a:latin typeface="Arial"/>
              </a:endParaRPr>
            </a:p>
          </p:txBody>
        </p:sp>
        <p:sp>
          <p:nvSpPr>
            <p:cNvPr id="300" name="Прямая со стрелкой 33"/>
            <p:cNvSpPr/>
            <p:nvPr/>
          </p:nvSpPr>
          <p:spPr>
            <a:xfrm>
              <a:off x="10999800" y="5380560"/>
              <a:ext cx="1425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1" name="Прямоугольник 34"/>
            <p:cNvSpPr/>
            <p:nvPr/>
          </p:nvSpPr>
          <p:spPr>
            <a:xfrm>
              <a:off x="10988640" y="5010840"/>
              <a:ext cx="2451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i="1" lang="en-US" sz="18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i</a:t>
              </a:r>
              <a:endParaRPr b="0" lang="ru-RU" sz="1800" spc="-1" strike="noStrike">
                <a:latin typeface="Arial"/>
              </a:endParaRPr>
            </a:p>
          </p:txBody>
        </p:sp>
        <p:sp>
          <p:nvSpPr>
            <p:cNvPr id="302" name="Прямоугольник 35"/>
            <p:cNvSpPr/>
            <p:nvPr/>
          </p:nvSpPr>
          <p:spPr>
            <a:xfrm>
              <a:off x="9561240" y="5379840"/>
              <a:ext cx="475200" cy="57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32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A</a:t>
              </a:r>
              <a:endParaRPr b="0" lang="ru-RU" sz="3200" spc="-1" strike="noStrike">
                <a:latin typeface="Arial"/>
              </a:endParaRPr>
            </a:p>
          </p:txBody>
        </p:sp>
        <p:sp>
          <p:nvSpPr>
            <p:cNvPr id="303" name="Прямоугольник 36"/>
            <p:cNvSpPr/>
            <p:nvPr/>
          </p:nvSpPr>
          <p:spPr>
            <a:xfrm>
              <a:off x="11426400" y="5452200"/>
              <a:ext cx="392760" cy="40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i="1" lang="en-US" sz="18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R</a:t>
              </a:r>
              <a:r>
                <a:rPr b="0" lang="ru-RU" sz="1800" spc="-1" strike="noStrike" u="sng" baseline="-25000">
                  <a:solidFill>
                    <a:srgbClr val="003399"/>
                  </a:solidFill>
                  <a:uFillTx/>
                  <a:latin typeface="Times New Roman"/>
                  <a:ea typeface="Arial"/>
                </a:rPr>
                <a:t>н</a:t>
              </a:r>
              <a:endParaRPr b="0" lang="ru-RU" sz="1800" spc="-1" strike="noStrike">
                <a:latin typeface="Arial"/>
              </a:endParaRPr>
            </a:p>
          </p:txBody>
        </p:sp>
        <p:sp>
          <p:nvSpPr>
            <p:cNvPr id="304" name="Соединительная линия уступом 15"/>
            <p:cNvSpPr/>
            <p:nvPr/>
          </p:nvSpPr>
          <p:spPr>
            <a:xfrm rot="10800000">
              <a:off x="8550360" y="5454720"/>
              <a:ext cx="576000" cy="360"/>
            </a:xfrm>
            <a:prstGeom prst="bentConnector3">
              <a:avLst>
                <a:gd name="adj1" fmla="val 50000"/>
              </a:avLst>
            </a:prstGeom>
            <a:noFill/>
            <a:ln w="15875">
              <a:solidFill>
                <a:srgbClr val="352379"/>
              </a:solidFill>
              <a:tailEnd len="med" type="oval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5" name="Соединительная линия уступом 39"/>
            <p:cNvSpPr/>
            <p:nvPr/>
          </p:nvSpPr>
          <p:spPr>
            <a:xfrm rot="10800000">
              <a:off x="8550360" y="6089760"/>
              <a:ext cx="576000" cy="360"/>
            </a:xfrm>
            <a:prstGeom prst="bentConnector3">
              <a:avLst>
                <a:gd name="adj1" fmla="val 50000"/>
              </a:avLst>
            </a:prstGeom>
            <a:noFill/>
            <a:ln w="15875">
              <a:solidFill>
                <a:srgbClr val="352379"/>
              </a:solidFill>
              <a:tailEnd len="med" type="oval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6" name="Прямая соединительная линия 18"/>
            <p:cNvSpPr/>
            <p:nvPr/>
          </p:nvSpPr>
          <p:spPr>
            <a:xfrm>
              <a:off x="10423440" y="5370840"/>
              <a:ext cx="425520" cy="360"/>
            </a:xfrm>
            <a:prstGeom prst="line">
              <a:avLst/>
            </a:prstGeom>
            <a:ln w="12700">
              <a:solidFill>
                <a:srgbClr val="352379"/>
              </a:solidFill>
              <a:tailEnd len="med" type="oval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7" name="Прямая соединительная линия 42"/>
            <p:cNvSpPr/>
            <p:nvPr/>
          </p:nvSpPr>
          <p:spPr>
            <a:xfrm>
              <a:off x="10423440" y="6090120"/>
              <a:ext cx="425520" cy="360"/>
            </a:xfrm>
            <a:prstGeom prst="line">
              <a:avLst/>
            </a:prstGeom>
            <a:ln w="12700">
              <a:solidFill>
                <a:srgbClr val="352379"/>
              </a:solidFill>
              <a:tailEnd len="med" type="oval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8" name="Прямоугольник 43"/>
            <p:cNvSpPr/>
            <p:nvPr/>
          </p:nvSpPr>
          <p:spPr>
            <a:xfrm>
              <a:off x="8191800" y="5226840"/>
              <a:ext cx="2833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i="1" lang="ru-RU" sz="18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с</a:t>
              </a:r>
              <a:endParaRPr b="0" lang="ru-RU" sz="1800" spc="-1" strike="noStrike">
                <a:latin typeface="Arial"/>
              </a:endParaRPr>
            </a:p>
          </p:txBody>
        </p:sp>
        <p:sp>
          <p:nvSpPr>
            <p:cNvPr id="309" name="Прямоугольник 44"/>
            <p:cNvSpPr/>
            <p:nvPr/>
          </p:nvSpPr>
          <p:spPr>
            <a:xfrm>
              <a:off x="8264880" y="5865480"/>
              <a:ext cx="2955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i="1" lang="en-US" sz="18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d</a:t>
              </a:r>
              <a:endParaRPr b="0" lang="ru-RU" sz="1800" spc="-1" strike="noStrike">
                <a:latin typeface="Arial"/>
              </a:endParaRPr>
            </a:p>
          </p:txBody>
        </p:sp>
      </p:grpSp>
      <p:grpSp>
        <p:nvGrpSpPr>
          <p:cNvPr id="310" name="Группа 19"/>
          <p:cNvGrpSpPr/>
          <p:nvPr/>
        </p:nvGrpSpPr>
        <p:grpSpPr>
          <a:xfrm>
            <a:off x="8476920" y="2604240"/>
            <a:ext cx="3376440" cy="1649160"/>
            <a:chOff x="8476920" y="2604240"/>
            <a:chExt cx="3376440" cy="1649160"/>
          </a:xfrm>
        </p:grpSpPr>
        <p:sp>
          <p:nvSpPr>
            <p:cNvPr id="311" name="Прямоугольник 1"/>
            <p:cNvSpPr/>
            <p:nvPr/>
          </p:nvSpPr>
          <p:spPr>
            <a:xfrm>
              <a:off x="8476920" y="2905560"/>
              <a:ext cx="1651680" cy="1347840"/>
            </a:xfrm>
            <a:prstGeom prst="rect">
              <a:avLst/>
            </a:prstGeom>
            <a:noFill/>
            <a:ln>
              <a:solidFill>
                <a:srgbClr val="3523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2" name="Прямоугольник 2"/>
            <p:cNvSpPr/>
            <p:nvPr/>
          </p:nvSpPr>
          <p:spPr>
            <a:xfrm>
              <a:off x="11229120" y="3290040"/>
              <a:ext cx="183600" cy="481680"/>
            </a:xfrm>
            <a:prstGeom prst="rect">
              <a:avLst/>
            </a:prstGeom>
            <a:noFill/>
            <a:ln w="15875">
              <a:solidFill>
                <a:srgbClr val="3523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3" name="Соединительная линия уступом 4"/>
            <p:cNvSpPr/>
            <p:nvPr/>
          </p:nvSpPr>
          <p:spPr>
            <a:xfrm flipV="1" rot="16200000">
              <a:off x="10629360" y="2598840"/>
              <a:ext cx="190800" cy="1190880"/>
            </a:xfrm>
            <a:prstGeom prst="bentConnector2">
              <a:avLst/>
            </a:prstGeom>
            <a:noFill/>
            <a:ln w="12700">
              <a:solidFill>
                <a:srgbClr val="3523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4" name="Соединительная линия уступом 6"/>
            <p:cNvSpPr/>
            <p:nvPr/>
          </p:nvSpPr>
          <p:spPr>
            <a:xfrm rot="5400000">
              <a:off x="10580400" y="3320640"/>
              <a:ext cx="288360" cy="1190880"/>
            </a:xfrm>
            <a:prstGeom prst="bentConnector2">
              <a:avLst/>
            </a:prstGeom>
            <a:noFill/>
            <a:ln w="12700">
              <a:solidFill>
                <a:srgbClr val="3523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5" name="Прямоугольник 9"/>
            <p:cNvSpPr/>
            <p:nvPr/>
          </p:nvSpPr>
          <p:spPr>
            <a:xfrm>
              <a:off x="10523160" y="2604240"/>
              <a:ext cx="2955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i="1" lang="en-US" sz="18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a</a:t>
              </a:r>
              <a:endParaRPr b="0" lang="ru-RU" sz="1800" spc="-1" strike="noStrike">
                <a:latin typeface="Arial"/>
              </a:endParaRPr>
            </a:p>
          </p:txBody>
        </p:sp>
        <p:sp>
          <p:nvSpPr>
            <p:cNvPr id="316" name="Прямоугольник 17"/>
            <p:cNvSpPr/>
            <p:nvPr/>
          </p:nvSpPr>
          <p:spPr>
            <a:xfrm>
              <a:off x="10538640" y="3567240"/>
              <a:ext cx="2955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i="1" lang="en-US" sz="18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b</a:t>
              </a:r>
              <a:endParaRPr b="0" lang="ru-RU" sz="1800" spc="-1" strike="noStrike">
                <a:latin typeface="Arial"/>
              </a:endParaRPr>
            </a:p>
          </p:txBody>
        </p:sp>
        <p:sp>
          <p:nvSpPr>
            <p:cNvPr id="317" name="Прямая со стрелкой 11"/>
            <p:cNvSpPr/>
            <p:nvPr/>
          </p:nvSpPr>
          <p:spPr>
            <a:xfrm>
              <a:off x="10863000" y="3098880"/>
              <a:ext cx="1818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8" name="Прямоугольник 20"/>
            <p:cNvSpPr/>
            <p:nvPr/>
          </p:nvSpPr>
          <p:spPr>
            <a:xfrm>
              <a:off x="10882800" y="2604240"/>
              <a:ext cx="2451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i="1" lang="en-US" sz="18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i</a:t>
              </a:r>
              <a:endParaRPr b="0" lang="ru-RU" sz="1800" spc="-1" strike="noStrike">
                <a:latin typeface="Arial"/>
              </a:endParaRPr>
            </a:p>
          </p:txBody>
        </p:sp>
        <p:sp>
          <p:nvSpPr>
            <p:cNvPr id="319" name="Прямоугольник 21"/>
            <p:cNvSpPr/>
            <p:nvPr/>
          </p:nvSpPr>
          <p:spPr>
            <a:xfrm>
              <a:off x="9096120" y="3098160"/>
              <a:ext cx="475200" cy="57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32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A</a:t>
              </a:r>
              <a:endParaRPr b="0" lang="ru-RU" sz="3200" spc="-1" strike="noStrike">
                <a:latin typeface="Arial"/>
              </a:endParaRPr>
            </a:p>
          </p:txBody>
        </p:sp>
        <p:sp>
          <p:nvSpPr>
            <p:cNvPr id="320" name="Прямоугольник 22"/>
            <p:cNvSpPr/>
            <p:nvPr/>
          </p:nvSpPr>
          <p:spPr>
            <a:xfrm>
              <a:off x="11460600" y="3194280"/>
              <a:ext cx="392760" cy="40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i="1" lang="en-US" sz="18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R</a:t>
              </a:r>
              <a:r>
                <a:rPr b="0" lang="ru-RU" sz="1800" spc="-1" strike="noStrike" u="sng" baseline="-25000">
                  <a:solidFill>
                    <a:srgbClr val="003399"/>
                  </a:solidFill>
                  <a:uFillTx/>
                  <a:latin typeface="Times New Roman"/>
                  <a:ea typeface="Arial"/>
                </a:rPr>
                <a:t>н</a:t>
              </a:r>
              <a:endParaRPr b="0" lang="ru-RU" sz="1800" spc="-1" strike="noStrike">
                <a:latin typeface="Arial"/>
              </a:endParaRPr>
            </a:p>
          </p:txBody>
        </p:sp>
        <p:sp>
          <p:nvSpPr>
            <p:cNvPr id="321" name="Прямая соединительная линия 45"/>
            <p:cNvSpPr/>
            <p:nvPr/>
          </p:nvSpPr>
          <p:spPr>
            <a:xfrm>
              <a:off x="10135080" y="3085920"/>
              <a:ext cx="543960" cy="360"/>
            </a:xfrm>
            <a:prstGeom prst="line">
              <a:avLst/>
            </a:prstGeom>
            <a:ln w="12700">
              <a:solidFill>
                <a:srgbClr val="352379"/>
              </a:solidFill>
              <a:tailEnd len="med" type="oval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22" name="Прямая соединительная линия 46"/>
            <p:cNvSpPr/>
            <p:nvPr/>
          </p:nvSpPr>
          <p:spPr>
            <a:xfrm>
              <a:off x="10128960" y="4047840"/>
              <a:ext cx="541800" cy="360"/>
            </a:xfrm>
            <a:prstGeom prst="line">
              <a:avLst/>
            </a:prstGeom>
            <a:ln w="12700">
              <a:solidFill>
                <a:srgbClr val="352379"/>
              </a:solidFill>
              <a:tailEnd len="med" type="oval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1" dur="indefinite" restart="never" nodeType="tmRoot">
          <p:childTnLst>
            <p:seq>
              <p:cTn id="132" dur="indefinite" nodeType="mainSeq">
                <p:childTnLst>
                  <p:par>
                    <p:cTn id="133" nodeType="clickEffect" fill="hold">
                      <p:stCondLst>
                        <p:cond delay="indefinite"/>
                      </p:stCondLst>
                      <p:childTnLst>
                        <p:par>
                          <p:cTn id="1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nodeType="clickEffect" fill="hold">
                      <p:stCondLst>
                        <p:cond delay="indefinite"/>
                      </p:stCondLst>
                      <p:childTnLst>
                        <p:par>
                          <p:cTn id="1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nodeType="clickEffect" fill="hold">
                      <p:stCondLst>
                        <p:cond delay="indefinite"/>
                      </p:stCondLst>
                      <p:childTnLst>
                        <p:par>
                          <p:cTn id="1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nodeType="clickEffect" fill="hold">
                      <p:stCondLst>
                        <p:cond delay="indefinite"/>
                      </p:stCondLst>
                      <p:childTnLst>
                        <p:par>
                          <p:cTn id="1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nodeType="clickEffect" fill="hold">
                      <p:stCondLst>
                        <p:cond delay="indefinite"/>
                      </p:stCondLst>
                      <p:childTnLst>
                        <p:par>
                          <p:cTn id="1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Num" idx="21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3A13417-1A0D-4CAB-9A42-823432025EA4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title"/>
          </p:nvPr>
        </p:nvSpPr>
        <p:spPr>
          <a:xfrm>
            <a:off x="1754280" y="66240"/>
            <a:ext cx="8229240" cy="523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ffffff"/>
                </a:solidFill>
                <a:latin typeface="Montserrat SemiBold"/>
                <a:ea typeface="Arial"/>
              </a:rPr>
              <a:t>Электрические цепи постоянного тока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/>
          </p:nvPr>
        </p:nvSpPr>
        <p:spPr>
          <a:xfrm>
            <a:off x="530280" y="779400"/>
            <a:ext cx="8229240" cy="647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3399"/>
                </a:solidFill>
                <a:latin typeface="Times New Roman"/>
                <a:ea typeface="Arial"/>
              </a:rPr>
              <a:t>Элементы электрической цепи делятся:</a:t>
            </a:r>
            <a:endParaRPr b="0" lang="ru-RU" sz="24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26" name="Rectangle 4"/>
          <p:cNvSpPr/>
          <p:nvPr/>
        </p:nvSpPr>
        <p:spPr>
          <a:xfrm>
            <a:off x="233280" y="2286720"/>
            <a:ext cx="6947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cc3300"/>
                </a:solidFill>
                <a:latin typeface="Times New Roman"/>
                <a:ea typeface="Arial"/>
              </a:rPr>
              <a:t>	</a:t>
            </a:r>
            <a:r>
              <a:rPr b="0" lang="ru-RU" sz="2400" spc="-1" strike="noStrike">
                <a:solidFill>
                  <a:srgbClr val="cc3300"/>
                </a:solidFill>
                <a:latin typeface="Times New Roman"/>
                <a:ea typeface="Arial"/>
              </a:rPr>
              <a:t>Активным </a:t>
            </a:r>
            <a:r>
              <a:rPr b="0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называется элемент, содержащий в своей структуре источник электрической энергии.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327" name="Rectangle 6"/>
          <p:cNvSpPr/>
          <p:nvPr/>
        </p:nvSpPr>
        <p:spPr>
          <a:xfrm>
            <a:off x="31320" y="5058000"/>
            <a:ext cx="1112760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352379"/>
                </a:solidFill>
                <a:latin typeface="Montserrat"/>
                <a:ea typeface="Arial"/>
              </a:rPr>
              <a:t>	</a:t>
            </a:r>
            <a:r>
              <a:rPr b="0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К основным характеристикам элементов  электрической цепи относятся:</a:t>
            </a:r>
            <a:endParaRPr b="0" lang="ru-RU" sz="2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cc3300"/>
              </a:buClr>
              <a:buFont typeface="Wingdings" charset="2"/>
              <a:buChar char=""/>
            </a:pPr>
            <a:r>
              <a:rPr b="0" lang="ru-RU" sz="2400" spc="-1" strike="noStrike">
                <a:solidFill>
                  <a:srgbClr val="cc3300"/>
                </a:solidFill>
                <a:latin typeface="Times New Roman"/>
                <a:ea typeface="Arial"/>
              </a:rPr>
              <a:t>вольт-амперные;</a:t>
            </a:r>
            <a:endParaRPr b="0" lang="ru-RU" sz="2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cc3300"/>
              </a:buClr>
              <a:buFont typeface="Wingdings" charset="2"/>
              <a:buChar char=""/>
            </a:pPr>
            <a:r>
              <a:rPr b="0" lang="ru-RU" sz="2400" spc="-1" strike="noStrike">
                <a:solidFill>
                  <a:srgbClr val="cc3300"/>
                </a:solidFill>
                <a:latin typeface="Times New Roman"/>
                <a:ea typeface="Arial"/>
              </a:rPr>
              <a:t>вебер-амперные;</a:t>
            </a:r>
            <a:endParaRPr b="0" lang="ru-RU" sz="2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cc3300"/>
              </a:buClr>
              <a:buFont typeface="Wingdings" charset="2"/>
              <a:buChar char=""/>
            </a:pPr>
            <a:r>
              <a:rPr b="0" lang="ru-RU" sz="2400" spc="-1" strike="noStrike">
                <a:solidFill>
                  <a:srgbClr val="cc3300"/>
                </a:solidFill>
                <a:latin typeface="Times New Roman"/>
                <a:ea typeface="Arial"/>
              </a:rPr>
              <a:t>кулон-вольтные</a:t>
            </a:r>
            <a:r>
              <a:rPr b="0" lang="en-US" sz="2400" spc="-1" strike="noStrike">
                <a:solidFill>
                  <a:srgbClr val="cc3300"/>
                </a:solidFill>
                <a:latin typeface="Times New Roman"/>
                <a:ea typeface="Arial"/>
              </a:rPr>
              <a:t>.</a:t>
            </a:r>
            <a:r>
              <a:rPr b="0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 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328" name="Rectangle 7"/>
          <p:cNvSpPr/>
          <p:nvPr/>
        </p:nvSpPr>
        <p:spPr>
          <a:xfrm>
            <a:off x="31320" y="3403080"/>
            <a:ext cx="6878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	</a:t>
            </a:r>
            <a:r>
              <a:rPr b="0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К </a:t>
            </a:r>
            <a:r>
              <a:rPr b="0" lang="ru-RU" sz="2400" spc="-1" strike="noStrike">
                <a:solidFill>
                  <a:srgbClr val="cc3300"/>
                </a:solidFill>
                <a:latin typeface="Times New Roman"/>
                <a:ea typeface="Arial"/>
              </a:rPr>
              <a:t>пассивным</a:t>
            </a:r>
            <a:r>
              <a:rPr b="0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 относятся элементы, в которых </a:t>
            </a:r>
            <a:r>
              <a:rPr b="0" i="1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рассеивается</a:t>
            </a:r>
            <a:r>
              <a:rPr b="0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 (</a:t>
            </a:r>
            <a:r>
              <a:rPr b="0" lang="ru-RU" sz="2400" spc="-1" strike="noStrike">
                <a:solidFill>
                  <a:srgbClr val="c00000"/>
                </a:solidFill>
                <a:latin typeface="Times New Roman"/>
                <a:ea typeface="Arial"/>
              </a:rPr>
              <a:t>резисторы</a:t>
            </a:r>
            <a:r>
              <a:rPr b="0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) или </a:t>
            </a:r>
            <a:r>
              <a:rPr b="0" i="1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накапливается</a:t>
            </a:r>
            <a:r>
              <a:rPr b="0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 (</a:t>
            </a:r>
            <a:r>
              <a:rPr b="0" lang="ru-RU" sz="2400" spc="-1" strike="noStrike">
                <a:solidFill>
                  <a:srgbClr val="c00000"/>
                </a:solidFill>
                <a:latin typeface="Times New Roman"/>
                <a:ea typeface="Arial"/>
              </a:rPr>
              <a:t>катушка индуктивности и конденсаторы</a:t>
            </a:r>
            <a:r>
              <a:rPr b="0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) энергия.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329" name="Rectangle 8"/>
          <p:cNvSpPr/>
          <p:nvPr/>
        </p:nvSpPr>
        <p:spPr>
          <a:xfrm>
            <a:off x="530280" y="1378080"/>
            <a:ext cx="25189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buClr>
                <a:srgbClr val="c00000"/>
              </a:buClr>
              <a:buFont typeface="Wingdings" charset="2"/>
              <a:buChar char=""/>
            </a:pPr>
            <a:r>
              <a:rPr b="1" lang="ru-RU" sz="2400" spc="-1" strike="noStrike">
                <a:solidFill>
                  <a:srgbClr val="c00000"/>
                </a:solidFill>
                <a:latin typeface="Times New Roman"/>
                <a:ea typeface="Arial"/>
              </a:rPr>
              <a:t>активные</a:t>
            </a:r>
            <a:endParaRPr b="0" lang="ru-RU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c00000"/>
              </a:buClr>
              <a:buFont typeface="Wingdings" charset="2"/>
              <a:buChar char=""/>
            </a:pPr>
            <a:r>
              <a:rPr b="1" lang="ru-RU" sz="2400" spc="-1" strike="noStrike">
                <a:solidFill>
                  <a:srgbClr val="c00000"/>
                </a:solidFill>
                <a:latin typeface="Times New Roman"/>
                <a:ea typeface="Arial"/>
              </a:rPr>
              <a:t>пассивные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330" name="Прямоугольник 14"/>
          <p:cNvSpPr/>
          <p:nvPr/>
        </p:nvSpPr>
        <p:spPr>
          <a:xfrm>
            <a:off x="9861120" y="3117240"/>
            <a:ext cx="295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800" spc="-1" strike="noStrike">
                <a:solidFill>
                  <a:srgbClr val="003399"/>
                </a:solidFill>
                <a:latin typeface="Times New Roman"/>
                <a:ea typeface="Arial"/>
              </a:rPr>
              <a:t>b</a:t>
            </a:r>
            <a:endParaRPr b="0" lang="ru-RU" sz="1800" spc="-1" strike="noStrike">
              <a:latin typeface="Arial"/>
            </a:endParaRPr>
          </a:p>
        </p:txBody>
      </p:sp>
      <p:grpSp>
        <p:nvGrpSpPr>
          <p:cNvPr id="331" name="Группа 3"/>
          <p:cNvGrpSpPr/>
          <p:nvPr/>
        </p:nvGrpSpPr>
        <p:grpSpPr>
          <a:xfrm>
            <a:off x="7443720" y="1776960"/>
            <a:ext cx="3014280" cy="1575720"/>
            <a:chOff x="7443720" y="1776960"/>
            <a:chExt cx="3014280" cy="1575720"/>
          </a:xfrm>
        </p:grpSpPr>
        <p:sp>
          <p:nvSpPr>
            <p:cNvPr id="332" name="Прямоугольник 9"/>
            <p:cNvSpPr/>
            <p:nvPr/>
          </p:nvSpPr>
          <p:spPr>
            <a:xfrm>
              <a:off x="7443720" y="2065320"/>
              <a:ext cx="1891440" cy="1287360"/>
            </a:xfrm>
            <a:prstGeom prst="rect">
              <a:avLst/>
            </a:prstGeom>
            <a:noFill/>
            <a:ln>
              <a:solidFill>
                <a:srgbClr val="3523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33" name="Прямоугольник 13"/>
            <p:cNvSpPr/>
            <p:nvPr/>
          </p:nvSpPr>
          <p:spPr>
            <a:xfrm>
              <a:off x="9810000" y="1776960"/>
              <a:ext cx="2955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i="1" lang="en-US" sz="18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a</a:t>
              </a:r>
              <a:endParaRPr b="0" lang="ru-RU" sz="1800" spc="-1" strike="noStrike">
                <a:latin typeface="Arial"/>
              </a:endParaRPr>
            </a:p>
          </p:txBody>
        </p:sp>
        <p:sp>
          <p:nvSpPr>
            <p:cNvPr id="334" name="Прямоугольник 16"/>
            <p:cNvSpPr/>
            <p:nvPr/>
          </p:nvSpPr>
          <p:spPr>
            <a:xfrm>
              <a:off x="10147320" y="2041200"/>
              <a:ext cx="3106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i="1" lang="en-US" sz="18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+</a:t>
              </a:r>
              <a:endParaRPr b="0" lang="ru-RU" sz="1800" spc="-1" strike="noStrike">
                <a:latin typeface="Arial"/>
              </a:endParaRPr>
            </a:p>
          </p:txBody>
        </p:sp>
        <p:sp>
          <p:nvSpPr>
            <p:cNvPr id="335" name="Прямоугольник 17"/>
            <p:cNvSpPr/>
            <p:nvPr/>
          </p:nvSpPr>
          <p:spPr>
            <a:xfrm>
              <a:off x="8187840" y="2248920"/>
              <a:ext cx="475200" cy="57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32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A</a:t>
              </a:r>
              <a:endParaRPr b="0" lang="ru-RU" sz="3200" spc="-1" strike="noStrike">
                <a:latin typeface="Arial"/>
              </a:endParaRPr>
            </a:p>
          </p:txBody>
        </p:sp>
        <p:sp>
          <p:nvSpPr>
            <p:cNvPr id="336" name="Прямая соединительная линия 19"/>
            <p:cNvSpPr/>
            <p:nvPr/>
          </p:nvSpPr>
          <p:spPr>
            <a:xfrm>
              <a:off x="9344520" y="2238120"/>
              <a:ext cx="621360" cy="360"/>
            </a:xfrm>
            <a:prstGeom prst="line">
              <a:avLst/>
            </a:prstGeom>
            <a:ln w="12700">
              <a:solidFill>
                <a:srgbClr val="352379"/>
              </a:solidFill>
              <a:tailEnd len="med" type="oval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37" name="Прямая соединительная линия 20"/>
            <p:cNvSpPr/>
            <p:nvPr/>
          </p:nvSpPr>
          <p:spPr>
            <a:xfrm>
              <a:off x="9335160" y="3158280"/>
              <a:ext cx="623520" cy="360"/>
            </a:xfrm>
            <a:prstGeom prst="line">
              <a:avLst/>
            </a:prstGeom>
            <a:ln w="12700">
              <a:solidFill>
                <a:srgbClr val="352379"/>
              </a:solidFill>
              <a:tailEnd len="med" type="oval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38" name="Прямоугольник 21"/>
            <p:cNvSpPr/>
            <p:nvPr/>
          </p:nvSpPr>
          <p:spPr>
            <a:xfrm>
              <a:off x="10101600" y="2881440"/>
              <a:ext cx="3153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i="1" lang="en-US" sz="18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 </a:t>
              </a:r>
              <a:r>
                <a:rPr b="1" i="1" lang="en-US" sz="18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-</a:t>
              </a:r>
              <a:endParaRPr b="0" lang="ru-RU" sz="1800" spc="-1" strike="noStrike">
                <a:latin typeface="Arial"/>
              </a:endParaRPr>
            </a:p>
          </p:txBody>
        </p:sp>
        <p:sp>
          <p:nvSpPr>
            <p:cNvPr id="339" name="Прямая со стрелкой 2"/>
            <p:cNvSpPr/>
            <p:nvPr/>
          </p:nvSpPr>
          <p:spPr>
            <a:xfrm flipH="1">
              <a:off x="9965160" y="2421000"/>
              <a:ext cx="360" cy="505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2225">
              <a:solidFill>
                <a:srgbClr val="c00000"/>
              </a:solidFill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40" name="Прямоугольник 24"/>
            <p:cNvSpPr/>
            <p:nvPr/>
          </p:nvSpPr>
          <p:spPr>
            <a:xfrm>
              <a:off x="10058760" y="2237040"/>
              <a:ext cx="385200" cy="57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i="1" lang="en-US" sz="3200" spc="-1" strike="noStrike">
                  <a:solidFill>
                    <a:srgbClr val="c00000"/>
                  </a:solidFill>
                  <a:latin typeface="Times New Roman"/>
                  <a:ea typeface="Arial"/>
                </a:rPr>
                <a:t>u</a:t>
              </a:r>
              <a:endParaRPr b="0" lang="ru-RU" sz="3200" spc="-1" strike="noStrike">
                <a:latin typeface="Arial"/>
              </a:endParaRPr>
            </a:p>
          </p:txBody>
        </p:sp>
      </p:grpSp>
      <p:grpSp>
        <p:nvGrpSpPr>
          <p:cNvPr id="341" name="Группа 26"/>
          <p:cNvGrpSpPr/>
          <p:nvPr/>
        </p:nvGrpSpPr>
        <p:grpSpPr>
          <a:xfrm>
            <a:off x="7464600" y="3536280"/>
            <a:ext cx="2694240" cy="1486080"/>
            <a:chOff x="7464600" y="3536280"/>
            <a:chExt cx="2694240" cy="1486080"/>
          </a:xfrm>
        </p:grpSpPr>
        <p:sp>
          <p:nvSpPr>
            <p:cNvPr id="342" name="Прямоугольник 27"/>
            <p:cNvSpPr/>
            <p:nvPr/>
          </p:nvSpPr>
          <p:spPr>
            <a:xfrm>
              <a:off x="7464600" y="3808080"/>
              <a:ext cx="1824480" cy="1214280"/>
            </a:xfrm>
            <a:prstGeom prst="rect">
              <a:avLst/>
            </a:prstGeom>
            <a:noFill/>
            <a:ln>
              <a:solidFill>
                <a:srgbClr val="3523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43" name="Прямоугольник 28"/>
            <p:cNvSpPr/>
            <p:nvPr/>
          </p:nvSpPr>
          <p:spPr>
            <a:xfrm>
              <a:off x="9742680" y="3536280"/>
              <a:ext cx="2955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i="1" lang="en-US" sz="18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a</a:t>
              </a:r>
              <a:endParaRPr b="0" lang="ru-RU" sz="1800" spc="-1" strike="noStrike">
                <a:latin typeface="Arial"/>
              </a:endParaRPr>
            </a:p>
          </p:txBody>
        </p:sp>
        <p:sp>
          <p:nvSpPr>
            <p:cNvPr id="344" name="Прямоугольник 30"/>
            <p:cNvSpPr/>
            <p:nvPr/>
          </p:nvSpPr>
          <p:spPr>
            <a:xfrm>
              <a:off x="8174160" y="3981600"/>
              <a:ext cx="475200" cy="57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ru-RU" sz="3200" spc="-1" strike="noStrike">
                  <a:solidFill>
                    <a:srgbClr val="003399"/>
                  </a:solidFill>
                  <a:latin typeface="Times New Roman"/>
                  <a:ea typeface="Arial"/>
                </a:rPr>
                <a:t>П</a:t>
              </a:r>
              <a:endParaRPr b="0" lang="ru-RU" sz="3200" spc="-1" strike="noStrike">
                <a:latin typeface="Arial"/>
              </a:endParaRPr>
            </a:p>
          </p:txBody>
        </p:sp>
        <p:sp>
          <p:nvSpPr>
            <p:cNvPr id="345" name="Прямая соединительная линия 31"/>
            <p:cNvSpPr/>
            <p:nvPr/>
          </p:nvSpPr>
          <p:spPr>
            <a:xfrm>
              <a:off x="9298080" y="3970440"/>
              <a:ext cx="601560" cy="360"/>
            </a:xfrm>
            <a:prstGeom prst="line">
              <a:avLst/>
            </a:prstGeom>
            <a:ln w="12700">
              <a:solidFill>
                <a:srgbClr val="352379"/>
              </a:solidFill>
              <a:tailEnd len="med" type="oval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46" name="Прямая соединительная линия 32"/>
            <p:cNvSpPr/>
            <p:nvPr/>
          </p:nvSpPr>
          <p:spPr>
            <a:xfrm>
              <a:off x="9289080" y="4836960"/>
              <a:ext cx="601560" cy="360"/>
            </a:xfrm>
            <a:prstGeom prst="line">
              <a:avLst/>
            </a:prstGeom>
            <a:ln w="12700">
              <a:solidFill>
                <a:srgbClr val="352379"/>
              </a:solidFill>
              <a:tailEnd len="med" type="oval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47" name="Прямоугольник 35"/>
            <p:cNvSpPr/>
            <p:nvPr/>
          </p:nvSpPr>
          <p:spPr>
            <a:xfrm>
              <a:off x="9898920" y="3970440"/>
              <a:ext cx="259920" cy="444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7" dur="indefinite" restart="never" nodeType="tmRoot">
          <p:childTnLst>
            <p:seq>
              <p:cTn id="158" dur="indefinite" nodeType="mainSeq">
                <p:childTnLst>
                  <p:par>
                    <p:cTn id="159" nodeType="clickEffect" fill="hold">
                      <p:stCondLst>
                        <p:cond delay="indefinite"/>
                      </p:stCondLst>
                      <p:childTnLst>
                        <p:par>
                          <p:cTn id="1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nodeType="clickEffect" fill="hold">
                      <p:stCondLst>
                        <p:cond delay="indefinite"/>
                      </p:stCondLst>
                      <p:childTnLst>
                        <p:par>
                          <p:cTn id="1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nodeType="clickEffect" fill="hold">
                      <p:stCondLst>
                        <p:cond delay="indefinite"/>
                      </p:stCondLst>
                      <p:childTnLst>
                        <p:par>
                          <p:cTn id="1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nodeType="clickEffect" fill="hold">
                      <p:stCondLst>
                        <p:cond delay="indefinite"/>
                      </p:stCondLst>
                      <p:childTnLst>
                        <p:par>
                          <p:cTn id="1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nodeType="clickEffect" fill="hold">
                      <p:stCondLst>
                        <p:cond delay="indefinite"/>
                      </p:stCondLst>
                      <p:childTnLst>
                        <p:par>
                          <p:cTn id="18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5" dur="500" fill="hold"/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6" dur="500" fill="hold"/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nodeType="clickEffect" fill="hold">
                      <p:stCondLst>
                        <p:cond delay="indefinite"/>
                      </p:stCondLst>
                      <p:childTnLst>
                        <p:par>
                          <p:cTn id="1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1" dur="500" fill="hold"/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2" dur="500" fill="hold"/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nodeType="clickEffect" fill="hold">
                      <p:stCondLst>
                        <p:cond delay="indefinite"/>
                      </p:stCondLst>
                      <p:childTnLst>
                        <p:par>
                          <p:cTn id="1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7" dur="500" fill="hold"/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8" dur="500" fill="hold"/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nodeType="clickEffect" fill="hold">
                      <p:stCondLst>
                        <p:cond delay="indefinite"/>
                      </p:stCondLst>
                      <p:childTnLst>
                        <p:par>
                          <p:cTn id="2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3" dur="500" fill="hold"/>
                                        <p:tgtEl>
                                          <p:spTgt spid="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4" dur="500" fill="hold"/>
                                        <p:tgtEl>
                                          <p:spTgt spid="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Num" idx="22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761B5F-0E19-47FA-90A9-8662C0520CB0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title"/>
          </p:nvPr>
        </p:nvSpPr>
        <p:spPr>
          <a:xfrm>
            <a:off x="1845360" y="3240"/>
            <a:ext cx="8229240" cy="8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ffffff"/>
                </a:solidFill>
                <a:latin typeface="Montserrat SemiBold"/>
                <a:ea typeface="Arial"/>
              </a:rPr>
              <a:t>Электрические цепи постоянного тока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/>
          </p:nvPr>
        </p:nvSpPr>
        <p:spPr>
          <a:xfrm>
            <a:off x="2208240" y="1268280"/>
            <a:ext cx="8229240" cy="504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Arial"/>
              </a:rPr>
              <a:t>	</a:t>
            </a:r>
            <a:r>
              <a:rPr b="0" lang="ru-RU" sz="2000" spc="-1" strike="noStrike">
                <a:solidFill>
                  <a:srgbClr val="ffffff"/>
                </a:solidFill>
                <a:latin typeface="Montserrat"/>
                <a:ea typeface="Arial"/>
              </a:rPr>
              <a:t>Основные элементы потребителей электроэнергии</a:t>
            </a:r>
            <a:r>
              <a:rPr b="0" lang="ru-RU" sz="2000" spc="-1" strike="noStrike">
                <a:solidFill>
                  <a:srgbClr val="352379"/>
                </a:solidFill>
                <a:latin typeface="Montserrat"/>
                <a:ea typeface="Arial"/>
              </a:rPr>
              <a:t>:</a:t>
            </a: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endParaRPr b="0" lang="ru-RU" sz="2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51" name="Rectangle 7"/>
          <p:cNvSpPr/>
          <p:nvPr/>
        </p:nvSpPr>
        <p:spPr>
          <a:xfrm>
            <a:off x="1523880" y="30348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Rectangle 9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Rectangle 10"/>
          <p:cNvSpPr/>
          <p:nvPr/>
        </p:nvSpPr>
        <p:spPr>
          <a:xfrm>
            <a:off x="1523880" y="-18468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Rectangle 11"/>
          <p:cNvSpPr/>
          <p:nvPr/>
        </p:nvSpPr>
        <p:spPr>
          <a:xfrm>
            <a:off x="1523880" y="3001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Rectangle 12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Rectangle 14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Rectangle 16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Rectangle 19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Rectangle 21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Rectangle 24"/>
          <p:cNvSpPr/>
          <p:nvPr/>
        </p:nvSpPr>
        <p:spPr>
          <a:xfrm>
            <a:off x="1523880" y="3001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61" name="Рисунок 2" descr=""/>
          <p:cNvPicPr/>
          <p:nvPr/>
        </p:nvPicPr>
        <p:blipFill>
          <a:blip r:embed="rId1"/>
          <a:stretch/>
        </p:blipFill>
        <p:spPr>
          <a:xfrm>
            <a:off x="532080" y="814320"/>
            <a:ext cx="11127960" cy="516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5" dur="indefinite" restart="never" nodeType="tmRoot">
          <p:childTnLst>
            <p:seq>
              <p:cTn id="206" dur="indefinite" nodeType="mainSeq">
                <p:childTnLst>
                  <p:par>
                    <p:cTn id="207" nodeType="clickEffect" fill="hold">
                      <p:stCondLst>
                        <p:cond delay="indefinite"/>
                      </p:stCondLst>
                      <p:childTnLst>
                        <p:par>
                          <p:cTn id="2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1" dur="1000"/>
                                        <p:tgtEl>
                                          <p:spTgt spid="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12" dur="1000" fill="hold"/>
                                        <p:tgtEl>
                                          <p:spTgt spid="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3" dur="1000" fill="hold"/>
                                        <p:tgtEl>
                                          <p:spTgt spid="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Num" idx="23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A726857-F516-4163-9334-8CB0CEE3AAC3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title"/>
          </p:nvPr>
        </p:nvSpPr>
        <p:spPr>
          <a:xfrm>
            <a:off x="1909080" y="0"/>
            <a:ext cx="8229240" cy="45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ffffff"/>
                </a:solidFill>
                <a:latin typeface="Montserrat SemiBold"/>
                <a:ea typeface="Arial"/>
              </a:rPr>
              <a:t>Электрические цепи постоянного тока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/>
          </p:nvPr>
        </p:nvSpPr>
        <p:spPr>
          <a:xfrm>
            <a:off x="2089800" y="567360"/>
            <a:ext cx="8229240" cy="647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	</a:t>
            </a: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Основные элементы потребителей электроэнергии:</a:t>
            </a: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65" name="Rectangle 4"/>
          <p:cNvSpPr/>
          <p:nvPr/>
        </p:nvSpPr>
        <p:spPr>
          <a:xfrm>
            <a:off x="413280" y="1398960"/>
            <a:ext cx="251208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cc3300"/>
                </a:solidFill>
                <a:latin typeface="Montserrat"/>
                <a:ea typeface="Arial"/>
              </a:rPr>
              <a:t>1. Резистор</a:t>
            </a:r>
            <a:endParaRPr b="0" lang="ru-RU" sz="3200" spc="-1" strike="noStrike">
              <a:latin typeface="Arial"/>
            </a:endParaRPr>
          </a:p>
        </p:txBody>
      </p:sp>
      <p:sp>
        <p:nvSpPr>
          <p:cNvPr id="366" name="Rectangle 5"/>
          <p:cNvSpPr/>
          <p:nvPr/>
        </p:nvSpPr>
        <p:spPr>
          <a:xfrm>
            <a:off x="641520" y="5580000"/>
            <a:ext cx="85384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de-DE" sz="2400" spc="-1" strike="noStrike">
                <a:solidFill>
                  <a:srgbClr val="352379"/>
                </a:solidFill>
                <a:latin typeface="Montserrat"/>
                <a:ea typeface="Arial"/>
              </a:rPr>
              <a:t>i</a:t>
            </a:r>
            <a:r>
              <a:rPr b="0" i="1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=</a:t>
            </a:r>
            <a:r>
              <a:rPr b="0" i="1" lang="de-DE" sz="2400" spc="-1" strike="noStrike">
                <a:solidFill>
                  <a:srgbClr val="352379"/>
                </a:solidFill>
                <a:latin typeface="Montserrat"/>
                <a:ea typeface="Arial"/>
              </a:rPr>
              <a:t>G</a:t>
            </a:r>
            <a:r>
              <a:rPr b="0" i="1" lang="en-US" sz="2400" spc="-1" strike="noStrike">
                <a:solidFill>
                  <a:srgbClr val="352379"/>
                </a:solidFill>
                <a:latin typeface="Montserrat"/>
                <a:ea typeface="Arial"/>
              </a:rPr>
              <a:t>u</a:t>
            </a: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, 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2400" spc="-1" strike="noStrike">
                <a:solidFill>
                  <a:srgbClr val="352379"/>
                </a:solidFill>
                <a:latin typeface="Montserrat"/>
                <a:ea typeface="Arial"/>
              </a:rPr>
              <a:t>G</a:t>
            </a:r>
            <a:r>
              <a:rPr b="0" lang="en-US" sz="24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называется </a:t>
            </a:r>
            <a:r>
              <a:rPr b="0" i="1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проводимостью</a:t>
            </a: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r>
              <a:rPr b="0" lang="en-US" sz="2400" spc="-1" strike="noStrike">
                <a:solidFill>
                  <a:srgbClr val="352379"/>
                </a:solidFill>
                <a:latin typeface="Montserrat"/>
                <a:ea typeface="Arial"/>
              </a:rPr>
              <a:t>[</a:t>
            </a: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Сименс</a:t>
            </a:r>
            <a:r>
              <a:rPr b="0" lang="en-US" sz="2400" spc="-1" strike="noStrike">
                <a:solidFill>
                  <a:srgbClr val="352379"/>
                </a:solidFill>
                <a:latin typeface="Montserrat"/>
                <a:ea typeface="Arial"/>
              </a:rPr>
              <a:t>]</a:t>
            </a: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 (сокращённо – Сим). 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367" name="Rectangle 6"/>
          <p:cNvSpPr/>
          <p:nvPr/>
        </p:nvSpPr>
        <p:spPr>
          <a:xfrm>
            <a:off x="413280" y="2310840"/>
            <a:ext cx="11731320" cy="36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352379"/>
                </a:solidFill>
                <a:latin typeface="Arial"/>
                <a:ea typeface="Arial"/>
              </a:rPr>
              <a:t>Главное свойство </a:t>
            </a:r>
            <a:r>
              <a:rPr b="0" i="1" lang="en-US" sz="3200" spc="-1" strike="noStrike">
                <a:solidFill>
                  <a:srgbClr val="352379"/>
                </a:solidFill>
                <a:latin typeface="Arial"/>
                <a:ea typeface="Arial"/>
              </a:rPr>
              <a:t>R</a:t>
            </a:r>
            <a:r>
              <a:rPr b="0" lang="ru-RU" sz="3200" spc="-1" strike="noStrike">
                <a:solidFill>
                  <a:srgbClr val="352379"/>
                </a:solidFill>
                <a:latin typeface="Arial"/>
                <a:ea typeface="Arial"/>
              </a:rPr>
              <a:t> - потребляет мощность, преобразуя энергию электрического тока в тепловую энергию.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Arial"/>
              </a:rPr>
              <a:t>Мгновенное значение падения напряжения на нём пропорционально току через него. Это соотношение – закон Ома:</a:t>
            </a:r>
            <a:endParaRPr b="0" lang="ru-RU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4800" spc="-1" strike="noStrike">
                <a:solidFill>
                  <a:srgbClr val="352379"/>
                </a:solidFill>
                <a:latin typeface="Times New Roman"/>
                <a:ea typeface="Arial"/>
              </a:rPr>
              <a:t>u</a:t>
            </a:r>
            <a:r>
              <a:rPr b="0" i="1" lang="ru-RU" sz="4800" spc="-1" strike="noStrike">
                <a:solidFill>
                  <a:srgbClr val="352379"/>
                </a:solidFill>
                <a:latin typeface="Times New Roman"/>
                <a:ea typeface="Arial"/>
              </a:rPr>
              <a:t> = </a:t>
            </a:r>
            <a:r>
              <a:rPr b="0" i="1" lang="en-US" sz="4800" spc="-1" strike="noStrike">
                <a:solidFill>
                  <a:srgbClr val="352379"/>
                </a:solidFill>
                <a:latin typeface="Times New Roman"/>
                <a:ea typeface="Arial"/>
              </a:rPr>
              <a:t>Ri</a:t>
            </a:r>
            <a:r>
              <a:rPr b="0" i="1" lang="ru-RU" sz="4800" spc="-1" strike="noStrike">
                <a:solidFill>
                  <a:srgbClr val="352379"/>
                </a:solidFill>
                <a:latin typeface="Times New Roman"/>
                <a:ea typeface="Arial"/>
              </a:rPr>
              <a:t>.                                                             </a:t>
            </a:r>
            <a:endParaRPr b="0" lang="ru-RU" sz="4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3600" spc="-1" strike="noStrike">
                <a:solidFill>
                  <a:srgbClr val="352379"/>
                </a:solidFill>
                <a:latin typeface="Times New Roman"/>
                <a:ea typeface="Arial"/>
              </a:rPr>
              <a:t>R</a:t>
            </a:r>
            <a:r>
              <a:rPr b="0" lang="ru-RU" sz="3600" spc="-1" strike="noStrike">
                <a:solidFill>
                  <a:srgbClr val="352379"/>
                </a:solidFill>
                <a:latin typeface="Times New Roman"/>
                <a:ea typeface="Arial"/>
              </a:rPr>
              <a:t> – сопротивление, </a:t>
            </a:r>
            <a:r>
              <a:rPr b="0" lang="en-US" sz="3600" spc="-1" strike="noStrike">
                <a:solidFill>
                  <a:srgbClr val="352379"/>
                </a:solidFill>
                <a:latin typeface="Times New Roman"/>
                <a:ea typeface="Arial"/>
              </a:rPr>
              <a:t>[</a:t>
            </a:r>
            <a:r>
              <a:rPr b="0" lang="ru-RU" sz="3600" spc="-1" strike="noStrike">
                <a:solidFill>
                  <a:srgbClr val="352379"/>
                </a:solidFill>
                <a:latin typeface="Times New Roman"/>
                <a:ea typeface="Arial"/>
              </a:rPr>
              <a:t>Ом</a:t>
            </a:r>
            <a:r>
              <a:rPr b="0" lang="en-US" sz="3600" spc="-1" strike="noStrike">
                <a:solidFill>
                  <a:srgbClr val="352379"/>
                </a:solidFill>
                <a:latin typeface="Times New Roman"/>
                <a:ea typeface="Arial"/>
              </a:rPr>
              <a:t>]</a:t>
            </a:r>
            <a:r>
              <a:rPr b="0" lang="ru-RU" sz="3600" spc="-1" strike="noStrike">
                <a:solidFill>
                  <a:srgbClr val="352379"/>
                </a:solidFill>
                <a:latin typeface="Times New Roman"/>
                <a:ea typeface="Arial"/>
              </a:rPr>
              <a:t>.</a:t>
            </a:r>
            <a:endParaRPr b="0" lang="ru-RU" sz="3600" spc="-1" strike="noStrike">
              <a:latin typeface="Arial"/>
            </a:endParaRPr>
          </a:p>
        </p:txBody>
      </p:sp>
      <p:sp>
        <p:nvSpPr>
          <p:cNvPr id="368" name="Rectangle 8"/>
          <p:cNvSpPr/>
          <p:nvPr/>
        </p:nvSpPr>
        <p:spPr>
          <a:xfrm>
            <a:off x="1523880" y="30348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369" name="Object 7"/>
          <p:cNvGraphicFramePr/>
          <p:nvPr/>
        </p:nvGraphicFramePr>
        <p:xfrm>
          <a:off x="7239960" y="4475880"/>
          <a:ext cx="3773880" cy="186372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370" name="Object 7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239960" y="4475880"/>
                    <a:ext cx="3773880" cy="1863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71" name="Rectangle 9"/>
          <p:cNvSpPr/>
          <p:nvPr/>
        </p:nvSpPr>
        <p:spPr>
          <a:xfrm>
            <a:off x="7776000" y="4230000"/>
            <a:ext cx="3224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p</a:t>
            </a:r>
            <a:r>
              <a:rPr b="0" lang="ru-RU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 – мгновенная мощность, </a:t>
            </a:r>
            <a:r>
              <a:rPr b="0" lang="en-US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[</a:t>
            </a:r>
            <a:r>
              <a:rPr b="0" lang="ru-RU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Вт</a:t>
            </a:r>
            <a:r>
              <a:rPr b="0" lang="en-US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]</a:t>
            </a:r>
            <a:endParaRPr b="0" lang="ru-RU" sz="1800" spc="-1" strike="noStrike">
              <a:latin typeface="Arial"/>
            </a:endParaRPr>
          </a:p>
        </p:txBody>
      </p:sp>
      <p:pic>
        <p:nvPicPr>
          <p:cNvPr id="372" name="Picture 10" descr=""/>
          <p:cNvPicPr/>
          <p:nvPr/>
        </p:nvPicPr>
        <p:blipFill>
          <a:blip r:embed="rId3"/>
          <a:stretch/>
        </p:blipFill>
        <p:spPr>
          <a:xfrm>
            <a:off x="4044240" y="1466280"/>
            <a:ext cx="2160360" cy="925200"/>
          </a:xfrm>
          <a:prstGeom prst="rect">
            <a:avLst/>
          </a:prstGeom>
          <a:ln w="0">
            <a:noFill/>
          </a:ln>
        </p:spPr>
      </p:pic>
      <p:pic>
        <p:nvPicPr>
          <p:cNvPr id="373" name="" descr=""/>
          <p:cNvPicPr/>
          <p:nvPr/>
        </p:nvPicPr>
        <p:blipFill>
          <a:blip r:embed="rId4"/>
          <a:stretch/>
        </p:blipFill>
        <p:spPr>
          <a:xfrm>
            <a:off x="7238880" y="4470480"/>
            <a:ext cx="3772080" cy="1854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4" dur="indefinite" restart="never" nodeType="tmRoot">
          <p:childTnLst>
            <p:seq>
              <p:cTn id="215" dur="indefinite" nodeType="mainSeq">
                <p:childTnLst>
                  <p:par>
                    <p:cTn id="216" nodeType="clickEffect" fill="hold">
                      <p:stCondLst>
                        <p:cond delay="indefinite"/>
                      </p:stCondLst>
                      <p:childTnLst>
                        <p:par>
                          <p:cTn id="2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8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0" dur="1000"/>
                                        <p:tgtEl>
                                          <p:spTgt spid="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21" dur="1000" fill="hold"/>
                                        <p:tgtEl>
                                          <p:spTgt spid="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2" dur="1000" fill="hold"/>
                                        <p:tgtEl>
                                          <p:spTgt spid="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nodeType="clickEffect" fill="hold">
                      <p:stCondLst>
                        <p:cond delay="indefinite"/>
                      </p:stCondLst>
                      <p:childTnLst>
                        <p:par>
                          <p:cTn id="2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7" dur="500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8" dur="500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nodeType="clickEffect" fill="hold">
                      <p:stCondLst>
                        <p:cond delay="indefinite"/>
                      </p:stCondLst>
                      <p:childTnLst>
                        <p:par>
                          <p:cTn id="2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nodeType="clickEffect" fill="hold">
                      <p:stCondLst>
                        <p:cond delay="indefinite"/>
                      </p:stCondLst>
                      <p:childTnLst>
                        <p:par>
                          <p:cTn id="2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nodeType="clickEffect" fill="hold">
                      <p:stCondLst>
                        <p:cond delay="indefinite"/>
                      </p:stCondLst>
                      <p:childTnLst>
                        <p:par>
                          <p:cTn id="2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nodeType="clickEffect" fill="hold">
                      <p:stCondLst>
                        <p:cond delay="indefinite"/>
                      </p:stCondLst>
                      <p:childTnLst>
                        <p:par>
                          <p:cTn id="2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nodeType="clickEffect" fill="hold">
                      <p:stCondLst>
                        <p:cond delay="indefinite"/>
                      </p:stCondLst>
                      <p:childTnLst>
                        <p:par>
                          <p:cTn id="2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249" dur="2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Num" idx="24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42BA97-CB12-420F-93FE-F7EC2D94239D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title"/>
          </p:nvPr>
        </p:nvSpPr>
        <p:spPr>
          <a:xfrm>
            <a:off x="1981080" y="85680"/>
            <a:ext cx="8229240" cy="45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ffffff"/>
                </a:solidFill>
                <a:latin typeface="Montserrat SemiBold"/>
                <a:ea typeface="Arial"/>
              </a:rPr>
              <a:t>Электрические цепи постоянного тока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/>
          </p:nvPr>
        </p:nvSpPr>
        <p:spPr>
          <a:xfrm>
            <a:off x="3600000" y="612720"/>
            <a:ext cx="8229240" cy="647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	</a:t>
            </a:r>
            <a:r>
              <a:rPr b="0" lang="ru-RU" sz="2400" spc="-1" strike="noStrike">
                <a:solidFill>
                  <a:srgbClr val="352379"/>
                </a:solidFill>
                <a:latin typeface="Montserrat"/>
                <a:ea typeface="Arial"/>
              </a:rPr>
              <a:t>Основные элементы потребителей электроэнергии:</a:t>
            </a: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77" name="Rectangle 4"/>
          <p:cNvSpPr/>
          <p:nvPr/>
        </p:nvSpPr>
        <p:spPr>
          <a:xfrm>
            <a:off x="530280" y="1189080"/>
            <a:ext cx="39294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cc3300"/>
                </a:solidFill>
                <a:latin typeface="Arial"/>
                <a:ea typeface="Arial"/>
              </a:rPr>
              <a:t>1. Резистор</a:t>
            </a:r>
            <a:endParaRPr b="0" lang="ru-RU" sz="3200" spc="-1" strike="noStrike">
              <a:latin typeface="Arial"/>
            </a:endParaRPr>
          </a:p>
        </p:txBody>
      </p:sp>
      <p:sp>
        <p:nvSpPr>
          <p:cNvPr id="378" name="Rectangle 8"/>
          <p:cNvSpPr/>
          <p:nvPr/>
        </p:nvSpPr>
        <p:spPr>
          <a:xfrm>
            <a:off x="1523880" y="30348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79" name="Picture 10" descr=""/>
          <p:cNvPicPr/>
          <p:nvPr/>
        </p:nvPicPr>
        <p:blipFill>
          <a:blip r:embed="rId1"/>
          <a:stretch/>
        </p:blipFill>
        <p:spPr>
          <a:xfrm>
            <a:off x="7341840" y="1527480"/>
            <a:ext cx="2738160" cy="1172520"/>
          </a:xfrm>
          <a:prstGeom prst="rect">
            <a:avLst/>
          </a:prstGeom>
          <a:ln w="0">
            <a:noFill/>
          </a:ln>
        </p:spPr>
      </p:pic>
      <p:pic>
        <p:nvPicPr>
          <p:cNvPr id="380" name="Рисунок 1" descr=""/>
          <p:cNvPicPr/>
          <p:nvPr/>
        </p:nvPicPr>
        <p:blipFill>
          <a:blip r:embed="rId2"/>
          <a:stretch/>
        </p:blipFill>
        <p:spPr>
          <a:xfrm>
            <a:off x="1774800" y="2924280"/>
            <a:ext cx="5256000" cy="3433320"/>
          </a:xfrm>
          <a:prstGeom prst="rect">
            <a:avLst/>
          </a:prstGeom>
          <a:ln w="0">
            <a:noFill/>
          </a:ln>
        </p:spPr>
      </p:pic>
      <p:pic>
        <p:nvPicPr>
          <p:cNvPr id="381" name="Рисунок 2" descr=""/>
          <p:cNvPicPr/>
          <p:nvPr/>
        </p:nvPicPr>
        <p:blipFill>
          <a:blip r:embed="rId3"/>
          <a:stretch/>
        </p:blipFill>
        <p:spPr>
          <a:xfrm>
            <a:off x="7608960" y="4076640"/>
            <a:ext cx="2912760" cy="195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0" dur="indefinite" restart="never" nodeType="tmRoot">
          <p:childTnLst>
            <p:seq>
              <p:cTn id="251" dur="indefinite" nodeType="mainSeq">
                <p:childTnLst>
                  <p:par>
                    <p:cTn id="252" nodeType="clickEffect" fill="hold">
                      <p:stCondLst>
                        <p:cond delay="indefinite"/>
                      </p:stCondLst>
                      <p:childTnLst>
                        <p:par>
                          <p:cTn id="2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6" dur="1000"/>
                                        <p:tgtEl>
                                          <p:spTgt spid="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57" dur="1000" fill="hold"/>
                                        <p:tgtEl>
                                          <p:spTgt spid="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8" dur="1000" fill="hold"/>
                                        <p:tgtEl>
                                          <p:spTgt spid="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nodeType="clickEffect" fill="hold">
                      <p:stCondLst>
                        <p:cond delay="indefinite"/>
                      </p:stCondLst>
                      <p:childTnLst>
                        <p:par>
                          <p:cTn id="2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3" dur="50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4" dur="50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nodeType="clickEffect" fill="hold">
                      <p:stCondLst>
                        <p:cond delay="indefinite"/>
                      </p:stCondLst>
                      <p:childTnLst>
                        <p:par>
                          <p:cTn id="2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Num" idx="25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E336B6-5A6A-44E0-9479-FF57ABAF886A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 type="title"/>
          </p:nvPr>
        </p:nvSpPr>
        <p:spPr>
          <a:xfrm>
            <a:off x="1981080" y="0"/>
            <a:ext cx="8229240" cy="8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ffffff"/>
                </a:solidFill>
                <a:latin typeface="Montserrat SemiBold"/>
                <a:ea typeface="Arial"/>
              </a:rPr>
              <a:t>Электрические цепи постоянного тока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84" name="Rectangle 4"/>
          <p:cNvSpPr/>
          <p:nvPr/>
        </p:nvSpPr>
        <p:spPr>
          <a:xfrm>
            <a:off x="492120" y="681480"/>
            <a:ext cx="37429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cc3300"/>
                </a:solidFill>
                <a:latin typeface="Arial"/>
                <a:ea typeface="Arial"/>
              </a:rPr>
              <a:t>2. Конденсатор</a:t>
            </a:r>
            <a:endParaRPr b="0" lang="ru-RU" sz="3200" spc="-1" strike="noStrike">
              <a:latin typeface="Arial"/>
            </a:endParaRPr>
          </a:p>
        </p:txBody>
      </p:sp>
      <p:sp>
        <p:nvSpPr>
          <p:cNvPr id="385" name="Rectangle 7"/>
          <p:cNvSpPr/>
          <p:nvPr/>
        </p:nvSpPr>
        <p:spPr>
          <a:xfrm>
            <a:off x="1523880" y="30348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Rectangle 11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Rectangle 13"/>
          <p:cNvSpPr/>
          <p:nvPr/>
        </p:nvSpPr>
        <p:spPr>
          <a:xfrm>
            <a:off x="1523880" y="-18468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Rectangle 15"/>
          <p:cNvSpPr/>
          <p:nvPr/>
        </p:nvSpPr>
        <p:spPr>
          <a:xfrm>
            <a:off x="1523880" y="3001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89" name="Picture 16" descr=""/>
          <p:cNvPicPr/>
          <p:nvPr/>
        </p:nvPicPr>
        <p:blipFill>
          <a:blip r:embed="rId1"/>
          <a:stretch/>
        </p:blipFill>
        <p:spPr>
          <a:xfrm>
            <a:off x="6243480" y="973440"/>
            <a:ext cx="2449080" cy="1371240"/>
          </a:xfrm>
          <a:prstGeom prst="rect">
            <a:avLst/>
          </a:prstGeom>
          <a:ln w="0">
            <a:noFill/>
          </a:ln>
        </p:spPr>
      </p:pic>
      <p:pic>
        <p:nvPicPr>
          <p:cNvPr id="390" name="Рисунок 1" descr=""/>
          <p:cNvPicPr/>
          <p:nvPr/>
        </p:nvPicPr>
        <p:blipFill>
          <a:blip r:embed="rId2"/>
          <a:stretch/>
        </p:blipFill>
        <p:spPr>
          <a:xfrm>
            <a:off x="927000" y="2017800"/>
            <a:ext cx="5468400" cy="3516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9" dur="indefinite" restart="never" nodeType="tmRoot">
          <p:childTnLst>
            <p:seq>
              <p:cTn id="270" dur="indefinite" nodeType="mainSeq">
                <p:childTnLst>
                  <p:par>
                    <p:cTn id="271" nodeType="clickEffect" fill="hold">
                      <p:stCondLst>
                        <p:cond delay="indefinite"/>
                      </p:stCondLst>
                      <p:childTnLst>
                        <p:par>
                          <p:cTn id="2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5" dur="5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6" dur="5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nodeType="clickEffect" fill="hold">
                      <p:stCondLst>
                        <p:cond delay="indefinite"/>
                      </p:stCondLst>
                      <p:childTnLst>
                        <p:par>
                          <p:cTn id="2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Num" idx="26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013614-78F2-4201-A9A0-6B4FA3A6FF7C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 type="title"/>
          </p:nvPr>
        </p:nvSpPr>
        <p:spPr>
          <a:xfrm>
            <a:off x="1981080" y="0"/>
            <a:ext cx="8229240" cy="8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ffffff"/>
                </a:solidFill>
                <a:latin typeface="Montserrat SemiBold"/>
                <a:ea typeface="Arial"/>
              </a:rPr>
              <a:t>Электрические цепи постоянного тока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/>
          </p:nvPr>
        </p:nvSpPr>
        <p:spPr>
          <a:xfrm>
            <a:off x="2208240" y="1268280"/>
            <a:ext cx="8229240" cy="504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Arial"/>
              </a:rPr>
              <a:t>	</a:t>
            </a:r>
            <a:r>
              <a:rPr b="0" lang="ru-RU" sz="2000" spc="-1" strike="noStrike">
                <a:solidFill>
                  <a:srgbClr val="ffffff"/>
                </a:solidFill>
                <a:latin typeface="Montserrat"/>
                <a:ea typeface="Arial"/>
              </a:rPr>
              <a:t>Основные элементы потребителей электроэнергии</a:t>
            </a:r>
            <a:r>
              <a:rPr b="0" lang="ru-RU" sz="2000" spc="-1" strike="noStrike">
                <a:solidFill>
                  <a:srgbClr val="352379"/>
                </a:solidFill>
                <a:latin typeface="Montserrat"/>
                <a:ea typeface="Arial"/>
              </a:rPr>
              <a:t>:</a:t>
            </a: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endParaRPr b="0" lang="ru-RU" sz="2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394" name="Rectangle 7"/>
          <p:cNvSpPr/>
          <p:nvPr/>
        </p:nvSpPr>
        <p:spPr>
          <a:xfrm>
            <a:off x="1523880" y="30348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Rectangle 9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Rectangle 10"/>
          <p:cNvSpPr/>
          <p:nvPr/>
        </p:nvSpPr>
        <p:spPr>
          <a:xfrm>
            <a:off x="1523880" y="-18468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Rectangle 11"/>
          <p:cNvSpPr/>
          <p:nvPr/>
        </p:nvSpPr>
        <p:spPr>
          <a:xfrm>
            <a:off x="1523880" y="3001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Rectangle 12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Rectangle 14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Rectangle 16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Rectangle 19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Rectangle 21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Rectangle 24"/>
          <p:cNvSpPr/>
          <p:nvPr/>
        </p:nvSpPr>
        <p:spPr>
          <a:xfrm>
            <a:off x="1523880" y="3001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04" name="Рисунок 2" descr=""/>
          <p:cNvPicPr/>
          <p:nvPr/>
        </p:nvPicPr>
        <p:blipFill>
          <a:blip r:embed="rId1"/>
          <a:stretch/>
        </p:blipFill>
        <p:spPr>
          <a:xfrm>
            <a:off x="651600" y="731160"/>
            <a:ext cx="10792800" cy="2617560"/>
          </a:xfrm>
          <a:prstGeom prst="rect">
            <a:avLst/>
          </a:prstGeom>
          <a:ln w="0">
            <a:noFill/>
          </a:ln>
        </p:spPr>
      </p:pic>
      <p:pic>
        <p:nvPicPr>
          <p:cNvPr id="405" name="Рисунок 13" descr=""/>
          <p:cNvPicPr/>
          <p:nvPr/>
        </p:nvPicPr>
        <p:blipFill>
          <a:blip r:embed="rId2"/>
          <a:stretch/>
        </p:blipFill>
        <p:spPr>
          <a:xfrm>
            <a:off x="884880" y="3673440"/>
            <a:ext cx="4014000" cy="1133640"/>
          </a:xfrm>
          <a:prstGeom prst="rect">
            <a:avLst/>
          </a:prstGeom>
          <a:ln w="0">
            <a:noFill/>
          </a:ln>
        </p:spPr>
      </p:pic>
      <p:sp>
        <p:nvSpPr>
          <p:cNvPr id="406" name="Прямоугольник 14"/>
          <p:cNvSpPr/>
          <p:nvPr/>
        </p:nvSpPr>
        <p:spPr>
          <a:xfrm>
            <a:off x="645840" y="5061960"/>
            <a:ext cx="10910880" cy="21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Calibri"/>
              </a:rPr>
              <a:t>Главное свойство </a:t>
            </a:r>
            <a:r>
              <a:rPr b="0" i="1" lang="ru-RU" sz="2800" spc="-1" strike="noStrike">
                <a:solidFill>
                  <a:srgbClr val="352379"/>
                </a:solidFill>
                <a:latin typeface="Montserrat"/>
                <a:ea typeface="Calibri"/>
              </a:rPr>
              <a:t>С</a:t>
            </a: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Calibri"/>
              </a:rPr>
              <a:t> - запасать энергию в электрическом поле.</a:t>
            </a: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Arial"/>
              </a:rPr>
              <a:t> Ток через емкость зависит не от напряжения, а от скорости изменения приложенного напряжения.</a:t>
            </a:r>
            <a:endParaRPr b="0" lang="ru-RU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799"/>
              </a:spcAft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1" dur="indefinite" restart="never" nodeType="tmRoot">
          <p:childTnLst>
            <p:seq>
              <p:cTn id="282" dur="indefinite" nodeType="mainSeq">
                <p:childTnLst>
                  <p:par>
                    <p:cTn id="283" nodeType="clickEffect" fill="hold">
                      <p:stCondLst>
                        <p:cond delay="indefinite"/>
                      </p:stCondLst>
                      <p:childTnLst>
                        <p:par>
                          <p:cTn id="2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5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7" dur="1000"/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88" dur="1000" fill="hold"/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9" dur="1000" fill="hold"/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Num" idx="27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382EB1-4A1F-456C-B9F6-556C23D718E8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title"/>
          </p:nvPr>
        </p:nvSpPr>
        <p:spPr>
          <a:xfrm>
            <a:off x="1895040" y="57240"/>
            <a:ext cx="8229240" cy="8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ffffff"/>
                </a:solidFill>
                <a:latin typeface="Montserrat SemiBold"/>
                <a:ea typeface="Arial"/>
              </a:rPr>
              <a:t>Электрические цепи постоянного тока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/>
          </p:nvPr>
        </p:nvSpPr>
        <p:spPr>
          <a:xfrm>
            <a:off x="1172520" y="618120"/>
            <a:ext cx="8229240" cy="431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352379"/>
                </a:solidFill>
                <a:latin typeface="Montserrat"/>
                <a:ea typeface="Arial"/>
              </a:rPr>
              <a:t>	</a:t>
            </a:r>
            <a:r>
              <a:rPr b="0" lang="ru-RU" sz="2000" spc="-1" strike="noStrike">
                <a:solidFill>
                  <a:srgbClr val="352379"/>
                </a:solidFill>
                <a:latin typeface="Montserrat"/>
                <a:ea typeface="Arial"/>
              </a:rPr>
              <a:t>Основные элементы потребителей электроэнергии:</a:t>
            </a:r>
            <a:endParaRPr b="0" lang="ru-RU" sz="20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410" name="Rectangle 4"/>
          <p:cNvSpPr/>
          <p:nvPr/>
        </p:nvSpPr>
        <p:spPr>
          <a:xfrm>
            <a:off x="537480" y="958320"/>
            <a:ext cx="44010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cc3300"/>
                </a:solidFill>
                <a:latin typeface="Arial"/>
                <a:ea typeface="Arial"/>
              </a:rPr>
              <a:t>2. Конденсатор</a:t>
            </a:r>
            <a:endParaRPr b="0" lang="ru-RU" sz="3200" spc="-1" strike="noStrike">
              <a:latin typeface="Arial"/>
            </a:endParaRPr>
          </a:p>
        </p:txBody>
      </p:sp>
      <p:sp>
        <p:nvSpPr>
          <p:cNvPr id="411" name="Rectangle 5"/>
          <p:cNvSpPr/>
          <p:nvPr/>
        </p:nvSpPr>
        <p:spPr>
          <a:xfrm>
            <a:off x="573120" y="3703320"/>
            <a:ext cx="68400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Ток и напряжение на конденсаторе связаны соотношением: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412" name="Rectangle 6"/>
          <p:cNvSpPr/>
          <p:nvPr/>
        </p:nvSpPr>
        <p:spPr>
          <a:xfrm>
            <a:off x="537480" y="2161080"/>
            <a:ext cx="111168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Накопленный заряд пропорционален напряжению на конденсаторе:</a:t>
            </a:r>
            <a:endParaRPr b="0" lang="ru-RU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q</a:t>
            </a:r>
            <a:r>
              <a:rPr b="0" i="1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 = </a:t>
            </a:r>
            <a:r>
              <a:rPr b="0" i="1" lang="en-US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Cu</a:t>
            </a:r>
            <a:r>
              <a:rPr b="0" i="1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.                                                              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  </a:t>
            </a:r>
            <a:r>
              <a:rPr b="0" i="1" lang="en-US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C</a:t>
            </a:r>
            <a:r>
              <a:rPr b="0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 – ёмкость конденсатора, </a:t>
            </a:r>
            <a:r>
              <a:rPr b="0" lang="en-US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[</a:t>
            </a:r>
            <a:r>
              <a:rPr b="0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Ф</a:t>
            </a:r>
            <a:r>
              <a:rPr b="0" lang="en-US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]</a:t>
            </a:r>
            <a:r>
              <a:rPr b="0" lang="ru-RU" sz="2400" spc="-1" strike="noStrike">
                <a:solidFill>
                  <a:srgbClr val="352379"/>
                </a:solidFill>
                <a:latin typeface="Times New Roman"/>
                <a:ea typeface="Arial"/>
              </a:rPr>
              <a:t>.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413" name="Rectangle 7"/>
          <p:cNvSpPr/>
          <p:nvPr/>
        </p:nvSpPr>
        <p:spPr>
          <a:xfrm>
            <a:off x="1523880" y="30348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Rectangle 9"/>
          <p:cNvSpPr/>
          <p:nvPr/>
        </p:nvSpPr>
        <p:spPr>
          <a:xfrm>
            <a:off x="619560" y="5110560"/>
            <a:ext cx="5379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352379"/>
                </a:solidFill>
                <a:latin typeface="Times New Roman"/>
                <a:ea typeface="Arial"/>
              </a:rPr>
              <a:t>Энергия накопленная на ёмкости: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15" name="Rectangle 11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416" name="Object 10"/>
          <p:cNvGraphicFramePr/>
          <p:nvPr/>
        </p:nvGraphicFramePr>
        <p:xfrm>
          <a:off x="8561520" y="3822840"/>
          <a:ext cx="1680840" cy="114732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417" name="Object 10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8561520" y="3822840"/>
                    <a:ext cx="1680840" cy="11473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18" name="Rectangle 13"/>
          <p:cNvSpPr/>
          <p:nvPr/>
        </p:nvSpPr>
        <p:spPr>
          <a:xfrm>
            <a:off x="1523880" y="-18468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419" name="Object 12"/>
          <p:cNvGraphicFramePr/>
          <p:nvPr/>
        </p:nvGraphicFramePr>
        <p:xfrm>
          <a:off x="5144040" y="4280400"/>
          <a:ext cx="1800000" cy="101088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420" name="Object 12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5144040" y="4280400"/>
                    <a:ext cx="1800000" cy="10108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21" name="Rectangle 15"/>
          <p:cNvSpPr/>
          <p:nvPr/>
        </p:nvSpPr>
        <p:spPr>
          <a:xfrm>
            <a:off x="1523880" y="3001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422" name="Object 14"/>
          <p:cNvGraphicFramePr/>
          <p:nvPr/>
        </p:nvGraphicFramePr>
        <p:xfrm>
          <a:off x="6923160" y="5015160"/>
          <a:ext cx="4109760" cy="1157040"/>
        </p:xfrm>
        <a:graphic>
          <a:graphicData uri="http://schemas.openxmlformats.org/presentationml/2006/ole">
            <p:oleObj progId="Equation.3" r:id="rId5" spid="">
              <p:embed/>
              <p:pic>
                <p:nvPicPr>
                  <p:cNvPr id="423" name="Object 14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6923160" y="5015160"/>
                    <a:ext cx="4109760" cy="11570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424" name="Picture 16" descr=""/>
          <p:cNvPicPr/>
          <p:nvPr/>
        </p:nvPicPr>
        <p:blipFill>
          <a:blip r:embed="rId7"/>
          <a:stretch/>
        </p:blipFill>
        <p:spPr>
          <a:xfrm>
            <a:off x="6942960" y="1060920"/>
            <a:ext cx="1584000" cy="887040"/>
          </a:xfrm>
          <a:prstGeom prst="rect">
            <a:avLst/>
          </a:prstGeom>
          <a:ln w="0">
            <a:noFill/>
          </a:ln>
        </p:spPr>
      </p:pic>
      <p:sp>
        <p:nvSpPr>
          <p:cNvPr id="425" name="Rectangle 6"/>
          <p:cNvSpPr/>
          <p:nvPr/>
        </p:nvSpPr>
        <p:spPr>
          <a:xfrm>
            <a:off x="634320" y="5792040"/>
            <a:ext cx="963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ctr">
            <a:sp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Calibri"/>
              </a:rPr>
              <a:t>При</a:t>
            </a:r>
            <a:r>
              <a:rPr b="0" lang="ru-RU" sz="1400" spc="-1" strike="noStrike">
                <a:solidFill>
                  <a:srgbClr val="352379"/>
                </a:solidFill>
                <a:latin typeface="Montserrat"/>
                <a:ea typeface="Calibri"/>
              </a:rPr>
              <a:t> </a:t>
            </a:r>
            <a:endParaRPr b="0" lang="ru-RU" sz="1400" spc="-1" strike="noStrike">
              <a:latin typeface="Arial"/>
            </a:endParaRPr>
          </a:p>
        </p:txBody>
      </p:sp>
      <p:graphicFrame>
        <p:nvGraphicFramePr>
          <p:cNvPr id="426" name="Object 5"/>
          <p:cNvGraphicFramePr/>
          <p:nvPr/>
        </p:nvGraphicFramePr>
        <p:xfrm>
          <a:off x="2367360" y="5855400"/>
          <a:ext cx="1608480" cy="521280"/>
        </p:xfrm>
        <a:graphic>
          <a:graphicData uri="http://schemas.openxmlformats.org/presentationml/2006/ole">
            <p:oleObj r:id="rId8" spid="">
              <p:embed/>
              <p:pic>
                <p:nvPicPr>
                  <p:cNvPr id="427" name="Object 5" descr=""/>
                  <p:cNvPicPr/>
                  <p:nvPr/>
                </p:nvPicPr>
                <p:blipFill>
                  <a:blip r:embed="rId9"/>
                  <a:stretch/>
                </p:blipFill>
                <p:spPr>
                  <a:xfrm>
                    <a:off x="2367360" y="5855400"/>
                    <a:ext cx="1608480" cy="5212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28" name="Rectangle 7"/>
          <p:cNvSpPr/>
          <p:nvPr/>
        </p:nvSpPr>
        <p:spPr>
          <a:xfrm>
            <a:off x="784440" y="6072120"/>
            <a:ext cx="1044972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algn="just"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Calibri"/>
              </a:rPr>
              <a:t>ток через емкость не течет, и емкость заменяется разрывом.</a:t>
            </a:r>
            <a:endParaRPr b="0" lang="ru-RU" sz="2800" spc="-1" strike="noStrike">
              <a:latin typeface="Arial"/>
            </a:endParaRPr>
          </a:p>
        </p:txBody>
      </p:sp>
      <p:pic>
        <p:nvPicPr>
          <p:cNvPr id="429" name="" descr=""/>
          <p:cNvPicPr/>
          <p:nvPr/>
        </p:nvPicPr>
        <p:blipFill>
          <a:blip r:embed="rId10"/>
          <a:stretch/>
        </p:blipFill>
        <p:spPr>
          <a:xfrm>
            <a:off x="8559720" y="3822840"/>
            <a:ext cx="1676520" cy="1143000"/>
          </a:xfrm>
          <a:prstGeom prst="rect">
            <a:avLst/>
          </a:prstGeom>
          <a:ln w="0">
            <a:noFill/>
          </a:ln>
        </p:spPr>
      </p:pic>
      <p:pic>
        <p:nvPicPr>
          <p:cNvPr id="430" name="" descr=""/>
          <p:cNvPicPr/>
          <p:nvPr/>
        </p:nvPicPr>
        <p:blipFill>
          <a:blip r:embed="rId11"/>
          <a:stretch/>
        </p:blipFill>
        <p:spPr>
          <a:xfrm>
            <a:off x="5143680" y="4280040"/>
            <a:ext cx="1790640" cy="1003320"/>
          </a:xfrm>
          <a:prstGeom prst="rect">
            <a:avLst/>
          </a:prstGeom>
          <a:ln w="0">
            <a:noFill/>
          </a:ln>
        </p:spPr>
      </p:pic>
      <p:pic>
        <p:nvPicPr>
          <p:cNvPr id="431" name="" descr=""/>
          <p:cNvPicPr/>
          <p:nvPr/>
        </p:nvPicPr>
        <p:blipFill>
          <a:blip r:embed="rId12"/>
          <a:stretch/>
        </p:blipFill>
        <p:spPr>
          <a:xfrm>
            <a:off x="6921360" y="5003640"/>
            <a:ext cx="4102200" cy="1155600"/>
          </a:xfrm>
          <a:prstGeom prst="rect">
            <a:avLst/>
          </a:prstGeom>
          <a:ln w="0">
            <a:noFill/>
          </a:ln>
        </p:spPr>
      </p:pic>
      <p:pic>
        <p:nvPicPr>
          <p:cNvPr id="432" name="" descr=""/>
          <p:cNvPicPr/>
          <p:nvPr/>
        </p:nvPicPr>
        <p:blipFill>
          <a:blip r:embed="rId13"/>
          <a:stretch/>
        </p:blipFill>
        <p:spPr>
          <a:xfrm>
            <a:off x="2362320" y="5854680"/>
            <a:ext cx="1600200" cy="520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0" dur="indefinite" restart="never" nodeType="tmRoot">
          <p:childTnLst>
            <p:seq>
              <p:cTn id="291" dur="indefinite" nodeType="mainSeq">
                <p:childTnLst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0" dur="500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1" dur="500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-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Num" idx="28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74F9B5A-1E7E-4678-8456-8E5DFF9C5E4C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title"/>
          </p:nvPr>
        </p:nvSpPr>
        <p:spPr>
          <a:xfrm>
            <a:off x="1981080" y="9360"/>
            <a:ext cx="8229240" cy="8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ffffff"/>
                </a:solidFill>
                <a:latin typeface="Montserrat SemiBold"/>
                <a:ea typeface="Arial"/>
              </a:rPr>
              <a:t>Электрические цепи постоянного тока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/>
          </p:nvPr>
        </p:nvSpPr>
        <p:spPr>
          <a:xfrm>
            <a:off x="2208240" y="1125360"/>
            <a:ext cx="8229240" cy="504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Arial"/>
              </a:rPr>
              <a:t>	</a:t>
            </a:r>
            <a:r>
              <a:rPr b="0" lang="ru-RU" sz="2000" spc="-1" strike="noStrike">
                <a:solidFill>
                  <a:srgbClr val="ffffff"/>
                </a:solidFill>
                <a:latin typeface="Montserrat"/>
                <a:ea typeface="Arial"/>
              </a:rPr>
              <a:t>Основные элементы потребителей электроэнергии</a:t>
            </a:r>
            <a:r>
              <a:rPr b="0" lang="ru-RU" sz="2000" spc="-1" strike="noStrike">
                <a:solidFill>
                  <a:srgbClr val="352379"/>
                </a:solidFill>
                <a:latin typeface="Montserrat"/>
                <a:ea typeface="Arial"/>
              </a:rPr>
              <a:t>:</a:t>
            </a: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endParaRPr b="0" lang="ru-RU" sz="2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436" name="Rectangle 4"/>
          <p:cNvSpPr/>
          <p:nvPr/>
        </p:nvSpPr>
        <p:spPr>
          <a:xfrm>
            <a:off x="434880" y="788760"/>
            <a:ext cx="4465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cc3300"/>
                </a:solidFill>
                <a:latin typeface="Arial"/>
                <a:ea typeface="Arial"/>
              </a:rPr>
              <a:t>3. Индуктивность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437" name="Rectangle 5"/>
          <p:cNvSpPr/>
          <p:nvPr/>
        </p:nvSpPr>
        <p:spPr>
          <a:xfrm>
            <a:off x="2208240" y="3500280"/>
            <a:ext cx="5182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800" spc="-1" strike="noStrike">
                <a:solidFill>
                  <a:srgbClr val="352379"/>
                </a:solidFill>
                <a:latin typeface="Symbol"/>
                <a:ea typeface="Arial"/>
              </a:rPr>
              <a:t></a:t>
            </a:r>
            <a:r>
              <a:rPr b="0" i="1" lang="en-US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 </a:t>
            </a:r>
            <a:r>
              <a:rPr b="0" i="1" lang="en-US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= w</a:t>
            </a:r>
            <a:r>
              <a:rPr b="0" i="1" lang="ru-RU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Ф</a:t>
            </a:r>
            <a:r>
              <a:rPr b="0" i="1" lang="en-US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 </a:t>
            </a:r>
            <a:r>
              <a:rPr b="0" lang="en-US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– </a:t>
            </a:r>
            <a:r>
              <a:rPr b="0" lang="ru-RU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называется потокосцеплением </a:t>
            </a:r>
            <a:r>
              <a:rPr b="0" lang="en-US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[</a:t>
            </a:r>
            <a:r>
              <a:rPr b="0" lang="ru-RU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Вб</a:t>
            </a:r>
            <a:r>
              <a:rPr b="0" lang="en-US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]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38" name="Rectangle 6"/>
          <p:cNvSpPr/>
          <p:nvPr/>
        </p:nvSpPr>
        <p:spPr>
          <a:xfrm>
            <a:off x="434880" y="1851120"/>
            <a:ext cx="1120428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Изменение магнитного потока </a:t>
            </a:r>
            <a:r>
              <a:rPr b="0" i="1" lang="ru-RU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Ф</a:t>
            </a:r>
            <a:r>
              <a:rPr b="0" lang="ru-RU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 по времени, в проводнике, создает ЭДС: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439" name="Rectangle 7"/>
          <p:cNvSpPr/>
          <p:nvPr/>
        </p:nvSpPr>
        <p:spPr>
          <a:xfrm>
            <a:off x="1523880" y="30348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0" name="Rectangle 8"/>
          <p:cNvSpPr/>
          <p:nvPr/>
        </p:nvSpPr>
        <p:spPr>
          <a:xfrm>
            <a:off x="2094120" y="4292640"/>
            <a:ext cx="8960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Потокосцепление зависит </a:t>
            </a:r>
            <a:r>
              <a:rPr b="0" lang="ru-RU" sz="1800" spc="-1" strike="noStrike">
                <a:solidFill>
                  <a:srgbClr val="cc3300"/>
                </a:solidFill>
                <a:latin typeface="Times New Roman"/>
                <a:ea typeface="Arial"/>
              </a:rPr>
              <a:t>только от тока</a:t>
            </a:r>
            <a:r>
              <a:rPr b="0" lang="ru-RU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 в проводнике</a:t>
            </a:r>
            <a:r>
              <a:rPr b="0" lang="en-US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 </a:t>
            </a:r>
            <a:r>
              <a:rPr b="0" lang="ru-RU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и пропорционально ему </a:t>
            </a:r>
            <a:r>
              <a:rPr b="0" i="1" lang="en-US" sz="1800" spc="-1" strike="noStrike">
                <a:solidFill>
                  <a:srgbClr val="352379"/>
                </a:solidFill>
                <a:latin typeface="Symbol"/>
                <a:ea typeface="Arial"/>
              </a:rPr>
              <a:t></a:t>
            </a:r>
            <a:r>
              <a:rPr b="0" i="1" lang="en-US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 =</a:t>
            </a:r>
            <a:r>
              <a:rPr b="0" lang="en-US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 </a:t>
            </a:r>
            <a:r>
              <a:rPr b="0" i="1" lang="en-US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Li.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41" name="Rectangle 9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Rectangle 11"/>
          <p:cNvSpPr/>
          <p:nvPr/>
        </p:nvSpPr>
        <p:spPr>
          <a:xfrm>
            <a:off x="1523880" y="-18468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Rectangle 13"/>
          <p:cNvSpPr/>
          <p:nvPr/>
        </p:nvSpPr>
        <p:spPr>
          <a:xfrm>
            <a:off x="1523880" y="3001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4" name="Rectangle 16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445" name="Object 15"/>
          <p:cNvGraphicFramePr/>
          <p:nvPr/>
        </p:nvGraphicFramePr>
        <p:xfrm>
          <a:off x="3575160" y="2708280"/>
          <a:ext cx="1050480" cy="66312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446" name="Object 15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575160" y="2708280"/>
                    <a:ext cx="1050480" cy="6631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47" name="Rectangle 18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448" name="Object 17"/>
          <p:cNvGraphicFramePr/>
          <p:nvPr/>
        </p:nvGraphicFramePr>
        <p:xfrm>
          <a:off x="6240600" y="2708280"/>
          <a:ext cx="1294920" cy="603000"/>
        </p:xfrm>
        <a:graphic>
          <a:graphicData uri="http://schemas.openxmlformats.org/presentationml/2006/ole">
            <p:oleObj progId="Equation.3" r:id="rId3" spid="">
              <p:embed/>
              <p:pic>
                <p:nvPicPr>
                  <p:cNvPr id="449" name="Object 17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6240600" y="2708280"/>
                    <a:ext cx="1294920" cy="60300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50" name="Rectangle 20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451" name="Object 19"/>
          <p:cNvGraphicFramePr/>
          <p:nvPr/>
        </p:nvGraphicFramePr>
        <p:xfrm>
          <a:off x="7608960" y="3429000"/>
          <a:ext cx="1007640" cy="582120"/>
        </p:xfrm>
        <a:graphic>
          <a:graphicData uri="http://schemas.openxmlformats.org/presentationml/2006/ole">
            <p:oleObj progId="Equation.3" r:id="rId5" spid="">
              <p:embed/>
              <p:pic>
                <p:nvPicPr>
                  <p:cNvPr id="452" name="Object 19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7608960" y="3429000"/>
                    <a:ext cx="1007640" cy="5821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53" name="Rectangle 21"/>
          <p:cNvSpPr/>
          <p:nvPr/>
        </p:nvSpPr>
        <p:spPr>
          <a:xfrm>
            <a:off x="2236680" y="4969440"/>
            <a:ext cx="37051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2400" spc="-1" strike="noStrike">
                <a:solidFill>
                  <a:srgbClr val="cc3300"/>
                </a:solidFill>
                <a:latin typeface="Times New Roman"/>
                <a:ea typeface="Arial"/>
              </a:rPr>
              <a:t>L </a:t>
            </a:r>
            <a:r>
              <a:rPr b="0" lang="ru-RU" sz="1800" spc="-1" strike="noStrike">
                <a:solidFill>
                  <a:srgbClr val="352379"/>
                </a:solidFill>
                <a:latin typeface="Times New Roman"/>
                <a:ea typeface="Arial"/>
              </a:rPr>
              <a:t>называется </a:t>
            </a:r>
            <a:r>
              <a:rPr b="0" i="1" lang="ru-RU" sz="1800" spc="-1" strike="noStrike">
                <a:solidFill>
                  <a:srgbClr val="0000cc"/>
                </a:solidFill>
                <a:latin typeface="Times New Roman"/>
                <a:ea typeface="Arial"/>
              </a:rPr>
              <a:t>индуктивностью</a:t>
            </a:r>
            <a:r>
              <a:rPr b="0" lang="ru-RU" sz="1800" spc="-1" strike="noStrike">
                <a:solidFill>
                  <a:srgbClr val="0000cc"/>
                </a:solidFill>
                <a:latin typeface="Times New Roman"/>
                <a:ea typeface="Arial"/>
              </a:rPr>
              <a:t> </a:t>
            </a:r>
            <a:r>
              <a:rPr b="0" lang="en-US" sz="1800" spc="-1" strike="noStrike">
                <a:solidFill>
                  <a:srgbClr val="0000cc"/>
                </a:solidFill>
                <a:latin typeface="Times New Roman"/>
                <a:ea typeface="Arial"/>
              </a:rPr>
              <a:t>[</a:t>
            </a:r>
            <a:r>
              <a:rPr b="0" lang="ru-RU" sz="1800" spc="-1" strike="noStrike">
                <a:solidFill>
                  <a:srgbClr val="0000cc"/>
                </a:solidFill>
                <a:latin typeface="Times New Roman"/>
                <a:ea typeface="Arial"/>
              </a:rPr>
              <a:t>Гн</a:t>
            </a:r>
            <a:r>
              <a:rPr b="0" lang="en-US" sz="1800" spc="-1" strike="noStrike">
                <a:solidFill>
                  <a:srgbClr val="0000cc"/>
                </a:solidFill>
                <a:latin typeface="Times New Roman"/>
                <a:ea typeface="Arial"/>
              </a:rPr>
              <a:t>]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54" name="Rectangle 23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455" name="Object 22"/>
          <p:cNvGraphicFramePr/>
          <p:nvPr/>
        </p:nvGraphicFramePr>
        <p:xfrm>
          <a:off x="3432240" y="5445000"/>
          <a:ext cx="2303280" cy="674280"/>
        </p:xfrm>
        <a:graphic>
          <a:graphicData uri="http://schemas.openxmlformats.org/presentationml/2006/ole">
            <p:oleObj progId="Equation.3" r:id="rId7" spid="">
              <p:embed/>
              <p:pic>
                <p:nvPicPr>
                  <p:cNvPr id="456" name="Object 22" descr=""/>
                  <p:cNvPicPr/>
                  <p:nvPr/>
                </p:nvPicPr>
                <p:blipFill>
                  <a:blip r:embed="rId8"/>
                  <a:stretch/>
                </p:blipFill>
                <p:spPr>
                  <a:xfrm>
                    <a:off x="3432240" y="5445000"/>
                    <a:ext cx="2303280" cy="6742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57" name="Rectangle 25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458" name="Object 24"/>
          <p:cNvGraphicFramePr/>
          <p:nvPr/>
        </p:nvGraphicFramePr>
        <p:xfrm>
          <a:off x="7175520" y="5516640"/>
          <a:ext cx="1238040" cy="658440"/>
        </p:xfrm>
        <a:graphic>
          <a:graphicData uri="http://schemas.openxmlformats.org/presentationml/2006/ole">
            <p:oleObj progId="Equation.3" r:id="rId9" spid="">
              <p:embed/>
              <p:pic>
                <p:nvPicPr>
                  <p:cNvPr id="459" name="Object 24" descr=""/>
                  <p:cNvPicPr/>
                  <p:nvPr/>
                </p:nvPicPr>
                <p:blipFill>
                  <a:blip r:embed="rId10"/>
                  <a:stretch/>
                </p:blipFill>
                <p:spPr>
                  <a:xfrm>
                    <a:off x="7175520" y="5516640"/>
                    <a:ext cx="1238040" cy="6584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460" name="Picture 26" descr=""/>
          <p:cNvPicPr/>
          <p:nvPr/>
        </p:nvPicPr>
        <p:blipFill>
          <a:blip r:embed="rId11"/>
          <a:stretch/>
        </p:blipFill>
        <p:spPr>
          <a:xfrm>
            <a:off x="6888240" y="870840"/>
            <a:ext cx="1990440" cy="1115640"/>
          </a:xfrm>
          <a:prstGeom prst="rect">
            <a:avLst/>
          </a:prstGeom>
          <a:ln w="0">
            <a:noFill/>
          </a:ln>
        </p:spPr>
      </p:pic>
      <p:pic>
        <p:nvPicPr>
          <p:cNvPr id="461" name="" descr=""/>
          <p:cNvPicPr/>
          <p:nvPr/>
        </p:nvPicPr>
        <p:blipFill>
          <a:blip r:embed="rId12"/>
          <a:stretch/>
        </p:blipFill>
        <p:spPr>
          <a:xfrm>
            <a:off x="3568680" y="2705040"/>
            <a:ext cx="1041480" cy="660240"/>
          </a:xfrm>
          <a:prstGeom prst="rect">
            <a:avLst/>
          </a:prstGeom>
          <a:ln w="0">
            <a:noFill/>
          </a:ln>
        </p:spPr>
      </p:pic>
      <p:pic>
        <p:nvPicPr>
          <p:cNvPr id="462" name="" descr=""/>
          <p:cNvPicPr/>
          <p:nvPr/>
        </p:nvPicPr>
        <p:blipFill>
          <a:blip r:embed="rId13"/>
          <a:stretch/>
        </p:blipFill>
        <p:spPr>
          <a:xfrm>
            <a:off x="6235560" y="2705040"/>
            <a:ext cx="1295280" cy="596880"/>
          </a:xfrm>
          <a:prstGeom prst="rect">
            <a:avLst/>
          </a:prstGeom>
          <a:ln w="0">
            <a:noFill/>
          </a:ln>
        </p:spPr>
      </p:pic>
      <p:pic>
        <p:nvPicPr>
          <p:cNvPr id="463" name="" descr=""/>
          <p:cNvPicPr/>
          <p:nvPr/>
        </p:nvPicPr>
        <p:blipFill>
          <a:blip r:embed="rId14"/>
          <a:stretch/>
        </p:blipFill>
        <p:spPr>
          <a:xfrm>
            <a:off x="7607160" y="3429000"/>
            <a:ext cx="1003320" cy="571680"/>
          </a:xfrm>
          <a:prstGeom prst="rect">
            <a:avLst/>
          </a:prstGeom>
          <a:ln w="0">
            <a:noFill/>
          </a:ln>
        </p:spPr>
      </p:pic>
      <p:pic>
        <p:nvPicPr>
          <p:cNvPr id="464" name="" descr=""/>
          <p:cNvPicPr/>
          <p:nvPr/>
        </p:nvPicPr>
        <p:blipFill>
          <a:blip r:embed="rId15"/>
          <a:stretch/>
        </p:blipFill>
        <p:spPr>
          <a:xfrm>
            <a:off x="3429000" y="5435640"/>
            <a:ext cx="2298600" cy="673200"/>
          </a:xfrm>
          <a:prstGeom prst="rect">
            <a:avLst/>
          </a:prstGeom>
          <a:ln w="0">
            <a:noFill/>
          </a:ln>
        </p:spPr>
      </p:pic>
      <p:pic>
        <p:nvPicPr>
          <p:cNvPr id="465" name="" descr=""/>
          <p:cNvPicPr/>
          <p:nvPr/>
        </p:nvPicPr>
        <p:blipFill>
          <a:blip r:embed="rId16"/>
          <a:stretch/>
        </p:blipFill>
        <p:spPr>
          <a:xfrm>
            <a:off x="7175520" y="5511960"/>
            <a:ext cx="1231920" cy="64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0" dur="indefinite" restart="never" nodeType="tmRoot">
          <p:childTnLst>
            <p:seq>
              <p:cTn id="331" dur="indefinite" nodeType="mainSeq">
                <p:childTnLst>
                  <p:par>
                    <p:cTn id="332" nodeType="clickEffect" fill="hold">
                      <p:stCondLst>
                        <p:cond delay="indefinite"/>
                      </p:stCondLst>
                      <p:childTnLst>
                        <p:par>
                          <p:cTn id="3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6" dur="1000"/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37" dur="1000" fill="hold"/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8" dur="1000" fill="hold"/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nodeType="clickEffect" fill="hold">
                      <p:stCondLst>
                        <p:cond delay="indefinite"/>
                      </p:stCondLst>
                      <p:childTnLst>
                        <p:par>
                          <p:cTn id="3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3" dur="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4" dur="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nodeType="clickEffect" fill="hold">
                      <p:stCondLst>
                        <p:cond delay="indefinite"/>
                      </p:stCondLst>
                      <p:childTnLst>
                        <p:par>
                          <p:cTn id="3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nodeType="clickEffect" fill="hold">
                      <p:stCondLst>
                        <p:cond delay="indefinite"/>
                      </p:stCondLst>
                      <p:childTnLst>
                        <p:par>
                          <p:cTn id="3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3" dur="5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4" dur="5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nodeType="clickEffect" fill="hold">
                      <p:stCondLst>
                        <p:cond delay="indefinite"/>
                      </p:stCondLst>
                      <p:childTnLst>
                        <p:par>
                          <p:cTn id="3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7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359" dur="2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nodeType="clickEffect" fill="hold">
                      <p:stCondLst>
                        <p:cond delay="indefinite"/>
                      </p:stCondLst>
                      <p:childTnLst>
                        <p:par>
                          <p:cTn id="3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2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364" dur="2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nodeType="clickEffect" fill="hold">
                      <p:stCondLst>
                        <p:cond delay="indefinite"/>
                      </p:stCondLst>
                      <p:childTnLst>
                        <p:par>
                          <p:cTn id="3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nodeType="clickEffect" fill="hold">
                      <p:stCondLst>
                        <p:cond delay="indefinite"/>
                      </p:stCondLst>
                      <p:childTnLst>
                        <p:par>
                          <p:cTn id="3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373" dur="2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nodeType="clickEffect" fill="hold">
                      <p:stCondLst>
                        <p:cond delay="indefinite"/>
                      </p:stCondLst>
                      <p:childTnLst>
                        <p:par>
                          <p:cTn id="3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nodeType="clickEffect" fill="hold">
                      <p:stCondLst>
                        <p:cond delay="indefinite"/>
                      </p:stCondLst>
                      <p:childTnLst>
                        <p:par>
                          <p:cTn id="3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0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382" dur="2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nodeType="clickEffect" fill="hold">
                      <p:stCondLst>
                        <p:cond delay="indefinite"/>
                      </p:stCondLst>
                      <p:childTnLst>
                        <p:par>
                          <p:cTn id="3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5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387" dur="20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nodeType="clickEffect" fill="hold">
                      <p:stCondLst>
                        <p:cond delay="indefinite"/>
                      </p:stCondLst>
                      <p:childTnLst>
                        <p:par>
                          <p:cTn id="3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0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392" dur="20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Num" idx="29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FEFAD92-8596-43D2-9305-F5FF26775023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 type="title"/>
          </p:nvPr>
        </p:nvSpPr>
        <p:spPr>
          <a:xfrm>
            <a:off x="1892880" y="14040"/>
            <a:ext cx="8229240" cy="8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ffffff"/>
                </a:solidFill>
                <a:latin typeface="Montserrat SemiBold"/>
                <a:ea typeface="Arial"/>
              </a:rPr>
              <a:t>Электрические цепи постоянного тока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/>
          </p:nvPr>
        </p:nvSpPr>
        <p:spPr>
          <a:xfrm>
            <a:off x="2208240" y="1268280"/>
            <a:ext cx="8229240" cy="504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Arial"/>
              </a:rPr>
              <a:t>	</a:t>
            </a:r>
            <a:r>
              <a:rPr b="0" lang="ru-RU" sz="2000" spc="-1" strike="noStrike">
                <a:solidFill>
                  <a:srgbClr val="ffffff"/>
                </a:solidFill>
                <a:latin typeface="Montserrat"/>
                <a:ea typeface="Arial"/>
              </a:rPr>
              <a:t>Основные элементы потребителей электроэнергии</a:t>
            </a:r>
            <a:r>
              <a:rPr b="0" lang="ru-RU" sz="2000" spc="-1" strike="noStrike">
                <a:solidFill>
                  <a:srgbClr val="352379"/>
                </a:solidFill>
                <a:latin typeface="Montserrat"/>
                <a:ea typeface="Arial"/>
              </a:rPr>
              <a:t>:</a:t>
            </a: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endParaRPr b="0" lang="ru-RU" sz="2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469" name="Rectangle 7"/>
          <p:cNvSpPr/>
          <p:nvPr/>
        </p:nvSpPr>
        <p:spPr>
          <a:xfrm>
            <a:off x="1523880" y="30348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0" name="Rectangle 9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Rectangle 10"/>
          <p:cNvSpPr/>
          <p:nvPr/>
        </p:nvSpPr>
        <p:spPr>
          <a:xfrm>
            <a:off x="1523880" y="-18468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Rectangle 11"/>
          <p:cNvSpPr/>
          <p:nvPr/>
        </p:nvSpPr>
        <p:spPr>
          <a:xfrm>
            <a:off x="1523880" y="3001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3" name="Rectangle 12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Rectangle 14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Rectangle 16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6" name="Rectangle 19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7" name="Rectangle 21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8" name="Rectangle 24"/>
          <p:cNvSpPr/>
          <p:nvPr/>
        </p:nvSpPr>
        <p:spPr>
          <a:xfrm>
            <a:off x="1523880" y="3001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79" name="Рисунок 1" descr=""/>
          <p:cNvPicPr/>
          <p:nvPr/>
        </p:nvPicPr>
        <p:blipFill>
          <a:blip r:embed="rId1"/>
          <a:stretch/>
        </p:blipFill>
        <p:spPr>
          <a:xfrm>
            <a:off x="496080" y="681120"/>
            <a:ext cx="11330640" cy="2391840"/>
          </a:xfrm>
          <a:prstGeom prst="rect">
            <a:avLst/>
          </a:prstGeom>
          <a:ln w="0">
            <a:noFill/>
          </a:ln>
        </p:spPr>
      </p:pic>
      <p:pic>
        <p:nvPicPr>
          <p:cNvPr id="480" name="Рисунок 15" descr=""/>
          <p:cNvPicPr/>
          <p:nvPr/>
        </p:nvPicPr>
        <p:blipFill>
          <a:blip r:embed="rId2"/>
          <a:srcRect l="7736" t="9072" r="2999" b="7423"/>
          <a:stretch/>
        </p:blipFill>
        <p:spPr>
          <a:xfrm>
            <a:off x="4218120" y="2831760"/>
            <a:ext cx="3267720" cy="1197360"/>
          </a:xfrm>
          <a:prstGeom prst="rect">
            <a:avLst/>
          </a:prstGeom>
          <a:ln w="0">
            <a:noFill/>
          </a:ln>
        </p:spPr>
      </p:pic>
      <p:pic>
        <p:nvPicPr>
          <p:cNvPr id="481" name="Рисунок 16" descr=""/>
          <p:cNvPicPr/>
          <p:nvPr/>
        </p:nvPicPr>
        <p:blipFill>
          <a:blip r:embed="rId3"/>
          <a:stretch/>
        </p:blipFill>
        <p:spPr>
          <a:xfrm>
            <a:off x="585720" y="3760200"/>
            <a:ext cx="11241000" cy="3173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3" dur="indefinite" restart="never" nodeType="tmRoot">
          <p:childTnLst>
            <p:seq>
              <p:cTn id="394" dur="indefinite" nodeType="mainSeq">
                <p:childTnLst>
                  <p:par>
                    <p:cTn id="395" nodeType="clickEffect" fill="hold">
                      <p:stCondLst>
                        <p:cond delay="indefinite"/>
                      </p:stCondLst>
                      <p:childTnLst>
                        <p:par>
                          <p:cTn id="3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9" dur="1000"/>
                                        <p:tgtEl>
                                          <p:spTgt spid="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00" dur="1000" fill="hold"/>
                                        <p:tgtEl>
                                          <p:spTgt spid="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1" dur="1000" fill="hold"/>
                                        <p:tgtEl>
                                          <p:spTgt spid="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sldNum" idx="30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83CD70-9D4C-431F-A54F-21561BE45270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 type="title"/>
          </p:nvPr>
        </p:nvSpPr>
        <p:spPr>
          <a:xfrm>
            <a:off x="1981080" y="27000"/>
            <a:ext cx="8229240" cy="8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ffffff"/>
                </a:solidFill>
                <a:latin typeface="Montserrat SemiBold"/>
                <a:ea typeface="Arial"/>
              </a:rPr>
              <a:t>Электрические цепи постоянного тока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484" name="Rectangle 4"/>
          <p:cNvSpPr/>
          <p:nvPr/>
        </p:nvSpPr>
        <p:spPr>
          <a:xfrm>
            <a:off x="452160" y="740520"/>
            <a:ext cx="3808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cc3300"/>
                </a:solidFill>
                <a:latin typeface="Arial"/>
                <a:ea typeface="Arial"/>
              </a:rPr>
              <a:t>3. Индуктивность</a:t>
            </a:r>
            <a:endParaRPr b="0" lang="ru-RU" sz="3200" spc="-1" strike="noStrike">
              <a:latin typeface="Arial"/>
            </a:endParaRPr>
          </a:p>
        </p:txBody>
      </p:sp>
      <p:sp>
        <p:nvSpPr>
          <p:cNvPr id="485" name="Rectangle 5"/>
          <p:cNvSpPr/>
          <p:nvPr/>
        </p:nvSpPr>
        <p:spPr>
          <a:xfrm>
            <a:off x="2063880" y="5111640"/>
            <a:ext cx="66956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ffffff"/>
                </a:solidFill>
                <a:latin typeface="Times New Roman"/>
                <a:ea typeface="Arial"/>
              </a:rPr>
              <a:t>Для идеальной индуктивности</a:t>
            </a:r>
            <a:r>
              <a:rPr b="0" i="1" lang="ru-RU" sz="2800" spc="-1" strike="noStrike">
                <a:solidFill>
                  <a:srgbClr val="ffffff"/>
                </a:solidFill>
                <a:latin typeface="Times New Roman"/>
                <a:ea typeface="Arial"/>
              </a:rPr>
              <a:t> </a:t>
            </a:r>
            <a:r>
              <a:rPr b="0" i="1" lang="en-US" sz="2800" spc="-1" strike="noStrike">
                <a:solidFill>
                  <a:srgbClr val="ffffff"/>
                </a:solidFill>
                <a:latin typeface="Times New Roman"/>
                <a:ea typeface="Arial"/>
              </a:rPr>
              <a:t>u=U</a:t>
            </a:r>
            <a:r>
              <a:rPr b="0" lang="en-US" sz="2800" spc="-1" strike="noStrike">
                <a:solidFill>
                  <a:srgbClr val="ffffff"/>
                </a:solidFill>
                <a:latin typeface="Times New Roman"/>
                <a:ea typeface="Arial"/>
              </a:rPr>
              <a:t>=0</a:t>
            </a:r>
            <a:r>
              <a:rPr b="0" lang="ru-RU" sz="2800" spc="-1" strike="noStrike">
                <a:solidFill>
                  <a:srgbClr val="ffffff"/>
                </a:solidFill>
                <a:latin typeface="Times New Roman"/>
                <a:ea typeface="Arial"/>
              </a:rPr>
              <a:t> В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486" name="Rectangle 6"/>
          <p:cNvSpPr/>
          <p:nvPr/>
        </p:nvSpPr>
        <p:spPr>
          <a:xfrm>
            <a:off x="399960" y="2034720"/>
            <a:ext cx="1112832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352379"/>
                </a:solidFill>
                <a:latin typeface="Times New Roman"/>
                <a:ea typeface="Arial"/>
              </a:rPr>
              <a:t>Энергия магнитного поля, накопленная в индуктивности пропорционально протекающему току: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487" name="Rectangle 7"/>
          <p:cNvSpPr/>
          <p:nvPr/>
        </p:nvSpPr>
        <p:spPr>
          <a:xfrm>
            <a:off x="1523880" y="30348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8" name="Rectangle 9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9" name="Rectangle 10"/>
          <p:cNvSpPr/>
          <p:nvPr/>
        </p:nvSpPr>
        <p:spPr>
          <a:xfrm>
            <a:off x="1523880" y="-18468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Rectangle 11"/>
          <p:cNvSpPr/>
          <p:nvPr/>
        </p:nvSpPr>
        <p:spPr>
          <a:xfrm>
            <a:off x="1523880" y="3001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1" name="Rectangle 12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2" name="Rectangle 14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3" name="Rectangle 16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Rectangle 19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5" name="Rectangle 21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6" name="Rectangle 24"/>
          <p:cNvSpPr/>
          <p:nvPr/>
        </p:nvSpPr>
        <p:spPr>
          <a:xfrm>
            <a:off x="1523880" y="3001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497" name="Object 23"/>
          <p:cNvGraphicFramePr/>
          <p:nvPr/>
        </p:nvGraphicFramePr>
        <p:xfrm>
          <a:off x="744840" y="3143520"/>
          <a:ext cx="7030800" cy="217368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498" name="Object 2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44840" y="3143520"/>
                    <a:ext cx="7030800" cy="21736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499" name="Picture 25" descr=""/>
          <p:cNvPicPr/>
          <p:nvPr/>
        </p:nvPicPr>
        <p:blipFill>
          <a:blip r:embed="rId3"/>
          <a:stretch/>
        </p:blipFill>
        <p:spPr>
          <a:xfrm>
            <a:off x="6408720" y="880920"/>
            <a:ext cx="1584000" cy="887040"/>
          </a:xfrm>
          <a:prstGeom prst="rect">
            <a:avLst/>
          </a:prstGeom>
          <a:ln w="0">
            <a:noFill/>
          </a:ln>
        </p:spPr>
      </p:pic>
      <p:pic>
        <p:nvPicPr>
          <p:cNvPr id="500" name="" descr=""/>
          <p:cNvPicPr/>
          <p:nvPr/>
        </p:nvPicPr>
        <p:blipFill>
          <a:blip r:embed="rId4"/>
          <a:stretch/>
        </p:blipFill>
        <p:spPr>
          <a:xfrm>
            <a:off x="736560" y="3137040"/>
            <a:ext cx="7023240" cy="217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2" dur="indefinite" restart="never" nodeType="tmRoot">
          <p:childTnLst>
            <p:seq>
              <p:cTn id="403" dur="indefinite" nodeType="mainSeq">
                <p:childTnLst>
                  <p:par>
                    <p:cTn id="404" nodeType="clickEffect" fill="hold">
                      <p:stCondLst>
                        <p:cond delay="indefinite"/>
                      </p:stCondLst>
                      <p:childTnLst>
                        <p:par>
                          <p:cTn id="4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8" dur="5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9" dur="5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nodeType="clickEffect" fill="hold">
                      <p:stCondLst>
                        <p:cond delay="indefinite"/>
                      </p:stCondLst>
                      <p:childTnLst>
                        <p:par>
                          <p:cTn id="4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6" dur="5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7" dur="5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nodeType="clickEffect" fill="hold">
                      <p:stCondLst>
                        <p:cond delay="indefinite"/>
                      </p:stCondLst>
                      <p:childTnLst>
                        <p:par>
                          <p:cTn id="4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0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422" dur="20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nodeType="clickEffect" fill="hold">
                      <p:stCondLst>
                        <p:cond delay="indefinite"/>
                      </p:stCondLst>
                      <p:childTnLst>
                        <p:par>
                          <p:cTn id="4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Num" idx="31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9A7C97-8F89-4856-A2BD-6F89447131AA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 type="title"/>
          </p:nvPr>
        </p:nvSpPr>
        <p:spPr>
          <a:xfrm>
            <a:off x="1981080" y="84960"/>
            <a:ext cx="8229240" cy="8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ffffff"/>
                </a:solidFill>
                <a:latin typeface="Montserrat SemiBold"/>
                <a:ea typeface="Arial"/>
              </a:rPr>
              <a:t>Электрические цепи постоянного тока</a:t>
            </a: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/>
          </p:nvPr>
        </p:nvSpPr>
        <p:spPr>
          <a:xfrm>
            <a:off x="2208240" y="1268280"/>
            <a:ext cx="8229240" cy="504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Arial"/>
              </a:rPr>
              <a:t>	</a:t>
            </a:r>
            <a:r>
              <a:rPr b="0" lang="ru-RU" sz="2000" spc="-1" strike="noStrike">
                <a:solidFill>
                  <a:srgbClr val="ffffff"/>
                </a:solidFill>
                <a:latin typeface="Montserrat"/>
                <a:ea typeface="Arial"/>
              </a:rPr>
              <a:t>Основные элементы потребителей электроэнергии</a:t>
            </a:r>
            <a:r>
              <a:rPr b="0" lang="ru-RU" sz="2000" spc="-1" strike="noStrike">
                <a:solidFill>
                  <a:srgbClr val="352379"/>
                </a:solidFill>
                <a:latin typeface="Montserrat"/>
                <a:ea typeface="Arial"/>
              </a:rPr>
              <a:t>:</a:t>
            </a:r>
            <a:r>
              <a:rPr b="0" lang="ru-RU" sz="2800" spc="-1" strike="noStrike">
                <a:solidFill>
                  <a:srgbClr val="352379"/>
                </a:solidFill>
                <a:latin typeface="Montserrat"/>
                <a:ea typeface="Arial"/>
              </a:rPr>
              <a:t> </a:t>
            </a:r>
            <a:endParaRPr b="0" lang="ru-RU" sz="28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504" name="Rectangle 4"/>
          <p:cNvSpPr/>
          <p:nvPr/>
        </p:nvSpPr>
        <p:spPr>
          <a:xfrm>
            <a:off x="2478240" y="1781280"/>
            <a:ext cx="3808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cc3300"/>
                </a:solidFill>
                <a:latin typeface="Arial"/>
                <a:ea typeface="Arial"/>
              </a:rPr>
              <a:t>3. Индуктивность</a:t>
            </a:r>
            <a:endParaRPr b="0" lang="ru-RU" sz="3200" spc="-1" strike="noStrike">
              <a:latin typeface="Arial"/>
            </a:endParaRPr>
          </a:p>
        </p:txBody>
      </p:sp>
      <p:sp>
        <p:nvSpPr>
          <p:cNvPr id="505" name="Rectangle 7"/>
          <p:cNvSpPr/>
          <p:nvPr/>
        </p:nvSpPr>
        <p:spPr>
          <a:xfrm>
            <a:off x="1523880" y="30348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6" name="Rectangle 9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7" name="Rectangle 10"/>
          <p:cNvSpPr/>
          <p:nvPr/>
        </p:nvSpPr>
        <p:spPr>
          <a:xfrm>
            <a:off x="1523880" y="-18468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8" name="Rectangle 11"/>
          <p:cNvSpPr/>
          <p:nvPr/>
        </p:nvSpPr>
        <p:spPr>
          <a:xfrm>
            <a:off x="1523880" y="3001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9" name="Rectangle 12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Rectangle 14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1" name="Rectangle 16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2" name="Rectangle 19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3" name="Rectangle 21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Rectangle 24"/>
          <p:cNvSpPr/>
          <p:nvPr/>
        </p:nvSpPr>
        <p:spPr>
          <a:xfrm>
            <a:off x="1523880" y="3001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15" name="Picture 25" descr=""/>
          <p:cNvPicPr/>
          <p:nvPr/>
        </p:nvPicPr>
        <p:blipFill>
          <a:blip r:embed="rId1"/>
          <a:stretch/>
        </p:blipFill>
        <p:spPr>
          <a:xfrm>
            <a:off x="6743880" y="1793880"/>
            <a:ext cx="1584000" cy="887040"/>
          </a:xfrm>
          <a:prstGeom prst="rect">
            <a:avLst/>
          </a:prstGeom>
          <a:ln w="0">
            <a:noFill/>
          </a:ln>
        </p:spPr>
      </p:pic>
      <p:pic>
        <p:nvPicPr>
          <p:cNvPr id="516" name="Рисунок 1" descr=""/>
          <p:cNvPicPr/>
          <p:nvPr/>
        </p:nvPicPr>
        <p:blipFill>
          <a:blip r:embed="rId2"/>
          <a:srcRect l="0" t="0" r="0" b="7011"/>
          <a:stretch/>
        </p:blipFill>
        <p:spPr>
          <a:xfrm>
            <a:off x="2063880" y="2550960"/>
            <a:ext cx="6162480" cy="354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27" dur="indefinite" restart="never" nodeType="tmRoot">
          <p:childTnLst>
            <p:seq>
              <p:cTn id="428" dur="indefinite" nodeType="mainSeq">
                <p:childTnLst>
                  <p:par>
                    <p:cTn id="429" nodeType="clickEffect" fill="hold">
                      <p:stCondLst>
                        <p:cond delay="indefinite"/>
                      </p:stCondLst>
                      <p:childTnLst>
                        <p:par>
                          <p:cTn id="4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3" dur="1000"/>
                                        <p:tgtEl>
                                          <p:spTgt spid="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34" dur="1000" fill="hold"/>
                                        <p:tgtEl>
                                          <p:spTgt spid="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5" dur="1000" fill="hold"/>
                                        <p:tgtEl>
                                          <p:spTgt spid="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nodeType="clickEffect" fill="hold">
                      <p:stCondLst>
                        <p:cond delay="indefinite"/>
                      </p:stCondLst>
                      <p:childTnLst>
                        <p:par>
                          <p:cTn id="4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0" dur="500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1" dur="500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Num" idx="32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0DE8156-B103-4D5F-BEB0-2DFCD1AC96E0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518" name="PlaceHolder 2"/>
          <p:cNvSpPr>
            <a:spLocks noGrp="1"/>
          </p:cNvSpPr>
          <p:nvPr>
            <p:ph type="title"/>
          </p:nvPr>
        </p:nvSpPr>
        <p:spPr>
          <a:xfrm>
            <a:off x="2045520" y="45000"/>
            <a:ext cx="8229240" cy="8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600" spc="-1" strike="noStrike">
                <a:solidFill>
                  <a:srgbClr val="ffffff"/>
                </a:solidFill>
                <a:latin typeface="Montserrat SemiBold"/>
                <a:ea typeface="Arial"/>
              </a:rPr>
              <a:t>Электрические цепи постоянного тока</a:t>
            </a:r>
            <a:endParaRPr b="0" lang="ru-RU" sz="36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/>
          </p:nvPr>
        </p:nvSpPr>
        <p:spPr>
          <a:xfrm>
            <a:off x="381960" y="677160"/>
            <a:ext cx="11398680" cy="4908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Совокупность электрических элементов, соединённых между собой, называется </a:t>
            </a:r>
            <a:r>
              <a:rPr b="0" lang="ru-RU" sz="4000" spc="-1" strike="noStrike">
                <a:solidFill>
                  <a:srgbClr val="cc3300"/>
                </a:solidFill>
                <a:latin typeface="Montserrat"/>
                <a:ea typeface="Arial"/>
              </a:rPr>
              <a:t>электрической цепью</a:t>
            </a: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, а соответствующее ей графическое изображение этой цепи – </a:t>
            </a:r>
            <a:r>
              <a:rPr b="0" lang="ru-RU" sz="4000" spc="-1" strike="noStrike">
                <a:solidFill>
                  <a:srgbClr val="cc3300"/>
                </a:solidFill>
                <a:latin typeface="Montserrat"/>
                <a:ea typeface="Arial"/>
              </a:rPr>
              <a:t>электрической схемой.</a:t>
            </a:r>
            <a:r>
              <a:rPr b="0" lang="ru-RU" sz="4000" spc="-1" strike="noStrike">
                <a:solidFill>
                  <a:srgbClr val="ff0000"/>
                </a:solidFill>
                <a:latin typeface="Montserrat"/>
                <a:ea typeface="Arial"/>
              </a:rPr>
              <a:t> </a:t>
            </a: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ff0000"/>
                </a:solidFill>
                <a:latin typeface="Montserrat"/>
                <a:ea typeface="Arial"/>
              </a:rPr>
              <a:t>Электрическая цепь </a:t>
            </a: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— это совокупность устройств, предназначенных для производства, передачи, преобразования и использования электрического тока.</a:t>
            </a:r>
            <a:endParaRPr b="0" lang="ru-RU" sz="4000" spc="-1" strike="noStrike">
              <a:solidFill>
                <a:srgbClr val="352379"/>
              </a:solidFill>
              <a:latin typeface="Montserrat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520" name="Rectangle 7"/>
          <p:cNvSpPr/>
          <p:nvPr/>
        </p:nvSpPr>
        <p:spPr>
          <a:xfrm>
            <a:off x="1523880" y="30348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1" name="Rectangle 8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2" name="Rectangle 9"/>
          <p:cNvSpPr/>
          <p:nvPr/>
        </p:nvSpPr>
        <p:spPr>
          <a:xfrm>
            <a:off x="1523880" y="-18468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3" name="Rectangle 10"/>
          <p:cNvSpPr/>
          <p:nvPr/>
        </p:nvSpPr>
        <p:spPr>
          <a:xfrm>
            <a:off x="1523880" y="3001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4" name="Rectangle 11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5" name="Rectangle 12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6" name="Rectangle 13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7" name="Rectangle 14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8" name="Rectangle 15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9" name="Rectangle 16"/>
          <p:cNvSpPr/>
          <p:nvPr/>
        </p:nvSpPr>
        <p:spPr>
          <a:xfrm>
            <a:off x="1523880" y="3028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Num" idx="33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BF41B44-4026-4317-80B0-B9A26C9C504E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title"/>
          </p:nvPr>
        </p:nvSpPr>
        <p:spPr>
          <a:xfrm>
            <a:off x="2045520" y="45000"/>
            <a:ext cx="8229240" cy="8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600" spc="-1" strike="noStrike">
                <a:solidFill>
                  <a:srgbClr val="ffffff"/>
                </a:solidFill>
                <a:latin typeface="Montserrat SemiBold"/>
                <a:ea typeface="Arial"/>
              </a:rPr>
              <a:t>Электрические цепи постоянного тока</a:t>
            </a:r>
            <a:endParaRPr b="0" lang="ru-RU" sz="36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532" name="Rectangle 7"/>
          <p:cNvSpPr/>
          <p:nvPr/>
        </p:nvSpPr>
        <p:spPr>
          <a:xfrm>
            <a:off x="1523880" y="30348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3" name="Rectangle 8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4" name="Rectangle 9"/>
          <p:cNvSpPr/>
          <p:nvPr/>
        </p:nvSpPr>
        <p:spPr>
          <a:xfrm>
            <a:off x="1523880" y="-18468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5" name="Rectangle 10"/>
          <p:cNvSpPr/>
          <p:nvPr/>
        </p:nvSpPr>
        <p:spPr>
          <a:xfrm>
            <a:off x="1523880" y="3001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6" name="Rectangle 11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7" name="Rectangle 12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8" name="Rectangle 13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9" name="Rectangle 14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0" name="Rectangle 15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1" name="Rectangle 16"/>
          <p:cNvSpPr/>
          <p:nvPr/>
        </p:nvSpPr>
        <p:spPr>
          <a:xfrm>
            <a:off x="1523880" y="3028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2" name="Прямоугольник 2"/>
          <p:cNvSpPr/>
          <p:nvPr/>
        </p:nvSpPr>
        <p:spPr>
          <a:xfrm>
            <a:off x="367200" y="985680"/>
            <a:ext cx="11585880" cy="61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Электрическую цепь называют </a:t>
            </a:r>
            <a:r>
              <a:rPr b="0" lang="ru-RU" sz="4000" spc="-1" strike="noStrike">
                <a:solidFill>
                  <a:srgbClr val="ff0000"/>
                </a:solidFill>
                <a:latin typeface="Montserrat"/>
                <a:ea typeface="Arial"/>
              </a:rPr>
              <a:t>линейной</a:t>
            </a: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, если ни один параметр цепи не зависит от величины или направления тока или напряжения. </a:t>
            </a:r>
            <a:endParaRPr b="0" lang="ru-RU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Электрическая цепь является </a:t>
            </a:r>
            <a:r>
              <a:rPr b="0" lang="ru-RU" sz="4000" spc="-1" strike="noStrike">
                <a:solidFill>
                  <a:srgbClr val="ff0000"/>
                </a:solidFill>
                <a:latin typeface="Montserrat"/>
                <a:ea typeface="Arial"/>
              </a:rPr>
              <a:t>нелинейной</a:t>
            </a: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, если она содержит хотя бы один нелинейный элемент. </a:t>
            </a:r>
            <a:endParaRPr b="0" lang="ru-RU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352379"/>
                </a:solidFill>
                <a:latin typeface="Montserrat"/>
                <a:ea typeface="Arial"/>
              </a:rPr>
              <a:t>Параметры нелинейных элементов зависят от величины или направления тока, или напряжения.</a:t>
            </a:r>
            <a:endParaRPr b="0" lang="ru-RU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Num" idx="34"/>
          </p:nvPr>
        </p:nvSpPr>
        <p:spPr>
          <a:xfrm>
            <a:off x="8969400" y="6350760"/>
            <a:ext cx="2857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ru-RU" sz="1200" spc="-1" strike="noStrike">
                <a:solidFill>
                  <a:srgbClr val="908da8"/>
                </a:solidFill>
                <a:latin typeface="Arial Black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380EF65-32BC-49F2-9FDA-8CD2D345A77C}" type="slidenum">
              <a:rPr b="1" lang="ru-RU" sz="1200" spc="-1" strike="noStrike">
                <a:solidFill>
                  <a:srgbClr val="908da8"/>
                </a:solidFill>
                <a:latin typeface="Arial Black"/>
                <a:ea typeface="Arial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544" name="PlaceHolder 2"/>
          <p:cNvSpPr>
            <a:spLocks noGrp="1"/>
          </p:cNvSpPr>
          <p:nvPr>
            <p:ph type="title"/>
          </p:nvPr>
        </p:nvSpPr>
        <p:spPr>
          <a:xfrm>
            <a:off x="1874880" y="0"/>
            <a:ext cx="8229240" cy="8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600" spc="-1" strike="noStrike">
                <a:solidFill>
                  <a:srgbClr val="ffffff"/>
                </a:solidFill>
                <a:latin typeface="Montserrat SemiBold"/>
                <a:ea typeface="Arial"/>
              </a:rPr>
              <a:t>Электрические цепи постоянного тока</a:t>
            </a:r>
            <a:endParaRPr b="0" lang="ru-RU" sz="3600" spc="-1" strike="noStrike">
              <a:solidFill>
                <a:srgbClr val="352379"/>
              </a:solidFill>
              <a:latin typeface="Montserrat"/>
            </a:endParaRPr>
          </a:p>
        </p:txBody>
      </p:sp>
      <p:sp>
        <p:nvSpPr>
          <p:cNvPr id="545" name="Rectangle 7"/>
          <p:cNvSpPr/>
          <p:nvPr/>
        </p:nvSpPr>
        <p:spPr>
          <a:xfrm>
            <a:off x="1523880" y="30348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6" name="Rectangle 8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7" name="Rectangle 9"/>
          <p:cNvSpPr/>
          <p:nvPr/>
        </p:nvSpPr>
        <p:spPr>
          <a:xfrm>
            <a:off x="1523880" y="-18468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Rectangle 10"/>
          <p:cNvSpPr/>
          <p:nvPr/>
        </p:nvSpPr>
        <p:spPr>
          <a:xfrm>
            <a:off x="1523880" y="3001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9" name="Rectangle 11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0" name="Rectangle 12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1" name="Rectangle 13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2" name="Rectangle 14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3" name="Rectangle 15"/>
          <p:cNvSpPr/>
          <p:nvPr/>
        </p:nvSpPr>
        <p:spPr>
          <a:xfrm>
            <a:off x="1523880" y="30492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Rectangle 16"/>
          <p:cNvSpPr/>
          <p:nvPr/>
        </p:nvSpPr>
        <p:spPr>
          <a:xfrm>
            <a:off x="1523880" y="302832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5" name="Прямоугольник 2"/>
          <p:cNvSpPr/>
          <p:nvPr/>
        </p:nvSpPr>
        <p:spPr>
          <a:xfrm>
            <a:off x="471960" y="889560"/>
            <a:ext cx="11644920" cy="74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352379"/>
                </a:solidFill>
                <a:latin typeface="Montserrat"/>
                <a:ea typeface="Arial"/>
              </a:rPr>
              <a:t>Соединение, при котором по всем участкам проходит один и тот же ток, называют </a:t>
            </a:r>
            <a:r>
              <a:rPr b="0" lang="ru-RU" sz="3200" spc="-1" strike="noStrike">
                <a:solidFill>
                  <a:srgbClr val="ff0000"/>
                </a:solidFill>
                <a:latin typeface="Montserrat"/>
                <a:ea typeface="Arial"/>
              </a:rPr>
              <a:t>последовательным</a:t>
            </a:r>
            <a:r>
              <a:rPr b="0" lang="ru-RU" sz="3200" spc="-1" strike="noStrike">
                <a:solidFill>
                  <a:srgbClr val="352379"/>
                </a:solidFill>
                <a:latin typeface="Montserrat"/>
                <a:ea typeface="Arial"/>
              </a:rPr>
              <a:t>. </a:t>
            </a: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352379"/>
                </a:solidFill>
                <a:latin typeface="Montserrat"/>
                <a:ea typeface="Arial"/>
              </a:rPr>
              <a:t>Соединение, при котором все участки цепи присоединяются к одной паре узлов, т. е. находятся под действием одного и того же напряжения, называют </a:t>
            </a:r>
            <a:r>
              <a:rPr b="0" lang="ru-RU" sz="3200" spc="-1" strike="noStrike">
                <a:solidFill>
                  <a:srgbClr val="ff0000"/>
                </a:solidFill>
                <a:latin typeface="Montserrat"/>
                <a:ea typeface="Arial"/>
              </a:rPr>
              <a:t>параллельным</a:t>
            </a:r>
            <a:r>
              <a:rPr b="0" lang="ru-RU" sz="3200" spc="-1" strike="noStrike">
                <a:solidFill>
                  <a:srgbClr val="352379"/>
                </a:solidFill>
                <a:latin typeface="Montserrat"/>
                <a:ea typeface="Arial"/>
              </a:rPr>
              <a:t>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352379"/>
                </a:solidFill>
                <a:latin typeface="Montserrat"/>
                <a:ea typeface="Arial"/>
              </a:rPr>
              <a:t>Любой замкнутый путь, проходящий по нескольким участкам, называют </a:t>
            </a:r>
            <a:r>
              <a:rPr b="0" lang="ru-RU" sz="3200" spc="-1" strike="noStrike">
                <a:solidFill>
                  <a:srgbClr val="ff0000"/>
                </a:solidFill>
                <a:latin typeface="Montserrat"/>
                <a:ea typeface="Arial"/>
              </a:rPr>
              <a:t>контуром электрической цепи</a:t>
            </a:r>
            <a:r>
              <a:rPr b="0" lang="ru-RU" sz="3200" spc="-1" strike="noStrike">
                <a:solidFill>
                  <a:srgbClr val="352379"/>
                </a:solidFill>
                <a:latin typeface="Montserrat"/>
                <a:ea typeface="Arial"/>
              </a:rPr>
              <a:t>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352379"/>
                </a:solidFill>
                <a:latin typeface="Montserrat"/>
                <a:ea typeface="Arial"/>
              </a:rPr>
              <a:t>Участок цепи, вдоль которого проходит один и тот же ток, называют </a:t>
            </a:r>
            <a:r>
              <a:rPr b="0" lang="ru-RU" sz="3200" spc="-1" strike="noStrike">
                <a:solidFill>
                  <a:srgbClr val="ff0000"/>
                </a:solidFill>
                <a:latin typeface="Montserrat"/>
                <a:ea typeface="Arial"/>
              </a:rPr>
              <a:t>ветвью.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352379"/>
                </a:solidFill>
                <a:latin typeface="Montserrat"/>
                <a:ea typeface="Arial"/>
              </a:rPr>
              <a:t>Место соединения трех и большего числа ветвей — </a:t>
            </a:r>
            <a:r>
              <a:rPr b="0" lang="ru-RU" sz="3200" spc="-1" strike="noStrike">
                <a:solidFill>
                  <a:srgbClr val="ff0000"/>
                </a:solidFill>
                <a:latin typeface="Montserrat"/>
                <a:ea typeface="Arial"/>
              </a:rPr>
              <a:t>узлом</a:t>
            </a:r>
            <a:r>
              <a:rPr b="0" lang="ru-RU" sz="3200" spc="-1" strike="noStrike">
                <a:solidFill>
                  <a:srgbClr val="352379"/>
                </a:solidFill>
                <a:latin typeface="Montserrat"/>
                <a:ea typeface="Arial"/>
              </a:rPr>
              <a:t>.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625</TotalTime>
  <Application>LibreOffice/7.3.7.2$Linux_X86_64 LibreOffice_project/30$Build-2</Application>
  <AppVersion>15.0000</AppVersion>
  <Words>1859</Words>
  <Paragraphs>237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2023-04-19T21:39:12Z</dcterms:created>
  <dc:creator>user [v4]</dc:creator>
  <dc:description/>
  <dc:language>ru-RU</dc:language>
  <cp:lastModifiedBy/>
  <dcterms:modified xsi:type="dcterms:W3CDTF">2025-09-17T13:08:23Z</dcterms:modified>
  <cp:revision>63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34</vt:i4>
  </property>
</Properties>
</file>